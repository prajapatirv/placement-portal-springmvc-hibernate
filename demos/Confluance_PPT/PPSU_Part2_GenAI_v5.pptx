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1cff0b2-556f-1ca0-dc3b-cae9cf3bbed7}">
          <p14:sldIdLst>
            <p14:sldId id="256"/>
            <p14:sldId id="257"/>
            <p14:sldId id="258"/>
          </p14:sldIdLst>
        </p14:section>
        <p14:section name="The basics" id="{be973bbe-d53f-5bc8-4f92-619116fbaa88}">
          <p14:sldIdLst>
            <p14:sldId id="259"/>
            <p14:sldId id="260"/>
            <p14:sldId id="261"/>
            <p14:sldId id="262"/>
            <p14:sldId id="263"/>
          </p14:sldIdLst>
        </p14:section>
        <p14:section name="Talking to AI" id="{a3b44aed-4922-e2ce-17a2-d94342f49f4a}">
          <p14:sldIdLst>
            <p14:sldId id="264"/>
            <p14:sldId id="265"/>
            <p14:sldId id="266"/>
            <p14:sldId id="267"/>
          </p14:sldIdLst>
        </p14:section>
        <p14:section name="When AI is wrong" id="{2c5b33c7-6433-084d-41a9-f02403c12e7c}">
          <p14:sldIdLst>
            <p14:sldId id="268"/>
            <p14:sldId id="269"/>
            <p14:sldId id="270"/>
          </p14:sldIdLst>
        </p14:section>
        <p14:section name="Smarter AI" id="{1dae2202-ceb0-15df-7121-bc65fc8db3e6}">
          <p14:sldIdLst>
            <p14:sldId id="271"/>
            <p14:sldId id="272"/>
            <p14:sldId id="273"/>
            <p14:sldId id="274"/>
            <p14:sldId id="275"/>
            <p14:sldId id="276"/>
          </p14:sldIdLst>
        </p14:section>
        <p14:section name="Break" id="{6c0d305e-50ed-b57a-44d8-e56c5298c137}">
          <p14:sldIdLst>
            <p14:sldId id="277"/>
          </p14:sldIdLst>
        </p14:section>
        <p14:section name="AI in real life" id="{f1813f3c-0ef3-b8c3-996e-473e64d098f1}">
          <p14:sldIdLst>
            <p14:sldId id="278"/>
            <p14:sldId id="279"/>
          </p14:sldIdLst>
        </p14:section>
        <p14:section name="Close" id="{b1d4a459-eb70-8cb2-f491-31e069a768a3}">
          <p14:sldIdLst>
            <p14:sldId id="280"/>
            <p14:sldId id="281"/>
            <p14:sldId id="282"/>
            <p14:sldId id="283"/>
            <p14:sldId id="284"/>
            <p14:sldId id="285"/>
          </p14:sldIdLst>
        </p14:section>
        <p14:section name="Backup" id="{3d06dc5e-5105-8bae-f8cc-9c401d056491}">
          <p14:sldIdLst>
            <p14:sldId id="286"/>
            <p14:sldId id="28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Start standing, warm and short. Connect to the morning.
REMEMBER: Today we add the third layer: intelligence.
SAY: "Welcome back. [PAUSE] This morning we looked at two layers: data with Hibernate and web with Spring MVC. This afternoon is the third layer, intelligence. I will not make this complicated. By the end you will be able to explain what an LLM, RAG and an AI agent are, why AI sometimes gets things wrong, and how to use it well."
EXAMPLE: Point at the three-layer picture: the same one as the morning.
TIME: 1 min
IF IT FAILS: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Wake the room after lunch and find out who already uses AI.
REMEMBER: You already use AI. Today you learn how it works.
SAY: "Quick test of the post-lunch brain. Stand up if you had more than two rotis. [PAUSE] Sit down if you are thinking about a nap. [laughter] Good, we are all human. Now hands only. [POLL] Who used an AI chatbot today? This week? Never? Who has called an AI from code? [count each] [CLICK] So you already use AI. Today you learn how it works, where it fails, and how to use it like an engineer."
EXAMPLE: Ask one student: "What did you ask it?" Use their answer as an example later.
FILLER: the post-lunch nap negotiation
TIME: 3 min
IF IT FAILS: If nobody responds, say "I will go first" and raise your own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Give the afternoon a simple map.
REMEMBER: Five steps, from basic to smarter.
SAY: "Five steps, like stairs in the college library. [CLICK] One: the basics, what AI and an LLM are. [CLICK] Two: talking to AI, how to ask well. [CLICK] Three: when AI is wrong, called hallucination. [CLICK] Four: smarter AI, RAG, agents and agentic AI. [CLICK] Five: how real companies use it, and a real product I built."
EXAMPLE: Library stairs: you do not skip floors.
TIME: 1 min
IF IT FAILS: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Game that shows AI can sound sure and still be wrong.
REMEMBER: Confidence is not correctness.
SAY: "Three answers from an AI, all in the same confident voice. One is wrong. Vote with your hands: one, two or three. [POLL] [PAUSE for votes] [CLICK] Number two is wrong. In Java, String is a class, not a primitive type. Look at what happened: the wrong answer sounded just as sure as the true ones. That is called hallucination: confident and wrong. Remember this feeling; we come back to it."
EXAMPLE: Many freshers also confuse String with a primitive type, so this is a believable mistake.
FILLER: the confident canteen friend
TIME: 4 min
IF IT FAILS: If votes split evenly, say "Perfect, that is exactly why it is dangerous".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Explain AI, ML, deep learning and generative AI as circles.
REMEMBER: Gen AI is the part of AI that creates new things.
SAY: "Four words you hear everywhere, as circles inside circles. [CLICK] AI is the big circle: machines doing things that need human intelligence. Example: a chess program. [CLICK] Machine learning: the machine learns from data instead of fixed rules. Example: your email spam filter learned from emails people marked as spam. [CLICK] Deep learning: a way of learning with many layers, like a brain with many steps. Example: voice assistants and face unlock. [CLICK] Generative AI: it creates new text, images and code. ChatGPT, Gemini and Claude are examples. The part that works with text is called an LLM, and that is next."
EXAMPLE: Spam filter for machine learning; face unlock for deep learning; ChatGPT for generative AI.
TIME: 3 min
IF IT FAILS: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Explain what an LLM is in the simplest way.
REMEMBER: An LLM is a very smart autocomplete. It forgets when the chat ends.
SAY: "LLM means Large Language Model. [CLICK] Here is the whole picture: you write a prompt, the LLM reads it, and writes an answer. [CLICK] It has read a huge amount of text. [CLICK] Its job is to guess the next word, again and again, like the suggestions above your phone keyboard, but much smarter. [CLICK] And when the chat ends, it forgets. Tell it your name in one chat, open a new chat, and it does not know you."
EXAMPLE: Phone keyboard suggestions, but trained on a giant library.
FILLER: keyboard suggestions
TIME: 3 min
IF IT FAILS: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Introduce tokens and the context window with one picture each.
REMEMBER: AI reads in small pieces called tokens, and can only keep so much in view.
SAY: "AI does not read whole words. It cuts them into small pieces. Look: a word like 'programming' can be cut into 'pro', 'gram', 'ming'. The exact split depends on the AI, but the idea is the same. These pieces are called tokens. [CLICK] Why do we care? AI services count tokens, like SMS packs: you pay for what you send and what you get back. [CLICK] The context window is the size of your study desk. Only so many books fit open at once; older pages fall off the desk. That is why very long chats sometimes forget the beginning."
EXAMPLE: SMS packs for tokens; study desk for context window.
FILLER: SMS packs, study desk
TIME: 2 min
IF IT FAILS: If asked about temperature, say: "It is how creative the answer is; low for exact work, high for poems".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Quick myth-or-fact round.
REMEMBER: AI can be wrong, and it does not know today's news by itself.
SAY: "Myth or fact? Right hand up for fact, left hand up for myth. One: 'AI always tells the truth.' [PAUSE for hands] [CLICK] Myth. Two: 'AI can sound confident and still be wrong.' [PAUSE] [CLICK] Fact. Three: 'A better question gives a better answer.' [PAUSE] [CLICK] Fact, and that is our next topic. Four: 'AI knows what happened this morning by itself.' [PAUSE] [CLICK] Myth. It knows what it was trained on, unless it is connected to the internet."
EXAMPLE: Ask it who won yesterday's match without search: it may guess.
INTERACTION: MYTH or FACT, hands
TIME: 3 min
IF IT FAILS: If the room is tired, do it as a shout instead of hands.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Teach a good prompt in four parts.
REMEMBER: Role, context, task, format: a clear question gets a clear answer.
SAY: "A prompt is the instruction you give AI. Treat it like briefing a new intern. [CLICK] Role: who should it be? 'You are a friendly Java tutor.' [CLICK] Context: what should it know about you? 'I am a fifth semester student; I know OOP basics.' [CLICK] Task: what should it do? 'Explain inheritance with one example.' [CLICK] Format: how should it answer? 'In five lines, simple words.' Give an intern a sticky note saying 'handle this' and you get chaos. Give a clear briefing and you get good work."
EXAMPLE: Java tutor prompt for inheritance.
FILLER: briefing the new intern
TIME: 3 min
IF IT FAILS: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Pair activity: improve a weak prompt.
REMEMBER: Add role, context, task and format and the answer improves.
SAY: "Your turn. The prompt is: 'Explain Java.' [PAUSE] With your neighbour, 30 seconds: make it better using role, context, task, format. [PAIR] [take two suggestions] [CLICK] Here is one version: 'Act as a Java interviewer for a fresher. I know OOP and collections but not Spring. Ask one question at a time. Give feedback in two lines.' [CLICK] See the four parts? Same AI, a very different experience. Try this tonight for interview practice."
EXAMPLE: Interview practice prompt.
INTERACTION: PAIR, 30 seconds
TIME: 3 min
IF IT FAILS: If the room is quiet, offer the first suggestion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Show that using AI from Java is like calling any web service.
REMEMBER: AI from Java is an API call. Keep the key secret.
SAY: "How does a Java developer use AI? The same way you call any web service. [CLICK] Your app sends the question to the AI service and gets the answer text back. [CLICK] You have used web services before; this is the same idea. [CLICK] One safety rule: the API key is like your ATM PIN. It stays on the server, never in the browser, never in GitHub. If you push a key to GitHub, bots find it within minutes."
EXAMPLE: A Spring app that sends a question and shows the answer on a page.
FILLER: ATM PIN
TIME: 2 min
IF IT FAILS: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Responsible use of AI in four simple points.
REMEMBER: Privacy, fairness, copyright, honesty.
SAY: "Four points about using AI responsibly. [CLICK] Privacy: would you paste a friend's phone number or your Aadhaar into a public chatbot? [DISCUSS 2 min, take answers] [CLICK] Fairness: AI learned from people, so it can copy human bias. [CLICK] Copyright: not everything it writes is free to copy. [CLICK] Honesty: say when something is AI-assisted. This is what makes you a good engineer, not only a fast one."
EXAMPLE: Pasting private data into a public chatbot.
INTERACTION: DISCUSS 2 min
TIME: 3 min
IF IT FAILS: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Define hallucination and why it happens.
REMEMBER: A confident answer that is not true.
SAY: "Hallucination: a confident answer that is not true. Examples: a Java method that does not exist, like 'list.sortDescending()'; a book nobody wrote; a rule your college never made. Why does it happen? [CLICK] It guesses what sounds right; it does not check facts. [CLICK] It has no source of truth unless you give it one. [CLICK] Its knowledge stops at a date, so yesterday's news is invisible. It is not lying. It is a very confident autocomplete."
EXAMPLE: An invented method that only exists in the AI's imagination.
FILLER: the confident canteen friend
TIME: 2 min
IF IT FAILS: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Live proof that AI answers confidently about things it cannot know.
REMEMBER: Fluent is not the same as correct.
SAY: "Let me show you. [DEMO: open a chatbot with no web search, ask about something that happened today, for example a headline or a match score] Read the answer aloud. It sounds sure. No source, no date. Now ask: 'What is your source?' [wait] [CLICK] Fluent is not the same as correct. Keep that sentence in mind whenever you use AI for an assignment."
EXAMPLE: Ask for today's match score or a news headline.
TIME: 4 min
IF IT FAILS: Use the backup slide with a saved screenshot. Say: "Same question, recorded this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Three simple habits to avoid being fooled.
REMEMBER: Ask for the source, give it the document, check important facts yourself.
SAY: "Three habits. [CLICK] One: ask for the source, then open the source. If it cannot give one, be careful. [CLICK] Two: give it your own document and tell it to answer only from that. That idea has a name, and it is the next slide. [CLICK] Three: check important facts yourself, especially marks, money, medicine and law. AI is a great first draft and a poor final judge."
EXAMPLE: Before you submit an assignment, verify every fact it gave you.
TIME: 2 min
IF IT FAILS: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Explain RAG with the open-book exam picture.
REMEMBER: RAG = AI that looks in your documents before it answers.
SAY: "RAG stands for Retrieval-Augmented Generation. Big name, simple idea: an open-book exam. [CLICK] Step one: you ask a question. [CLICK] Step two: the system searches your files. [CLICK] Step three: it reads the relevant parts. [CLICK] Step four: the AI writes the answer using what it found. [CLICK] Without RAG it is a closed-book exam: the AI answers from memory and may guess. With RAG it opens your approved pages first. Example: a college chatbot that answers 'What is the minimum CGPA for placement?' by reading the placement rules PDF."
EXAMPLE: College chatbot reading the placement rules PDF.
FILLER: the open-book exam
TIME: 4 min
IF IT FAILS: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Hands-on lab: students build a tiny RAG by hand with any chatbot.
REMEMBER: Give it a document and tell it to answer only from the document.
SAY: "Lab time, 10 minutes. Open any AI chatbot on your phone or laptop. [LAB] [CLICK] Step one: paste a short paragraph. Use your college rules, your timetable, or any notes. Do not paste private data. [CLICK] Step two: type: 'Answer ONLY from the text above. If the answer is not there, say not in the document.' [CLICK] Step three: ask two questions: one that IS in the text, and one that is NOT. [walk around the room, ask three students what happened] [CLICK] You just built RAG by hand. The document was the open book, and the second question showed you 'I do not know' working properly. One difference: in a real system, the computer searches many documents and picks the right pages for you. You did that step by hand. That is how companies make AI safer."
EXAMPLE: Paste the rules of a college event, then ask about a rule that does not exist.
INTERACTION: LAB, 10 minutes
TIME: 12 min
IF IT FAILS: If a phone has no internet, pair students so one person with data can share. If nobody can connect, run it on your own laptop and let students dictate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Explain an AI agent as AI that does a task, not just answers.
REMEMBER: An agent makes a plan, uses tools, checks, and repeats.
SAY: "A chatbot answers. An agent does the task. [CLICK] You give it a goal. [CLICK] It makes a plan. [CLICK] It uses tools. [CLICK] It checks the result. [CLICK] If it is not right, it adjusts and tries again, then it is done. [CLICK] Tools can be web search, a calculator, email and files. [CLICK] Example: 'Find three Java internships, compare them and write me a short summary.' The agent searches, reads, compares and writes. That is a lot of power, so we keep a human watching the important steps."
EXAMPLE: Find three Java internships, compare them, write a summary.
FILLER: the intern with a to-do list
TIME: 4 min
IF IT FAILS: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Explain agentic AI as a team of AI agents.
REMEMBER: Agentic AI is a team of AI workers, each with one job.
SAY: "Agentic AI is a team of agents, each with one job, working together. [CLICK] A manager AI splits the work. [CLICK] A researcher AI finds information and a writer AI writes. [CLICK] A reviewer AI checks. [CLICK] The team delivers the final result. [CLICK] Example: planning your college fest campaign. One AI researches what students like, one writes posts, one checks the tone, and a person approves. More power, but also more things that can go wrong, so more supervision."
EXAMPLE: College fest campaign with a research AI, a writing AI and a review AI.
FILLER: the project group
TIME: 3 min
IF IT FAILS: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One table that fixes the four terms.
REMEMBER: Start simple. Use the smallest one that solves the problem.
SAY: "One table to remember the four. LLM: smart text generator. RAG: answers from your documents. Agent: plans and uses tools to do a task. Agentic AI: a team of agents. Look at the bottom row for real examples. [CLICK] Rule: start simple. You do not hire a team to carry one bag."
EXAMPLE: Do not hire a team to carry one bag.
TIME: 2 min
IF IT FAILS: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Game: match each situation to LLM, RAG, agent or agentic AI.
REMEMBER: Choose the smallest tool that does the job.
SAY: "Game: LLM, RAG, agent or agentic AI? I read a situation, you shout the answer. One: 'Write a poem about the monsoon.' [PAUSE] [CLICK] LLM, plain text is enough. Two: 'Answer questions from our college rulebook PDF.' [PAUSE] [CLICK] RAG, because it needs documents. Three: 'Search the web, compare three laptops and email me a summary.' [PAUSE] [CLICK] An agent, because it uses tools and does steps. Four: 'One AI researches, one writes and one reviews a full marketing plan.' [PAUSE] [CLICK] Agentic AI, a team."
EXAMPLE: Poem, rulebook PDF, laptop comparison, marketing plan.
INTERACTION: GAME: shout the answer
TIME: 3 min
IF IT FAILS: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Break plus an energiser so the afternoon does not sag.
REMEMBER: Stand up. Teach a neighbour. Come back sharp.
SAY: "Ten minutes. Stand up and roll your shoulders. [CLICK] While you stand: turn to the person next to you and explain 'LLM' in one sentence. [CLICK] Now explain RAG as an open-book exam. If you cannot, ask me when we are back."
EXAMPLE: Neighbour teach-back: LLM and RAG.
INTERACTION: PAIR teach-back
TIME: 10 min
IF IT FAILS: If the university has not confirmed a break, skip this slide and do only the stand-up.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Show where companies use AI today.
REMEMBER: Where the stakes are high, a human stays in charge.
SAY: "Where is AI used for real? [CLICK] Banks: spotting fraud, reading documents, support chat. [CLICK] Hospitals: summarising notes; the doctor still decides. [CLICK] Online shopping: search, recommendations, review summaries. [CLICK] Customer support: chatbots that answer from company documents, that is RAG. [CLICK] Software teams: code help, writing tests, code review. [CLICK] Hiring: sorting resumes, with a human making the final call. Notice the pattern: the more serious the decision, the more a human stays in the loop. You will meet these tools in your first job."
EXAMPLE: Doctor decides; recruiter decides.
TIME: 3 min
IF IT FAILS: These are general examples; if asked about a specific company, say "I will check and 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Show one real product as a case study, in simple terms.
REMEMBER: Calculated first, explained after.
SAY: "This is a product I built: Jyotish AI by Saavira, at saaviragroup.in. It does Vedic astrology charts and numerology. The rule on the home page: the charts and numbers are calculated by code, and AI only explains what the maths has already verified. [CLICK] You enter your birth details. [CLICK] Code calculates, using fixed formulas. [CLICK] AI explains in simple words. [CLICK] You read a report you can trust. [CLICK] Why this order? Because AI is great at explaining but not at calculating. It cannot invent the numbers if it never calculates them. Same rule you can use in your own projects."
EXAMPLE: Code gives the numbers; AI writes the explanation.
TIME: 3 min
IF IT FAILS: If the site is slow, do not open it; the slide is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Tell students where to explore next. No QR codes.
REMEMBER: Build small and finish it.
SAY: "Where to go next. [CLICK] Learn the basics from the official guides and free short courses of the big AI companies. Build small: call an AI API from Java, try Spring AI or LangChain4j. Explore open models on Hugging Face. [CLICK] Practise on Kaggle, read real code, like this morning's Hibernate and Spring MVC repo, and follow release notes and one good newsletter. The links are in docs/09-resources.md in the repo; I will not put QR codes on the slides."
EXAMPLE: Rebuild the morning's repo and add one small AI call.
TIME: 2 min
IF IT FAILS: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Rapid-fire quiz to lock in the five main ideas.
REMEMBER: Five questions, five takeaways.
SAY: "Rapid-fire. Hands up for A or B. One: LLM stands for A, Large Language Model, or B, Little Learning Machine. [CLICK] A. Two: RAG helps the AI by A, giving it your documents, or B, making the computer faster. [CLICK] A. Three: an AI agent can A, only chat, or B, plan and use tools. [CLICK] B. Four: when AI gives a confident wrong answer, it is called A, hallucination, or B, compilation. [CLICK] A. Five: who should check important AI answers, A, nobody, or B, you? [CLICK] B. Five out of five? You can now explain Gen AI to your family."
EXAMPLE: Five quick takeaways.
INTERACTION: QUIZ: hands up A or B
TIME: 3 min
IF IT FAILS: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Give practical, safe things to try tonight.
REMEMBER: Use AI for the first draft and as a practice partner. You still sign the work.
SAY: "Six things you can try tonight. [CLICK] Understand a hard topic: 'explain transactions with a UPI example', then check your notes. [CLICK] Make revision cards from your own notes, without private data. [CLICK] Debug: paste the error and ten lines, and read the fix before you run it. [CLICK] Interview practice with the prompt we just built. [CLICK] Improve one resume line, keep your voice and keep facts true. [CLICK] Plan your study time, then actually follow it. Use AI for the first draft and as a practice partner. You are still the engineer who signs the work."
EXAMPLE: UPI example for transactions.
TIME: 2 min
IF IT FAILS: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Give a simple six-month plan.
REMEMBER: One finished project beats ten half-finished tutorials.
SAY: "A six-month plan. [CLICK] Months one and two: core Java, SQL and Git, and rebuild this morning's repo yourself. [CLICK] Months three and four: REST APIs, security, Docker. [CLICK] Months five and six: one real project with a small AI feature, on GitHub, with a README. [CLICK] One finished project beats ten half-finished tutorials. Interviewers read GitHub."
EXAMPLE: Placement portal plus one small AI feature, on GitHub.
TIME: 2 min
IF IT FAILS: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Open the floor.
REMEMBER: No question is too basic.
SAY: "Your questions. Three areas: Java and Hibernate, Gen AI, and careers. No question is too basic; the basic ones help the most people. [PAUSE 3 seconds] If the room is quiet: 'Let me ask you a question, then.' and use one from the Q&amp;A bank."
EXAMPLE: Use the tough-question phrases in section 9.
INTERACTION: Q&amp;A, raise your hand
TIME: 0 min
IF IT FAILS: If it goes quiet, use five questions from the master plan Q&amp;A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End on four simple lines students can remember.
REMEMBER: Learn the basics. Ask it clearly. Check its answers. Build something small.
SAY: "Four lines to take home. [CLICK] Learn the basics. [CLICK] Ask it clearly. [CLICK] Check its answers. [CLICK] Build something small. [PAUSE, smile for three seconds] Thank you, PPSU."
EXAMPLE: Say it slowly, then stop talking.
TIME: 1 min
IF IT FAILS: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Backup: the live demo does not work.
REMEMBER: Saved screenshots keep the point alive.
SAY: Show the saved screenshot of the hallucination demo. Say: "Same question, recorded this morning."
TIME: 0 min
IF IT FAILS: Use if there is no internet.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Backup: projector or adapter failure.
REMEMBER: Draw it on the board.
SAY: Walk to the board and draw four boxes: LLM, RAG, Agent, Agentic AI, with one line under each. Say: "No slides, no problem, you get the whiteboard version."
TIME: 0 min
IF IT FAILS: Use the printed agenda.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C_gold-image-2.jpe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T_gold-image-1.jpe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C_teal-image-2.jpe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T_teal-image-1.jpe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image" Target="../media/C_orange-image-2.jpe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T_orange-image-1.jpeg"/><Relationship Id="rId2"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image" Target="../media/C_coral-image-2.jpe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image" Target="../media/T_coral-image-1.jpeg"/><Relationship Id="rId2"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image" Target="../media/image-1010-1.png"/><Relationship Id="rId2" Type="http://schemas.openxmlformats.org/officeDocument/2006/relationships/image" Target="../media/C_violet-image-2.jpe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image" Target="../media/T_violet-image-1.jpeg"/><Relationship Id="rId2"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image" Target="../media/image-1012-1.png"/><Relationship Id="rId2" Type="http://schemas.openxmlformats.org/officeDocument/2006/relationships/image" Target="../media/C_green-image-2.jpeg"/><Relationship Id="rId3"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image" Target="../media/T_green-image-1.jpeg"/><Relationship Id="rId2"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image" Target="../media/image-1014-1.png"/><Relationship Id="rId2" Type="http://schemas.openxmlformats.org/officeDocument/2006/relationships/image" Target="../media/C_sky-image-2.jpeg"/><Relationship Id="rId3"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image" Target="../media/T_sky-image-1.jpeg"/><Relationship Id="rId2"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image" Target="../media/image-1016-1.png"/><Relationship Id="rId2" Type="http://schemas.openxmlformats.org/officeDocument/2006/relationships/image" Target="../media/C_pink-image-2.jpeg"/><Relationship Id="rId3"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image" Target="../media/T_pink-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_go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4645152"/>
            <a:ext cx="1463040" cy="384048"/>
          </a:xfrm>
          <a:prstGeom prst="rect">
            <a:avLst/>
          </a:prstGeom>
          <a:solidFill>
            <a:srgbClr val="FFFFFF"/>
          </a:solidFill>
          <a:ln/>
        </p:spPr>
      </p:sp>
      <p:pic>
        <p:nvPicPr>
          <p:cNvPr id="3" name="Image 0" descr="/home/claude/deck4/ppsu_logo.png">    </p:cNvPr>
          <p:cNvPicPr>
            <a:picLocks noChangeAspect="1"/>
          </p:cNvPicPr>
          <p:nvPr/>
        </p:nvPicPr>
        <p:blipFill>
          <a:blip r:embed="rId1"/>
          <a:stretch>
            <a:fillRect/>
          </a:stretch>
        </p:blipFill>
        <p:spPr>
          <a:xfrm>
            <a:off x="512064" y="4700016"/>
            <a:ext cx="1353312" cy="298094"/>
          </a:xfrm>
          <a:prstGeom prst="rect">
            <a:avLst/>
          </a:prstGeom>
        </p:spPr>
      </p:pic>
      <p:sp>
        <p:nvSpPr>
          <p:cNvPr id="4" name="Text 1"/>
          <p:cNvSpPr/>
          <p:nvPr/>
        </p:nvSpPr>
        <p:spPr>
          <a:xfrm>
            <a:off x="2194560" y="4727448"/>
            <a:ext cx="4754880" cy="228600"/>
          </a:xfrm>
          <a:prstGeom prst="rect">
            <a:avLst/>
          </a:prstGeom>
          <a:noFill/>
          <a:ln/>
        </p:spPr>
        <p:txBody>
          <a:bodyPr wrap="square" lIns="0" tIns="0" rIns="0" bIns="0" rtlCol="0" anchor="ctr"/>
          <a:lstStyle/>
          <a:p>
            <a:pPr algn="ctr" indent="0" marL="0">
              <a:buNone/>
            </a:pPr>
            <a:r>
              <a:rPr lang="en-US" sz="1000" dirty="0">
                <a:solidFill>
                  <a:srgbClr val="B9C6DA"/>
                </a:solidFill>
              </a:rPr>
              <a:t>Ravikumar Bhalsod   |   PPSU   |   5 October 2026</a:t>
            </a:r>
            <a:endParaRPr lang="en-US" sz="1000" dirty="0"/>
          </a:p>
        </p:txBody>
      </p:sp>
      <p:sp>
        <p:nvSpPr>
          <p:cNvPr id="5" name="Text 2"/>
          <p:cNvSpPr/>
          <p:nvPr>
            <p:ph idx="103" type="title" hasCustomPrompt="1"/>
          </p:nvPr>
        </p:nvSpPr>
        <p:spPr>
          <a:xfrm>
            <a:off x="457200" y="457200"/>
            <a:ext cx="8229600" cy="685800"/>
          </a:xfrm>
          <a:prstGeom prst="rect">
            <a:avLst/>
          </a:prstGeom>
          <a:noFill/>
          <a:ln/>
        </p:spPr>
        <p:txBody>
          <a:bodyPr wrap="square" rtlCol="0"/>
          <a:lstStyle>
            <a:lvl1pPr algn="l" indent="0" marL="0">
              <a:buNone/>
              <a:defRPr lang="en-US" sz="3000" b="1" dirty="0">
                <a:solidFill>
                  <a:srgbClr val="FFFFFF"/>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B9C6DA"/>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_go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_te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4645152"/>
            <a:ext cx="1463040" cy="384048"/>
          </a:xfrm>
          <a:prstGeom prst="rect">
            <a:avLst/>
          </a:prstGeom>
          <a:solidFill>
            <a:srgbClr val="FFFFFF"/>
          </a:solidFill>
          <a:ln/>
        </p:spPr>
      </p:sp>
      <p:pic>
        <p:nvPicPr>
          <p:cNvPr id="3" name="Image 0" descr="/home/claude/deck4/ppsu_logo.png">    </p:cNvPr>
          <p:cNvPicPr>
            <a:picLocks noChangeAspect="1"/>
          </p:cNvPicPr>
          <p:nvPr/>
        </p:nvPicPr>
        <p:blipFill>
          <a:blip r:embed="rId1"/>
          <a:stretch>
            <a:fillRect/>
          </a:stretch>
        </p:blipFill>
        <p:spPr>
          <a:xfrm>
            <a:off x="512064" y="4700016"/>
            <a:ext cx="1353312" cy="298094"/>
          </a:xfrm>
          <a:prstGeom prst="rect">
            <a:avLst/>
          </a:prstGeom>
        </p:spPr>
      </p:pic>
      <p:sp>
        <p:nvSpPr>
          <p:cNvPr id="4" name="Text 1"/>
          <p:cNvSpPr/>
          <p:nvPr/>
        </p:nvSpPr>
        <p:spPr>
          <a:xfrm>
            <a:off x="2194560" y="4727448"/>
            <a:ext cx="4754880" cy="228600"/>
          </a:xfrm>
          <a:prstGeom prst="rect">
            <a:avLst/>
          </a:prstGeom>
          <a:noFill/>
          <a:ln/>
        </p:spPr>
        <p:txBody>
          <a:bodyPr wrap="square" lIns="0" tIns="0" rIns="0" bIns="0" rtlCol="0" anchor="ctr"/>
          <a:lstStyle/>
          <a:p>
            <a:pPr algn="ctr" indent="0" marL="0">
              <a:buNone/>
            </a:pPr>
            <a:r>
              <a:rPr lang="en-US" sz="1000" dirty="0">
                <a:solidFill>
                  <a:srgbClr val="B9C6DA"/>
                </a:solidFill>
              </a:rPr>
              <a:t>Ravikumar Bhalsod   |   PPSU   |   5 October 2026</a:t>
            </a:r>
            <a:endParaRPr lang="en-US" sz="1000" dirty="0"/>
          </a:p>
        </p:txBody>
      </p:sp>
      <p:sp>
        <p:nvSpPr>
          <p:cNvPr id="5" name="Text 2"/>
          <p:cNvSpPr/>
          <p:nvPr>
            <p:ph idx="103" type="title" hasCustomPrompt="1"/>
          </p:nvPr>
        </p:nvSpPr>
        <p:spPr>
          <a:xfrm>
            <a:off x="457200" y="457200"/>
            <a:ext cx="8229600" cy="685800"/>
          </a:xfrm>
          <a:prstGeom prst="rect">
            <a:avLst/>
          </a:prstGeom>
          <a:noFill/>
          <a:ln/>
        </p:spPr>
        <p:txBody>
          <a:bodyPr wrap="square" rtlCol="0"/>
          <a:lstStyle>
            <a:lvl1pPr algn="l" indent="0" marL="0">
              <a:buNone/>
              <a:defRPr lang="en-US" sz="3000" b="1" dirty="0">
                <a:solidFill>
                  <a:srgbClr val="FFFFFF"/>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B9C6DA"/>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_teal">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_oran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4645152"/>
            <a:ext cx="1463040" cy="384048"/>
          </a:xfrm>
          <a:prstGeom prst="rect">
            <a:avLst/>
          </a:prstGeom>
          <a:solidFill>
            <a:srgbClr val="FFFFFF"/>
          </a:solidFill>
          <a:ln/>
        </p:spPr>
      </p:sp>
      <p:pic>
        <p:nvPicPr>
          <p:cNvPr id="3" name="Image 0" descr="/home/claude/deck4/ppsu_logo.png">    </p:cNvPr>
          <p:cNvPicPr>
            <a:picLocks noChangeAspect="1"/>
          </p:cNvPicPr>
          <p:nvPr/>
        </p:nvPicPr>
        <p:blipFill>
          <a:blip r:embed="rId1"/>
          <a:stretch>
            <a:fillRect/>
          </a:stretch>
        </p:blipFill>
        <p:spPr>
          <a:xfrm>
            <a:off x="512064" y="4700016"/>
            <a:ext cx="1353312" cy="298094"/>
          </a:xfrm>
          <a:prstGeom prst="rect">
            <a:avLst/>
          </a:prstGeom>
        </p:spPr>
      </p:pic>
      <p:sp>
        <p:nvSpPr>
          <p:cNvPr id="4" name="Text 1"/>
          <p:cNvSpPr/>
          <p:nvPr/>
        </p:nvSpPr>
        <p:spPr>
          <a:xfrm>
            <a:off x="2194560" y="4727448"/>
            <a:ext cx="4754880" cy="228600"/>
          </a:xfrm>
          <a:prstGeom prst="rect">
            <a:avLst/>
          </a:prstGeom>
          <a:noFill/>
          <a:ln/>
        </p:spPr>
        <p:txBody>
          <a:bodyPr wrap="square" lIns="0" tIns="0" rIns="0" bIns="0" rtlCol="0" anchor="ctr"/>
          <a:lstStyle/>
          <a:p>
            <a:pPr algn="ctr" indent="0" marL="0">
              <a:buNone/>
            </a:pPr>
            <a:r>
              <a:rPr lang="en-US" sz="1000" dirty="0">
                <a:solidFill>
                  <a:srgbClr val="B9C6DA"/>
                </a:solidFill>
              </a:rPr>
              <a:t>Ravikumar Bhalsod   |   PPSU   |   5 October 2026</a:t>
            </a:r>
            <a:endParaRPr lang="en-US" sz="1000" dirty="0"/>
          </a:p>
        </p:txBody>
      </p:sp>
      <p:sp>
        <p:nvSpPr>
          <p:cNvPr id="5" name="Text 2"/>
          <p:cNvSpPr/>
          <p:nvPr>
            <p:ph idx="103" type="title" hasCustomPrompt="1"/>
          </p:nvPr>
        </p:nvSpPr>
        <p:spPr>
          <a:xfrm>
            <a:off x="457200" y="457200"/>
            <a:ext cx="8229600" cy="685800"/>
          </a:xfrm>
          <a:prstGeom prst="rect">
            <a:avLst/>
          </a:prstGeom>
          <a:noFill/>
          <a:ln/>
        </p:spPr>
        <p:txBody>
          <a:bodyPr wrap="square" rtlCol="0"/>
          <a:lstStyle>
            <a:lvl1pPr algn="l" indent="0" marL="0">
              <a:buNone/>
              <a:defRPr lang="en-US" sz="3000" b="1" dirty="0">
                <a:solidFill>
                  <a:srgbClr val="FFFFFF"/>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B9C6DA"/>
                </a:solidFill>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_orang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_cor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4645152"/>
            <a:ext cx="1463040" cy="384048"/>
          </a:xfrm>
          <a:prstGeom prst="rect">
            <a:avLst/>
          </a:prstGeom>
          <a:solidFill>
            <a:srgbClr val="FFFFFF"/>
          </a:solidFill>
          <a:ln/>
        </p:spPr>
      </p:sp>
      <p:pic>
        <p:nvPicPr>
          <p:cNvPr id="3" name="Image 0" descr="/home/claude/deck4/ppsu_logo.png">    </p:cNvPr>
          <p:cNvPicPr>
            <a:picLocks noChangeAspect="1"/>
          </p:cNvPicPr>
          <p:nvPr/>
        </p:nvPicPr>
        <p:blipFill>
          <a:blip r:embed="rId1"/>
          <a:stretch>
            <a:fillRect/>
          </a:stretch>
        </p:blipFill>
        <p:spPr>
          <a:xfrm>
            <a:off x="512064" y="4700016"/>
            <a:ext cx="1353312" cy="298094"/>
          </a:xfrm>
          <a:prstGeom prst="rect">
            <a:avLst/>
          </a:prstGeom>
        </p:spPr>
      </p:pic>
      <p:sp>
        <p:nvSpPr>
          <p:cNvPr id="4" name="Text 1"/>
          <p:cNvSpPr/>
          <p:nvPr/>
        </p:nvSpPr>
        <p:spPr>
          <a:xfrm>
            <a:off x="2194560" y="4727448"/>
            <a:ext cx="4754880" cy="228600"/>
          </a:xfrm>
          <a:prstGeom prst="rect">
            <a:avLst/>
          </a:prstGeom>
          <a:noFill/>
          <a:ln/>
        </p:spPr>
        <p:txBody>
          <a:bodyPr wrap="square" lIns="0" tIns="0" rIns="0" bIns="0" rtlCol="0" anchor="ctr"/>
          <a:lstStyle/>
          <a:p>
            <a:pPr algn="ctr" indent="0" marL="0">
              <a:buNone/>
            </a:pPr>
            <a:r>
              <a:rPr lang="en-US" sz="1000" dirty="0">
                <a:solidFill>
                  <a:srgbClr val="B9C6DA"/>
                </a:solidFill>
              </a:rPr>
              <a:t>Ravikumar Bhalsod   |   PPSU   |   5 October 2026</a:t>
            </a:r>
            <a:endParaRPr lang="en-US" sz="1000" dirty="0"/>
          </a:p>
        </p:txBody>
      </p:sp>
      <p:sp>
        <p:nvSpPr>
          <p:cNvPr id="5" name="Text 2"/>
          <p:cNvSpPr/>
          <p:nvPr>
            <p:ph idx="103" type="title" hasCustomPrompt="1"/>
          </p:nvPr>
        </p:nvSpPr>
        <p:spPr>
          <a:xfrm>
            <a:off x="457200" y="457200"/>
            <a:ext cx="8229600" cy="685800"/>
          </a:xfrm>
          <a:prstGeom prst="rect">
            <a:avLst/>
          </a:prstGeom>
          <a:noFill/>
          <a:ln/>
        </p:spPr>
        <p:txBody>
          <a:bodyPr wrap="square" rtlCol="0"/>
          <a:lstStyle>
            <a:lvl1pPr algn="l" indent="0" marL="0">
              <a:buNone/>
              <a:defRPr lang="en-US" sz="3000" b="1" dirty="0">
                <a:solidFill>
                  <a:srgbClr val="FFFFFF"/>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B9C6DA"/>
                </a:solidFill>
              </a:defRPr>
            </a:lvl1pPr>
          </a:lstStyle>
          <a:p>
            <a:pPr algn="r"/>
            <a:fld id="{F7021451-1387-4CA6-816F-3879F97B5CBC}" type="slidenum">
              <a:rPr b="0" lang="en-US"/>
              <a:t>1008</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_coral">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_viole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4645152"/>
            <a:ext cx="1463040" cy="384048"/>
          </a:xfrm>
          <a:prstGeom prst="rect">
            <a:avLst/>
          </a:prstGeom>
          <a:solidFill>
            <a:srgbClr val="FFFFFF"/>
          </a:solidFill>
          <a:ln/>
        </p:spPr>
      </p:sp>
      <p:pic>
        <p:nvPicPr>
          <p:cNvPr id="3" name="Image 0" descr="/home/claude/deck4/ppsu_logo.png">    </p:cNvPr>
          <p:cNvPicPr>
            <a:picLocks noChangeAspect="1"/>
          </p:cNvPicPr>
          <p:nvPr/>
        </p:nvPicPr>
        <p:blipFill>
          <a:blip r:embed="rId1"/>
          <a:stretch>
            <a:fillRect/>
          </a:stretch>
        </p:blipFill>
        <p:spPr>
          <a:xfrm>
            <a:off x="512064" y="4700016"/>
            <a:ext cx="1353312" cy="298094"/>
          </a:xfrm>
          <a:prstGeom prst="rect">
            <a:avLst/>
          </a:prstGeom>
        </p:spPr>
      </p:pic>
      <p:sp>
        <p:nvSpPr>
          <p:cNvPr id="4" name="Text 1"/>
          <p:cNvSpPr/>
          <p:nvPr/>
        </p:nvSpPr>
        <p:spPr>
          <a:xfrm>
            <a:off x="2194560" y="4727448"/>
            <a:ext cx="4754880" cy="228600"/>
          </a:xfrm>
          <a:prstGeom prst="rect">
            <a:avLst/>
          </a:prstGeom>
          <a:noFill/>
          <a:ln/>
        </p:spPr>
        <p:txBody>
          <a:bodyPr wrap="square" lIns="0" tIns="0" rIns="0" bIns="0" rtlCol="0" anchor="ctr"/>
          <a:lstStyle/>
          <a:p>
            <a:pPr algn="ctr" indent="0" marL="0">
              <a:buNone/>
            </a:pPr>
            <a:r>
              <a:rPr lang="en-US" sz="1000" dirty="0">
                <a:solidFill>
                  <a:srgbClr val="B9C6DA"/>
                </a:solidFill>
              </a:rPr>
              <a:t>Ravikumar Bhalsod   |   PPSU   |   5 October 2026</a:t>
            </a:r>
            <a:endParaRPr lang="en-US" sz="1000" dirty="0"/>
          </a:p>
        </p:txBody>
      </p:sp>
      <p:sp>
        <p:nvSpPr>
          <p:cNvPr id="5" name="Text 2"/>
          <p:cNvSpPr/>
          <p:nvPr>
            <p:ph idx="103" type="title" hasCustomPrompt="1"/>
          </p:nvPr>
        </p:nvSpPr>
        <p:spPr>
          <a:xfrm>
            <a:off x="457200" y="457200"/>
            <a:ext cx="8229600" cy="685800"/>
          </a:xfrm>
          <a:prstGeom prst="rect">
            <a:avLst/>
          </a:prstGeom>
          <a:noFill/>
          <a:ln/>
        </p:spPr>
        <p:txBody>
          <a:bodyPr wrap="square" rtlCol="0"/>
          <a:lstStyle>
            <a:lvl1pPr algn="l" indent="0" marL="0">
              <a:buNone/>
              <a:defRPr lang="en-US" sz="3000" b="1" dirty="0">
                <a:solidFill>
                  <a:srgbClr val="FFFFFF"/>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B9C6DA"/>
                </a:solidFill>
              </a:defRPr>
            </a:lvl1pPr>
          </a:lstStyle>
          <a:p>
            <a:pPr algn="r"/>
            <a:fld id="{F7021451-1387-4CA6-816F-3879F97B5CBC}" type="slidenum">
              <a:rPr b="0" lang="en-US"/>
              <a:t>1010</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_viole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_gree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4645152"/>
            <a:ext cx="1463040" cy="384048"/>
          </a:xfrm>
          <a:prstGeom prst="rect">
            <a:avLst/>
          </a:prstGeom>
          <a:solidFill>
            <a:srgbClr val="FFFFFF"/>
          </a:solidFill>
          <a:ln/>
        </p:spPr>
      </p:sp>
      <p:pic>
        <p:nvPicPr>
          <p:cNvPr id="3" name="Image 0" descr="/home/claude/deck4/ppsu_logo.png">    </p:cNvPr>
          <p:cNvPicPr>
            <a:picLocks noChangeAspect="1"/>
          </p:cNvPicPr>
          <p:nvPr/>
        </p:nvPicPr>
        <p:blipFill>
          <a:blip r:embed="rId1"/>
          <a:stretch>
            <a:fillRect/>
          </a:stretch>
        </p:blipFill>
        <p:spPr>
          <a:xfrm>
            <a:off x="512064" y="4700016"/>
            <a:ext cx="1353312" cy="298094"/>
          </a:xfrm>
          <a:prstGeom prst="rect">
            <a:avLst/>
          </a:prstGeom>
        </p:spPr>
      </p:pic>
      <p:sp>
        <p:nvSpPr>
          <p:cNvPr id="4" name="Text 1"/>
          <p:cNvSpPr/>
          <p:nvPr/>
        </p:nvSpPr>
        <p:spPr>
          <a:xfrm>
            <a:off x="2194560" y="4727448"/>
            <a:ext cx="4754880" cy="228600"/>
          </a:xfrm>
          <a:prstGeom prst="rect">
            <a:avLst/>
          </a:prstGeom>
          <a:noFill/>
          <a:ln/>
        </p:spPr>
        <p:txBody>
          <a:bodyPr wrap="square" lIns="0" tIns="0" rIns="0" bIns="0" rtlCol="0" anchor="ctr"/>
          <a:lstStyle/>
          <a:p>
            <a:pPr algn="ctr" indent="0" marL="0">
              <a:buNone/>
            </a:pPr>
            <a:r>
              <a:rPr lang="en-US" sz="1000" dirty="0">
                <a:solidFill>
                  <a:srgbClr val="B9C6DA"/>
                </a:solidFill>
              </a:rPr>
              <a:t>Ravikumar Bhalsod   |   PPSU   |   5 October 2026</a:t>
            </a:r>
            <a:endParaRPr lang="en-US" sz="1000" dirty="0"/>
          </a:p>
        </p:txBody>
      </p:sp>
      <p:sp>
        <p:nvSpPr>
          <p:cNvPr id="5" name="Text 2"/>
          <p:cNvSpPr/>
          <p:nvPr>
            <p:ph idx="103" type="title" hasCustomPrompt="1"/>
          </p:nvPr>
        </p:nvSpPr>
        <p:spPr>
          <a:xfrm>
            <a:off x="457200" y="457200"/>
            <a:ext cx="8229600" cy="685800"/>
          </a:xfrm>
          <a:prstGeom prst="rect">
            <a:avLst/>
          </a:prstGeom>
          <a:noFill/>
          <a:ln/>
        </p:spPr>
        <p:txBody>
          <a:bodyPr wrap="square" rtlCol="0"/>
          <a:lstStyle>
            <a:lvl1pPr algn="l" indent="0" marL="0">
              <a:buNone/>
              <a:defRPr lang="en-US" sz="3000" b="1" dirty="0">
                <a:solidFill>
                  <a:srgbClr val="FFFFFF"/>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B9C6DA"/>
                </a:solidFill>
              </a:defRPr>
            </a:lvl1pPr>
          </a:lstStyle>
          <a:p>
            <a:pPr algn="r"/>
            <a:fld id="{F7021451-1387-4CA6-816F-3879F97B5CBC}" type="slidenum">
              <a:rPr b="0" lang="en-US"/>
              <a:t>1012</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_green">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_sk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4645152"/>
            <a:ext cx="1463040" cy="384048"/>
          </a:xfrm>
          <a:prstGeom prst="rect">
            <a:avLst/>
          </a:prstGeom>
          <a:solidFill>
            <a:srgbClr val="FFFFFF"/>
          </a:solidFill>
          <a:ln/>
        </p:spPr>
      </p:sp>
      <p:pic>
        <p:nvPicPr>
          <p:cNvPr id="3" name="Image 0" descr="/home/claude/deck4/ppsu_logo.png">    </p:cNvPr>
          <p:cNvPicPr>
            <a:picLocks noChangeAspect="1"/>
          </p:cNvPicPr>
          <p:nvPr/>
        </p:nvPicPr>
        <p:blipFill>
          <a:blip r:embed="rId1"/>
          <a:stretch>
            <a:fillRect/>
          </a:stretch>
        </p:blipFill>
        <p:spPr>
          <a:xfrm>
            <a:off x="512064" y="4700016"/>
            <a:ext cx="1353312" cy="298094"/>
          </a:xfrm>
          <a:prstGeom prst="rect">
            <a:avLst/>
          </a:prstGeom>
        </p:spPr>
      </p:pic>
      <p:sp>
        <p:nvSpPr>
          <p:cNvPr id="4" name="Text 1"/>
          <p:cNvSpPr/>
          <p:nvPr/>
        </p:nvSpPr>
        <p:spPr>
          <a:xfrm>
            <a:off x="2194560" y="4727448"/>
            <a:ext cx="4754880" cy="228600"/>
          </a:xfrm>
          <a:prstGeom prst="rect">
            <a:avLst/>
          </a:prstGeom>
          <a:noFill/>
          <a:ln/>
        </p:spPr>
        <p:txBody>
          <a:bodyPr wrap="square" lIns="0" tIns="0" rIns="0" bIns="0" rtlCol="0" anchor="ctr"/>
          <a:lstStyle/>
          <a:p>
            <a:pPr algn="ctr" indent="0" marL="0">
              <a:buNone/>
            </a:pPr>
            <a:r>
              <a:rPr lang="en-US" sz="1000" dirty="0">
                <a:solidFill>
                  <a:srgbClr val="B9C6DA"/>
                </a:solidFill>
              </a:rPr>
              <a:t>Ravikumar Bhalsod   |   PPSU   |   5 October 2026</a:t>
            </a:r>
            <a:endParaRPr lang="en-US" sz="1000" dirty="0"/>
          </a:p>
        </p:txBody>
      </p:sp>
      <p:sp>
        <p:nvSpPr>
          <p:cNvPr id="5" name="Text 2"/>
          <p:cNvSpPr/>
          <p:nvPr>
            <p:ph idx="103" type="title" hasCustomPrompt="1"/>
          </p:nvPr>
        </p:nvSpPr>
        <p:spPr>
          <a:xfrm>
            <a:off x="457200" y="457200"/>
            <a:ext cx="8229600" cy="685800"/>
          </a:xfrm>
          <a:prstGeom prst="rect">
            <a:avLst/>
          </a:prstGeom>
          <a:noFill/>
          <a:ln/>
        </p:spPr>
        <p:txBody>
          <a:bodyPr wrap="square" rtlCol="0"/>
          <a:lstStyle>
            <a:lvl1pPr algn="l" indent="0" marL="0">
              <a:buNone/>
              <a:defRPr lang="en-US" sz="3000" b="1" dirty="0">
                <a:solidFill>
                  <a:srgbClr val="FFFFFF"/>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B9C6DA"/>
                </a:solidFill>
              </a:defRPr>
            </a:lvl1pPr>
          </a:lstStyle>
          <a:p>
            <a:pPr algn="r"/>
            <a:fld id="{F7021451-1387-4CA6-816F-3879F97B5CBC}" type="slidenum">
              <a:rPr b="0" lang="en-US"/>
              <a:t>1014</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_sky">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_pi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4645152"/>
            <a:ext cx="1463040" cy="384048"/>
          </a:xfrm>
          <a:prstGeom prst="rect">
            <a:avLst/>
          </a:prstGeom>
          <a:solidFill>
            <a:srgbClr val="FFFFFF"/>
          </a:solidFill>
          <a:ln/>
        </p:spPr>
      </p:sp>
      <p:pic>
        <p:nvPicPr>
          <p:cNvPr id="3" name="Image 0" descr="/home/claude/deck4/ppsu_logo.png">    </p:cNvPr>
          <p:cNvPicPr>
            <a:picLocks noChangeAspect="1"/>
          </p:cNvPicPr>
          <p:nvPr/>
        </p:nvPicPr>
        <p:blipFill>
          <a:blip r:embed="rId1"/>
          <a:stretch>
            <a:fillRect/>
          </a:stretch>
        </p:blipFill>
        <p:spPr>
          <a:xfrm>
            <a:off x="512064" y="4700016"/>
            <a:ext cx="1353312" cy="298094"/>
          </a:xfrm>
          <a:prstGeom prst="rect">
            <a:avLst/>
          </a:prstGeom>
        </p:spPr>
      </p:pic>
      <p:sp>
        <p:nvSpPr>
          <p:cNvPr id="4" name="Text 1"/>
          <p:cNvSpPr/>
          <p:nvPr/>
        </p:nvSpPr>
        <p:spPr>
          <a:xfrm>
            <a:off x="2194560" y="4727448"/>
            <a:ext cx="4754880" cy="228600"/>
          </a:xfrm>
          <a:prstGeom prst="rect">
            <a:avLst/>
          </a:prstGeom>
          <a:noFill/>
          <a:ln/>
        </p:spPr>
        <p:txBody>
          <a:bodyPr wrap="square" lIns="0" tIns="0" rIns="0" bIns="0" rtlCol="0" anchor="ctr"/>
          <a:lstStyle/>
          <a:p>
            <a:pPr algn="ctr" indent="0" marL="0">
              <a:buNone/>
            </a:pPr>
            <a:r>
              <a:rPr lang="en-US" sz="1000" dirty="0">
                <a:solidFill>
                  <a:srgbClr val="B9C6DA"/>
                </a:solidFill>
              </a:rPr>
              <a:t>Ravikumar Bhalsod   |   PPSU   |   5 October 2026</a:t>
            </a:r>
            <a:endParaRPr lang="en-US" sz="1000" dirty="0"/>
          </a:p>
        </p:txBody>
      </p:sp>
      <p:sp>
        <p:nvSpPr>
          <p:cNvPr id="5" name="Text 2"/>
          <p:cNvSpPr/>
          <p:nvPr>
            <p:ph idx="103" type="title" hasCustomPrompt="1"/>
          </p:nvPr>
        </p:nvSpPr>
        <p:spPr>
          <a:xfrm>
            <a:off x="457200" y="457200"/>
            <a:ext cx="8229600" cy="685800"/>
          </a:xfrm>
          <a:prstGeom prst="rect">
            <a:avLst/>
          </a:prstGeom>
          <a:noFill/>
          <a:ln/>
        </p:spPr>
        <p:txBody>
          <a:bodyPr wrap="square" rtlCol="0"/>
          <a:lstStyle>
            <a:lvl1pPr algn="l" indent="0" marL="0">
              <a:buNone/>
              <a:defRPr lang="en-US" sz="3000" b="1" dirty="0">
                <a:solidFill>
                  <a:srgbClr val="FFFFFF"/>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B9C6DA"/>
                </a:solidFill>
              </a:defRPr>
            </a:lvl1pPr>
          </a:lstStyle>
          <a:p>
            <a:pPr algn="r"/>
            <a:fld id="{F7021451-1387-4CA6-816F-3879F97B5CBC}" type="slidenum">
              <a:rPr b="0" lang="en-US"/>
              <a:t>1016</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_pin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B9C6D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4.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6.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8.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0.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0.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4.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slideLayout" Target="../slideLayouts/slideLayout2.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slideLayout" Target="../slideLayouts/slideLayout2.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Shape 0"/>
          <p:cNvSpPr/>
          <p:nvPr/>
        </p:nvSpPr>
        <p:spPr>
          <a:xfrm>
            <a:off x="548640" y="320040"/>
            <a:ext cx="3017520" cy="790288"/>
          </a:xfrm>
          <a:prstGeom prst="rect">
            <a:avLst/>
          </a:prstGeom>
          <a:solidFill>
            <a:srgbClr val="FFFFFF"/>
          </a:solidFill>
          <a:ln/>
        </p:spPr>
      </p:sp>
      <p:pic>
        <p:nvPicPr>
          <p:cNvPr id="4" name="Image 0" descr="/home/claude/deck4/ppsu_logo.png">    </p:cNvPr>
          <p:cNvPicPr>
            <a:picLocks noChangeAspect="1"/>
          </p:cNvPicPr>
          <p:nvPr/>
        </p:nvPicPr>
        <p:blipFill>
          <a:blip r:embed="rId1"/>
          <a:stretch>
            <a:fillRect/>
          </a:stretch>
        </p:blipFill>
        <p:spPr>
          <a:xfrm>
            <a:off x="612648" y="374904"/>
            <a:ext cx="2889504" cy="636847"/>
          </a:xfrm>
          <a:prstGeom prst="rect">
            <a:avLst/>
          </a:prstGeom>
        </p:spPr>
      </p:pic>
      <p:sp>
        <p:nvSpPr>
          <p:cNvPr id="5" name="Text 1"/>
          <p:cNvSpPr txBox="1"/>
          <p:nvPr/>
        </p:nvSpPr>
        <p:spPr>
          <a:xfrm>
            <a:off x="548640" y="1371600"/>
            <a:ext cx="5029200" cy="274320"/>
          </a:xfrm>
          <a:prstGeom prst="rect">
            <a:avLst/>
          </a:prstGeom>
          <a:noFill/>
          <a:ln/>
        </p:spPr>
        <p:txBody>
          <a:bodyPr wrap="square" lIns="0" tIns="0" rIns="0" bIns="0" rtlCol="0" anchor="t"/>
          <a:lstStyle/>
          <a:p>
            <a:pPr indent="0" marL="0">
              <a:buNone/>
            </a:pPr>
            <a:r>
              <a:rPr lang="en-US" sz="1300" b="1" spc="300" kern="0" dirty="0">
                <a:solidFill>
                  <a:srgbClr val="F2B134"/>
                </a:solidFill>
              </a:rPr>
              <a:t>INDUSTRY EXPERT SERIES</a:t>
            </a:r>
            <a:endParaRPr lang="en-US" sz="1300" dirty="0"/>
          </a:p>
        </p:txBody>
      </p:sp>
      <p:sp>
        <p:nvSpPr>
          <p:cNvPr id="6" name="Text 2"/>
          <p:cNvSpPr txBox="1"/>
          <p:nvPr/>
        </p:nvSpPr>
        <p:spPr>
          <a:xfrm>
            <a:off x="548640" y="1691640"/>
            <a:ext cx="5120640" cy="914400"/>
          </a:xfrm>
          <a:prstGeom prst="rect">
            <a:avLst/>
          </a:prstGeom>
          <a:noFill/>
          <a:ln/>
        </p:spPr>
        <p:txBody>
          <a:bodyPr wrap="square" lIns="0" tIns="0" rIns="0" bIns="0" rtlCol="0" anchor="t"/>
          <a:lstStyle/>
          <a:p>
            <a:pPr indent="0" marL="0">
              <a:buNone/>
            </a:pPr>
            <a:r>
              <a:rPr lang="en-US" sz="4200" b="1" dirty="0">
                <a:solidFill>
                  <a:srgbClr val="FFFFFF"/>
                </a:solidFill>
              </a:rPr>
              <a:t>Gen AI made simple</a:t>
            </a:r>
            <a:endParaRPr lang="en-US" sz="4200" dirty="0"/>
          </a:p>
        </p:txBody>
      </p:sp>
      <p:sp>
        <p:nvSpPr>
          <p:cNvPr id="7" name="Text 3"/>
          <p:cNvSpPr txBox="1"/>
          <p:nvPr/>
        </p:nvSpPr>
        <p:spPr>
          <a:xfrm>
            <a:off x="548640" y="2743200"/>
            <a:ext cx="4937760" cy="640080"/>
          </a:xfrm>
          <a:prstGeom prst="rect">
            <a:avLst/>
          </a:prstGeom>
          <a:noFill/>
          <a:ln/>
        </p:spPr>
        <p:txBody>
          <a:bodyPr wrap="square" lIns="0" tIns="0" rIns="0" bIns="0" rtlCol="0" anchor="t"/>
          <a:lstStyle/>
          <a:p>
            <a:pPr indent="0" marL="0">
              <a:buNone/>
            </a:pPr>
            <a:r>
              <a:rPr lang="en-US" sz="1600" dirty="0">
                <a:solidFill>
                  <a:srgbClr val="B9C6DA"/>
                </a:solidFill>
              </a:rPr>
              <a:t>Part 2  |  LLM, RAG and AI agents, explained with examples</a:t>
            </a:r>
            <a:endParaRPr lang="en-US" sz="1600" dirty="0"/>
          </a:p>
        </p:txBody>
      </p:sp>
      <p:sp>
        <p:nvSpPr>
          <p:cNvPr id="8" name="Text 4"/>
          <p:cNvSpPr txBox="1"/>
          <p:nvPr/>
        </p:nvSpPr>
        <p:spPr>
          <a:xfrm>
            <a:off x="548640" y="3840480"/>
            <a:ext cx="4572000" cy="274320"/>
          </a:xfrm>
          <a:prstGeom prst="rect">
            <a:avLst/>
          </a:prstGeom>
          <a:noFill/>
          <a:ln/>
        </p:spPr>
        <p:txBody>
          <a:bodyPr wrap="square" lIns="0" tIns="0" rIns="0" bIns="0" rtlCol="0" anchor="t"/>
          <a:lstStyle/>
          <a:p>
            <a:pPr indent="0" marL="0">
              <a:buNone/>
            </a:pPr>
            <a:r>
              <a:rPr lang="en-US" sz="1800" b="1" dirty="0">
                <a:solidFill>
                  <a:srgbClr val="FFFFFF"/>
                </a:solidFill>
              </a:rPr>
              <a:t>Ravikumar Bhalsod</a:t>
            </a:r>
            <a:endParaRPr lang="en-US" sz="1800" dirty="0"/>
          </a:p>
        </p:txBody>
      </p:sp>
      <p:sp>
        <p:nvSpPr>
          <p:cNvPr id="9" name="Text 5"/>
          <p:cNvSpPr txBox="1"/>
          <p:nvPr/>
        </p:nvSpPr>
        <p:spPr>
          <a:xfrm>
            <a:off x="548640" y="4160520"/>
            <a:ext cx="5303520" cy="274320"/>
          </a:xfrm>
          <a:prstGeom prst="rect">
            <a:avLst/>
          </a:prstGeom>
          <a:noFill/>
          <a:ln/>
        </p:spPr>
        <p:txBody>
          <a:bodyPr wrap="square" lIns="0" tIns="0" rIns="0" bIns="0" rtlCol="0" anchor="t"/>
          <a:lstStyle/>
          <a:p>
            <a:pPr indent="0" marL="0">
              <a:buNone/>
            </a:pPr>
            <a:r>
              <a:rPr lang="en-US" sz="1200" dirty="0">
                <a:solidFill>
                  <a:srgbClr val="B9C6DA"/>
                </a:solidFill>
              </a:rPr>
              <a:t>Sr. System Analyst, Cybage   |   P P Savani University   |   5 October 2026</a:t>
            </a:r>
            <a:endParaRPr lang="en-US" sz="1200" dirty="0"/>
          </a:p>
        </p:txBody>
      </p:sp>
      <p:sp>
        <p:nvSpPr>
          <p:cNvPr id="10" name="Shape 6"/>
          <p:cNvSpPr/>
          <p:nvPr/>
        </p:nvSpPr>
        <p:spPr>
          <a:xfrm>
            <a:off x="6172200" y="1097280"/>
            <a:ext cx="2514600" cy="868680"/>
          </a:xfrm>
          <a:prstGeom prst="roundRect">
            <a:avLst>
              <a:gd name="adj" fmla="val 10526"/>
            </a:avLst>
          </a:prstGeom>
          <a:solidFill>
            <a:srgbClr val="A78BFA"/>
          </a:solidFill>
          <a:ln/>
        </p:spPr>
      </p:sp>
      <p:sp>
        <p:nvSpPr>
          <p:cNvPr id="11" name="Text 7"/>
          <p:cNvSpPr txBox="1"/>
          <p:nvPr/>
        </p:nvSpPr>
        <p:spPr>
          <a:xfrm>
            <a:off x="6355080" y="1227582"/>
            <a:ext cx="2194560" cy="201168"/>
          </a:xfrm>
          <a:prstGeom prst="rect">
            <a:avLst/>
          </a:prstGeom>
          <a:noFill/>
          <a:ln/>
        </p:spPr>
        <p:txBody>
          <a:bodyPr wrap="square" lIns="0" tIns="0" rIns="0" bIns="0" rtlCol="0" anchor="t"/>
          <a:lstStyle/>
          <a:p>
            <a:pPr indent="0" marL="0">
              <a:buNone/>
            </a:pPr>
            <a:r>
              <a:rPr lang="en-US" sz="1000" b="1" spc="200" kern="0" dirty="0">
                <a:solidFill>
                  <a:srgbClr val="0B1F3A"/>
                </a:solidFill>
              </a:rPr>
              <a:t>INTELLIGENCE</a:t>
            </a:r>
            <a:endParaRPr lang="en-US" sz="1000" dirty="0"/>
          </a:p>
        </p:txBody>
      </p:sp>
      <p:sp>
        <p:nvSpPr>
          <p:cNvPr id="12" name="Text 8"/>
          <p:cNvSpPr txBox="1"/>
          <p:nvPr/>
        </p:nvSpPr>
        <p:spPr>
          <a:xfrm>
            <a:off x="6355080" y="1444752"/>
            <a:ext cx="2194560" cy="365760"/>
          </a:xfrm>
          <a:prstGeom prst="rect">
            <a:avLst/>
          </a:prstGeom>
          <a:noFill/>
          <a:ln/>
        </p:spPr>
        <p:txBody>
          <a:bodyPr wrap="square" lIns="0" tIns="0" rIns="0" bIns="0" rtlCol="0" anchor="t"/>
          <a:lstStyle/>
          <a:p>
            <a:pPr indent="0" marL="0">
              <a:buNone/>
            </a:pPr>
            <a:r>
              <a:rPr lang="en-US" sz="2000" b="1" dirty="0">
                <a:solidFill>
                  <a:srgbClr val="0B1F3A"/>
                </a:solidFill>
              </a:rPr>
              <a:t>Gen AI</a:t>
            </a:r>
            <a:endParaRPr lang="en-US" sz="2000" dirty="0"/>
          </a:p>
        </p:txBody>
      </p:sp>
      <p:sp>
        <p:nvSpPr>
          <p:cNvPr id="13" name="Shape 9"/>
          <p:cNvSpPr/>
          <p:nvPr/>
        </p:nvSpPr>
        <p:spPr>
          <a:xfrm>
            <a:off x="6172200" y="2194560"/>
            <a:ext cx="2514600" cy="868680"/>
          </a:xfrm>
          <a:prstGeom prst="roundRect">
            <a:avLst>
              <a:gd name="adj" fmla="val 10526"/>
            </a:avLst>
          </a:prstGeom>
          <a:solidFill>
            <a:srgbClr val="14305A"/>
          </a:solidFill>
          <a:ln/>
        </p:spPr>
      </p:sp>
      <p:sp>
        <p:nvSpPr>
          <p:cNvPr id="14" name="Text 10"/>
          <p:cNvSpPr txBox="1"/>
          <p:nvPr/>
        </p:nvSpPr>
        <p:spPr>
          <a:xfrm>
            <a:off x="6355080" y="2324862"/>
            <a:ext cx="2194560" cy="201168"/>
          </a:xfrm>
          <a:prstGeom prst="rect">
            <a:avLst/>
          </a:prstGeom>
          <a:noFill/>
          <a:ln/>
        </p:spPr>
        <p:txBody>
          <a:bodyPr wrap="square" lIns="0" tIns="0" rIns="0" bIns="0" rtlCol="0" anchor="t"/>
          <a:lstStyle/>
          <a:p>
            <a:pPr indent="0" marL="0">
              <a:buNone/>
            </a:pPr>
            <a:r>
              <a:rPr lang="en-US" sz="1000" b="1" spc="200" kern="0" dirty="0">
                <a:solidFill>
                  <a:srgbClr val="F2B134"/>
                </a:solidFill>
              </a:rPr>
              <a:t>WEB</a:t>
            </a:r>
            <a:endParaRPr lang="en-US" sz="1000" dirty="0"/>
          </a:p>
        </p:txBody>
      </p:sp>
      <p:sp>
        <p:nvSpPr>
          <p:cNvPr id="15" name="Text 11"/>
          <p:cNvSpPr txBox="1"/>
          <p:nvPr/>
        </p:nvSpPr>
        <p:spPr>
          <a:xfrm>
            <a:off x="6355080" y="2542032"/>
            <a:ext cx="2194560" cy="365760"/>
          </a:xfrm>
          <a:prstGeom prst="rect">
            <a:avLst/>
          </a:prstGeom>
          <a:noFill/>
          <a:ln/>
        </p:spPr>
        <p:txBody>
          <a:bodyPr wrap="square" lIns="0" tIns="0" rIns="0" bIns="0" rtlCol="0" anchor="t"/>
          <a:lstStyle/>
          <a:p>
            <a:pPr indent="0" marL="0">
              <a:buNone/>
            </a:pPr>
            <a:r>
              <a:rPr lang="en-US" sz="2000" b="1" dirty="0">
                <a:solidFill>
                  <a:srgbClr val="FFFFFF"/>
                </a:solidFill>
              </a:rPr>
              <a:t>Spring MVC</a:t>
            </a:r>
            <a:endParaRPr lang="en-US" sz="2000" dirty="0"/>
          </a:p>
        </p:txBody>
      </p:sp>
      <p:sp>
        <p:nvSpPr>
          <p:cNvPr id="16" name="Shape 12"/>
          <p:cNvSpPr/>
          <p:nvPr/>
        </p:nvSpPr>
        <p:spPr>
          <a:xfrm>
            <a:off x="6172200" y="3291840"/>
            <a:ext cx="2514600" cy="868680"/>
          </a:xfrm>
          <a:prstGeom prst="roundRect">
            <a:avLst>
              <a:gd name="adj" fmla="val 10526"/>
            </a:avLst>
          </a:prstGeom>
          <a:solidFill>
            <a:srgbClr val="14305A"/>
          </a:solidFill>
          <a:ln/>
        </p:spPr>
      </p:sp>
      <p:sp>
        <p:nvSpPr>
          <p:cNvPr id="17" name="Text 13"/>
          <p:cNvSpPr txBox="1"/>
          <p:nvPr/>
        </p:nvSpPr>
        <p:spPr>
          <a:xfrm>
            <a:off x="6355080" y="3422142"/>
            <a:ext cx="2194560" cy="201168"/>
          </a:xfrm>
          <a:prstGeom prst="rect">
            <a:avLst/>
          </a:prstGeom>
          <a:noFill/>
          <a:ln/>
        </p:spPr>
        <p:txBody>
          <a:bodyPr wrap="square" lIns="0" tIns="0" rIns="0" bIns="0" rtlCol="0" anchor="t"/>
          <a:lstStyle/>
          <a:p>
            <a:pPr indent="0" marL="0">
              <a:buNone/>
            </a:pPr>
            <a:r>
              <a:rPr lang="en-US" sz="1000" b="1" spc="200" kern="0" dirty="0">
                <a:solidFill>
                  <a:srgbClr val="F2B134"/>
                </a:solidFill>
              </a:rPr>
              <a:t>DATA</a:t>
            </a:r>
            <a:endParaRPr lang="en-US" sz="1000" dirty="0"/>
          </a:p>
        </p:txBody>
      </p:sp>
      <p:sp>
        <p:nvSpPr>
          <p:cNvPr id="18" name="Text 14"/>
          <p:cNvSpPr txBox="1"/>
          <p:nvPr/>
        </p:nvSpPr>
        <p:spPr>
          <a:xfrm>
            <a:off x="6355080" y="3639312"/>
            <a:ext cx="2194560" cy="365760"/>
          </a:xfrm>
          <a:prstGeom prst="rect">
            <a:avLst/>
          </a:prstGeom>
          <a:noFill/>
          <a:ln/>
        </p:spPr>
        <p:txBody>
          <a:bodyPr wrap="square" lIns="0" tIns="0" rIns="0" bIns="0" rtlCol="0" anchor="t"/>
          <a:lstStyle/>
          <a:p>
            <a:pPr indent="0" marL="0">
              <a:buNone/>
            </a:pPr>
            <a:r>
              <a:rPr lang="en-US" sz="2000" b="1" dirty="0">
                <a:solidFill>
                  <a:srgbClr val="FFFFFF"/>
                </a:solidFill>
              </a:rPr>
              <a:t>Hibernate</a:t>
            </a:r>
            <a:endParaRPr lang="en-US" sz="2000" dirty="0"/>
          </a:p>
        </p:txBody>
      </p:sp>
      <p:sp>
        <p:nvSpPr>
          <p:cNvPr id="19" name="Text 15"/>
          <p:cNvSpPr txBox="1"/>
          <p:nvPr/>
        </p:nvSpPr>
        <p:spPr>
          <a:xfrm>
            <a:off x="6172200" y="4434840"/>
            <a:ext cx="2514600" cy="274320"/>
          </a:xfrm>
          <a:prstGeom prst="rect">
            <a:avLst/>
          </a:prstGeom>
          <a:noFill/>
          <a:ln/>
        </p:spPr>
        <p:txBody>
          <a:bodyPr wrap="square" lIns="0" tIns="0" rIns="0" bIns="0" rtlCol="0" anchor="t"/>
          <a:lstStyle/>
          <a:p>
            <a:pPr indent="0" marL="0">
              <a:buNone/>
            </a:pPr>
            <a:r>
              <a:rPr lang="en-US" sz="1200" i="1" dirty="0">
                <a:solidFill>
                  <a:srgbClr val="B9C6DA"/>
                </a:solidFill>
              </a:rPr>
              <a:t>Today we add the third layer.</a:t>
            </a:r>
            <a:endParaRPr lang="en-US" sz="1200" dirty="0"/>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56032"/>
            <a:ext cx="6400800" cy="201168"/>
          </a:xfrm>
          <a:prstGeom prst="rect">
            <a:avLst/>
          </a:prstGeom>
          <a:noFill/>
          <a:ln/>
        </p:spPr>
        <p:txBody>
          <a:bodyPr wrap="square" lIns="0" tIns="0" rIns="0" bIns="0" rtlCol="0" anchor="t"/>
          <a:lstStyle/>
          <a:p>
            <a:pPr indent="0" marL="0">
              <a:buNone/>
            </a:pPr>
            <a:r>
              <a:rPr lang="en-US" sz="1100" b="1" spc="200" kern="0" dirty="0">
                <a:solidFill>
                  <a:srgbClr val="F2B134"/>
                </a:solidFill>
              </a:rPr>
              <a:t>WARM-UP</a:t>
            </a:r>
            <a:endParaRPr lang="en-US" sz="1100" dirty="0"/>
          </a:p>
        </p:txBody>
      </p:sp>
      <p:sp>
        <p:nvSpPr>
          <p:cNvPr id="3" name="Text 2"/>
          <p:cNvSpPr/>
          <p:nvPr>
            <p:ph idx="103" type="title" hasCustomPrompt="1"/>
          </p:nvPr>
        </p:nvSpPr>
        <p:spPr>
          <a:xfrm>
            <a:off x="457200" y="457200"/>
            <a:ext cx="8229600" cy="685800"/>
          </a:xfrm>
          <a:prstGeom prst="rect">
            <a:avLst/>
          </a:prstGeom>
          <a:noFill/>
          <a:ln/>
        </p:spPr>
        <p:txBody>
          <a:bodyPr wrap="square" lIns="0" tIns="0" rIns="0" bIns="0" rtlCol="0" anchor="ctr"/>
          <a:lstStyle/>
          <a:p>
            <a:pPr algn="l" indent="0" marL="0">
              <a:buNone/>
            </a:pPr>
            <a:r>
              <a:rPr lang="en-US" sz="3000" b="1" dirty="0">
                <a:solidFill>
                  <a:srgbClr val="FFFFFF"/>
                </a:solidFill>
              </a:rPr>
              <a:t>Quick show of hands</a:t>
            </a:r>
            <a:endParaRPr lang="en-US" sz="3000" dirty="0"/>
          </a:p>
        </p:txBody>
      </p:sp>
      <p:sp>
        <p:nvSpPr>
          <p:cNvPr id="5" name="Text 2"/>
          <p:cNvSpPr txBox="1"/>
          <p:nvPr/>
        </p:nvSpPr>
        <p:spPr>
          <a:xfrm>
            <a:off x="6949440" y="256032"/>
            <a:ext cx="1737360" cy="237744"/>
          </a:xfrm>
          <a:prstGeom prst="roundRect">
            <a:avLst>
              <a:gd name="adj" fmla="val 38462"/>
            </a:avLst>
          </a:prstGeom>
          <a:solidFill>
            <a:srgbClr val="F2B134"/>
          </a:solidFill>
          <a:ln/>
        </p:spPr>
        <p:txBody>
          <a:bodyPr wrap="square" lIns="254" tIns="254" rIns="254" bIns="254" rtlCol="0" anchor="ctr"/>
          <a:lstStyle/>
          <a:p>
            <a:pPr algn="ctr" indent="0" marL="0">
              <a:buNone/>
            </a:pPr>
            <a:r>
              <a:rPr lang="en-US" sz="1100" b="1" dirty="0">
                <a:solidFill>
                  <a:srgbClr val="0B1F3A"/>
                </a:solidFill>
              </a:rPr>
              <a:t>STAND UP + HANDS</a:t>
            </a:r>
            <a:endParaRPr lang="en-US" sz="1100" dirty="0"/>
          </a:p>
        </p:txBody>
      </p:sp>
      <p:sp>
        <p:nvSpPr>
          <p:cNvPr id="6" name="Shape 3"/>
          <p:cNvSpPr/>
          <p:nvPr/>
        </p:nvSpPr>
        <p:spPr>
          <a:xfrm>
            <a:off x="457200" y="1325880"/>
            <a:ext cx="4023360" cy="960120"/>
          </a:xfrm>
          <a:prstGeom prst="roundRect">
            <a:avLst>
              <a:gd name="adj" fmla="val 9524"/>
            </a:avLst>
          </a:prstGeom>
          <a:solidFill>
            <a:srgbClr val="14305A"/>
          </a:solidFill>
          <a:ln/>
        </p:spPr>
      </p:sp>
      <p:sp>
        <p:nvSpPr>
          <p:cNvPr id="7" name="Text 4"/>
          <p:cNvSpPr txBox="1"/>
          <p:nvPr/>
        </p:nvSpPr>
        <p:spPr>
          <a:xfrm>
            <a:off x="640080" y="1554480"/>
            <a:ext cx="502920" cy="502920"/>
          </a:xfrm>
          <a:prstGeom prst="ellipse">
            <a:avLst/>
          </a:prstGeom>
          <a:solidFill>
            <a:srgbClr val="F2B134"/>
          </a:solidFill>
          <a:ln/>
        </p:spPr>
        <p:txBody>
          <a:bodyPr wrap="square" lIns="0" tIns="0" rIns="0" bIns="0" rtlCol="0" anchor="ctr"/>
          <a:lstStyle/>
          <a:p>
            <a:pPr algn="ctr" indent="0" marL="0">
              <a:buNone/>
            </a:pPr>
            <a:r>
              <a:rPr lang="en-US" sz="2000" b="1" dirty="0">
                <a:solidFill>
                  <a:srgbClr val="0B1F3A"/>
                </a:solidFill>
              </a:rPr>
              <a:t>A</a:t>
            </a:r>
            <a:endParaRPr lang="en-US" sz="2000" dirty="0"/>
          </a:p>
        </p:txBody>
      </p:sp>
      <p:sp>
        <p:nvSpPr>
          <p:cNvPr id="8" name="Text 5"/>
          <p:cNvSpPr txBox="1"/>
          <p:nvPr/>
        </p:nvSpPr>
        <p:spPr>
          <a:xfrm>
            <a:off x="1325880" y="1325880"/>
            <a:ext cx="3017520" cy="960120"/>
          </a:xfrm>
          <a:prstGeom prst="rect">
            <a:avLst/>
          </a:prstGeom>
          <a:noFill/>
          <a:ln/>
        </p:spPr>
        <p:txBody>
          <a:bodyPr wrap="square" lIns="0" tIns="0" rIns="0" bIns="0" rtlCol="0" anchor="ctr"/>
          <a:lstStyle/>
          <a:p>
            <a:pPr indent="0" marL="0">
              <a:buNone/>
            </a:pPr>
            <a:r>
              <a:rPr lang="en-US" sz="1800" b="1" dirty="0">
                <a:solidFill>
                  <a:srgbClr val="FFFFFF"/>
                </a:solidFill>
              </a:rPr>
              <a:t>I used an AI chatbot today</a:t>
            </a:r>
            <a:endParaRPr lang="en-US" sz="1800" dirty="0"/>
          </a:p>
        </p:txBody>
      </p:sp>
      <p:sp>
        <p:nvSpPr>
          <p:cNvPr id="9" name="Shape 6"/>
          <p:cNvSpPr/>
          <p:nvPr/>
        </p:nvSpPr>
        <p:spPr>
          <a:xfrm>
            <a:off x="4663440" y="1325880"/>
            <a:ext cx="4023360" cy="960120"/>
          </a:xfrm>
          <a:prstGeom prst="roundRect">
            <a:avLst>
              <a:gd name="adj" fmla="val 9524"/>
            </a:avLst>
          </a:prstGeom>
          <a:solidFill>
            <a:srgbClr val="14305A"/>
          </a:solidFill>
          <a:ln/>
        </p:spPr>
      </p:sp>
      <p:sp>
        <p:nvSpPr>
          <p:cNvPr id="10" name="Text 7"/>
          <p:cNvSpPr txBox="1"/>
          <p:nvPr/>
        </p:nvSpPr>
        <p:spPr>
          <a:xfrm>
            <a:off x="4846320" y="1554480"/>
            <a:ext cx="502920" cy="502920"/>
          </a:xfrm>
          <a:prstGeom prst="ellipse">
            <a:avLst/>
          </a:prstGeom>
          <a:solidFill>
            <a:srgbClr val="F2B134"/>
          </a:solidFill>
          <a:ln/>
        </p:spPr>
        <p:txBody>
          <a:bodyPr wrap="square" lIns="0" tIns="0" rIns="0" bIns="0" rtlCol="0" anchor="ctr"/>
          <a:lstStyle/>
          <a:p>
            <a:pPr algn="ctr" indent="0" marL="0">
              <a:buNone/>
            </a:pPr>
            <a:r>
              <a:rPr lang="en-US" sz="2000" b="1" dirty="0">
                <a:solidFill>
                  <a:srgbClr val="0B1F3A"/>
                </a:solidFill>
              </a:rPr>
              <a:t>B</a:t>
            </a:r>
            <a:endParaRPr lang="en-US" sz="2000" dirty="0"/>
          </a:p>
        </p:txBody>
      </p:sp>
      <p:sp>
        <p:nvSpPr>
          <p:cNvPr id="11" name="Text 8"/>
          <p:cNvSpPr txBox="1"/>
          <p:nvPr/>
        </p:nvSpPr>
        <p:spPr>
          <a:xfrm>
            <a:off x="5532120" y="1325880"/>
            <a:ext cx="3017520" cy="960120"/>
          </a:xfrm>
          <a:prstGeom prst="rect">
            <a:avLst/>
          </a:prstGeom>
          <a:noFill/>
          <a:ln/>
        </p:spPr>
        <p:txBody>
          <a:bodyPr wrap="square" lIns="0" tIns="0" rIns="0" bIns="0" rtlCol="0" anchor="ctr"/>
          <a:lstStyle/>
          <a:p>
            <a:pPr indent="0" marL="0">
              <a:buNone/>
            </a:pPr>
            <a:r>
              <a:rPr lang="en-US" sz="1800" b="1" dirty="0">
                <a:solidFill>
                  <a:srgbClr val="FFFFFF"/>
                </a:solidFill>
              </a:rPr>
              <a:t>This week, not today</a:t>
            </a:r>
            <a:endParaRPr lang="en-US" sz="1800" dirty="0"/>
          </a:p>
        </p:txBody>
      </p:sp>
      <p:sp>
        <p:nvSpPr>
          <p:cNvPr id="12" name="Shape 9"/>
          <p:cNvSpPr/>
          <p:nvPr/>
        </p:nvSpPr>
        <p:spPr>
          <a:xfrm>
            <a:off x="457200" y="2423160"/>
            <a:ext cx="4023360" cy="960120"/>
          </a:xfrm>
          <a:prstGeom prst="roundRect">
            <a:avLst>
              <a:gd name="adj" fmla="val 9524"/>
            </a:avLst>
          </a:prstGeom>
          <a:solidFill>
            <a:srgbClr val="14305A"/>
          </a:solidFill>
          <a:ln/>
        </p:spPr>
      </p:sp>
      <p:sp>
        <p:nvSpPr>
          <p:cNvPr id="13" name="Text 10"/>
          <p:cNvSpPr txBox="1"/>
          <p:nvPr/>
        </p:nvSpPr>
        <p:spPr>
          <a:xfrm>
            <a:off x="640080" y="2651760"/>
            <a:ext cx="502920" cy="502920"/>
          </a:xfrm>
          <a:prstGeom prst="ellipse">
            <a:avLst/>
          </a:prstGeom>
          <a:solidFill>
            <a:srgbClr val="F2B134"/>
          </a:solidFill>
          <a:ln/>
        </p:spPr>
        <p:txBody>
          <a:bodyPr wrap="square" lIns="0" tIns="0" rIns="0" bIns="0" rtlCol="0" anchor="ctr"/>
          <a:lstStyle/>
          <a:p>
            <a:pPr algn="ctr" indent="0" marL="0">
              <a:buNone/>
            </a:pPr>
            <a:r>
              <a:rPr lang="en-US" sz="2000" b="1" dirty="0">
                <a:solidFill>
                  <a:srgbClr val="0B1F3A"/>
                </a:solidFill>
              </a:rPr>
              <a:t>C</a:t>
            </a:r>
            <a:endParaRPr lang="en-US" sz="2000" dirty="0"/>
          </a:p>
        </p:txBody>
      </p:sp>
      <p:sp>
        <p:nvSpPr>
          <p:cNvPr id="14" name="Text 11"/>
          <p:cNvSpPr txBox="1"/>
          <p:nvPr/>
        </p:nvSpPr>
        <p:spPr>
          <a:xfrm>
            <a:off x="1325880" y="2423160"/>
            <a:ext cx="3017520" cy="960120"/>
          </a:xfrm>
          <a:prstGeom prst="rect">
            <a:avLst/>
          </a:prstGeom>
          <a:noFill/>
          <a:ln/>
        </p:spPr>
        <p:txBody>
          <a:bodyPr wrap="square" lIns="0" tIns="0" rIns="0" bIns="0" rtlCol="0" anchor="ctr"/>
          <a:lstStyle/>
          <a:p>
            <a:pPr indent="0" marL="0">
              <a:buNone/>
            </a:pPr>
            <a:r>
              <a:rPr lang="en-US" sz="1800" b="1" dirty="0">
                <a:solidFill>
                  <a:srgbClr val="FFFFFF"/>
                </a:solidFill>
              </a:rPr>
              <a:t>Never used one</a:t>
            </a:r>
            <a:endParaRPr lang="en-US" sz="1800" dirty="0"/>
          </a:p>
        </p:txBody>
      </p:sp>
      <p:sp>
        <p:nvSpPr>
          <p:cNvPr id="15" name="Shape 12"/>
          <p:cNvSpPr/>
          <p:nvPr/>
        </p:nvSpPr>
        <p:spPr>
          <a:xfrm>
            <a:off x="4663440" y="2423160"/>
            <a:ext cx="4023360" cy="960120"/>
          </a:xfrm>
          <a:prstGeom prst="roundRect">
            <a:avLst>
              <a:gd name="adj" fmla="val 9524"/>
            </a:avLst>
          </a:prstGeom>
          <a:solidFill>
            <a:srgbClr val="14305A"/>
          </a:solidFill>
          <a:ln/>
        </p:spPr>
      </p:sp>
      <p:sp>
        <p:nvSpPr>
          <p:cNvPr id="16" name="Text 13"/>
          <p:cNvSpPr txBox="1"/>
          <p:nvPr/>
        </p:nvSpPr>
        <p:spPr>
          <a:xfrm>
            <a:off x="4846320" y="2651760"/>
            <a:ext cx="502920" cy="502920"/>
          </a:xfrm>
          <a:prstGeom prst="ellipse">
            <a:avLst/>
          </a:prstGeom>
          <a:solidFill>
            <a:srgbClr val="F2B134"/>
          </a:solidFill>
          <a:ln/>
        </p:spPr>
        <p:txBody>
          <a:bodyPr wrap="square" lIns="0" tIns="0" rIns="0" bIns="0" rtlCol="0" anchor="ctr"/>
          <a:lstStyle/>
          <a:p>
            <a:pPr algn="ctr" indent="0" marL="0">
              <a:buNone/>
            </a:pPr>
            <a:r>
              <a:rPr lang="en-US" sz="2000" b="1" dirty="0">
                <a:solidFill>
                  <a:srgbClr val="0B1F3A"/>
                </a:solidFill>
              </a:rPr>
              <a:t>D</a:t>
            </a:r>
            <a:endParaRPr lang="en-US" sz="2000" dirty="0"/>
          </a:p>
        </p:txBody>
      </p:sp>
      <p:sp>
        <p:nvSpPr>
          <p:cNvPr id="17" name="Text 14"/>
          <p:cNvSpPr txBox="1"/>
          <p:nvPr/>
        </p:nvSpPr>
        <p:spPr>
          <a:xfrm>
            <a:off x="5532120" y="2423160"/>
            <a:ext cx="3017520" cy="960120"/>
          </a:xfrm>
          <a:prstGeom prst="rect">
            <a:avLst/>
          </a:prstGeom>
          <a:noFill/>
          <a:ln/>
        </p:spPr>
        <p:txBody>
          <a:bodyPr wrap="square" lIns="0" tIns="0" rIns="0" bIns="0" rtlCol="0" anchor="ctr"/>
          <a:lstStyle/>
          <a:p>
            <a:pPr indent="0" marL="0">
              <a:buNone/>
            </a:pPr>
            <a:r>
              <a:rPr lang="en-US" sz="1800" b="1" dirty="0">
                <a:solidFill>
                  <a:srgbClr val="FFFFFF"/>
                </a:solidFill>
              </a:rPr>
              <a:t>I have called an AI from code</a:t>
            </a:r>
            <a:endParaRPr lang="en-US" sz="1800" dirty="0"/>
          </a:p>
        </p:txBody>
      </p:sp>
      <p:sp>
        <p:nvSpPr>
          <p:cNvPr id="18" name="ck1_1"/>
          <p:cNvSpPr txBox="1"/>
          <p:nvPr/>
        </p:nvSpPr>
        <p:spPr>
          <a:xfrm>
            <a:off x="457200" y="3611880"/>
            <a:ext cx="8229600" cy="777240"/>
          </a:xfrm>
          <a:prstGeom prst="roundRect">
            <a:avLst>
              <a:gd name="adj" fmla="val 11765"/>
            </a:avLst>
          </a:prstGeom>
          <a:solidFill>
            <a:srgbClr val="F2B134"/>
          </a:solidFill>
          <a:ln/>
        </p:spPr>
        <p:txBody>
          <a:bodyPr wrap="square" lIns="762" tIns="762" rIns="762" bIns="762" rtlCol="0" anchor="ctr"/>
          <a:lstStyle/>
          <a:p>
            <a:pPr algn="ctr" indent="0" marL="0">
              <a:buNone/>
            </a:pPr>
            <a:r>
              <a:rPr lang="en-US" sz="2200" b="1" dirty="0">
                <a:solidFill>
                  <a:srgbClr val="0B1F3A"/>
                </a:solidFill>
              </a:rPr>
              <a:t>You already use AI. Today you learn how it works.</a:t>
            </a:r>
            <a:endParaRPr lang="en-US" sz="2200" dirty="0"/>
          </a:p>
        </p:txBody>
      </p:sp>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B9C6DA"/>
                </a:solidFill>
              </a:defRPr>
            </a:lvl1pPr>
          </a:lstStyle>
          <a:p>
            <a:pPr algn="r"/>
            <a:fld id="{F7021451-1387-4CA6-816F-3879F97B5CBC}" type="slidenum">
              <a:rPr b="0" lang="en-US"/>
              <a:t>2</a:t>
            </a:fld>
            <a:endParaRPr lang="en-US"/>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56032"/>
            <a:ext cx="6400800" cy="201168"/>
          </a:xfrm>
          <a:prstGeom prst="rect">
            <a:avLst/>
          </a:prstGeom>
          <a:noFill/>
          <a:ln/>
        </p:spPr>
        <p:txBody>
          <a:bodyPr wrap="square" lIns="0" tIns="0" rIns="0" bIns="0" rtlCol="0" anchor="t"/>
          <a:lstStyle/>
          <a:p>
            <a:pPr indent="0" marL="0">
              <a:buNone/>
            </a:pPr>
            <a:r>
              <a:rPr lang="en-US" sz="1100" b="1" spc="200" kern="0" dirty="0">
                <a:solidFill>
                  <a:srgbClr val="F2B134"/>
                </a:solidFill>
              </a:rPr>
              <a:t>TODAY'S LADDER</a:t>
            </a:r>
            <a:endParaRPr lang="en-US" sz="1100" dirty="0"/>
          </a:p>
        </p:txBody>
      </p:sp>
      <p:sp>
        <p:nvSpPr>
          <p:cNvPr id="3" name="Text 2"/>
          <p:cNvSpPr/>
          <p:nvPr>
            <p:ph idx="103" type="title" hasCustomPrompt="1"/>
          </p:nvPr>
        </p:nvSpPr>
        <p:spPr>
          <a:xfrm>
            <a:off x="457200" y="457200"/>
            <a:ext cx="8229600" cy="685800"/>
          </a:xfrm>
          <a:prstGeom prst="rect">
            <a:avLst/>
          </a:prstGeom>
          <a:noFill/>
          <a:ln/>
        </p:spPr>
        <p:txBody>
          <a:bodyPr wrap="square" lIns="0" tIns="0" rIns="0" bIns="0" rtlCol="0" anchor="ctr"/>
          <a:lstStyle/>
          <a:p>
            <a:pPr algn="l" indent="0" marL="0">
              <a:buNone/>
            </a:pPr>
            <a:r>
              <a:rPr lang="en-US" sz="3000" b="1" dirty="0">
                <a:solidFill>
                  <a:srgbClr val="FFFFFF"/>
                </a:solidFill>
              </a:rPr>
              <a:t>Five steps, simple to smarter</a:t>
            </a:r>
            <a:endParaRPr lang="en-US" sz="3000" dirty="0"/>
          </a:p>
        </p:txBody>
      </p:sp>
      <p:sp>
        <p:nvSpPr>
          <p:cNvPr id="5" name="ck1_2"/>
          <p:cNvSpPr/>
          <p:nvPr/>
        </p:nvSpPr>
        <p:spPr>
          <a:xfrm>
            <a:off x="457200" y="3611880"/>
            <a:ext cx="1554480" cy="868680"/>
          </a:xfrm>
          <a:prstGeom prst="roundRect">
            <a:avLst>
              <a:gd name="adj" fmla="val 10526"/>
            </a:avLst>
          </a:prstGeom>
          <a:solidFill>
            <a:srgbClr val="13A89E"/>
          </a:solidFill>
          <a:ln/>
        </p:spPr>
      </p:sp>
      <p:sp>
        <p:nvSpPr>
          <p:cNvPr id="6" name="ck1_3"/>
          <p:cNvSpPr txBox="1"/>
          <p:nvPr/>
        </p:nvSpPr>
        <p:spPr>
          <a:xfrm>
            <a:off x="566928" y="3685032"/>
            <a:ext cx="457200" cy="411480"/>
          </a:xfrm>
          <a:prstGeom prst="rect">
            <a:avLst/>
          </a:prstGeom>
          <a:noFill/>
          <a:ln/>
        </p:spPr>
        <p:txBody>
          <a:bodyPr wrap="square" lIns="0" tIns="0" rIns="0" bIns="0" rtlCol="0" anchor="t"/>
          <a:lstStyle/>
          <a:p>
            <a:pPr indent="0" marL="0">
              <a:buNone/>
            </a:pPr>
            <a:r>
              <a:rPr lang="en-US" sz="2600" b="1" dirty="0">
                <a:solidFill>
                  <a:srgbClr val="0B1F3A"/>
                </a:solidFill>
              </a:rPr>
              <a:t>1</a:t>
            </a:r>
            <a:endParaRPr lang="en-US" sz="2600" dirty="0"/>
          </a:p>
        </p:txBody>
      </p:sp>
      <p:sp>
        <p:nvSpPr>
          <p:cNvPr id="7" name="ck1_4"/>
          <p:cNvSpPr txBox="1"/>
          <p:nvPr/>
        </p:nvSpPr>
        <p:spPr>
          <a:xfrm>
            <a:off x="566928" y="4114800"/>
            <a:ext cx="1371600" cy="411480"/>
          </a:xfrm>
          <a:prstGeom prst="rect">
            <a:avLst/>
          </a:prstGeom>
          <a:noFill/>
          <a:ln/>
        </p:spPr>
        <p:txBody>
          <a:bodyPr wrap="square" lIns="0" tIns="0" rIns="0" bIns="0" rtlCol="0" anchor="t"/>
          <a:lstStyle/>
          <a:p>
            <a:pPr indent="0" marL="0">
              <a:buNone/>
            </a:pPr>
            <a:r>
              <a:rPr lang="en-US" sz="1400" b="1" dirty="0">
                <a:solidFill>
                  <a:srgbClr val="0B1F3A"/>
                </a:solidFill>
              </a:rPr>
              <a:t>The basics</a:t>
            </a:r>
            <a:endParaRPr lang="en-US" sz="1400" dirty="0"/>
          </a:p>
        </p:txBody>
      </p:sp>
      <p:sp>
        <p:nvSpPr>
          <p:cNvPr id="8" name="ck2_5"/>
          <p:cNvSpPr/>
          <p:nvPr/>
        </p:nvSpPr>
        <p:spPr>
          <a:xfrm>
            <a:off x="2103120" y="3081528"/>
            <a:ext cx="1554480" cy="1399032"/>
          </a:xfrm>
          <a:prstGeom prst="roundRect">
            <a:avLst>
              <a:gd name="adj" fmla="val 6536"/>
            </a:avLst>
          </a:prstGeom>
          <a:solidFill>
            <a:srgbClr val="F28C28"/>
          </a:solidFill>
          <a:ln/>
        </p:spPr>
      </p:sp>
      <p:sp>
        <p:nvSpPr>
          <p:cNvPr id="9" name="ck2_6"/>
          <p:cNvSpPr txBox="1"/>
          <p:nvPr/>
        </p:nvSpPr>
        <p:spPr>
          <a:xfrm>
            <a:off x="2212848" y="3154680"/>
            <a:ext cx="457200" cy="411480"/>
          </a:xfrm>
          <a:prstGeom prst="rect">
            <a:avLst/>
          </a:prstGeom>
          <a:noFill/>
          <a:ln/>
        </p:spPr>
        <p:txBody>
          <a:bodyPr wrap="square" lIns="0" tIns="0" rIns="0" bIns="0" rtlCol="0" anchor="t"/>
          <a:lstStyle/>
          <a:p>
            <a:pPr indent="0" marL="0">
              <a:buNone/>
            </a:pPr>
            <a:r>
              <a:rPr lang="en-US" sz="2600" b="1" dirty="0">
                <a:solidFill>
                  <a:srgbClr val="0B1F3A"/>
                </a:solidFill>
              </a:rPr>
              <a:t>2</a:t>
            </a:r>
            <a:endParaRPr lang="en-US" sz="2600" dirty="0"/>
          </a:p>
        </p:txBody>
      </p:sp>
      <p:sp>
        <p:nvSpPr>
          <p:cNvPr id="10" name="ck2_7"/>
          <p:cNvSpPr txBox="1"/>
          <p:nvPr/>
        </p:nvSpPr>
        <p:spPr>
          <a:xfrm>
            <a:off x="2212848" y="3584448"/>
            <a:ext cx="1371600" cy="411480"/>
          </a:xfrm>
          <a:prstGeom prst="rect">
            <a:avLst/>
          </a:prstGeom>
          <a:noFill/>
          <a:ln/>
        </p:spPr>
        <p:txBody>
          <a:bodyPr wrap="square" lIns="0" tIns="0" rIns="0" bIns="0" rtlCol="0" anchor="t"/>
          <a:lstStyle/>
          <a:p>
            <a:pPr indent="0" marL="0">
              <a:buNone/>
            </a:pPr>
            <a:r>
              <a:rPr lang="en-US" sz="1400" b="1" dirty="0">
                <a:solidFill>
                  <a:srgbClr val="0B1F3A"/>
                </a:solidFill>
              </a:rPr>
              <a:t>Talking to AI</a:t>
            </a:r>
            <a:endParaRPr lang="en-US" sz="1400" dirty="0"/>
          </a:p>
        </p:txBody>
      </p:sp>
      <p:sp>
        <p:nvSpPr>
          <p:cNvPr id="11" name="ck3_8"/>
          <p:cNvSpPr/>
          <p:nvPr/>
        </p:nvSpPr>
        <p:spPr>
          <a:xfrm>
            <a:off x="3749040" y="2551176"/>
            <a:ext cx="1554480" cy="1929384"/>
          </a:xfrm>
          <a:prstGeom prst="roundRect">
            <a:avLst>
              <a:gd name="adj" fmla="val 5882"/>
            </a:avLst>
          </a:prstGeom>
          <a:solidFill>
            <a:srgbClr val="F26B6B"/>
          </a:solidFill>
          <a:ln/>
        </p:spPr>
      </p:sp>
      <p:sp>
        <p:nvSpPr>
          <p:cNvPr id="12" name="ck3_9"/>
          <p:cNvSpPr txBox="1"/>
          <p:nvPr/>
        </p:nvSpPr>
        <p:spPr>
          <a:xfrm>
            <a:off x="3858768" y="2624328"/>
            <a:ext cx="457200" cy="411480"/>
          </a:xfrm>
          <a:prstGeom prst="rect">
            <a:avLst/>
          </a:prstGeom>
          <a:noFill/>
          <a:ln/>
        </p:spPr>
        <p:txBody>
          <a:bodyPr wrap="square" lIns="0" tIns="0" rIns="0" bIns="0" rtlCol="0" anchor="t"/>
          <a:lstStyle/>
          <a:p>
            <a:pPr indent="0" marL="0">
              <a:buNone/>
            </a:pPr>
            <a:r>
              <a:rPr lang="en-US" sz="2600" b="1" dirty="0">
                <a:solidFill>
                  <a:srgbClr val="0B1F3A"/>
                </a:solidFill>
              </a:rPr>
              <a:t>3</a:t>
            </a:r>
            <a:endParaRPr lang="en-US" sz="2600" dirty="0"/>
          </a:p>
        </p:txBody>
      </p:sp>
      <p:sp>
        <p:nvSpPr>
          <p:cNvPr id="13" name="ck3_10"/>
          <p:cNvSpPr txBox="1"/>
          <p:nvPr/>
        </p:nvSpPr>
        <p:spPr>
          <a:xfrm>
            <a:off x="3858768" y="3054096"/>
            <a:ext cx="1371600" cy="411480"/>
          </a:xfrm>
          <a:prstGeom prst="rect">
            <a:avLst/>
          </a:prstGeom>
          <a:noFill/>
          <a:ln/>
        </p:spPr>
        <p:txBody>
          <a:bodyPr wrap="square" lIns="0" tIns="0" rIns="0" bIns="0" rtlCol="0" anchor="t"/>
          <a:lstStyle/>
          <a:p>
            <a:pPr indent="0" marL="0">
              <a:buNone/>
            </a:pPr>
            <a:r>
              <a:rPr lang="en-US" sz="1400" b="1" dirty="0">
                <a:solidFill>
                  <a:srgbClr val="0B1F3A"/>
                </a:solidFill>
              </a:rPr>
              <a:t>When AI is wrong</a:t>
            </a:r>
            <a:endParaRPr lang="en-US" sz="1400" dirty="0"/>
          </a:p>
        </p:txBody>
      </p:sp>
      <p:sp>
        <p:nvSpPr>
          <p:cNvPr id="14" name="ck4_11"/>
          <p:cNvSpPr/>
          <p:nvPr/>
        </p:nvSpPr>
        <p:spPr>
          <a:xfrm>
            <a:off x="5394960" y="2020824"/>
            <a:ext cx="1554480" cy="2459736"/>
          </a:xfrm>
          <a:prstGeom prst="roundRect">
            <a:avLst>
              <a:gd name="adj" fmla="val 5882"/>
            </a:avLst>
          </a:prstGeom>
          <a:solidFill>
            <a:srgbClr val="A78BFA"/>
          </a:solidFill>
          <a:ln/>
        </p:spPr>
      </p:sp>
      <p:sp>
        <p:nvSpPr>
          <p:cNvPr id="15" name="ck4_12"/>
          <p:cNvSpPr txBox="1"/>
          <p:nvPr/>
        </p:nvSpPr>
        <p:spPr>
          <a:xfrm>
            <a:off x="5504688" y="2093976"/>
            <a:ext cx="457200" cy="411480"/>
          </a:xfrm>
          <a:prstGeom prst="rect">
            <a:avLst/>
          </a:prstGeom>
          <a:noFill/>
          <a:ln/>
        </p:spPr>
        <p:txBody>
          <a:bodyPr wrap="square" lIns="0" tIns="0" rIns="0" bIns="0" rtlCol="0" anchor="t"/>
          <a:lstStyle/>
          <a:p>
            <a:pPr indent="0" marL="0">
              <a:buNone/>
            </a:pPr>
            <a:r>
              <a:rPr lang="en-US" sz="2600" b="1" dirty="0">
                <a:solidFill>
                  <a:srgbClr val="0B1F3A"/>
                </a:solidFill>
              </a:rPr>
              <a:t>4</a:t>
            </a:r>
            <a:endParaRPr lang="en-US" sz="2600" dirty="0"/>
          </a:p>
        </p:txBody>
      </p:sp>
      <p:sp>
        <p:nvSpPr>
          <p:cNvPr id="16" name="ck4_13"/>
          <p:cNvSpPr txBox="1"/>
          <p:nvPr/>
        </p:nvSpPr>
        <p:spPr>
          <a:xfrm>
            <a:off x="5504688" y="2523744"/>
            <a:ext cx="1371600" cy="411480"/>
          </a:xfrm>
          <a:prstGeom prst="rect">
            <a:avLst/>
          </a:prstGeom>
          <a:noFill/>
          <a:ln/>
        </p:spPr>
        <p:txBody>
          <a:bodyPr wrap="square" lIns="0" tIns="0" rIns="0" bIns="0" rtlCol="0" anchor="t"/>
          <a:lstStyle/>
          <a:p>
            <a:pPr indent="0" marL="0">
              <a:buNone/>
            </a:pPr>
            <a:r>
              <a:rPr lang="en-US" sz="1400" b="1" dirty="0">
                <a:solidFill>
                  <a:srgbClr val="0B1F3A"/>
                </a:solidFill>
              </a:rPr>
              <a:t>Smarter AI</a:t>
            </a:r>
            <a:endParaRPr lang="en-US" sz="1400" dirty="0"/>
          </a:p>
        </p:txBody>
      </p:sp>
      <p:sp>
        <p:nvSpPr>
          <p:cNvPr id="17" name="ck5_14"/>
          <p:cNvSpPr/>
          <p:nvPr/>
        </p:nvSpPr>
        <p:spPr>
          <a:xfrm>
            <a:off x="7040880" y="1490472"/>
            <a:ext cx="1554480" cy="2990088"/>
          </a:xfrm>
          <a:prstGeom prst="roundRect">
            <a:avLst>
              <a:gd name="adj" fmla="val 5882"/>
            </a:avLst>
          </a:prstGeom>
          <a:solidFill>
            <a:srgbClr val="38BDF8"/>
          </a:solidFill>
          <a:ln/>
        </p:spPr>
      </p:sp>
      <p:sp>
        <p:nvSpPr>
          <p:cNvPr id="18" name="ck5_15"/>
          <p:cNvSpPr txBox="1"/>
          <p:nvPr/>
        </p:nvSpPr>
        <p:spPr>
          <a:xfrm>
            <a:off x="7150608" y="1563624"/>
            <a:ext cx="457200" cy="411480"/>
          </a:xfrm>
          <a:prstGeom prst="rect">
            <a:avLst/>
          </a:prstGeom>
          <a:noFill/>
          <a:ln/>
        </p:spPr>
        <p:txBody>
          <a:bodyPr wrap="square" lIns="0" tIns="0" rIns="0" bIns="0" rtlCol="0" anchor="t"/>
          <a:lstStyle/>
          <a:p>
            <a:pPr indent="0" marL="0">
              <a:buNone/>
            </a:pPr>
            <a:r>
              <a:rPr lang="en-US" sz="2600" b="1" dirty="0">
                <a:solidFill>
                  <a:srgbClr val="0B1F3A"/>
                </a:solidFill>
              </a:rPr>
              <a:t>5</a:t>
            </a:r>
            <a:endParaRPr lang="en-US" sz="2600" dirty="0"/>
          </a:p>
        </p:txBody>
      </p:sp>
      <p:sp>
        <p:nvSpPr>
          <p:cNvPr id="19" name="ck5_16"/>
          <p:cNvSpPr txBox="1"/>
          <p:nvPr/>
        </p:nvSpPr>
        <p:spPr>
          <a:xfrm>
            <a:off x="7150608" y="1993392"/>
            <a:ext cx="1371600" cy="411480"/>
          </a:xfrm>
          <a:prstGeom prst="rect">
            <a:avLst/>
          </a:prstGeom>
          <a:noFill/>
          <a:ln/>
        </p:spPr>
        <p:txBody>
          <a:bodyPr wrap="square" lIns="0" tIns="0" rIns="0" bIns="0" rtlCol="0" anchor="t"/>
          <a:lstStyle/>
          <a:p>
            <a:pPr indent="0" marL="0">
              <a:buNone/>
            </a:pPr>
            <a:r>
              <a:rPr lang="en-US" sz="1400" b="1" dirty="0">
                <a:solidFill>
                  <a:srgbClr val="0B1F3A"/>
                </a:solidFill>
              </a:rPr>
              <a:t>AI in real life</a:t>
            </a:r>
            <a:endParaRPr lang="en-US" sz="1400" dirty="0"/>
          </a:p>
        </p:txBody>
      </p:sp>
      <p:sp>
        <p:nvSpPr>
          <p:cNvPr id="20" name="Text 17"/>
          <p:cNvSpPr txBox="1"/>
          <p:nvPr/>
        </p:nvSpPr>
        <p:spPr>
          <a:xfrm>
            <a:off x="457200" y="3154680"/>
            <a:ext cx="1097280" cy="201168"/>
          </a:xfrm>
          <a:prstGeom prst="rect">
            <a:avLst/>
          </a:prstGeom>
          <a:noFill/>
          <a:ln/>
        </p:spPr>
        <p:txBody>
          <a:bodyPr wrap="square" lIns="0" tIns="0" rIns="0" bIns="0" rtlCol="0" anchor="t"/>
          <a:lstStyle/>
          <a:p>
            <a:pPr indent="0" marL="0">
              <a:buNone/>
            </a:pPr>
            <a:r>
              <a:rPr lang="en-US" sz="1100" b="1" spc="200" kern="0" dirty="0">
                <a:solidFill>
                  <a:srgbClr val="B9C6DA"/>
                </a:solidFill>
              </a:rPr>
              <a:t>BASIC</a:t>
            </a:r>
            <a:endParaRPr lang="en-US" sz="1100" dirty="0"/>
          </a:p>
        </p:txBody>
      </p:sp>
      <p:sp>
        <p:nvSpPr>
          <p:cNvPr id="21" name="Text 18"/>
          <p:cNvSpPr txBox="1"/>
          <p:nvPr/>
        </p:nvSpPr>
        <p:spPr>
          <a:xfrm>
            <a:off x="7040880" y="1188720"/>
            <a:ext cx="1645920" cy="201168"/>
          </a:xfrm>
          <a:prstGeom prst="rect">
            <a:avLst/>
          </a:prstGeom>
          <a:noFill/>
          <a:ln/>
        </p:spPr>
        <p:txBody>
          <a:bodyPr wrap="square" lIns="0" tIns="0" rIns="0" bIns="0" rtlCol="0" anchor="t"/>
          <a:lstStyle/>
          <a:p>
            <a:pPr algn="r" indent="0" marL="0">
              <a:buNone/>
            </a:pPr>
            <a:r>
              <a:rPr lang="en-US" sz="1100" b="1" spc="200" kern="0" dirty="0">
                <a:solidFill>
                  <a:srgbClr val="B9C6DA"/>
                </a:solidFill>
              </a:rPr>
              <a:t>SMARTER</a:t>
            </a:r>
            <a:endParaRPr lang="en-US" sz="1100" dirty="0"/>
          </a:p>
        </p:txBody>
      </p:sp>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B9C6DA"/>
                </a:solidFill>
              </a:defRPr>
            </a:lvl1pPr>
          </a:lstStyle>
          <a:p>
            <a:pPr algn="r"/>
            <a:fld id="{F7021451-1387-4CA6-816F-3879F97B5CBC}" type="slidenum">
              <a:rPr b="0" lang="en-US"/>
              <a:t>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500"/>
                                        <p:tgtEl>
                                          <p:spTgt spid="1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500"/>
                                        <p:tgtEl>
                                          <p:spTgt spid="18"/>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56032"/>
            <a:ext cx="6400800" cy="201168"/>
          </a:xfrm>
          <a:prstGeom prst="rect">
            <a:avLst/>
          </a:prstGeom>
          <a:noFill/>
          <a:ln/>
        </p:spPr>
        <p:txBody>
          <a:bodyPr wrap="square" lIns="0" tIns="0" rIns="0" bIns="0" rtlCol="0" anchor="t"/>
          <a:lstStyle/>
          <a:p>
            <a:pPr indent="0" marL="0">
              <a:buNone/>
            </a:pPr>
            <a:r>
              <a:rPr lang="en-US" sz="1100" b="1" spc="200" kern="0" dirty="0">
                <a:solidFill>
                  <a:srgbClr val="13A89E"/>
                </a:solidFill>
              </a:rPr>
              <a:t>GAME  |  CONFIDENT OR CORRECT?</a:t>
            </a:r>
            <a:endParaRPr lang="en-US" sz="1100" dirty="0"/>
          </a:p>
        </p:txBody>
      </p:sp>
      <p:sp>
        <p:nvSpPr>
          <p:cNvPr id="3" name="Text 2"/>
          <p:cNvSpPr/>
          <p:nvPr>
            <p:ph idx="103" type="title" hasCustomPrompt="1"/>
          </p:nvPr>
        </p:nvSpPr>
        <p:spPr>
          <a:xfrm>
            <a:off x="457200" y="457200"/>
            <a:ext cx="8229600" cy="685800"/>
          </a:xfrm>
          <a:prstGeom prst="rect">
            <a:avLst/>
          </a:prstGeom>
          <a:noFill/>
          <a:ln/>
        </p:spPr>
        <p:txBody>
          <a:bodyPr wrap="square" lIns="0" tIns="0" rIns="0" bIns="0" rtlCol="0" anchor="ctr"/>
          <a:lstStyle/>
          <a:p>
            <a:pPr algn="l" indent="0" marL="0">
              <a:buNone/>
            </a:pPr>
            <a:r>
              <a:rPr lang="en-US" sz="3000" b="1" dirty="0">
                <a:solidFill>
                  <a:srgbClr val="FFFFFF"/>
                </a:solidFill>
              </a:rPr>
              <a:t>One of these three is wrong</a:t>
            </a:r>
            <a:endParaRPr lang="en-US" sz="3000" dirty="0"/>
          </a:p>
        </p:txBody>
      </p:sp>
      <p:sp>
        <p:nvSpPr>
          <p:cNvPr id="5" name="Text 2"/>
          <p:cNvSpPr txBox="1"/>
          <p:nvPr/>
        </p:nvSpPr>
        <p:spPr>
          <a:xfrm>
            <a:off x="7223760" y="256032"/>
            <a:ext cx="1463040" cy="237744"/>
          </a:xfrm>
          <a:prstGeom prst="roundRect">
            <a:avLst>
              <a:gd name="adj" fmla="val 38462"/>
            </a:avLst>
          </a:prstGeom>
          <a:solidFill>
            <a:srgbClr val="F2B134"/>
          </a:solidFill>
          <a:ln/>
        </p:spPr>
        <p:txBody>
          <a:bodyPr wrap="square" lIns="254" tIns="254" rIns="254" bIns="254" rtlCol="0" anchor="ctr"/>
          <a:lstStyle/>
          <a:p>
            <a:pPr algn="ctr" indent="0" marL="0">
              <a:buNone/>
            </a:pPr>
            <a:r>
              <a:rPr lang="en-US" sz="1100" b="1" dirty="0">
                <a:solidFill>
                  <a:srgbClr val="0B1F3A"/>
                </a:solidFill>
              </a:rPr>
              <a:t>VOTE: 1, 2 OR 3</a:t>
            </a:r>
            <a:endParaRPr lang="en-US" sz="1100" dirty="0"/>
          </a:p>
        </p:txBody>
      </p:sp>
      <p:sp>
        <p:nvSpPr>
          <p:cNvPr id="6" name="Shape 3"/>
          <p:cNvSpPr/>
          <p:nvPr/>
        </p:nvSpPr>
        <p:spPr>
          <a:xfrm>
            <a:off x="457200" y="1325880"/>
            <a:ext cx="2651760" cy="2286000"/>
          </a:xfrm>
          <a:prstGeom prst="roundRect">
            <a:avLst>
              <a:gd name="adj" fmla="val 4000"/>
            </a:avLst>
          </a:prstGeom>
          <a:solidFill>
            <a:srgbClr val="14305A"/>
          </a:solidFill>
          <a:ln/>
        </p:spPr>
      </p:sp>
      <p:sp>
        <p:nvSpPr>
          <p:cNvPr id="7" name="Text 4"/>
          <p:cNvSpPr txBox="1"/>
          <p:nvPr/>
        </p:nvSpPr>
        <p:spPr>
          <a:xfrm>
            <a:off x="640080" y="1463040"/>
            <a:ext cx="1188720" cy="237744"/>
          </a:xfrm>
          <a:prstGeom prst="roundRect">
            <a:avLst>
              <a:gd name="adj" fmla="val 38462"/>
            </a:avLst>
          </a:prstGeom>
          <a:solidFill>
            <a:srgbClr val="13A89E"/>
          </a:solidFill>
          <a:ln/>
        </p:spPr>
        <p:txBody>
          <a:bodyPr wrap="square" lIns="254" tIns="254" rIns="254" bIns="254" rtlCol="0" anchor="ctr"/>
          <a:lstStyle/>
          <a:p>
            <a:pPr algn="ctr" indent="0" marL="0">
              <a:buNone/>
            </a:pPr>
            <a:r>
              <a:rPr lang="en-US" sz="1100" b="1" dirty="0">
                <a:solidFill>
                  <a:srgbClr val="0B1F3A"/>
                </a:solidFill>
              </a:rPr>
              <a:t>AI ANSWER 1</a:t>
            </a:r>
            <a:endParaRPr lang="en-US" sz="1100" dirty="0"/>
          </a:p>
        </p:txBody>
      </p:sp>
      <p:sp>
        <p:nvSpPr>
          <p:cNvPr id="8" name="Text 5"/>
          <p:cNvSpPr txBox="1"/>
          <p:nvPr/>
        </p:nvSpPr>
        <p:spPr>
          <a:xfrm>
            <a:off x="640080" y="1874520"/>
            <a:ext cx="2286000" cy="1691640"/>
          </a:xfrm>
          <a:prstGeom prst="rect">
            <a:avLst/>
          </a:prstGeom>
          <a:noFill/>
          <a:ln/>
        </p:spPr>
        <p:txBody>
          <a:bodyPr wrap="square" lIns="0" tIns="0" rIns="0" bIns="0" rtlCol="0" anchor="t"/>
          <a:lstStyle/>
          <a:p>
            <a:pPr indent="0" marL="0">
              <a:buNone/>
            </a:pPr>
            <a:r>
              <a:rPr lang="en-US" sz="1500" dirty="0">
                <a:solidFill>
                  <a:srgbClr val="FFFFFF"/>
                </a:solidFill>
              </a:rPr>
              <a:t>Java was first announced publicly in 1995 by James Gosling and his team at Sun Microsystems.</a:t>
            </a:r>
            <a:endParaRPr lang="en-US" sz="1500" dirty="0"/>
          </a:p>
        </p:txBody>
      </p:sp>
      <p:sp>
        <p:nvSpPr>
          <p:cNvPr id="9" name="Shape 6"/>
          <p:cNvSpPr/>
          <p:nvPr/>
        </p:nvSpPr>
        <p:spPr>
          <a:xfrm>
            <a:off x="3246120" y="1325880"/>
            <a:ext cx="2651760" cy="2286000"/>
          </a:xfrm>
          <a:prstGeom prst="roundRect">
            <a:avLst>
              <a:gd name="adj" fmla="val 4000"/>
            </a:avLst>
          </a:prstGeom>
          <a:solidFill>
            <a:srgbClr val="14305A"/>
          </a:solidFill>
          <a:ln/>
        </p:spPr>
      </p:sp>
      <p:sp>
        <p:nvSpPr>
          <p:cNvPr id="10" name="Text 7"/>
          <p:cNvSpPr txBox="1"/>
          <p:nvPr/>
        </p:nvSpPr>
        <p:spPr>
          <a:xfrm>
            <a:off x="3429000" y="1463040"/>
            <a:ext cx="1188720" cy="237744"/>
          </a:xfrm>
          <a:prstGeom prst="roundRect">
            <a:avLst>
              <a:gd name="adj" fmla="val 38462"/>
            </a:avLst>
          </a:prstGeom>
          <a:solidFill>
            <a:srgbClr val="13A89E"/>
          </a:solidFill>
          <a:ln/>
        </p:spPr>
        <p:txBody>
          <a:bodyPr wrap="square" lIns="254" tIns="254" rIns="254" bIns="254" rtlCol="0" anchor="ctr"/>
          <a:lstStyle/>
          <a:p>
            <a:pPr algn="ctr" indent="0" marL="0">
              <a:buNone/>
            </a:pPr>
            <a:r>
              <a:rPr lang="en-US" sz="1100" b="1" dirty="0">
                <a:solidFill>
                  <a:srgbClr val="0B1F3A"/>
                </a:solidFill>
              </a:rPr>
              <a:t>AI ANSWER 2</a:t>
            </a:r>
            <a:endParaRPr lang="en-US" sz="1100" dirty="0"/>
          </a:p>
        </p:txBody>
      </p:sp>
      <p:sp>
        <p:nvSpPr>
          <p:cNvPr id="11" name="Text 8"/>
          <p:cNvSpPr txBox="1"/>
          <p:nvPr/>
        </p:nvSpPr>
        <p:spPr>
          <a:xfrm>
            <a:off x="3429000" y="1874520"/>
            <a:ext cx="2286000" cy="1691640"/>
          </a:xfrm>
          <a:prstGeom prst="rect">
            <a:avLst/>
          </a:prstGeom>
          <a:noFill/>
          <a:ln/>
        </p:spPr>
        <p:txBody>
          <a:bodyPr wrap="square" lIns="0" tIns="0" rIns="0" bIns="0" rtlCol="0" anchor="t"/>
          <a:lstStyle/>
          <a:p>
            <a:pPr indent="0" marL="0">
              <a:buNone/>
            </a:pPr>
            <a:r>
              <a:rPr lang="en-US" sz="1500" dirty="0">
                <a:solidFill>
                  <a:srgbClr val="FFFFFF"/>
                </a:solidFill>
              </a:rPr>
              <a:t>In Java, String is a primitive type, stored directly on the stack, so it is faster than any object.</a:t>
            </a:r>
            <a:endParaRPr lang="en-US" sz="1500" dirty="0"/>
          </a:p>
        </p:txBody>
      </p:sp>
      <p:sp>
        <p:nvSpPr>
          <p:cNvPr id="12" name="Shape 9"/>
          <p:cNvSpPr/>
          <p:nvPr/>
        </p:nvSpPr>
        <p:spPr>
          <a:xfrm>
            <a:off x="6035040" y="1325880"/>
            <a:ext cx="2651760" cy="2286000"/>
          </a:xfrm>
          <a:prstGeom prst="roundRect">
            <a:avLst>
              <a:gd name="adj" fmla="val 4000"/>
            </a:avLst>
          </a:prstGeom>
          <a:solidFill>
            <a:srgbClr val="14305A"/>
          </a:solidFill>
          <a:ln/>
        </p:spPr>
      </p:sp>
      <p:sp>
        <p:nvSpPr>
          <p:cNvPr id="13" name="Text 10"/>
          <p:cNvSpPr txBox="1"/>
          <p:nvPr/>
        </p:nvSpPr>
        <p:spPr>
          <a:xfrm>
            <a:off x="6217920" y="1463040"/>
            <a:ext cx="1188720" cy="237744"/>
          </a:xfrm>
          <a:prstGeom prst="roundRect">
            <a:avLst>
              <a:gd name="adj" fmla="val 38462"/>
            </a:avLst>
          </a:prstGeom>
          <a:solidFill>
            <a:srgbClr val="13A89E"/>
          </a:solidFill>
          <a:ln/>
        </p:spPr>
        <p:txBody>
          <a:bodyPr wrap="square" lIns="254" tIns="254" rIns="254" bIns="254" rtlCol="0" anchor="ctr"/>
          <a:lstStyle/>
          <a:p>
            <a:pPr algn="ctr" indent="0" marL="0">
              <a:buNone/>
            </a:pPr>
            <a:r>
              <a:rPr lang="en-US" sz="1100" b="1" dirty="0">
                <a:solidFill>
                  <a:srgbClr val="0B1F3A"/>
                </a:solidFill>
              </a:rPr>
              <a:t>AI ANSWER 3</a:t>
            </a:r>
            <a:endParaRPr lang="en-US" sz="1100" dirty="0"/>
          </a:p>
        </p:txBody>
      </p:sp>
      <p:sp>
        <p:nvSpPr>
          <p:cNvPr id="14" name="Text 11"/>
          <p:cNvSpPr txBox="1"/>
          <p:nvPr/>
        </p:nvSpPr>
        <p:spPr>
          <a:xfrm>
            <a:off x="6217920" y="1874520"/>
            <a:ext cx="2286000" cy="1691640"/>
          </a:xfrm>
          <a:prstGeom prst="rect">
            <a:avLst/>
          </a:prstGeom>
          <a:noFill/>
          <a:ln/>
        </p:spPr>
        <p:txBody>
          <a:bodyPr wrap="square" lIns="0" tIns="0" rIns="0" bIns="0" rtlCol="0" anchor="t"/>
          <a:lstStyle/>
          <a:p>
            <a:pPr indent="0" marL="0">
              <a:buNone/>
            </a:pPr>
            <a:r>
              <a:rPr lang="en-US" sz="1500" dirty="0">
                <a:solidFill>
                  <a:srgbClr val="FFFFFF"/>
                </a:solidFill>
              </a:rPr>
              <a:t>Hibernate is an ORM framework: it maps Java classes to database tables.</a:t>
            </a:r>
            <a:endParaRPr lang="en-US" sz="1500" dirty="0"/>
          </a:p>
        </p:txBody>
      </p:sp>
      <p:sp>
        <p:nvSpPr>
          <p:cNvPr id="15" name="Shape 12"/>
          <p:cNvSpPr/>
          <p:nvPr/>
        </p:nvSpPr>
        <p:spPr>
          <a:xfrm>
            <a:off x="457200" y="3794760"/>
            <a:ext cx="8229600" cy="685800"/>
          </a:xfrm>
          <a:prstGeom prst="roundRect">
            <a:avLst>
              <a:gd name="adj" fmla="val 13333"/>
            </a:avLst>
          </a:prstGeom>
          <a:solidFill>
            <a:srgbClr val="14305A"/>
          </a:solidFill>
          <a:ln w="19050">
            <a:solidFill>
              <a:srgbClr val="F2B134"/>
            </a:solidFill>
            <a:prstDash val="solid"/>
          </a:ln>
        </p:spPr>
      </p:sp>
      <p:sp>
        <p:nvSpPr>
          <p:cNvPr id="16" name="Text 13"/>
          <p:cNvSpPr txBox="1"/>
          <p:nvPr/>
        </p:nvSpPr>
        <p:spPr>
          <a:xfrm>
            <a:off x="685800" y="3794760"/>
            <a:ext cx="7772400" cy="685800"/>
          </a:xfrm>
          <a:prstGeom prst="rect">
            <a:avLst/>
          </a:prstGeom>
          <a:noFill/>
          <a:ln/>
        </p:spPr>
        <p:txBody>
          <a:bodyPr wrap="square" lIns="0" tIns="0" rIns="0" bIns="0" rtlCol="0" anchor="ctr"/>
          <a:lstStyle/>
          <a:p>
            <a:pPr indent="0" marL="0">
              <a:buNone/>
            </a:pPr>
            <a:r>
              <a:rPr lang="en-US" sz="1800" b="1" dirty="0">
                <a:solidFill>
                  <a:srgbClr val="FFFFFF"/>
                </a:solidFill>
              </a:rPr>
              <a:t>All three sound equally sure. Hands up: which one is wrong?</a:t>
            </a:r>
            <a:endParaRPr lang="en-US" sz="1800" dirty="0"/>
          </a:p>
        </p:txBody>
      </p:sp>
      <p:sp>
        <p:nvSpPr>
          <p:cNvPr id="17" name="ck1_17"/>
          <p:cNvSpPr txBox="1"/>
          <p:nvPr/>
        </p:nvSpPr>
        <p:spPr>
          <a:xfrm>
            <a:off x="1965960" y="1463040"/>
            <a:ext cx="960120" cy="237744"/>
          </a:xfrm>
          <a:prstGeom prst="roundRect">
            <a:avLst>
              <a:gd name="adj" fmla="val 38462"/>
            </a:avLst>
          </a:prstGeom>
          <a:solidFill>
            <a:srgbClr val="5DB85C"/>
          </a:solidFill>
          <a:ln/>
        </p:spPr>
        <p:txBody>
          <a:bodyPr wrap="square" lIns="254" tIns="254" rIns="254" bIns="254" rtlCol="0" anchor="ctr"/>
          <a:lstStyle/>
          <a:p>
            <a:pPr algn="ctr" indent="0" marL="0">
              <a:buNone/>
            </a:pPr>
            <a:r>
              <a:rPr lang="en-US" sz="1100" b="1" dirty="0">
                <a:solidFill>
                  <a:srgbClr val="0B1F3A"/>
                </a:solidFill>
              </a:rPr>
              <a:t>TRUE</a:t>
            </a:r>
            <a:endParaRPr lang="en-US" sz="1100" dirty="0"/>
          </a:p>
        </p:txBody>
      </p:sp>
      <p:sp>
        <p:nvSpPr>
          <p:cNvPr id="18" name="ck1_18"/>
          <p:cNvSpPr txBox="1"/>
          <p:nvPr/>
        </p:nvSpPr>
        <p:spPr>
          <a:xfrm>
            <a:off x="7543800" y="1463040"/>
            <a:ext cx="960120" cy="237744"/>
          </a:xfrm>
          <a:prstGeom prst="roundRect">
            <a:avLst>
              <a:gd name="adj" fmla="val 38462"/>
            </a:avLst>
          </a:prstGeom>
          <a:solidFill>
            <a:srgbClr val="5DB85C"/>
          </a:solidFill>
          <a:ln/>
        </p:spPr>
        <p:txBody>
          <a:bodyPr wrap="square" lIns="254" tIns="254" rIns="254" bIns="254" rtlCol="0" anchor="ctr"/>
          <a:lstStyle/>
          <a:p>
            <a:pPr algn="ctr" indent="0" marL="0">
              <a:buNone/>
            </a:pPr>
            <a:r>
              <a:rPr lang="en-US" sz="1100" b="1" dirty="0">
                <a:solidFill>
                  <a:srgbClr val="0B1F3A"/>
                </a:solidFill>
              </a:rPr>
              <a:t>TRUE</a:t>
            </a:r>
            <a:endParaRPr lang="en-US" sz="1100" dirty="0"/>
          </a:p>
        </p:txBody>
      </p:sp>
      <p:sp>
        <p:nvSpPr>
          <p:cNvPr id="19" name="ck1_19"/>
          <p:cNvSpPr txBox="1"/>
          <p:nvPr/>
        </p:nvSpPr>
        <p:spPr>
          <a:xfrm>
            <a:off x="4754880" y="1463040"/>
            <a:ext cx="960120" cy="237744"/>
          </a:xfrm>
          <a:prstGeom prst="roundRect">
            <a:avLst>
              <a:gd name="adj" fmla="val 38462"/>
            </a:avLst>
          </a:prstGeom>
          <a:solidFill>
            <a:srgbClr val="F26B6B"/>
          </a:solidFill>
          <a:ln/>
        </p:spPr>
        <p:txBody>
          <a:bodyPr wrap="square" lIns="254" tIns="254" rIns="254" bIns="254" rtlCol="0" anchor="ctr"/>
          <a:lstStyle/>
          <a:p>
            <a:pPr algn="ctr" indent="0" marL="0">
              <a:buNone/>
            </a:pPr>
            <a:r>
              <a:rPr lang="en-US" sz="1100" b="1" dirty="0">
                <a:solidFill>
                  <a:srgbClr val="0B1F3A"/>
                </a:solidFill>
              </a:rPr>
              <a:t>FALSE</a:t>
            </a:r>
            <a:endParaRPr lang="en-US" sz="1100" dirty="0"/>
          </a:p>
        </p:txBody>
      </p:sp>
      <p:sp>
        <p:nvSpPr>
          <p:cNvPr id="20" name="ck1_20"/>
          <p:cNvSpPr txBox="1"/>
          <p:nvPr/>
        </p:nvSpPr>
        <p:spPr>
          <a:xfrm>
            <a:off x="457200" y="3794760"/>
            <a:ext cx="8229600" cy="685800"/>
          </a:xfrm>
          <a:prstGeom prst="roundRect">
            <a:avLst>
              <a:gd name="adj" fmla="val 13333"/>
            </a:avLst>
          </a:prstGeom>
          <a:solidFill>
            <a:srgbClr val="F26B6B"/>
          </a:solidFill>
          <a:ln/>
        </p:spPr>
        <p:txBody>
          <a:bodyPr wrap="square" lIns="762" tIns="762" rIns="762" bIns="762" rtlCol="0" anchor="ctr"/>
          <a:lstStyle/>
          <a:p>
            <a:pPr algn="ctr" indent="0" marL="0">
              <a:buNone/>
            </a:pPr>
            <a:r>
              <a:rPr lang="en-US" sz="1800" b="1" dirty="0">
                <a:solidFill>
                  <a:srgbClr val="0B1F3A"/>
                </a:solidFill>
              </a:rPr>
              <a:t>Number 2 is wrong: String is a class, not a primitive. Confidence is not correctness.</a:t>
            </a:r>
            <a:endParaRPr lang="en-US" sz="1800" dirty="0"/>
          </a:p>
        </p:txBody>
      </p:sp>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B9C6DA"/>
                </a:solidFill>
              </a:defRPr>
            </a:lvl1pPr>
          </a:lstStyle>
          <a:p>
            <a:pPr algn="r"/>
            <a:fld id="{F7021451-1387-4CA6-816F-3879F97B5CBC}" type="slidenum">
              <a:rPr b="0" lang="en-US"/>
              <a:t>4</a:t>
            </a:fld>
            <a:endParaRPr lang="en-US"/>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56032"/>
            <a:ext cx="6400800" cy="201168"/>
          </a:xfrm>
          <a:prstGeom prst="rect">
            <a:avLst/>
          </a:prstGeom>
          <a:noFill/>
          <a:ln/>
        </p:spPr>
        <p:txBody>
          <a:bodyPr wrap="square" lIns="0" tIns="0" rIns="0" bIns="0" rtlCol="0" anchor="t"/>
          <a:lstStyle/>
          <a:p>
            <a:pPr indent="0" marL="0">
              <a:buNone/>
            </a:pPr>
            <a:r>
              <a:rPr lang="en-US" sz="1100" b="1" spc="200" kern="0" dirty="0">
                <a:solidFill>
                  <a:srgbClr val="13A89E"/>
                </a:solidFill>
              </a:rPr>
              <a:t>1  THE BASICS</a:t>
            </a:r>
            <a:endParaRPr lang="en-US" sz="1100" dirty="0"/>
          </a:p>
        </p:txBody>
      </p:sp>
      <p:sp>
        <p:nvSpPr>
          <p:cNvPr id="3" name="Text 2"/>
          <p:cNvSpPr/>
          <p:nvPr>
            <p:ph idx="103" type="title" hasCustomPrompt="1"/>
          </p:nvPr>
        </p:nvSpPr>
        <p:spPr>
          <a:xfrm>
            <a:off x="457200" y="457200"/>
            <a:ext cx="8229600" cy="685800"/>
          </a:xfrm>
          <a:prstGeom prst="rect">
            <a:avLst/>
          </a:prstGeom>
          <a:noFill/>
          <a:ln/>
        </p:spPr>
        <p:txBody>
          <a:bodyPr wrap="square" lIns="0" tIns="0" rIns="0" bIns="0" rtlCol="0" anchor="ctr"/>
          <a:lstStyle/>
          <a:p>
            <a:pPr algn="l" indent="0" marL="0">
              <a:buNone/>
            </a:pPr>
            <a:r>
              <a:rPr lang="en-US" sz="3000" b="1" dirty="0">
                <a:solidFill>
                  <a:srgbClr val="FFFFFF"/>
                </a:solidFill>
              </a:rPr>
              <a:t>The AI family: circles inside circles</a:t>
            </a:r>
            <a:endParaRPr lang="en-US" sz="3000" dirty="0"/>
          </a:p>
        </p:txBody>
      </p:sp>
      <p:sp>
        <p:nvSpPr>
          <p:cNvPr id="5" name="ck1_21"/>
          <p:cNvSpPr/>
          <p:nvPr/>
        </p:nvSpPr>
        <p:spPr>
          <a:xfrm>
            <a:off x="640080" y="1325880"/>
            <a:ext cx="3108960" cy="3108960"/>
          </a:xfrm>
          <a:prstGeom prst="ellipse">
            <a:avLst/>
          </a:prstGeom>
          <a:solidFill>
            <a:srgbClr val="13A89E">
              <a:alpha val="20000"/>
            </a:srgbClr>
          </a:solidFill>
          <a:ln w="12700">
            <a:solidFill>
              <a:srgbClr val="13A89E"/>
            </a:solidFill>
            <a:prstDash val="solid"/>
          </a:ln>
        </p:spPr>
      </p:sp>
      <p:sp>
        <p:nvSpPr>
          <p:cNvPr id="6" name="ck1_22"/>
          <p:cNvSpPr txBox="1"/>
          <p:nvPr/>
        </p:nvSpPr>
        <p:spPr>
          <a:xfrm>
            <a:off x="640080" y="1417320"/>
            <a:ext cx="3108960" cy="274320"/>
          </a:xfrm>
          <a:prstGeom prst="rect">
            <a:avLst/>
          </a:prstGeom>
          <a:noFill/>
          <a:ln/>
        </p:spPr>
        <p:txBody>
          <a:bodyPr wrap="square" lIns="0" tIns="0" rIns="0" bIns="0" rtlCol="0" anchor="t"/>
          <a:lstStyle/>
          <a:p>
            <a:pPr algn="ctr" indent="0" marL="0">
              <a:buNone/>
            </a:pPr>
            <a:r>
              <a:rPr lang="en-US" sz="1300" b="1" dirty="0">
                <a:solidFill>
                  <a:srgbClr val="FFFFFF"/>
                </a:solidFill>
              </a:rPr>
              <a:t>Artificial intelligence</a:t>
            </a:r>
            <a:endParaRPr lang="en-US" sz="1300" dirty="0"/>
          </a:p>
        </p:txBody>
      </p:sp>
      <p:sp>
        <p:nvSpPr>
          <p:cNvPr id="7" name="ck2_23"/>
          <p:cNvSpPr/>
          <p:nvPr/>
        </p:nvSpPr>
        <p:spPr>
          <a:xfrm>
            <a:off x="1005840" y="2057400"/>
            <a:ext cx="2377440" cy="2377440"/>
          </a:xfrm>
          <a:prstGeom prst="ellipse">
            <a:avLst/>
          </a:prstGeom>
          <a:solidFill>
            <a:srgbClr val="13A89E">
              <a:alpha val="38000"/>
            </a:srgbClr>
          </a:solidFill>
          <a:ln w="12700">
            <a:solidFill>
              <a:srgbClr val="13A89E"/>
            </a:solidFill>
            <a:prstDash val="solid"/>
          </a:ln>
        </p:spPr>
      </p:sp>
      <p:sp>
        <p:nvSpPr>
          <p:cNvPr id="8" name="ck2_24"/>
          <p:cNvSpPr txBox="1"/>
          <p:nvPr/>
        </p:nvSpPr>
        <p:spPr>
          <a:xfrm>
            <a:off x="1005840" y="2148840"/>
            <a:ext cx="2377440" cy="274320"/>
          </a:xfrm>
          <a:prstGeom prst="rect">
            <a:avLst/>
          </a:prstGeom>
          <a:noFill/>
          <a:ln/>
        </p:spPr>
        <p:txBody>
          <a:bodyPr wrap="square" lIns="0" tIns="0" rIns="0" bIns="0" rtlCol="0" anchor="t"/>
          <a:lstStyle/>
          <a:p>
            <a:pPr algn="ctr" indent="0" marL="0">
              <a:buNone/>
            </a:pPr>
            <a:r>
              <a:rPr lang="en-US" sz="1300" b="1" dirty="0">
                <a:solidFill>
                  <a:srgbClr val="FFFFFF"/>
                </a:solidFill>
              </a:rPr>
              <a:t>Machine learning</a:t>
            </a:r>
            <a:endParaRPr lang="en-US" sz="1300" dirty="0"/>
          </a:p>
        </p:txBody>
      </p:sp>
      <p:sp>
        <p:nvSpPr>
          <p:cNvPr id="9" name="ck3_25"/>
          <p:cNvSpPr/>
          <p:nvPr/>
        </p:nvSpPr>
        <p:spPr>
          <a:xfrm>
            <a:off x="1371600" y="2788920"/>
            <a:ext cx="1645920" cy="1645920"/>
          </a:xfrm>
          <a:prstGeom prst="ellipse">
            <a:avLst/>
          </a:prstGeom>
          <a:solidFill>
            <a:srgbClr val="13A89E">
              <a:alpha val="60000"/>
            </a:srgbClr>
          </a:solidFill>
          <a:ln w="12700">
            <a:solidFill>
              <a:srgbClr val="13A89E"/>
            </a:solidFill>
            <a:prstDash val="solid"/>
          </a:ln>
        </p:spPr>
      </p:sp>
      <p:sp>
        <p:nvSpPr>
          <p:cNvPr id="10" name="ck3_26"/>
          <p:cNvSpPr txBox="1"/>
          <p:nvPr/>
        </p:nvSpPr>
        <p:spPr>
          <a:xfrm>
            <a:off x="1371600" y="2880360"/>
            <a:ext cx="1645920" cy="274320"/>
          </a:xfrm>
          <a:prstGeom prst="rect">
            <a:avLst/>
          </a:prstGeom>
          <a:noFill/>
          <a:ln/>
        </p:spPr>
        <p:txBody>
          <a:bodyPr wrap="square" lIns="0" tIns="0" rIns="0" bIns="0" rtlCol="0" anchor="t"/>
          <a:lstStyle/>
          <a:p>
            <a:pPr algn="ctr" indent="0" marL="0">
              <a:buNone/>
            </a:pPr>
            <a:r>
              <a:rPr lang="en-US" sz="1300" b="1" dirty="0">
                <a:solidFill>
                  <a:srgbClr val="FFFFFF"/>
                </a:solidFill>
              </a:rPr>
              <a:t>Deep learning</a:t>
            </a:r>
            <a:endParaRPr lang="en-US" sz="1300" dirty="0"/>
          </a:p>
        </p:txBody>
      </p:sp>
      <p:sp>
        <p:nvSpPr>
          <p:cNvPr id="11" name="ck4_27"/>
          <p:cNvSpPr/>
          <p:nvPr/>
        </p:nvSpPr>
        <p:spPr>
          <a:xfrm>
            <a:off x="1737360" y="3520440"/>
            <a:ext cx="914400" cy="914400"/>
          </a:xfrm>
          <a:prstGeom prst="ellipse">
            <a:avLst/>
          </a:prstGeom>
          <a:solidFill>
            <a:srgbClr val="A78BFA"/>
          </a:solidFill>
          <a:ln/>
        </p:spPr>
      </p:sp>
      <p:sp>
        <p:nvSpPr>
          <p:cNvPr id="12" name="ck4_28"/>
          <p:cNvSpPr txBox="1"/>
          <p:nvPr/>
        </p:nvSpPr>
        <p:spPr>
          <a:xfrm>
            <a:off x="1737360" y="3822192"/>
            <a:ext cx="914400" cy="274320"/>
          </a:xfrm>
          <a:prstGeom prst="rect">
            <a:avLst/>
          </a:prstGeom>
          <a:noFill/>
          <a:ln/>
        </p:spPr>
        <p:txBody>
          <a:bodyPr wrap="square" lIns="0" tIns="0" rIns="0" bIns="0" rtlCol="0" anchor="t"/>
          <a:lstStyle/>
          <a:p>
            <a:pPr algn="ctr" indent="0" marL="0">
              <a:buNone/>
            </a:pPr>
            <a:r>
              <a:rPr lang="en-US" sz="1400" b="1" dirty="0">
                <a:solidFill>
                  <a:srgbClr val="0B1F3A"/>
                </a:solidFill>
              </a:rPr>
              <a:t>Gen AI</a:t>
            </a:r>
            <a:endParaRPr lang="en-US" sz="1400" dirty="0"/>
          </a:p>
        </p:txBody>
      </p:sp>
      <p:sp>
        <p:nvSpPr>
          <p:cNvPr id="13" name="ck1_29"/>
          <p:cNvSpPr/>
          <p:nvPr/>
        </p:nvSpPr>
        <p:spPr>
          <a:xfrm>
            <a:off x="4389120" y="1380744"/>
            <a:ext cx="182880" cy="182880"/>
          </a:xfrm>
          <a:prstGeom prst="ellipse">
            <a:avLst/>
          </a:prstGeom>
          <a:solidFill>
            <a:srgbClr val="13A89E"/>
          </a:solidFill>
          <a:ln/>
        </p:spPr>
      </p:sp>
      <p:sp>
        <p:nvSpPr>
          <p:cNvPr id="14" name="ck1_30"/>
          <p:cNvSpPr txBox="1"/>
          <p:nvPr/>
        </p:nvSpPr>
        <p:spPr>
          <a:xfrm>
            <a:off x="4754880" y="1325880"/>
            <a:ext cx="3931920" cy="274320"/>
          </a:xfrm>
          <a:prstGeom prst="rect">
            <a:avLst/>
          </a:prstGeom>
          <a:noFill/>
          <a:ln/>
        </p:spPr>
        <p:txBody>
          <a:bodyPr wrap="square" lIns="0" tIns="0" rIns="0" bIns="0" rtlCol="0" anchor="t"/>
          <a:lstStyle/>
          <a:p>
            <a:pPr indent="0" marL="0">
              <a:buNone/>
            </a:pPr>
            <a:r>
              <a:rPr lang="en-US" sz="1700" b="1" dirty="0">
                <a:solidFill>
                  <a:srgbClr val="FFFFFF"/>
                </a:solidFill>
              </a:rPr>
              <a:t>AI</a:t>
            </a:r>
            <a:endParaRPr lang="en-US" sz="1700" dirty="0"/>
          </a:p>
        </p:txBody>
      </p:sp>
      <p:sp>
        <p:nvSpPr>
          <p:cNvPr id="15" name="ck1_31"/>
          <p:cNvSpPr txBox="1"/>
          <p:nvPr/>
        </p:nvSpPr>
        <p:spPr>
          <a:xfrm>
            <a:off x="4754880" y="1618488"/>
            <a:ext cx="3931920" cy="457200"/>
          </a:xfrm>
          <a:prstGeom prst="rect">
            <a:avLst/>
          </a:prstGeom>
          <a:noFill/>
          <a:ln/>
        </p:spPr>
        <p:txBody>
          <a:bodyPr wrap="square" lIns="0" tIns="0" rIns="0" bIns="0" rtlCol="0" anchor="t"/>
          <a:lstStyle/>
          <a:p>
            <a:pPr indent="0" marL="0">
              <a:buNone/>
            </a:pPr>
            <a:r>
              <a:rPr lang="en-US" sz="1400" dirty="0">
                <a:solidFill>
                  <a:srgbClr val="B9C6DA"/>
                </a:solidFill>
              </a:rPr>
              <a:t>Machines doing things that need human intelligence. Example: a chess program.</a:t>
            </a:r>
            <a:endParaRPr lang="en-US" sz="1400" dirty="0"/>
          </a:p>
        </p:txBody>
      </p:sp>
      <p:sp>
        <p:nvSpPr>
          <p:cNvPr id="16" name="ck2_32"/>
          <p:cNvSpPr/>
          <p:nvPr/>
        </p:nvSpPr>
        <p:spPr>
          <a:xfrm>
            <a:off x="4389120" y="2185416"/>
            <a:ext cx="182880" cy="182880"/>
          </a:xfrm>
          <a:prstGeom prst="ellipse">
            <a:avLst/>
          </a:prstGeom>
          <a:solidFill>
            <a:srgbClr val="13A89E"/>
          </a:solidFill>
          <a:ln/>
        </p:spPr>
      </p:sp>
      <p:sp>
        <p:nvSpPr>
          <p:cNvPr id="17" name="ck2_33"/>
          <p:cNvSpPr txBox="1"/>
          <p:nvPr/>
        </p:nvSpPr>
        <p:spPr>
          <a:xfrm>
            <a:off x="4754880" y="2130552"/>
            <a:ext cx="3931920" cy="274320"/>
          </a:xfrm>
          <a:prstGeom prst="rect">
            <a:avLst/>
          </a:prstGeom>
          <a:noFill/>
          <a:ln/>
        </p:spPr>
        <p:txBody>
          <a:bodyPr wrap="square" lIns="0" tIns="0" rIns="0" bIns="0" rtlCol="0" anchor="t"/>
          <a:lstStyle/>
          <a:p>
            <a:pPr indent="0" marL="0">
              <a:buNone/>
            </a:pPr>
            <a:r>
              <a:rPr lang="en-US" sz="1700" b="1" dirty="0">
                <a:solidFill>
                  <a:srgbClr val="FFFFFF"/>
                </a:solidFill>
              </a:rPr>
              <a:t>Machine learning</a:t>
            </a:r>
            <a:endParaRPr lang="en-US" sz="1700" dirty="0"/>
          </a:p>
        </p:txBody>
      </p:sp>
      <p:sp>
        <p:nvSpPr>
          <p:cNvPr id="18" name="ck2_34"/>
          <p:cNvSpPr txBox="1"/>
          <p:nvPr/>
        </p:nvSpPr>
        <p:spPr>
          <a:xfrm>
            <a:off x="4754880" y="2423160"/>
            <a:ext cx="3931920" cy="457200"/>
          </a:xfrm>
          <a:prstGeom prst="rect">
            <a:avLst/>
          </a:prstGeom>
          <a:noFill/>
          <a:ln/>
        </p:spPr>
        <p:txBody>
          <a:bodyPr wrap="square" lIns="0" tIns="0" rIns="0" bIns="0" rtlCol="0" anchor="t"/>
          <a:lstStyle/>
          <a:p>
            <a:pPr indent="0" marL="0">
              <a:buNone/>
            </a:pPr>
            <a:r>
              <a:rPr lang="en-US" sz="1400" dirty="0">
                <a:solidFill>
                  <a:srgbClr val="B9C6DA"/>
                </a:solidFill>
              </a:rPr>
              <a:t>Learns from data, not fixed rules. Example: a spam filter.</a:t>
            </a:r>
            <a:endParaRPr lang="en-US" sz="1400" dirty="0"/>
          </a:p>
        </p:txBody>
      </p:sp>
      <p:sp>
        <p:nvSpPr>
          <p:cNvPr id="19" name="ck3_35"/>
          <p:cNvSpPr/>
          <p:nvPr/>
        </p:nvSpPr>
        <p:spPr>
          <a:xfrm>
            <a:off x="4389120" y="2990088"/>
            <a:ext cx="182880" cy="182880"/>
          </a:xfrm>
          <a:prstGeom prst="ellipse">
            <a:avLst/>
          </a:prstGeom>
          <a:solidFill>
            <a:srgbClr val="13A89E"/>
          </a:solidFill>
          <a:ln/>
        </p:spPr>
      </p:sp>
      <p:sp>
        <p:nvSpPr>
          <p:cNvPr id="20" name="ck3_36"/>
          <p:cNvSpPr txBox="1"/>
          <p:nvPr/>
        </p:nvSpPr>
        <p:spPr>
          <a:xfrm>
            <a:off x="4754880" y="2935224"/>
            <a:ext cx="3931920" cy="274320"/>
          </a:xfrm>
          <a:prstGeom prst="rect">
            <a:avLst/>
          </a:prstGeom>
          <a:noFill/>
          <a:ln/>
        </p:spPr>
        <p:txBody>
          <a:bodyPr wrap="square" lIns="0" tIns="0" rIns="0" bIns="0" rtlCol="0" anchor="t"/>
          <a:lstStyle/>
          <a:p>
            <a:pPr indent="0" marL="0">
              <a:buNone/>
            </a:pPr>
            <a:r>
              <a:rPr lang="en-US" sz="1700" b="1" dirty="0">
                <a:solidFill>
                  <a:srgbClr val="FFFFFF"/>
                </a:solidFill>
              </a:rPr>
              <a:t>Deep learning</a:t>
            </a:r>
            <a:endParaRPr lang="en-US" sz="1700" dirty="0"/>
          </a:p>
        </p:txBody>
      </p:sp>
      <p:sp>
        <p:nvSpPr>
          <p:cNvPr id="21" name="ck3_37"/>
          <p:cNvSpPr txBox="1"/>
          <p:nvPr/>
        </p:nvSpPr>
        <p:spPr>
          <a:xfrm>
            <a:off x="4754880" y="3227832"/>
            <a:ext cx="3931920" cy="457200"/>
          </a:xfrm>
          <a:prstGeom prst="rect">
            <a:avLst/>
          </a:prstGeom>
          <a:noFill/>
          <a:ln/>
        </p:spPr>
        <p:txBody>
          <a:bodyPr wrap="square" lIns="0" tIns="0" rIns="0" bIns="0" rtlCol="0" anchor="t"/>
          <a:lstStyle/>
          <a:p>
            <a:pPr indent="0" marL="0">
              <a:buNone/>
            </a:pPr>
            <a:r>
              <a:rPr lang="en-US" sz="1400" dirty="0">
                <a:solidFill>
                  <a:srgbClr val="B9C6DA"/>
                </a:solidFill>
              </a:rPr>
              <a:t>Learning in many layers. Example: voice assistant, face unlock.</a:t>
            </a:r>
            <a:endParaRPr lang="en-US" sz="1400" dirty="0"/>
          </a:p>
        </p:txBody>
      </p:sp>
      <p:sp>
        <p:nvSpPr>
          <p:cNvPr id="22" name="ck4_38"/>
          <p:cNvSpPr/>
          <p:nvPr/>
        </p:nvSpPr>
        <p:spPr>
          <a:xfrm>
            <a:off x="4389120" y="3794760"/>
            <a:ext cx="182880" cy="182880"/>
          </a:xfrm>
          <a:prstGeom prst="ellipse">
            <a:avLst/>
          </a:prstGeom>
          <a:solidFill>
            <a:srgbClr val="A78BFA"/>
          </a:solidFill>
          <a:ln/>
        </p:spPr>
      </p:sp>
      <p:sp>
        <p:nvSpPr>
          <p:cNvPr id="23" name="ck4_39"/>
          <p:cNvSpPr txBox="1"/>
          <p:nvPr/>
        </p:nvSpPr>
        <p:spPr>
          <a:xfrm>
            <a:off x="4754880" y="3739896"/>
            <a:ext cx="3931920" cy="274320"/>
          </a:xfrm>
          <a:prstGeom prst="rect">
            <a:avLst/>
          </a:prstGeom>
          <a:noFill/>
          <a:ln/>
        </p:spPr>
        <p:txBody>
          <a:bodyPr wrap="square" lIns="0" tIns="0" rIns="0" bIns="0" rtlCol="0" anchor="t"/>
          <a:lstStyle/>
          <a:p>
            <a:pPr indent="0" marL="0">
              <a:buNone/>
            </a:pPr>
            <a:r>
              <a:rPr lang="en-US" sz="1700" b="1" dirty="0">
                <a:solidFill>
                  <a:srgbClr val="FFFFFF"/>
                </a:solidFill>
              </a:rPr>
              <a:t>Generative AI</a:t>
            </a:r>
            <a:endParaRPr lang="en-US" sz="1700" dirty="0"/>
          </a:p>
        </p:txBody>
      </p:sp>
      <p:sp>
        <p:nvSpPr>
          <p:cNvPr id="24" name="ck4_40"/>
          <p:cNvSpPr txBox="1"/>
          <p:nvPr/>
        </p:nvSpPr>
        <p:spPr>
          <a:xfrm>
            <a:off x="4754880" y="4032504"/>
            <a:ext cx="3931920" cy="457200"/>
          </a:xfrm>
          <a:prstGeom prst="rect">
            <a:avLst/>
          </a:prstGeom>
          <a:noFill/>
          <a:ln/>
        </p:spPr>
        <p:txBody>
          <a:bodyPr wrap="square" lIns="0" tIns="0" rIns="0" bIns="0" rtlCol="0" anchor="t"/>
          <a:lstStyle/>
          <a:p>
            <a:pPr indent="0" marL="0">
              <a:buNone/>
            </a:pPr>
            <a:r>
              <a:rPr lang="en-US" sz="1400" dirty="0">
                <a:solidFill>
                  <a:srgbClr val="B9C6DA"/>
                </a:solidFill>
              </a:rPr>
              <a:t>Creates new text, images, code. Example: ChatGPT, Gemini, Claude.</a:t>
            </a:r>
            <a:endParaRPr lang="en-US" sz="1400" dirty="0"/>
          </a:p>
        </p:txBody>
      </p:sp>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B9C6DA"/>
                </a:solidFill>
              </a:defRPr>
            </a:lvl1pPr>
          </a:lstStyle>
          <a:p>
            <a:pPr algn="r"/>
            <a:fld id="{F7021451-1387-4CA6-816F-3879F97B5CBC}" type="slidenum">
              <a:rPr b="0" lang="en-US"/>
              <a:t>5</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500"/>
                                        <p:tgtEl>
                                          <p:spTgt spid="17"/>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500"/>
                                        <p:tgtEl>
                                          <p:spTgt spid="18"/>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500"/>
                                        <p:tgtEl>
                                          <p:spTgt spid="9"/>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500"/>
                                        <p:tgtEl>
                                          <p:spTgt spid="10"/>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500"/>
                                        <p:tgtEl>
                                          <p:spTgt spid="1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500"/>
                                        <p:tgtEl>
                                          <p:spTgt spid="2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500"/>
                                        <p:tgtEl>
                                          <p:spTgt spid="21"/>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1"/>
                                        </p:tgtEl>
                                        <p:attrNameLst>
                                          <p:attrName>style.visibility</p:attrName>
                                        </p:attrNameLst>
                                      </p:cBhvr>
                                      <p:to>
                                        <p:strVal val="visible"/>
                                      </p:to>
                                    </p:set>
                                    <p:animEffect transition="in" filter="fade">
                                      <p:cBhvr>
                                        <p:cTn id="58" dur="500"/>
                                        <p:tgtEl>
                                          <p:spTgt spid="1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fade">
                                      <p:cBhvr>
                                        <p:cTn id="61" dur="500"/>
                                        <p:tgtEl>
                                          <p:spTgt spid="1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5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5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3" grpId="0" animBg="1"/>
      <p:bldP spid="14" grpId="0" animBg="1"/>
      <p:bldP spid="15" grpId="0" animBg="1"/>
      <p:bldP spid="7" grpId="0" animBg="1"/>
      <p:bldP spid="8" grpId="0" animBg="1"/>
      <p:bldP spid="16" grpId="0" animBg="1"/>
      <p:bldP spid="17" grpId="0" animBg="1"/>
      <p:bldP spid="18" grpId="0" animBg="1"/>
      <p:bldP spid="9" grpId="0" animBg="1"/>
      <p:bldP spid="10" grpId="0" animBg="1"/>
      <p:bldP spid="19" grpId="0" animBg="1"/>
      <p:bldP spid="20" grpId="0" animBg="1"/>
      <p:bldP spid="21" grpId="0" animBg="1"/>
      <p:bldP spid="11" grpId="0" animBg="1"/>
      <p:bldP spid="12" grpId="0" animBg="1"/>
      <p:bldP spid="22" grpId="0" animBg="1"/>
      <p:bldP spid="23" grpId="0" animBg="1"/>
      <p:bldP spid="2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56032"/>
            <a:ext cx="6400800" cy="201168"/>
          </a:xfrm>
          <a:prstGeom prst="rect">
            <a:avLst/>
          </a:prstGeom>
          <a:noFill/>
          <a:ln/>
        </p:spPr>
        <p:txBody>
          <a:bodyPr wrap="square" lIns="0" tIns="0" rIns="0" bIns="0" rtlCol="0" anchor="t"/>
          <a:lstStyle/>
          <a:p>
            <a:pPr indent="0" marL="0">
              <a:buNone/>
            </a:pPr>
            <a:r>
              <a:rPr lang="en-US" sz="1100" b="1" spc="200" kern="0" dirty="0">
                <a:solidFill>
                  <a:srgbClr val="13A89E"/>
                </a:solidFill>
              </a:rPr>
              <a:t>1  THE BASICS</a:t>
            </a:r>
            <a:endParaRPr lang="en-US" sz="1100" dirty="0"/>
          </a:p>
        </p:txBody>
      </p:sp>
      <p:sp>
        <p:nvSpPr>
          <p:cNvPr id="3" name="Text 2"/>
          <p:cNvSpPr/>
          <p:nvPr>
            <p:ph idx="103" type="title" hasCustomPrompt="1"/>
          </p:nvPr>
        </p:nvSpPr>
        <p:spPr>
          <a:xfrm>
            <a:off x="457200" y="457200"/>
            <a:ext cx="8229600" cy="685800"/>
          </a:xfrm>
          <a:prstGeom prst="rect">
            <a:avLst/>
          </a:prstGeom>
          <a:noFill/>
          <a:ln/>
        </p:spPr>
        <p:txBody>
          <a:bodyPr wrap="square" lIns="0" tIns="0" rIns="0" bIns="0" rtlCol="0" anchor="ctr"/>
          <a:lstStyle/>
          <a:p>
            <a:pPr algn="l" indent="0" marL="0">
              <a:buNone/>
            </a:pPr>
            <a:r>
              <a:rPr lang="en-US" sz="3000" b="1" dirty="0">
                <a:solidFill>
                  <a:srgbClr val="FFFFFF"/>
                </a:solidFill>
              </a:rPr>
              <a:t>LLM: a very smart autocomplete</a:t>
            </a:r>
            <a:endParaRPr lang="en-US" sz="3000" dirty="0"/>
          </a:p>
        </p:txBody>
      </p:sp>
      <p:sp>
        <p:nvSpPr>
          <p:cNvPr id="5" name="ck1_41"/>
          <p:cNvSpPr/>
          <p:nvPr/>
        </p:nvSpPr>
        <p:spPr>
          <a:xfrm>
            <a:off x="457200" y="1325880"/>
            <a:ext cx="2377440" cy="1051560"/>
          </a:xfrm>
          <a:prstGeom prst="roundRect">
            <a:avLst>
              <a:gd name="adj" fmla="val 8696"/>
            </a:avLst>
          </a:prstGeom>
          <a:solidFill>
            <a:srgbClr val="14305A"/>
          </a:solidFill>
          <a:ln/>
        </p:spPr>
      </p:sp>
      <p:sp>
        <p:nvSpPr>
          <p:cNvPr id="6" name="ck1_42"/>
          <p:cNvSpPr txBox="1"/>
          <p:nvPr/>
        </p:nvSpPr>
        <p:spPr>
          <a:xfrm>
            <a:off x="640080" y="1417320"/>
            <a:ext cx="2011680" cy="411480"/>
          </a:xfrm>
          <a:prstGeom prst="rect">
            <a:avLst/>
          </a:prstGeom>
          <a:noFill/>
          <a:ln/>
        </p:spPr>
        <p:txBody>
          <a:bodyPr wrap="square" lIns="0" tIns="0" rIns="0" bIns="0" rtlCol="0" anchor="t"/>
          <a:lstStyle/>
          <a:p>
            <a:pPr indent="0" marL="0">
              <a:buNone/>
            </a:pPr>
            <a:r>
              <a:rPr lang="en-US" sz="2200" b="1" dirty="0">
                <a:solidFill>
                  <a:srgbClr val="FFFFFF"/>
                </a:solidFill>
              </a:rPr>
              <a:t>You</a:t>
            </a:r>
            <a:endParaRPr lang="en-US" sz="2200" dirty="0"/>
          </a:p>
        </p:txBody>
      </p:sp>
      <p:sp>
        <p:nvSpPr>
          <p:cNvPr id="7" name="ck1_43"/>
          <p:cNvSpPr txBox="1"/>
          <p:nvPr/>
        </p:nvSpPr>
        <p:spPr>
          <a:xfrm>
            <a:off x="640080" y="1874520"/>
            <a:ext cx="2011680" cy="365760"/>
          </a:xfrm>
          <a:prstGeom prst="rect">
            <a:avLst/>
          </a:prstGeom>
          <a:noFill/>
          <a:ln/>
        </p:spPr>
        <p:txBody>
          <a:bodyPr wrap="square" lIns="0" tIns="0" rIns="0" bIns="0" rtlCol="0" anchor="t"/>
          <a:lstStyle/>
          <a:p>
            <a:pPr indent="0" marL="0">
              <a:buNone/>
            </a:pPr>
            <a:r>
              <a:rPr lang="en-US" sz="1400" dirty="0">
                <a:solidFill>
                  <a:srgbClr val="B9C6DA"/>
                </a:solidFill>
              </a:rPr>
              <a:t>write a prompt</a:t>
            </a:r>
            <a:endParaRPr lang="en-US" sz="1400" dirty="0"/>
          </a:p>
        </p:txBody>
      </p:sp>
      <p:sp>
        <p:nvSpPr>
          <p:cNvPr id="8" name="ck1_44"/>
          <p:cNvSpPr/>
          <p:nvPr/>
        </p:nvSpPr>
        <p:spPr>
          <a:xfrm>
            <a:off x="2816352" y="1828800"/>
            <a:ext cx="411480" cy="0"/>
          </a:xfrm>
          <a:prstGeom prst="line">
            <a:avLst/>
          </a:prstGeom>
          <a:noFill/>
          <a:ln w="25400">
            <a:solidFill>
              <a:srgbClr val="B9C6DA"/>
            </a:solidFill>
            <a:prstDash val="solid"/>
            <a:tailEnd type="triangle"/>
          </a:ln>
        </p:spPr>
      </p:sp>
      <p:sp>
        <p:nvSpPr>
          <p:cNvPr id="9" name="ck1_45"/>
          <p:cNvSpPr/>
          <p:nvPr/>
        </p:nvSpPr>
        <p:spPr>
          <a:xfrm>
            <a:off x="3291840" y="1325880"/>
            <a:ext cx="2377440" cy="1051560"/>
          </a:xfrm>
          <a:prstGeom prst="roundRect">
            <a:avLst>
              <a:gd name="adj" fmla="val 8696"/>
            </a:avLst>
          </a:prstGeom>
          <a:solidFill>
            <a:srgbClr val="13A89E"/>
          </a:solidFill>
          <a:ln/>
        </p:spPr>
      </p:sp>
      <p:sp>
        <p:nvSpPr>
          <p:cNvPr id="10" name="ck1_46"/>
          <p:cNvSpPr txBox="1"/>
          <p:nvPr/>
        </p:nvSpPr>
        <p:spPr>
          <a:xfrm>
            <a:off x="3474720" y="1417320"/>
            <a:ext cx="2011680" cy="411480"/>
          </a:xfrm>
          <a:prstGeom prst="rect">
            <a:avLst/>
          </a:prstGeom>
          <a:noFill/>
          <a:ln/>
        </p:spPr>
        <p:txBody>
          <a:bodyPr wrap="square" lIns="0" tIns="0" rIns="0" bIns="0" rtlCol="0" anchor="t"/>
          <a:lstStyle/>
          <a:p>
            <a:pPr indent="0" marL="0">
              <a:buNone/>
            </a:pPr>
            <a:r>
              <a:rPr lang="en-US" sz="2200" b="1" dirty="0">
                <a:solidFill>
                  <a:srgbClr val="0B1F3A"/>
                </a:solidFill>
              </a:rPr>
              <a:t>LLM</a:t>
            </a:r>
            <a:endParaRPr lang="en-US" sz="2200" dirty="0"/>
          </a:p>
        </p:txBody>
      </p:sp>
      <p:sp>
        <p:nvSpPr>
          <p:cNvPr id="11" name="ck1_47"/>
          <p:cNvSpPr txBox="1"/>
          <p:nvPr/>
        </p:nvSpPr>
        <p:spPr>
          <a:xfrm>
            <a:off x="3474720" y="1874520"/>
            <a:ext cx="2011680" cy="365760"/>
          </a:xfrm>
          <a:prstGeom prst="rect">
            <a:avLst/>
          </a:prstGeom>
          <a:noFill/>
          <a:ln/>
        </p:spPr>
        <p:txBody>
          <a:bodyPr wrap="square" lIns="0" tIns="0" rIns="0" bIns="0" rtlCol="0" anchor="t"/>
          <a:lstStyle/>
          <a:p>
            <a:pPr indent="0" marL="0">
              <a:buNone/>
            </a:pPr>
            <a:r>
              <a:rPr lang="en-US" sz="1400" dirty="0">
                <a:solidFill>
                  <a:srgbClr val="0B1F3A"/>
                </a:solidFill>
              </a:rPr>
              <a:t>reads it</a:t>
            </a:r>
            <a:endParaRPr lang="en-US" sz="1400" dirty="0"/>
          </a:p>
        </p:txBody>
      </p:sp>
      <p:sp>
        <p:nvSpPr>
          <p:cNvPr id="12" name="ck1_48"/>
          <p:cNvSpPr/>
          <p:nvPr/>
        </p:nvSpPr>
        <p:spPr>
          <a:xfrm>
            <a:off x="5650992" y="1828800"/>
            <a:ext cx="411480" cy="0"/>
          </a:xfrm>
          <a:prstGeom prst="line">
            <a:avLst/>
          </a:prstGeom>
          <a:noFill/>
          <a:ln w="25400">
            <a:solidFill>
              <a:srgbClr val="B9C6DA"/>
            </a:solidFill>
            <a:prstDash val="solid"/>
            <a:tailEnd type="triangle"/>
          </a:ln>
        </p:spPr>
      </p:sp>
      <p:sp>
        <p:nvSpPr>
          <p:cNvPr id="13" name="ck1_49"/>
          <p:cNvSpPr/>
          <p:nvPr/>
        </p:nvSpPr>
        <p:spPr>
          <a:xfrm>
            <a:off x="6126480" y="1325880"/>
            <a:ext cx="2377440" cy="1051560"/>
          </a:xfrm>
          <a:prstGeom prst="roundRect">
            <a:avLst>
              <a:gd name="adj" fmla="val 8696"/>
            </a:avLst>
          </a:prstGeom>
          <a:solidFill>
            <a:srgbClr val="14305A"/>
          </a:solidFill>
          <a:ln/>
        </p:spPr>
      </p:sp>
      <p:sp>
        <p:nvSpPr>
          <p:cNvPr id="14" name="ck1_50"/>
          <p:cNvSpPr txBox="1"/>
          <p:nvPr/>
        </p:nvSpPr>
        <p:spPr>
          <a:xfrm>
            <a:off x="6309360" y="1417320"/>
            <a:ext cx="2011680" cy="411480"/>
          </a:xfrm>
          <a:prstGeom prst="rect">
            <a:avLst/>
          </a:prstGeom>
          <a:noFill/>
          <a:ln/>
        </p:spPr>
        <p:txBody>
          <a:bodyPr wrap="square" lIns="0" tIns="0" rIns="0" bIns="0" rtlCol="0" anchor="t"/>
          <a:lstStyle/>
          <a:p>
            <a:pPr indent="0" marL="0">
              <a:buNone/>
            </a:pPr>
            <a:r>
              <a:rPr lang="en-US" sz="2200" b="1" dirty="0">
                <a:solidFill>
                  <a:srgbClr val="FFFFFF"/>
                </a:solidFill>
              </a:rPr>
              <a:t>Answer</a:t>
            </a:r>
            <a:endParaRPr lang="en-US" sz="2200" dirty="0"/>
          </a:p>
        </p:txBody>
      </p:sp>
      <p:sp>
        <p:nvSpPr>
          <p:cNvPr id="15" name="ck1_51"/>
          <p:cNvSpPr txBox="1"/>
          <p:nvPr/>
        </p:nvSpPr>
        <p:spPr>
          <a:xfrm>
            <a:off x="6309360" y="1874520"/>
            <a:ext cx="2011680" cy="365760"/>
          </a:xfrm>
          <a:prstGeom prst="rect">
            <a:avLst/>
          </a:prstGeom>
          <a:noFill/>
          <a:ln/>
        </p:spPr>
        <p:txBody>
          <a:bodyPr wrap="square" lIns="0" tIns="0" rIns="0" bIns="0" rtlCol="0" anchor="t"/>
          <a:lstStyle/>
          <a:p>
            <a:pPr indent="0" marL="0">
              <a:buNone/>
            </a:pPr>
            <a:r>
              <a:rPr lang="en-US" sz="1400" dirty="0">
                <a:solidFill>
                  <a:srgbClr val="B9C6DA"/>
                </a:solidFill>
              </a:rPr>
              <a:t>comes back</a:t>
            </a:r>
            <a:endParaRPr lang="en-US" sz="1400" dirty="0"/>
          </a:p>
        </p:txBody>
      </p:sp>
      <p:sp>
        <p:nvSpPr>
          <p:cNvPr id="16" name="ck2_52"/>
          <p:cNvSpPr/>
          <p:nvPr/>
        </p:nvSpPr>
        <p:spPr>
          <a:xfrm>
            <a:off x="457200" y="2697480"/>
            <a:ext cx="2651760" cy="1783080"/>
          </a:xfrm>
          <a:prstGeom prst="roundRect">
            <a:avLst>
              <a:gd name="adj" fmla="val 5128"/>
            </a:avLst>
          </a:prstGeom>
          <a:solidFill>
            <a:srgbClr val="14305A"/>
          </a:solidFill>
          <a:ln/>
        </p:spPr>
      </p:sp>
      <p:sp>
        <p:nvSpPr>
          <p:cNvPr id="17" name="ck2_53"/>
          <p:cNvSpPr/>
          <p:nvPr/>
        </p:nvSpPr>
        <p:spPr>
          <a:xfrm>
            <a:off x="640080" y="2834640"/>
            <a:ext cx="502920" cy="502920"/>
          </a:xfrm>
          <a:prstGeom prst="ellipse">
            <a:avLst/>
          </a:prstGeom>
          <a:solidFill>
            <a:srgbClr val="A78BFA"/>
          </a:solidFill>
          <a:ln/>
        </p:spPr>
      </p:sp>
      <p:pic>
        <p:nvPicPr>
          <p:cNvPr id="18" name="ck2_54" descr="preencoded.png">    </p:cNvPr>
          <p:cNvPicPr>
            <a:picLocks noChangeAspect="1"/>
          </p:cNvPicPr>
          <p:nvPr/>
        </p:nvPicPr>
        <p:blipFill>
          <a:blip r:embed="rId1"/>
          <a:stretch>
            <a:fillRect/>
          </a:stretch>
        </p:blipFill>
        <p:spPr>
          <a:xfrm>
            <a:off x="760781" y="2955341"/>
            <a:ext cx="261518" cy="261518"/>
          </a:xfrm>
          <a:prstGeom prst="rect">
            <a:avLst/>
          </a:prstGeom>
        </p:spPr>
      </p:pic>
      <p:sp>
        <p:nvSpPr>
          <p:cNvPr id="19" name="ck2_55"/>
          <p:cNvSpPr txBox="1"/>
          <p:nvPr/>
        </p:nvSpPr>
        <p:spPr>
          <a:xfrm>
            <a:off x="1280160" y="2834640"/>
            <a:ext cx="1737360" cy="548640"/>
          </a:xfrm>
          <a:prstGeom prst="rect">
            <a:avLst/>
          </a:prstGeom>
          <a:noFill/>
          <a:ln/>
        </p:spPr>
        <p:txBody>
          <a:bodyPr wrap="square" lIns="0" tIns="0" rIns="0" bIns="0" rtlCol="0" anchor="ctr"/>
          <a:lstStyle/>
          <a:p>
            <a:pPr indent="0" marL="0">
              <a:buNone/>
            </a:pPr>
            <a:r>
              <a:rPr lang="en-US" sz="1400" b="1" dirty="0">
                <a:solidFill>
                  <a:srgbClr val="FFFFFF"/>
                </a:solidFill>
              </a:rPr>
              <a:t>Has read a huge library of text</a:t>
            </a:r>
            <a:endParaRPr lang="en-US" sz="1400" dirty="0"/>
          </a:p>
        </p:txBody>
      </p:sp>
      <p:sp>
        <p:nvSpPr>
          <p:cNvPr id="20" name="ck2_56"/>
          <p:cNvSpPr txBox="1"/>
          <p:nvPr/>
        </p:nvSpPr>
        <p:spPr>
          <a:xfrm>
            <a:off x="640080" y="3611880"/>
            <a:ext cx="2331720" cy="777240"/>
          </a:xfrm>
          <a:prstGeom prst="rect">
            <a:avLst/>
          </a:prstGeom>
          <a:noFill/>
          <a:ln/>
        </p:spPr>
        <p:txBody>
          <a:bodyPr wrap="square" lIns="0" tIns="0" rIns="0" bIns="0" rtlCol="0" anchor="t"/>
          <a:lstStyle/>
          <a:p>
            <a:pPr indent="0" marL="0">
              <a:buNone/>
            </a:pPr>
            <a:r>
              <a:rPr lang="en-US" sz="1400" dirty="0">
                <a:solidFill>
                  <a:srgbClr val="B9C6DA"/>
                </a:solidFill>
              </a:rPr>
              <a:t>Books, websites, code.</a:t>
            </a:r>
            <a:endParaRPr lang="en-US" sz="1400" dirty="0"/>
          </a:p>
        </p:txBody>
      </p:sp>
      <p:sp>
        <p:nvSpPr>
          <p:cNvPr id="21" name="ck3_57"/>
          <p:cNvSpPr/>
          <p:nvPr/>
        </p:nvSpPr>
        <p:spPr>
          <a:xfrm>
            <a:off x="3246120" y="2697480"/>
            <a:ext cx="2651760" cy="1783080"/>
          </a:xfrm>
          <a:prstGeom prst="roundRect">
            <a:avLst>
              <a:gd name="adj" fmla="val 5128"/>
            </a:avLst>
          </a:prstGeom>
          <a:solidFill>
            <a:srgbClr val="14305A"/>
          </a:solidFill>
          <a:ln/>
        </p:spPr>
      </p:sp>
      <p:sp>
        <p:nvSpPr>
          <p:cNvPr id="22" name="ck3_58"/>
          <p:cNvSpPr/>
          <p:nvPr/>
        </p:nvSpPr>
        <p:spPr>
          <a:xfrm>
            <a:off x="3429000" y="2834640"/>
            <a:ext cx="502920" cy="502920"/>
          </a:xfrm>
          <a:prstGeom prst="ellipse">
            <a:avLst/>
          </a:prstGeom>
          <a:solidFill>
            <a:srgbClr val="A78BFA"/>
          </a:solidFill>
          <a:ln/>
        </p:spPr>
      </p:sp>
      <p:pic>
        <p:nvPicPr>
          <p:cNvPr id="23" name="ck3_59" descr="preencoded.png">    </p:cNvPr>
          <p:cNvPicPr>
            <a:picLocks noChangeAspect="1"/>
          </p:cNvPicPr>
          <p:nvPr/>
        </p:nvPicPr>
        <p:blipFill>
          <a:blip r:embed="rId2"/>
          <a:stretch>
            <a:fillRect/>
          </a:stretch>
        </p:blipFill>
        <p:spPr>
          <a:xfrm>
            <a:off x="3549701" y="2955341"/>
            <a:ext cx="261518" cy="261518"/>
          </a:xfrm>
          <a:prstGeom prst="rect">
            <a:avLst/>
          </a:prstGeom>
        </p:spPr>
      </p:pic>
      <p:sp>
        <p:nvSpPr>
          <p:cNvPr id="24" name="ck3_60"/>
          <p:cNvSpPr txBox="1"/>
          <p:nvPr/>
        </p:nvSpPr>
        <p:spPr>
          <a:xfrm>
            <a:off x="4069080" y="2834640"/>
            <a:ext cx="1737360" cy="548640"/>
          </a:xfrm>
          <a:prstGeom prst="rect">
            <a:avLst/>
          </a:prstGeom>
          <a:noFill/>
          <a:ln/>
        </p:spPr>
        <p:txBody>
          <a:bodyPr wrap="square" lIns="0" tIns="0" rIns="0" bIns="0" rtlCol="0" anchor="ctr"/>
          <a:lstStyle/>
          <a:p>
            <a:pPr indent="0" marL="0">
              <a:buNone/>
            </a:pPr>
            <a:r>
              <a:rPr lang="en-US" sz="1400" b="1" dirty="0">
                <a:solidFill>
                  <a:srgbClr val="FFFFFF"/>
                </a:solidFill>
              </a:rPr>
              <a:t>Guesses the next word, again and again</a:t>
            </a:r>
            <a:endParaRPr lang="en-US" sz="1400" dirty="0"/>
          </a:p>
        </p:txBody>
      </p:sp>
      <p:sp>
        <p:nvSpPr>
          <p:cNvPr id="25" name="ck3_61"/>
          <p:cNvSpPr txBox="1"/>
          <p:nvPr/>
        </p:nvSpPr>
        <p:spPr>
          <a:xfrm>
            <a:off x="3429000" y="3611880"/>
            <a:ext cx="2331720" cy="777240"/>
          </a:xfrm>
          <a:prstGeom prst="rect">
            <a:avLst/>
          </a:prstGeom>
          <a:noFill/>
          <a:ln/>
        </p:spPr>
        <p:txBody>
          <a:bodyPr wrap="square" lIns="0" tIns="0" rIns="0" bIns="0" rtlCol="0" anchor="t"/>
          <a:lstStyle/>
          <a:p>
            <a:pPr indent="0" marL="0">
              <a:buNone/>
            </a:pPr>
            <a:r>
              <a:rPr lang="en-US" sz="1400" dirty="0">
                <a:solidFill>
                  <a:srgbClr val="B9C6DA"/>
                </a:solidFill>
              </a:rPr>
              <a:t>Like phone keyboard suggestions, but smarter.</a:t>
            </a:r>
            <a:endParaRPr lang="en-US" sz="1400" dirty="0"/>
          </a:p>
        </p:txBody>
      </p:sp>
      <p:sp>
        <p:nvSpPr>
          <p:cNvPr id="26" name="ck4_62"/>
          <p:cNvSpPr/>
          <p:nvPr/>
        </p:nvSpPr>
        <p:spPr>
          <a:xfrm>
            <a:off x="6035040" y="2697480"/>
            <a:ext cx="2651760" cy="1783080"/>
          </a:xfrm>
          <a:prstGeom prst="roundRect">
            <a:avLst>
              <a:gd name="adj" fmla="val 5128"/>
            </a:avLst>
          </a:prstGeom>
          <a:solidFill>
            <a:srgbClr val="14305A"/>
          </a:solidFill>
          <a:ln/>
        </p:spPr>
      </p:sp>
      <p:sp>
        <p:nvSpPr>
          <p:cNvPr id="27" name="ck4_63"/>
          <p:cNvSpPr/>
          <p:nvPr/>
        </p:nvSpPr>
        <p:spPr>
          <a:xfrm>
            <a:off x="6217920" y="2834640"/>
            <a:ext cx="502920" cy="502920"/>
          </a:xfrm>
          <a:prstGeom prst="ellipse">
            <a:avLst/>
          </a:prstGeom>
          <a:solidFill>
            <a:srgbClr val="A78BFA"/>
          </a:solidFill>
          <a:ln/>
        </p:spPr>
      </p:sp>
      <p:pic>
        <p:nvPicPr>
          <p:cNvPr id="28" name="ck4_64" descr="preencoded.png">    </p:cNvPr>
          <p:cNvPicPr>
            <a:picLocks noChangeAspect="1"/>
          </p:cNvPicPr>
          <p:nvPr/>
        </p:nvPicPr>
        <p:blipFill>
          <a:blip r:embed="rId3"/>
          <a:stretch>
            <a:fillRect/>
          </a:stretch>
        </p:blipFill>
        <p:spPr>
          <a:xfrm>
            <a:off x="6338621" y="2955341"/>
            <a:ext cx="261518" cy="261518"/>
          </a:xfrm>
          <a:prstGeom prst="rect">
            <a:avLst/>
          </a:prstGeom>
        </p:spPr>
      </p:pic>
      <p:sp>
        <p:nvSpPr>
          <p:cNvPr id="29" name="ck4_65"/>
          <p:cNvSpPr txBox="1"/>
          <p:nvPr/>
        </p:nvSpPr>
        <p:spPr>
          <a:xfrm>
            <a:off x="6858000" y="2834640"/>
            <a:ext cx="1737360" cy="548640"/>
          </a:xfrm>
          <a:prstGeom prst="rect">
            <a:avLst/>
          </a:prstGeom>
          <a:noFill/>
          <a:ln/>
        </p:spPr>
        <p:txBody>
          <a:bodyPr wrap="square" lIns="0" tIns="0" rIns="0" bIns="0" rtlCol="0" anchor="ctr"/>
          <a:lstStyle/>
          <a:p>
            <a:pPr indent="0" marL="0">
              <a:buNone/>
            </a:pPr>
            <a:r>
              <a:rPr lang="en-US" sz="1400" b="1" dirty="0">
                <a:solidFill>
                  <a:srgbClr val="FFFFFF"/>
                </a:solidFill>
              </a:rPr>
              <a:t>Forgets when the chat ends</a:t>
            </a:r>
            <a:endParaRPr lang="en-US" sz="1400" dirty="0"/>
          </a:p>
        </p:txBody>
      </p:sp>
      <p:sp>
        <p:nvSpPr>
          <p:cNvPr id="30" name="ck4_66"/>
          <p:cNvSpPr txBox="1"/>
          <p:nvPr/>
        </p:nvSpPr>
        <p:spPr>
          <a:xfrm>
            <a:off x="6217920" y="3611880"/>
            <a:ext cx="2331720" cy="777240"/>
          </a:xfrm>
          <a:prstGeom prst="rect">
            <a:avLst/>
          </a:prstGeom>
          <a:noFill/>
          <a:ln/>
        </p:spPr>
        <p:txBody>
          <a:bodyPr wrap="square" lIns="0" tIns="0" rIns="0" bIns="0" rtlCol="0" anchor="t"/>
          <a:lstStyle/>
          <a:p>
            <a:pPr indent="0" marL="0">
              <a:buNone/>
            </a:pPr>
            <a:r>
              <a:rPr lang="en-US" sz="1400" dirty="0">
                <a:solidFill>
                  <a:srgbClr val="B9C6DA"/>
                </a:solidFill>
              </a:rPr>
              <a:t>A new chat does not know you.</a:t>
            </a:r>
            <a:endParaRPr lang="en-US" sz="1400" dirty="0"/>
          </a:p>
        </p:txBody>
      </p:sp>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B9C6DA"/>
                </a:solidFill>
              </a:defRPr>
            </a:lvl1pPr>
          </a:lstStyle>
          <a:p>
            <a:pPr algn="r"/>
            <a:fld id="{F7021451-1387-4CA6-816F-3879F97B5CBC}" type="slidenum">
              <a:rPr b="0" lang="en-US"/>
              <a:t>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500"/>
                                        <p:tgtEl>
                                          <p:spTgt spid="16"/>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500"/>
                                        <p:tgtEl>
                                          <p:spTgt spid="17"/>
                                        </p:tgtEl>
                                      </p:cBhvr>
                                    </p:animEffect>
                                  </p:childTnLst>
                                </p:cTn>
                              </p:par>
                              <p:par>
                                <p:cTn id="46" presetID="10" presetClass="entr" presetSubtype="0" fill="hold"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500"/>
                                        <p:tgtEl>
                                          <p:spTgt spid="1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00"/>
                                        <p:tgtEl>
                                          <p:spTgt spid="19"/>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500"/>
                                        <p:tgtEl>
                                          <p:spTgt spid="20"/>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500"/>
                                        <p:tgtEl>
                                          <p:spTgt spid="21"/>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500"/>
                                        <p:tgtEl>
                                          <p:spTgt spid="22"/>
                                        </p:tgtEl>
                                      </p:cBhvr>
                                    </p:animEffect>
                                  </p:childTnLst>
                                </p:cTn>
                              </p:par>
                              <p:par>
                                <p:cTn id="63" presetID="10" presetClass="entr" presetSubtype="0" fill="hold" nodeType="withEffect">
                                  <p:stCondLst>
                                    <p:cond delay="0"/>
                                  </p:stCondLst>
                                  <p:childTnLst>
                                    <p:set>
                                      <p:cBhvr>
                                        <p:cTn id="64" dur="1" fill="hold">
                                          <p:stCondLst>
                                            <p:cond delay="0"/>
                                          </p:stCondLst>
                                        </p:cTn>
                                        <p:tgtEl>
                                          <p:spTgt spid="23"/>
                                        </p:tgtEl>
                                        <p:attrNameLst>
                                          <p:attrName>style.visibility</p:attrName>
                                        </p:attrNameLst>
                                      </p:cBhvr>
                                      <p:to>
                                        <p:strVal val="visible"/>
                                      </p:to>
                                    </p:set>
                                    <p:animEffect transition="in" filter="fade">
                                      <p:cBhvr>
                                        <p:cTn id="65" dur="500"/>
                                        <p:tgtEl>
                                          <p:spTgt spid="23"/>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4"/>
                                        </p:tgtEl>
                                        <p:attrNameLst>
                                          <p:attrName>style.visibility</p:attrName>
                                        </p:attrNameLst>
                                      </p:cBhvr>
                                      <p:to>
                                        <p:strVal val="visible"/>
                                      </p:to>
                                    </p:set>
                                    <p:animEffect transition="in" filter="fade">
                                      <p:cBhvr>
                                        <p:cTn id="68" dur="500"/>
                                        <p:tgtEl>
                                          <p:spTgt spid="24"/>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500"/>
                                        <p:tgtEl>
                                          <p:spTgt spid="25"/>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500"/>
                                        <p:tgtEl>
                                          <p:spTgt spid="26"/>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7"/>
                                        </p:tgtEl>
                                        <p:attrNameLst>
                                          <p:attrName>style.visibility</p:attrName>
                                        </p:attrNameLst>
                                      </p:cBhvr>
                                      <p:to>
                                        <p:strVal val="visible"/>
                                      </p:to>
                                    </p:set>
                                    <p:animEffect transition="in" filter="fade">
                                      <p:cBhvr>
                                        <p:cTn id="79" dur="500"/>
                                        <p:tgtEl>
                                          <p:spTgt spid="27"/>
                                        </p:tgtEl>
                                      </p:cBhvr>
                                    </p:animEffect>
                                  </p:childTnLst>
                                </p:cTn>
                              </p:par>
                              <p:par>
                                <p:cTn id="80" presetID="10" presetClass="entr" presetSubtype="0" fill="hold" nodeType="withEffect">
                                  <p:stCondLst>
                                    <p:cond delay="0"/>
                                  </p:stCondLst>
                                  <p:childTnLst>
                                    <p:set>
                                      <p:cBhvr>
                                        <p:cTn id="81" dur="1" fill="hold">
                                          <p:stCondLst>
                                            <p:cond delay="0"/>
                                          </p:stCondLst>
                                        </p:cTn>
                                        <p:tgtEl>
                                          <p:spTgt spid="28"/>
                                        </p:tgtEl>
                                        <p:attrNameLst>
                                          <p:attrName>style.visibility</p:attrName>
                                        </p:attrNameLst>
                                      </p:cBhvr>
                                      <p:to>
                                        <p:strVal val="visible"/>
                                      </p:to>
                                    </p:set>
                                    <p:animEffect transition="in" filter="fade">
                                      <p:cBhvr>
                                        <p:cTn id="82" dur="500"/>
                                        <p:tgtEl>
                                          <p:spTgt spid="28"/>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29"/>
                                        </p:tgtEl>
                                        <p:attrNameLst>
                                          <p:attrName>style.visibility</p:attrName>
                                        </p:attrNameLst>
                                      </p:cBhvr>
                                      <p:to>
                                        <p:strVal val="visible"/>
                                      </p:to>
                                    </p:set>
                                    <p:animEffect transition="in" filter="fade">
                                      <p:cBhvr>
                                        <p:cTn id="85" dur="500"/>
                                        <p:tgtEl>
                                          <p:spTgt spid="29"/>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0"/>
                                        </p:tgtEl>
                                        <p:attrNameLst>
                                          <p:attrName>style.visibility</p:attrName>
                                        </p:attrNameLst>
                                      </p:cBhvr>
                                      <p:to>
                                        <p:strVal val="visible"/>
                                      </p:to>
                                    </p:set>
                                    <p:animEffect transition="in" filter="fade">
                                      <p:cBhvr>
                                        <p:cTn id="88"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9" grpId="0" animBg="1"/>
      <p:bldP spid="20" grpId="0" animBg="1"/>
      <p:bldP spid="21" grpId="0" animBg="1"/>
      <p:bldP spid="22" grpId="0" animBg="1"/>
      <p:bldP spid="24" grpId="0" animBg="1"/>
      <p:bldP spid="25" grpId="0" animBg="1"/>
      <p:bldP spid="26" grpId="0" animBg="1"/>
      <p:bldP spid="27" grpId="0" animBg="1"/>
      <p:bldP spid="29" grpId="0" animBg="1"/>
      <p:bldP spid="3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56032"/>
            <a:ext cx="6400800" cy="201168"/>
          </a:xfrm>
          <a:prstGeom prst="rect">
            <a:avLst/>
          </a:prstGeom>
          <a:noFill/>
          <a:ln/>
        </p:spPr>
        <p:txBody>
          <a:bodyPr wrap="square" lIns="0" tIns="0" rIns="0" bIns="0" rtlCol="0" anchor="t"/>
          <a:lstStyle/>
          <a:p>
            <a:pPr indent="0" marL="0">
              <a:buNone/>
            </a:pPr>
            <a:r>
              <a:rPr lang="en-US" sz="1100" b="1" spc="200" kern="0" dirty="0">
                <a:solidFill>
                  <a:srgbClr val="13A89E"/>
                </a:solidFill>
              </a:rPr>
              <a:t>1  THE BASICS</a:t>
            </a:r>
            <a:endParaRPr lang="en-US" sz="1100" dirty="0"/>
          </a:p>
        </p:txBody>
      </p:sp>
      <p:sp>
        <p:nvSpPr>
          <p:cNvPr id="3" name="Text 2"/>
          <p:cNvSpPr/>
          <p:nvPr>
            <p:ph idx="103" type="title" hasCustomPrompt="1"/>
          </p:nvPr>
        </p:nvSpPr>
        <p:spPr>
          <a:xfrm>
            <a:off x="457200" y="457200"/>
            <a:ext cx="8229600" cy="685800"/>
          </a:xfrm>
          <a:prstGeom prst="rect">
            <a:avLst/>
          </a:prstGeom>
          <a:noFill/>
          <a:ln/>
        </p:spPr>
        <p:txBody>
          <a:bodyPr wrap="square" lIns="0" tIns="0" rIns="0" bIns="0" rtlCol="0" anchor="ctr"/>
          <a:lstStyle/>
          <a:p>
            <a:pPr algn="l" indent="0" marL="0">
              <a:buNone/>
            </a:pPr>
            <a:r>
              <a:rPr lang="en-US" sz="3000" b="1" dirty="0">
                <a:solidFill>
                  <a:srgbClr val="FFFFFF"/>
                </a:solidFill>
              </a:rPr>
              <a:t>AI reads in small pieces called tokens</a:t>
            </a:r>
            <a:endParaRPr lang="en-US" sz="3000" dirty="0"/>
          </a:p>
        </p:txBody>
      </p:sp>
      <p:sp>
        <p:nvSpPr>
          <p:cNvPr id="5" name="Text 2"/>
          <p:cNvSpPr txBox="1"/>
          <p:nvPr/>
        </p:nvSpPr>
        <p:spPr>
          <a:xfrm>
            <a:off x="457200" y="1325880"/>
            <a:ext cx="777240" cy="457200"/>
          </a:xfrm>
          <a:prstGeom prst="roundRect">
            <a:avLst>
              <a:gd name="adj" fmla="val 20000"/>
            </a:avLst>
          </a:prstGeom>
          <a:solidFill>
            <a:srgbClr val="13A89E"/>
          </a:solidFill>
          <a:ln/>
        </p:spPr>
        <p:txBody>
          <a:bodyPr wrap="square" lIns="762" tIns="762" rIns="762" bIns="762" rtlCol="0" anchor="ctr"/>
          <a:lstStyle/>
          <a:p>
            <a:pPr algn="ctr" indent="0" marL="0">
              <a:buNone/>
            </a:pPr>
            <a:r>
              <a:rPr lang="en-US" sz="1600" b="1" dirty="0">
                <a:solidFill>
                  <a:srgbClr val="0B1F3A"/>
                </a:solidFill>
              </a:rPr>
              <a:t>Java</a:t>
            </a:r>
            <a:endParaRPr lang="en-US" sz="1600" dirty="0"/>
          </a:p>
        </p:txBody>
      </p:sp>
      <p:sp>
        <p:nvSpPr>
          <p:cNvPr id="6" name="Text 3"/>
          <p:cNvSpPr txBox="1"/>
          <p:nvPr/>
        </p:nvSpPr>
        <p:spPr>
          <a:xfrm>
            <a:off x="1325880" y="1325880"/>
            <a:ext cx="502920" cy="457200"/>
          </a:xfrm>
          <a:prstGeom prst="roundRect">
            <a:avLst>
              <a:gd name="adj" fmla="val 20000"/>
            </a:avLst>
          </a:prstGeom>
          <a:solidFill>
            <a:srgbClr val="13A89E"/>
          </a:solidFill>
          <a:ln/>
        </p:spPr>
        <p:txBody>
          <a:bodyPr wrap="square" lIns="762" tIns="762" rIns="762" bIns="762" rtlCol="0" anchor="ctr"/>
          <a:lstStyle/>
          <a:p>
            <a:pPr algn="ctr" indent="0" marL="0">
              <a:buNone/>
            </a:pPr>
            <a:r>
              <a:rPr lang="en-US" sz="1600" b="1" dirty="0">
                <a:solidFill>
                  <a:srgbClr val="0B1F3A"/>
                </a:solidFill>
              </a:rPr>
              <a:t>is</a:t>
            </a:r>
            <a:endParaRPr lang="en-US" sz="1600" dirty="0"/>
          </a:p>
        </p:txBody>
      </p:sp>
      <p:sp>
        <p:nvSpPr>
          <p:cNvPr id="7" name="Text 4"/>
          <p:cNvSpPr txBox="1"/>
          <p:nvPr/>
        </p:nvSpPr>
        <p:spPr>
          <a:xfrm>
            <a:off x="1920240" y="1325880"/>
            <a:ext cx="411480" cy="457200"/>
          </a:xfrm>
          <a:prstGeom prst="roundRect">
            <a:avLst>
              <a:gd name="adj" fmla="val 22222"/>
            </a:avLst>
          </a:prstGeom>
          <a:solidFill>
            <a:srgbClr val="13A89E"/>
          </a:solidFill>
          <a:ln/>
        </p:spPr>
        <p:txBody>
          <a:bodyPr wrap="square" lIns="762" tIns="762" rIns="762" bIns="762" rtlCol="0" anchor="ctr"/>
          <a:lstStyle/>
          <a:p>
            <a:pPr algn="ctr" indent="0" marL="0">
              <a:buNone/>
            </a:pPr>
            <a:r>
              <a:rPr lang="en-US" sz="1600" b="1" dirty="0">
                <a:solidFill>
                  <a:srgbClr val="0B1F3A"/>
                </a:solidFill>
              </a:rPr>
              <a:t>a</a:t>
            </a:r>
            <a:endParaRPr lang="en-US" sz="1600" dirty="0"/>
          </a:p>
        </p:txBody>
      </p:sp>
      <p:sp>
        <p:nvSpPr>
          <p:cNvPr id="8" name="Text 5"/>
          <p:cNvSpPr txBox="1"/>
          <p:nvPr/>
        </p:nvSpPr>
        <p:spPr>
          <a:xfrm>
            <a:off x="2423160" y="1325880"/>
            <a:ext cx="640080" cy="457200"/>
          </a:xfrm>
          <a:prstGeom prst="roundRect">
            <a:avLst>
              <a:gd name="adj" fmla="val 20000"/>
            </a:avLst>
          </a:prstGeom>
          <a:solidFill>
            <a:srgbClr val="13A89E"/>
          </a:solidFill>
          <a:ln/>
        </p:spPr>
        <p:txBody>
          <a:bodyPr wrap="square" lIns="762" tIns="762" rIns="762" bIns="762" rtlCol="0" anchor="ctr"/>
          <a:lstStyle/>
          <a:p>
            <a:pPr algn="ctr" indent="0" marL="0">
              <a:buNone/>
            </a:pPr>
            <a:r>
              <a:rPr lang="en-US" sz="1600" b="1" dirty="0">
                <a:solidFill>
                  <a:srgbClr val="0B1F3A"/>
                </a:solidFill>
              </a:rPr>
              <a:t>pro</a:t>
            </a:r>
            <a:endParaRPr lang="en-US" sz="1600" dirty="0"/>
          </a:p>
        </p:txBody>
      </p:sp>
      <p:sp>
        <p:nvSpPr>
          <p:cNvPr id="9" name="Text 6"/>
          <p:cNvSpPr txBox="1"/>
          <p:nvPr/>
        </p:nvSpPr>
        <p:spPr>
          <a:xfrm>
            <a:off x="3154680" y="1325880"/>
            <a:ext cx="777240" cy="457200"/>
          </a:xfrm>
          <a:prstGeom prst="roundRect">
            <a:avLst>
              <a:gd name="adj" fmla="val 20000"/>
            </a:avLst>
          </a:prstGeom>
          <a:solidFill>
            <a:srgbClr val="13A89E"/>
          </a:solidFill>
          <a:ln/>
        </p:spPr>
        <p:txBody>
          <a:bodyPr wrap="square" lIns="762" tIns="762" rIns="762" bIns="762" rtlCol="0" anchor="ctr"/>
          <a:lstStyle/>
          <a:p>
            <a:pPr algn="ctr" indent="0" marL="0">
              <a:buNone/>
            </a:pPr>
            <a:r>
              <a:rPr lang="en-US" sz="1600" b="1" dirty="0">
                <a:solidFill>
                  <a:srgbClr val="0B1F3A"/>
                </a:solidFill>
              </a:rPr>
              <a:t>gram</a:t>
            </a:r>
            <a:endParaRPr lang="en-US" sz="1600" dirty="0"/>
          </a:p>
        </p:txBody>
      </p:sp>
      <p:sp>
        <p:nvSpPr>
          <p:cNvPr id="10" name="Text 7"/>
          <p:cNvSpPr txBox="1"/>
          <p:nvPr/>
        </p:nvSpPr>
        <p:spPr>
          <a:xfrm>
            <a:off x="4023360" y="1325880"/>
            <a:ext cx="731520" cy="457200"/>
          </a:xfrm>
          <a:prstGeom prst="roundRect">
            <a:avLst>
              <a:gd name="adj" fmla="val 20000"/>
            </a:avLst>
          </a:prstGeom>
          <a:solidFill>
            <a:srgbClr val="13A89E"/>
          </a:solidFill>
          <a:ln/>
        </p:spPr>
        <p:txBody>
          <a:bodyPr wrap="square" lIns="762" tIns="762" rIns="762" bIns="762" rtlCol="0" anchor="ctr"/>
          <a:lstStyle/>
          <a:p>
            <a:pPr algn="ctr" indent="0" marL="0">
              <a:buNone/>
            </a:pPr>
            <a:r>
              <a:rPr lang="en-US" sz="1600" b="1" dirty="0">
                <a:solidFill>
                  <a:srgbClr val="0B1F3A"/>
                </a:solidFill>
              </a:rPr>
              <a:t>ming</a:t>
            </a:r>
            <a:endParaRPr lang="en-US" sz="1600" dirty="0"/>
          </a:p>
        </p:txBody>
      </p:sp>
      <p:sp>
        <p:nvSpPr>
          <p:cNvPr id="11" name="Text 8"/>
          <p:cNvSpPr txBox="1"/>
          <p:nvPr/>
        </p:nvSpPr>
        <p:spPr>
          <a:xfrm>
            <a:off x="4846320" y="1325880"/>
            <a:ext cx="1097280" cy="457200"/>
          </a:xfrm>
          <a:prstGeom prst="roundRect">
            <a:avLst>
              <a:gd name="adj" fmla="val 20000"/>
            </a:avLst>
          </a:prstGeom>
          <a:solidFill>
            <a:srgbClr val="13A89E"/>
          </a:solidFill>
          <a:ln/>
        </p:spPr>
        <p:txBody>
          <a:bodyPr wrap="square" lIns="762" tIns="762" rIns="762" bIns="762" rtlCol="0" anchor="ctr"/>
          <a:lstStyle/>
          <a:p>
            <a:pPr algn="ctr" indent="0" marL="0">
              <a:buNone/>
            </a:pPr>
            <a:r>
              <a:rPr lang="en-US" sz="1600" b="1" dirty="0">
                <a:solidFill>
                  <a:srgbClr val="0B1F3A"/>
                </a:solidFill>
              </a:rPr>
              <a:t>language</a:t>
            </a:r>
            <a:endParaRPr lang="en-US" sz="1600" dirty="0"/>
          </a:p>
        </p:txBody>
      </p:sp>
      <p:sp>
        <p:nvSpPr>
          <p:cNvPr id="12" name="Text 9"/>
          <p:cNvSpPr txBox="1"/>
          <p:nvPr/>
        </p:nvSpPr>
        <p:spPr>
          <a:xfrm>
            <a:off x="6035040" y="1325880"/>
            <a:ext cx="548640" cy="457200"/>
          </a:xfrm>
          <a:prstGeom prst="roundRect">
            <a:avLst>
              <a:gd name="adj" fmla="val 20000"/>
            </a:avLst>
          </a:prstGeom>
          <a:solidFill>
            <a:srgbClr val="14305A"/>
          </a:solidFill>
          <a:ln w="19050">
            <a:solidFill>
              <a:srgbClr val="F2B134"/>
            </a:solidFill>
            <a:prstDash val="dash"/>
          </a:ln>
        </p:spPr>
        <p:txBody>
          <a:bodyPr wrap="square" lIns="762" tIns="762" rIns="762" bIns="762" rtlCol="0" anchor="ctr"/>
          <a:lstStyle/>
          <a:p>
            <a:pPr algn="ctr" indent="0" marL="0">
              <a:buNone/>
            </a:pPr>
            <a:r>
              <a:rPr lang="en-US" sz="1800" b="1" dirty="0">
                <a:solidFill>
                  <a:srgbClr val="F2B134"/>
                </a:solidFill>
              </a:rPr>
              <a:t>?</a:t>
            </a:r>
            <a:endParaRPr lang="en-US" sz="1800" dirty="0"/>
          </a:p>
        </p:txBody>
      </p:sp>
      <p:sp>
        <p:nvSpPr>
          <p:cNvPr id="13" name="Text 10"/>
          <p:cNvSpPr txBox="1"/>
          <p:nvPr/>
        </p:nvSpPr>
        <p:spPr>
          <a:xfrm>
            <a:off x="457200" y="1920240"/>
            <a:ext cx="8229600" cy="274320"/>
          </a:xfrm>
          <a:prstGeom prst="rect">
            <a:avLst/>
          </a:prstGeom>
          <a:noFill/>
          <a:ln/>
        </p:spPr>
        <p:txBody>
          <a:bodyPr wrap="square" lIns="0" tIns="0" rIns="0" bIns="0" rtlCol="0" anchor="t"/>
          <a:lstStyle/>
          <a:p>
            <a:pPr indent="0" marL="0">
              <a:buNone/>
            </a:pPr>
            <a:r>
              <a:rPr lang="en-US" sz="1300" i="1" dirty="0">
                <a:solidFill>
                  <a:srgbClr val="B9C6DA"/>
                </a:solidFill>
              </a:rPr>
              <a:t>Example split (real tokenizers differ). It guesses the next piece, then the next one.</a:t>
            </a:r>
            <a:endParaRPr lang="en-US" sz="1300" dirty="0"/>
          </a:p>
        </p:txBody>
      </p:sp>
      <p:sp>
        <p:nvSpPr>
          <p:cNvPr id="14" name="ck1_67"/>
          <p:cNvSpPr/>
          <p:nvPr/>
        </p:nvSpPr>
        <p:spPr>
          <a:xfrm>
            <a:off x="457200" y="2423160"/>
            <a:ext cx="4023360" cy="2011680"/>
          </a:xfrm>
          <a:prstGeom prst="roundRect">
            <a:avLst>
              <a:gd name="adj" fmla="val 4545"/>
            </a:avLst>
          </a:prstGeom>
          <a:solidFill>
            <a:srgbClr val="14305A"/>
          </a:solidFill>
          <a:ln/>
        </p:spPr>
      </p:sp>
      <p:sp>
        <p:nvSpPr>
          <p:cNvPr id="15" name="ck1_68"/>
          <p:cNvSpPr/>
          <p:nvPr/>
        </p:nvSpPr>
        <p:spPr>
          <a:xfrm>
            <a:off x="685800" y="2633472"/>
            <a:ext cx="228600" cy="228600"/>
          </a:xfrm>
          <a:prstGeom prst="ellipse">
            <a:avLst/>
          </a:prstGeom>
          <a:solidFill>
            <a:srgbClr val="13A89E"/>
          </a:solidFill>
          <a:ln/>
        </p:spPr>
      </p:sp>
      <p:sp>
        <p:nvSpPr>
          <p:cNvPr id="16" name="ck1_69"/>
          <p:cNvSpPr txBox="1"/>
          <p:nvPr/>
        </p:nvSpPr>
        <p:spPr>
          <a:xfrm>
            <a:off x="1051560" y="2578608"/>
            <a:ext cx="3200400" cy="365760"/>
          </a:xfrm>
          <a:prstGeom prst="rect">
            <a:avLst/>
          </a:prstGeom>
          <a:noFill/>
          <a:ln/>
        </p:spPr>
        <p:txBody>
          <a:bodyPr wrap="square" lIns="0" tIns="0" rIns="0" bIns="0" rtlCol="0" anchor="t"/>
          <a:lstStyle/>
          <a:p>
            <a:pPr indent="0" marL="0">
              <a:buNone/>
            </a:pPr>
            <a:r>
              <a:rPr lang="en-US" sz="2000" b="1" dirty="0">
                <a:solidFill>
                  <a:srgbClr val="FFFFFF"/>
                </a:solidFill>
              </a:rPr>
              <a:t>Token</a:t>
            </a:r>
            <a:endParaRPr lang="en-US" sz="2000" dirty="0"/>
          </a:p>
        </p:txBody>
      </p:sp>
      <p:sp>
        <p:nvSpPr>
          <p:cNvPr id="17" name="ck1_70"/>
          <p:cNvSpPr txBox="1"/>
          <p:nvPr/>
        </p:nvSpPr>
        <p:spPr>
          <a:xfrm>
            <a:off x="685800" y="3108960"/>
            <a:ext cx="3566160" cy="1280160"/>
          </a:xfrm>
          <a:prstGeom prst="rect">
            <a:avLst/>
          </a:prstGeom>
          <a:noFill/>
          <a:ln/>
        </p:spPr>
        <p:txBody>
          <a:bodyPr wrap="square" lIns="0" tIns="0" rIns="0" bIns="0" rtlCol="0" anchor="t"/>
          <a:lstStyle/>
          <a:p>
            <a:pPr indent="0" marL="0">
              <a:buNone/>
            </a:pPr>
            <a:r>
              <a:rPr lang="en-US" sz="1600" dirty="0">
                <a:solidFill>
                  <a:srgbClr val="B9C6DA"/>
                </a:solidFill>
              </a:rPr>
              <a:t>A small piece of a word. AI services count tokens, like SMS packs: you pay for what you send and what comes back.</a:t>
            </a:r>
            <a:endParaRPr lang="en-US" sz="1600" dirty="0"/>
          </a:p>
        </p:txBody>
      </p:sp>
      <p:sp>
        <p:nvSpPr>
          <p:cNvPr id="18" name="ck2_71"/>
          <p:cNvSpPr/>
          <p:nvPr/>
        </p:nvSpPr>
        <p:spPr>
          <a:xfrm>
            <a:off x="4663440" y="2423160"/>
            <a:ext cx="4023360" cy="2011680"/>
          </a:xfrm>
          <a:prstGeom prst="roundRect">
            <a:avLst>
              <a:gd name="adj" fmla="val 4545"/>
            </a:avLst>
          </a:prstGeom>
          <a:solidFill>
            <a:srgbClr val="14305A"/>
          </a:solidFill>
          <a:ln/>
        </p:spPr>
      </p:sp>
      <p:sp>
        <p:nvSpPr>
          <p:cNvPr id="19" name="ck2_72"/>
          <p:cNvSpPr/>
          <p:nvPr/>
        </p:nvSpPr>
        <p:spPr>
          <a:xfrm>
            <a:off x="4892040" y="2633472"/>
            <a:ext cx="228600" cy="228600"/>
          </a:xfrm>
          <a:prstGeom prst="ellipse">
            <a:avLst/>
          </a:prstGeom>
          <a:solidFill>
            <a:srgbClr val="A78BFA"/>
          </a:solidFill>
          <a:ln/>
        </p:spPr>
      </p:sp>
      <p:sp>
        <p:nvSpPr>
          <p:cNvPr id="20" name="ck2_73"/>
          <p:cNvSpPr txBox="1"/>
          <p:nvPr/>
        </p:nvSpPr>
        <p:spPr>
          <a:xfrm>
            <a:off x="5257800" y="2578608"/>
            <a:ext cx="3200400" cy="365760"/>
          </a:xfrm>
          <a:prstGeom prst="rect">
            <a:avLst/>
          </a:prstGeom>
          <a:noFill/>
          <a:ln/>
        </p:spPr>
        <p:txBody>
          <a:bodyPr wrap="square" lIns="0" tIns="0" rIns="0" bIns="0" rtlCol="0" anchor="t"/>
          <a:lstStyle/>
          <a:p>
            <a:pPr indent="0" marL="0">
              <a:buNone/>
            </a:pPr>
            <a:r>
              <a:rPr lang="en-US" sz="2000" b="1" dirty="0">
                <a:solidFill>
                  <a:srgbClr val="FFFFFF"/>
                </a:solidFill>
              </a:rPr>
              <a:t>Context window</a:t>
            </a:r>
            <a:endParaRPr lang="en-US" sz="2000" dirty="0"/>
          </a:p>
        </p:txBody>
      </p:sp>
      <p:sp>
        <p:nvSpPr>
          <p:cNvPr id="21" name="ck2_74"/>
          <p:cNvSpPr txBox="1"/>
          <p:nvPr/>
        </p:nvSpPr>
        <p:spPr>
          <a:xfrm>
            <a:off x="4892040" y="3108960"/>
            <a:ext cx="3566160" cy="1280160"/>
          </a:xfrm>
          <a:prstGeom prst="rect">
            <a:avLst/>
          </a:prstGeom>
          <a:noFill/>
          <a:ln/>
        </p:spPr>
        <p:txBody>
          <a:bodyPr wrap="square" lIns="0" tIns="0" rIns="0" bIns="0" rtlCol="0" anchor="t"/>
          <a:lstStyle/>
          <a:p>
            <a:pPr indent="0" marL="0">
              <a:buNone/>
            </a:pPr>
            <a:r>
              <a:rPr lang="en-US" sz="1600" dirty="0">
                <a:solidFill>
                  <a:srgbClr val="B9C6DA"/>
                </a:solidFill>
              </a:rPr>
              <a:t>How much text AI can keep in view at once. Like the size of your study desk: older pages fall off.</a:t>
            </a:r>
            <a:endParaRPr lang="en-US" sz="1600" dirty="0"/>
          </a:p>
        </p:txBody>
      </p:sp>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B9C6DA"/>
                </a:solidFill>
              </a:defRPr>
            </a:lvl1pPr>
          </a:lstStyle>
          <a:p>
            <a:pPr algn="r"/>
            <a:fld id="{F7021451-1387-4CA6-816F-3879F97B5CBC}" type="slidenum">
              <a:rPr b="0" lang="en-US"/>
              <a:t>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500"/>
                                        <p:tgtEl>
                                          <p:spTgt spid="1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500"/>
                                        <p:tgtEl>
                                          <p:spTgt spid="1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500"/>
                                        <p:tgtEl>
                                          <p:spTgt spid="2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P spid="20" grpId="0" animBg="1"/>
      <p:bldP spid="2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56032"/>
            <a:ext cx="6400800" cy="201168"/>
          </a:xfrm>
          <a:prstGeom prst="rect">
            <a:avLst/>
          </a:prstGeom>
          <a:noFill/>
          <a:ln/>
        </p:spPr>
        <p:txBody>
          <a:bodyPr wrap="square" lIns="0" tIns="0" rIns="0" bIns="0" rtlCol="0" anchor="t"/>
          <a:lstStyle/>
          <a:p>
            <a:pPr indent="0" marL="0">
              <a:buNone/>
            </a:pPr>
            <a:r>
              <a:rPr lang="en-US" sz="1100" b="1" spc="200" kern="0" dirty="0">
                <a:solidFill>
                  <a:srgbClr val="13A89E"/>
                </a:solidFill>
              </a:rPr>
              <a:t>GAME  |  MYTH OR FACT?</a:t>
            </a:r>
            <a:endParaRPr lang="en-US" sz="1100" dirty="0"/>
          </a:p>
        </p:txBody>
      </p:sp>
      <p:sp>
        <p:nvSpPr>
          <p:cNvPr id="3" name="Text 2"/>
          <p:cNvSpPr/>
          <p:nvPr>
            <p:ph idx="103" type="title" hasCustomPrompt="1"/>
          </p:nvPr>
        </p:nvSpPr>
        <p:spPr>
          <a:xfrm>
            <a:off x="457200" y="457200"/>
            <a:ext cx="8229600" cy="685800"/>
          </a:xfrm>
          <a:prstGeom prst="rect">
            <a:avLst/>
          </a:prstGeom>
          <a:noFill/>
          <a:ln/>
        </p:spPr>
        <p:txBody>
          <a:bodyPr wrap="square" lIns="0" tIns="0" rIns="0" bIns="0" rtlCol="0" anchor="ctr"/>
          <a:lstStyle/>
          <a:p>
            <a:pPr algn="l" indent="0" marL="0">
              <a:buNone/>
            </a:pPr>
            <a:r>
              <a:rPr lang="en-US" sz="3000" b="1" dirty="0">
                <a:solidFill>
                  <a:srgbClr val="FFFFFF"/>
                </a:solidFill>
              </a:rPr>
              <a:t>Myth or fact?</a:t>
            </a:r>
            <a:endParaRPr lang="en-US" sz="3000" dirty="0"/>
          </a:p>
        </p:txBody>
      </p:sp>
      <p:sp>
        <p:nvSpPr>
          <p:cNvPr id="5" name="Text 2"/>
          <p:cNvSpPr txBox="1"/>
          <p:nvPr/>
        </p:nvSpPr>
        <p:spPr>
          <a:xfrm>
            <a:off x="5669280" y="256032"/>
            <a:ext cx="3017520" cy="237744"/>
          </a:xfrm>
          <a:prstGeom prst="roundRect">
            <a:avLst>
              <a:gd name="adj" fmla="val 38462"/>
            </a:avLst>
          </a:prstGeom>
          <a:solidFill>
            <a:srgbClr val="F2B134"/>
          </a:solidFill>
          <a:ln/>
        </p:spPr>
        <p:txBody>
          <a:bodyPr wrap="square" lIns="254" tIns="254" rIns="254" bIns="254" rtlCol="0" anchor="ctr"/>
          <a:lstStyle/>
          <a:p>
            <a:pPr algn="ctr" indent="0" marL="0">
              <a:buNone/>
            </a:pPr>
            <a:r>
              <a:rPr lang="en-US" sz="1100" b="1" dirty="0">
                <a:solidFill>
                  <a:srgbClr val="0B1F3A"/>
                </a:solidFill>
              </a:rPr>
              <a:t>RIGHT HAND = FACT   LEFT HAND = MYTH</a:t>
            </a:r>
            <a:endParaRPr lang="en-US" sz="1100" dirty="0"/>
          </a:p>
        </p:txBody>
      </p:sp>
      <p:sp>
        <p:nvSpPr>
          <p:cNvPr id="6" name="Shape 3"/>
          <p:cNvSpPr/>
          <p:nvPr/>
        </p:nvSpPr>
        <p:spPr>
          <a:xfrm>
            <a:off x="457200" y="1325880"/>
            <a:ext cx="6400800" cy="640080"/>
          </a:xfrm>
          <a:prstGeom prst="roundRect">
            <a:avLst>
              <a:gd name="adj" fmla="val 14286"/>
            </a:avLst>
          </a:prstGeom>
          <a:solidFill>
            <a:srgbClr val="14305A"/>
          </a:solidFill>
          <a:ln/>
        </p:spPr>
      </p:sp>
      <p:sp>
        <p:nvSpPr>
          <p:cNvPr id="7" name="Text 4"/>
          <p:cNvSpPr txBox="1"/>
          <p:nvPr/>
        </p:nvSpPr>
        <p:spPr>
          <a:xfrm>
            <a:off x="685800" y="1325880"/>
            <a:ext cx="6035040" cy="640080"/>
          </a:xfrm>
          <a:prstGeom prst="rect">
            <a:avLst/>
          </a:prstGeom>
          <a:noFill/>
          <a:ln/>
        </p:spPr>
        <p:txBody>
          <a:bodyPr wrap="square" lIns="0" tIns="0" rIns="0" bIns="0" rtlCol="0" anchor="ctr"/>
          <a:lstStyle/>
          <a:p>
            <a:pPr indent="0" marL="0">
              <a:buNone/>
            </a:pPr>
            <a:r>
              <a:rPr lang="en-US" sz="1700" dirty="0">
                <a:solidFill>
                  <a:srgbClr val="FFFFFF"/>
                </a:solidFill>
              </a:rPr>
              <a:t>AI always tells the truth.</a:t>
            </a:r>
            <a:endParaRPr lang="en-US" sz="1700" dirty="0"/>
          </a:p>
        </p:txBody>
      </p:sp>
      <p:sp>
        <p:nvSpPr>
          <p:cNvPr id="8" name="Text 5"/>
          <p:cNvSpPr txBox="1"/>
          <p:nvPr/>
        </p:nvSpPr>
        <p:spPr>
          <a:xfrm>
            <a:off x="7040880" y="1325880"/>
            <a:ext cx="1645920" cy="640080"/>
          </a:xfrm>
          <a:prstGeom prst="roundRect">
            <a:avLst>
              <a:gd name="adj" fmla="val 14286"/>
            </a:avLst>
          </a:prstGeom>
          <a:solidFill>
            <a:srgbClr val="14305A"/>
          </a:solidFill>
          <a:ln w="19050">
            <a:solidFill>
              <a:srgbClr val="F2B134"/>
            </a:solidFill>
            <a:prstDash val="dash"/>
          </a:ln>
        </p:spPr>
        <p:txBody>
          <a:bodyPr wrap="square" lIns="762" tIns="762" rIns="762" bIns="762" rtlCol="0" anchor="ctr"/>
          <a:lstStyle/>
          <a:p>
            <a:pPr algn="ctr" indent="0" marL="0">
              <a:buNone/>
            </a:pPr>
            <a:r>
              <a:rPr lang="en-US" sz="2200" b="1" dirty="0">
                <a:solidFill>
                  <a:srgbClr val="F2B134"/>
                </a:solidFill>
              </a:rPr>
              <a:t>?</a:t>
            </a:r>
            <a:endParaRPr lang="en-US" sz="2200" dirty="0"/>
          </a:p>
        </p:txBody>
      </p:sp>
      <p:sp>
        <p:nvSpPr>
          <p:cNvPr id="9" name="ck1_75"/>
          <p:cNvSpPr txBox="1"/>
          <p:nvPr/>
        </p:nvSpPr>
        <p:spPr>
          <a:xfrm>
            <a:off x="7040880" y="1325880"/>
            <a:ext cx="1645920" cy="640080"/>
          </a:xfrm>
          <a:prstGeom prst="roundRect">
            <a:avLst>
              <a:gd name="adj" fmla="val 14286"/>
            </a:avLst>
          </a:prstGeom>
          <a:solidFill>
            <a:srgbClr val="F26B6B"/>
          </a:solidFill>
          <a:ln/>
        </p:spPr>
        <p:txBody>
          <a:bodyPr wrap="square" lIns="762" tIns="762" rIns="762" bIns="762" rtlCol="0" anchor="ctr"/>
          <a:lstStyle/>
          <a:p>
            <a:pPr algn="ctr" indent="0" marL="0">
              <a:buNone/>
            </a:pPr>
            <a:r>
              <a:rPr lang="en-US" sz="1800" b="1" dirty="0">
                <a:solidFill>
                  <a:srgbClr val="0B1F3A"/>
                </a:solidFill>
              </a:rPr>
              <a:t>MYTH</a:t>
            </a:r>
            <a:endParaRPr lang="en-US" sz="1800" dirty="0"/>
          </a:p>
        </p:txBody>
      </p:sp>
      <p:sp>
        <p:nvSpPr>
          <p:cNvPr id="10" name="Shape 7"/>
          <p:cNvSpPr/>
          <p:nvPr/>
        </p:nvSpPr>
        <p:spPr>
          <a:xfrm>
            <a:off x="457200" y="2075688"/>
            <a:ext cx="6400800" cy="640080"/>
          </a:xfrm>
          <a:prstGeom prst="roundRect">
            <a:avLst>
              <a:gd name="adj" fmla="val 14286"/>
            </a:avLst>
          </a:prstGeom>
          <a:solidFill>
            <a:srgbClr val="14305A"/>
          </a:solidFill>
          <a:ln/>
        </p:spPr>
      </p:sp>
      <p:sp>
        <p:nvSpPr>
          <p:cNvPr id="11" name="Text 8"/>
          <p:cNvSpPr txBox="1"/>
          <p:nvPr/>
        </p:nvSpPr>
        <p:spPr>
          <a:xfrm>
            <a:off x="685800" y="2075688"/>
            <a:ext cx="6035040" cy="640080"/>
          </a:xfrm>
          <a:prstGeom prst="rect">
            <a:avLst/>
          </a:prstGeom>
          <a:noFill/>
          <a:ln/>
        </p:spPr>
        <p:txBody>
          <a:bodyPr wrap="square" lIns="0" tIns="0" rIns="0" bIns="0" rtlCol="0" anchor="ctr"/>
          <a:lstStyle/>
          <a:p>
            <a:pPr indent="0" marL="0">
              <a:buNone/>
            </a:pPr>
            <a:r>
              <a:rPr lang="en-US" sz="1700" dirty="0">
                <a:solidFill>
                  <a:srgbClr val="FFFFFF"/>
                </a:solidFill>
              </a:rPr>
              <a:t>AI can sound confident and still be wrong.</a:t>
            </a:r>
            <a:endParaRPr lang="en-US" sz="1700" dirty="0"/>
          </a:p>
        </p:txBody>
      </p:sp>
      <p:sp>
        <p:nvSpPr>
          <p:cNvPr id="12" name="Text 9"/>
          <p:cNvSpPr txBox="1"/>
          <p:nvPr/>
        </p:nvSpPr>
        <p:spPr>
          <a:xfrm>
            <a:off x="7040880" y="2075688"/>
            <a:ext cx="1645920" cy="640080"/>
          </a:xfrm>
          <a:prstGeom prst="roundRect">
            <a:avLst>
              <a:gd name="adj" fmla="val 14286"/>
            </a:avLst>
          </a:prstGeom>
          <a:solidFill>
            <a:srgbClr val="14305A"/>
          </a:solidFill>
          <a:ln w="19050">
            <a:solidFill>
              <a:srgbClr val="F2B134"/>
            </a:solidFill>
            <a:prstDash val="dash"/>
          </a:ln>
        </p:spPr>
        <p:txBody>
          <a:bodyPr wrap="square" lIns="762" tIns="762" rIns="762" bIns="762" rtlCol="0" anchor="ctr"/>
          <a:lstStyle/>
          <a:p>
            <a:pPr algn="ctr" indent="0" marL="0">
              <a:buNone/>
            </a:pPr>
            <a:r>
              <a:rPr lang="en-US" sz="2200" b="1" dirty="0">
                <a:solidFill>
                  <a:srgbClr val="F2B134"/>
                </a:solidFill>
              </a:rPr>
              <a:t>?</a:t>
            </a:r>
            <a:endParaRPr lang="en-US" sz="2200" dirty="0"/>
          </a:p>
        </p:txBody>
      </p:sp>
      <p:sp>
        <p:nvSpPr>
          <p:cNvPr id="13" name="ck2_76"/>
          <p:cNvSpPr txBox="1"/>
          <p:nvPr/>
        </p:nvSpPr>
        <p:spPr>
          <a:xfrm>
            <a:off x="7040880" y="2075688"/>
            <a:ext cx="1645920" cy="640080"/>
          </a:xfrm>
          <a:prstGeom prst="roundRect">
            <a:avLst>
              <a:gd name="adj" fmla="val 14286"/>
            </a:avLst>
          </a:prstGeom>
          <a:solidFill>
            <a:srgbClr val="5DB85C"/>
          </a:solidFill>
          <a:ln/>
        </p:spPr>
        <p:txBody>
          <a:bodyPr wrap="square" lIns="762" tIns="762" rIns="762" bIns="762" rtlCol="0" anchor="ctr"/>
          <a:lstStyle/>
          <a:p>
            <a:pPr algn="ctr" indent="0" marL="0">
              <a:buNone/>
            </a:pPr>
            <a:r>
              <a:rPr lang="en-US" sz="1800" b="1" dirty="0">
                <a:solidFill>
                  <a:srgbClr val="0B1F3A"/>
                </a:solidFill>
              </a:rPr>
              <a:t>FACT</a:t>
            </a:r>
            <a:endParaRPr lang="en-US" sz="1800" dirty="0"/>
          </a:p>
        </p:txBody>
      </p:sp>
      <p:sp>
        <p:nvSpPr>
          <p:cNvPr id="14" name="Shape 11"/>
          <p:cNvSpPr/>
          <p:nvPr/>
        </p:nvSpPr>
        <p:spPr>
          <a:xfrm>
            <a:off x="457200" y="2825496"/>
            <a:ext cx="6400800" cy="640080"/>
          </a:xfrm>
          <a:prstGeom prst="roundRect">
            <a:avLst>
              <a:gd name="adj" fmla="val 14286"/>
            </a:avLst>
          </a:prstGeom>
          <a:solidFill>
            <a:srgbClr val="14305A"/>
          </a:solidFill>
          <a:ln/>
        </p:spPr>
      </p:sp>
      <p:sp>
        <p:nvSpPr>
          <p:cNvPr id="15" name="Text 12"/>
          <p:cNvSpPr txBox="1"/>
          <p:nvPr/>
        </p:nvSpPr>
        <p:spPr>
          <a:xfrm>
            <a:off x="685800" y="2825496"/>
            <a:ext cx="6035040" cy="640080"/>
          </a:xfrm>
          <a:prstGeom prst="rect">
            <a:avLst/>
          </a:prstGeom>
          <a:noFill/>
          <a:ln/>
        </p:spPr>
        <p:txBody>
          <a:bodyPr wrap="square" lIns="0" tIns="0" rIns="0" bIns="0" rtlCol="0" anchor="ctr"/>
          <a:lstStyle/>
          <a:p>
            <a:pPr indent="0" marL="0">
              <a:buNone/>
            </a:pPr>
            <a:r>
              <a:rPr lang="en-US" sz="1700" dirty="0">
                <a:solidFill>
                  <a:srgbClr val="FFFFFF"/>
                </a:solidFill>
              </a:rPr>
              <a:t>A better question gives a better answer.</a:t>
            </a:r>
            <a:endParaRPr lang="en-US" sz="1700" dirty="0"/>
          </a:p>
        </p:txBody>
      </p:sp>
      <p:sp>
        <p:nvSpPr>
          <p:cNvPr id="16" name="Text 13"/>
          <p:cNvSpPr txBox="1"/>
          <p:nvPr/>
        </p:nvSpPr>
        <p:spPr>
          <a:xfrm>
            <a:off x="7040880" y="2825496"/>
            <a:ext cx="1645920" cy="640080"/>
          </a:xfrm>
          <a:prstGeom prst="roundRect">
            <a:avLst>
              <a:gd name="adj" fmla="val 14286"/>
            </a:avLst>
          </a:prstGeom>
          <a:solidFill>
            <a:srgbClr val="14305A"/>
          </a:solidFill>
          <a:ln w="19050">
            <a:solidFill>
              <a:srgbClr val="F2B134"/>
            </a:solidFill>
            <a:prstDash val="dash"/>
          </a:ln>
        </p:spPr>
        <p:txBody>
          <a:bodyPr wrap="square" lIns="762" tIns="762" rIns="762" bIns="762" rtlCol="0" anchor="ctr"/>
          <a:lstStyle/>
          <a:p>
            <a:pPr algn="ctr" indent="0" marL="0">
              <a:buNone/>
            </a:pPr>
            <a:r>
              <a:rPr lang="en-US" sz="2200" b="1" dirty="0">
                <a:solidFill>
                  <a:srgbClr val="F2B134"/>
                </a:solidFill>
              </a:rPr>
              <a:t>?</a:t>
            </a:r>
            <a:endParaRPr lang="en-US" sz="2200" dirty="0"/>
          </a:p>
        </p:txBody>
      </p:sp>
      <p:sp>
        <p:nvSpPr>
          <p:cNvPr id="17" name="ck3_77"/>
          <p:cNvSpPr txBox="1"/>
          <p:nvPr/>
        </p:nvSpPr>
        <p:spPr>
          <a:xfrm>
            <a:off x="7040880" y="2825496"/>
            <a:ext cx="1645920" cy="640080"/>
          </a:xfrm>
          <a:prstGeom prst="roundRect">
            <a:avLst>
              <a:gd name="adj" fmla="val 14286"/>
            </a:avLst>
          </a:prstGeom>
          <a:solidFill>
            <a:srgbClr val="5DB85C"/>
          </a:solidFill>
          <a:ln/>
        </p:spPr>
        <p:txBody>
          <a:bodyPr wrap="square" lIns="762" tIns="762" rIns="762" bIns="762" rtlCol="0" anchor="ctr"/>
          <a:lstStyle/>
          <a:p>
            <a:pPr algn="ctr" indent="0" marL="0">
              <a:buNone/>
            </a:pPr>
            <a:r>
              <a:rPr lang="en-US" sz="1800" b="1" dirty="0">
                <a:solidFill>
                  <a:srgbClr val="0B1F3A"/>
                </a:solidFill>
              </a:rPr>
              <a:t>FACT</a:t>
            </a:r>
            <a:endParaRPr lang="en-US" sz="1800" dirty="0"/>
          </a:p>
        </p:txBody>
      </p:sp>
      <p:sp>
        <p:nvSpPr>
          <p:cNvPr id="18" name="Shape 15"/>
          <p:cNvSpPr/>
          <p:nvPr/>
        </p:nvSpPr>
        <p:spPr>
          <a:xfrm>
            <a:off x="457200" y="3575304"/>
            <a:ext cx="6400800" cy="640080"/>
          </a:xfrm>
          <a:prstGeom prst="roundRect">
            <a:avLst>
              <a:gd name="adj" fmla="val 14286"/>
            </a:avLst>
          </a:prstGeom>
          <a:solidFill>
            <a:srgbClr val="14305A"/>
          </a:solidFill>
          <a:ln/>
        </p:spPr>
      </p:sp>
      <p:sp>
        <p:nvSpPr>
          <p:cNvPr id="19" name="Text 16"/>
          <p:cNvSpPr txBox="1"/>
          <p:nvPr/>
        </p:nvSpPr>
        <p:spPr>
          <a:xfrm>
            <a:off x="685800" y="3575304"/>
            <a:ext cx="6035040" cy="640080"/>
          </a:xfrm>
          <a:prstGeom prst="rect">
            <a:avLst/>
          </a:prstGeom>
          <a:noFill/>
          <a:ln/>
        </p:spPr>
        <p:txBody>
          <a:bodyPr wrap="square" lIns="0" tIns="0" rIns="0" bIns="0" rtlCol="0" anchor="ctr"/>
          <a:lstStyle/>
          <a:p>
            <a:pPr indent="0" marL="0">
              <a:buNone/>
            </a:pPr>
            <a:r>
              <a:rPr lang="en-US" sz="1700" dirty="0">
                <a:solidFill>
                  <a:srgbClr val="FFFFFF"/>
                </a:solidFill>
              </a:rPr>
              <a:t>AI knows what happened this morning by itself.</a:t>
            </a:r>
            <a:endParaRPr lang="en-US" sz="1700" dirty="0"/>
          </a:p>
        </p:txBody>
      </p:sp>
      <p:sp>
        <p:nvSpPr>
          <p:cNvPr id="20" name="Text 17"/>
          <p:cNvSpPr txBox="1"/>
          <p:nvPr/>
        </p:nvSpPr>
        <p:spPr>
          <a:xfrm>
            <a:off x="7040880" y="3575304"/>
            <a:ext cx="1645920" cy="640080"/>
          </a:xfrm>
          <a:prstGeom prst="roundRect">
            <a:avLst>
              <a:gd name="adj" fmla="val 14286"/>
            </a:avLst>
          </a:prstGeom>
          <a:solidFill>
            <a:srgbClr val="14305A"/>
          </a:solidFill>
          <a:ln w="19050">
            <a:solidFill>
              <a:srgbClr val="F2B134"/>
            </a:solidFill>
            <a:prstDash val="dash"/>
          </a:ln>
        </p:spPr>
        <p:txBody>
          <a:bodyPr wrap="square" lIns="762" tIns="762" rIns="762" bIns="762" rtlCol="0" anchor="ctr"/>
          <a:lstStyle/>
          <a:p>
            <a:pPr algn="ctr" indent="0" marL="0">
              <a:buNone/>
            </a:pPr>
            <a:r>
              <a:rPr lang="en-US" sz="2200" b="1" dirty="0">
                <a:solidFill>
                  <a:srgbClr val="F2B134"/>
                </a:solidFill>
              </a:rPr>
              <a:t>?</a:t>
            </a:r>
            <a:endParaRPr lang="en-US" sz="2200" dirty="0"/>
          </a:p>
        </p:txBody>
      </p:sp>
      <p:sp>
        <p:nvSpPr>
          <p:cNvPr id="21" name="ck4_78"/>
          <p:cNvSpPr txBox="1"/>
          <p:nvPr/>
        </p:nvSpPr>
        <p:spPr>
          <a:xfrm>
            <a:off x="7040880" y="3575304"/>
            <a:ext cx="1645920" cy="640080"/>
          </a:xfrm>
          <a:prstGeom prst="roundRect">
            <a:avLst>
              <a:gd name="adj" fmla="val 14286"/>
            </a:avLst>
          </a:prstGeom>
          <a:solidFill>
            <a:srgbClr val="F26B6B"/>
          </a:solidFill>
          <a:ln/>
        </p:spPr>
        <p:txBody>
          <a:bodyPr wrap="square" lIns="762" tIns="762" rIns="762" bIns="762" rtlCol="0" anchor="ctr"/>
          <a:lstStyle/>
          <a:p>
            <a:pPr algn="ctr" indent="0" marL="0">
              <a:buNone/>
            </a:pPr>
            <a:r>
              <a:rPr lang="en-US" sz="1800" b="1" dirty="0">
                <a:solidFill>
                  <a:srgbClr val="0B1F3A"/>
                </a:solidFill>
              </a:rPr>
              <a:t>MYTH</a:t>
            </a:r>
            <a:endParaRPr lang="en-US" sz="1800" dirty="0"/>
          </a:p>
        </p:txBody>
      </p:sp>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B9C6DA"/>
                </a:solidFill>
              </a:defRPr>
            </a:lvl1pPr>
          </a:lstStyle>
          <a:p>
            <a:pPr algn="r"/>
            <a:fld id="{F7021451-1387-4CA6-816F-3879F97B5CBC}" type="slidenum">
              <a:rPr b="0" lang="en-US"/>
              <a:t>8</a:t>
            </a:fld>
            <a:endParaRPr lang="en-US"/>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animBg="1"/>
      <p:bldP spid="17" grpId="0" animBg="1"/>
      <p:bldP spid="2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56032"/>
            <a:ext cx="6400800" cy="201168"/>
          </a:xfrm>
          <a:prstGeom prst="rect">
            <a:avLst/>
          </a:prstGeom>
          <a:noFill/>
          <a:ln/>
        </p:spPr>
        <p:txBody>
          <a:bodyPr wrap="square" lIns="0" tIns="0" rIns="0" bIns="0" rtlCol="0" anchor="t"/>
          <a:lstStyle/>
          <a:p>
            <a:pPr indent="0" marL="0">
              <a:buNone/>
            </a:pPr>
            <a:r>
              <a:rPr lang="en-US" sz="1100" b="1" spc="200" kern="0" dirty="0">
                <a:solidFill>
                  <a:srgbClr val="F28C28"/>
                </a:solidFill>
              </a:rPr>
              <a:t>2  TALKING TO AI</a:t>
            </a:r>
            <a:endParaRPr lang="en-US" sz="1100" dirty="0"/>
          </a:p>
        </p:txBody>
      </p:sp>
      <p:sp>
        <p:nvSpPr>
          <p:cNvPr id="3" name="Text 2"/>
          <p:cNvSpPr/>
          <p:nvPr>
            <p:ph idx="103" type="title" hasCustomPrompt="1"/>
          </p:nvPr>
        </p:nvSpPr>
        <p:spPr>
          <a:xfrm>
            <a:off x="457200" y="457200"/>
            <a:ext cx="8229600" cy="685800"/>
          </a:xfrm>
          <a:prstGeom prst="rect">
            <a:avLst/>
          </a:prstGeom>
          <a:noFill/>
          <a:ln/>
        </p:spPr>
        <p:txBody>
          <a:bodyPr wrap="square" lIns="0" tIns="0" rIns="0" bIns="0" rtlCol="0" anchor="ctr"/>
          <a:lstStyle/>
          <a:p>
            <a:pPr algn="l" indent="0" marL="0">
              <a:buNone/>
            </a:pPr>
            <a:r>
              <a:rPr lang="en-US" sz="3000" b="1" dirty="0">
                <a:solidFill>
                  <a:srgbClr val="FFFFFF"/>
                </a:solidFill>
              </a:rPr>
              <a:t>A good prompt has four parts</a:t>
            </a:r>
            <a:endParaRPr lang="en-US" sz="3000" dirty="0"/>
          </a:p>
        </p:txBody>
      </p:sp>
      <p:sp>
        <p:nvSpPr>
          <p:cNvPr id="5" name="ck1_79"/>
          <p:cNvSpPr txBox="1"/>
          <p:nvPr/>
        </p:nvSpPr>
        <p:spPr>
          <a:xfrm>
            <a:off x="457200" y="1325880"/>
            <a:ext cx="1280160" cy="640080"/>
          </a:xfrm>
          <a:prstGeom prst="roundRect">
            <a:avLst>
              <a:gd name="adj" fmla="val 14286"/>
            </a:avLst>
          </a:prstGeom>
          <a:solidFill>
            <a:srgbClr val="F28C28"/>
          </a:solidFill>
          <a:ln/>
        </p:spPr>
        <p:txBody>
          <a:bodyPr wrap="square" lIns="762" tIns="762" rIns="762" bIns="762" rtlCol="0" anchor="ctr"/>
          <a:lstStyle/>
          <a:p>
            <a:pPr algn="ctr" indent="0" marL="0">
              <a:buNone/>
            </a:pPr>
            <a:r>
              <a:rPr lang="en-US" sz="1600" b="1" dirty="0">
                <a:solidFill>
                  <a:srgbClr val="0B1F3A"/>
                </a:solidFill>
              </a:rPr>
              <a:t>Role</a:t>
            </a:r>
            <a:endParaRPr lang="en-US" sz="1600" dirty="0"/>
          </a:p>
        </p:txBody>
      </p:sp>
      <p:sp>
        <p:nvSpPr>
          <p:cNvPr id="6" name="ck1_80"/>
          <p:cNvSpPr/>
          <p:nvPr/>
        </p:nvSpPr>
        <p:spPr>
          <a:xfrm>
            <a:off x="1874520" y="1325880"/>
            <a:ext cx="3931920" cy="640080"/>
          </a:xfrm>
          <a:prstGeom prst="roundRect">
            <a:avLst>
              <a:gd name="adj" fmla="val 14286"/>
            </a:avLst>
          </a:prstGeom>
          <a:solidFill>
            <a:srgbClr val="14305A"/>
          </a:solidFill>
          <a:ln/>
        </p:spPr>
      </p:sp>
      <p:sp>
        <p:nvSpPr>
          <p:cNvPr id="7" name="ck1_81"/>
          <p:cNvSpPr txBox="1"/>
          <p:nvPr/>
        </p:nvSpPr>
        <p:spPr>
          <a:xfrm>
            <a:off x="2011680" y="1380744"/>
            <a:ext cx="3657600" cy="530352"/>
          </a:xfrm>
          <a:prstGeom prst="rect">
            <a:avLst/>
          </a:prstGeom>
          <a:noFill/>
          <a:ln/>
        </p:spPr>
        <p:txBody>
          <a:bodyPr wrap="square" lIns="0" tIns="0" rIns="0" bIns="0" rtlCol="0" anchor="ctr"/>
          <a:lstStyle/>
          <a:p>
            <a:pPr indent="0" marL="0">
              <a:buNone/>
            </a:pPr>
            <a:r>
              <a:rPr lang="en-US" sz="1400" dirty="0">
                <a:solidFill>
                  <a:srgbClr val="FFFFFF"/>
                </a:solidFill>
              </a:rPr>
              <a:t>You are a friendly Java tutor.</a:t>
            </a:r>
            <a:endParaRPr lang="en-US" sz="1400" dirty="0"/>
          </a:p>
        </p:txBody>
      </p:sp>
      <p:sp>
        <p:nvSpPr>
          <p:cNvPr id="8" name="ck2_82"/>
          <p:cNvSpPr txBox="1"/>
          <p:nvPr/>
        </p:nvSpPr>
        <p:spPr>
          <a:xfrm>
            <a:off x="457200" y="2103120"/>
            <a:ext cx="1280160" cy="640080"/>
          </a:xfrm>
          <a:prstGeom prst="roundRect">
            <a:avLst>
              <a:gd name="adj" fmla="val 14286"/>
            </a:avLst>
          </a:prstGeom>
          <a:solidFill>
            <a:srgbClr val="F28C28"/>
          </a:solidFill>
          <a:ln/>
        </p:spPr>
        <p:txBody>
          <a:bodyPr wrap="square" lIns="762" tIns="762" rIns="762" bIns="762" rtlCol="0" anchor="ctr"/>
          <a:lstStyle/>
          <a:p>
            <a:pPr algn="ctr" indent="0" marL="0">
              <a:buNone/>
            </a:pPr>
            <a:r>
              <a:rPr lang="en-US" sz="1600" b="1" dirty="0">
                <a:solidFill>
                  <a:srgbClr val="0B1F3A"/>
                </a:solidFill>
              </a:rPr>
              <a:t>Context</a:t>
            </a:r>
            <a:endParaRPr lang="en-US" sz="1600" dirty="0"/>
          </a:p>
        </p:txBody>
      </p:sp>
      <p:sp>
        <p:nvSpPr>
          <p:cNvPr id="9" name="ck2_83"/>
          <p:cNvSpPr/>
          <p:nvPr/>
        </p:nvSpPr>
        <p:spPr>
          <a:xfrm>
            <a:off x="1874520" y="2103120"/>
            <a:ext cx="3931920" cy="640080"/>
          </a:xfrm>
          <a:prstGeom prst="roundRect">
            <a:avLst>
              <a:gd name="adj" fmla="val 14286"/>
            </a:avLst>
          </a:prstGeom>
          <a:solidFill>
            <a:srgbClr val="14305A"/>
          </a:solidFill>
          <a:ln/>
        </p:spPr>
      </p:sp>
      <p:sp>
        <p:nvSpPr>
          <p:cNvPr id="10" name="ck2_84"/>
          <p:cNvSpPr txBox="1"/>
          <p:nvPr/>
        </p:nvSpPr>
        <p:spPr>
          <a:xfrm>
            <a:off x="2011680" y="2157984"/>
            <a:ext cx="3657600" cy="530352"/>
          </a:xfrm>
          <a:prstGeom prst="rect">
            <a:avLst/>
          </a:prstGeom>
          <a:noFill/>
          <a:ln/>
        </p:spPr>
        <p:txBody>
          <a:bodyPr wrap="square" lIns="0" tIns="0" rIns="0" bIns="0" rtlCol="0" anchor="ctr"/>
          <a:lstStyle/>
          <a:p>
            <a:pPr indent="0" marL="0">
              <a:buNone/>
            </a:pPr>
            <a:r>
              <a:rPr lang="en-US" sz="1400" dirty="0">
                <a:solidFill>
                  <a:srgbClr val="FFFFFF"/>
                </a:solidFill>
              </a:rPr>
              <a:t>I am a 5th semester student. I know OOP basics.</a:t>
            </a:r>
            <a:endParaRPr lang="en-US" sz="1400" dirty="0"/>
          </a:p>
        </p:txBody>
      </p:sp>
      <p:sp>
        <p:nvSpPr>
          <p:cNvPr id="11" name="ck3_85"/>
          <p:cNvSpPr txBox="1"/>
          <p:nvPr/>
        </p:nvSpPr>
        <p:spPr>
          <a:xfrm>
            <a:off x="457200" y="2880360"/>
            <a:ext cx="1280160" cy="640080"/>
          </a:xfrm>
          <a:prstGeom prst="roundRect">
            <a:avLst>
              <a:gd name="adj" fmla="val 14286"/>
            </a:avLst>
          </a:prstGeom>
          <a:solidFill>
            <a:srgbClr val="F28C28"/>
          </a:solidFill>
          <a:ln/>
        </p:spPr>
        <p:txBody>
          <a:bodyPr wrap="square" lIns="762" tIns="762" rIns="762" bIns="762" rtlCol="0" anchor="ctr"/>
          <a:lstStyle/>
          <a:p>
            <a:pPr algn="ctr" indent="0" marL="0">
              <a:buNone/>
            </a:pPr>
            <a:r>
              <a:rPr lang="en-US" sz="1600" b="1" dirty="0">
                <a:solidFill>
                  <a:srgbClr val="0B1F3A"/>
                </a:solidFill>
              </a:rPr>
              <a:t>Task</a:t>
            </a:r>
            <a:endParaRPr lang="en-US" sz="1600" dirty="0"/>
          </a:p>
        </p:txBody>
      </p:sp>
      <p:sp>
        <p:nvSpPr>
          <p:cNvPr id="12" name="ck3_86"/>
          <p:cNvSpPr/>
          <p:nvPr/>
        </p:nvSpPr>
        <p:spPr>
          <a:xfrm>
            <a:off x="1874520" y="2880360"/>
            <a:ext cx="3931920" cy="640080"/>
          </a:xfrm>
          <a:prstGeom prst="roundRect">
            <a:avLst>
              <a:gd name="adj" fmla="val 14286"/>
            </a:avLst>
          </a:prstGeom>
          <a:solidFill>
            <a:srgbClr val="14305A"/>
          </a:solidFill>
          <a:ln/>
        </p:spPr>
      </p:sp>
      <p:sp>
        <p:nvSpPr>
          <p:cNvPr id="13" name="ck3_87"/>
          <p:cNvSpPr txBox="1"/>
          <p:nvPr/>
        </p:nvSpPr>
        <p:spPr>
          <a:xfrm>
            <a:off x="2011680" y="2935224"/>
            <a:ext cx="3657600" cy="530352"/>
          </a:xfrm>
          <a:prstGeom prst="rect">
            <a:avLst/>
          </a:prstGeom>
          <a:noFill/>
          <a:ln/>
        </p:spPr>
        <p:txBody>
          <a:bodyPr wrap="square" lIns="0" tIns="0" rIns="0" bIns="0" rtlCol="0" anchor="ctr"/>
          <a:lstStyle/>
          <a:p>
            <a:pPr indent="0" marL="0">
              <a:buNone/>
            </a:pPr>
            <a:r>
              <a:rPr lang="en-US" sz="1400" dirty="0">
                <a:solidFill>
                  <a:srgbClr val="FFFFFF"/>
                </a:solidFill>
              </a:rPr>
              <a:t>Explain inheritance with one example.</a:t>
            </a:r>
            <a:endParaRPr lang="en-US" sz="1400" dirty="0"/>
          </a:p>
        </p:txBody>
      </p:sp>
      <p:sp>
        <p:nvSpPr>
          <p:cNvPr id="14" name="ck4_88"/>
          <p:cNvSpPr txBox="1"/>
          <p:nvPr/>
        </p:nvSpPr>
        <p:spPr>
          <a:xfrm>
            <a:off x="457200" y="3657600"/>
            <a:ext cx="1280160" cy="640080"/>
          </a:xfrm>
          <a:prstGeom prst="roundRect">
            <a:avLst>
              <a:gd name="adj" fmla="val 14286"/>
            </a:avLst>
          </a:prstGeom>
          <a:solidFill>
            <a:srgbClr val="F28C28"/>
          </a:solidFill>
          <a:ln/>
        </p:spPr>
        <p:txBody>
          <a:bodyPr wrap="square" lIns="762" tIns="762" rIns="762" bIns="762" rtlCol="0" anchor="ctr"/>
          <a:lstStyle/>
          <a:p>
            <a:pPr algn="ctr" indent="0" marL="0">
              <a:buNone/>
            </a:pPr>
            <a:r>
              <a:rPr lang="en-US" sz="1600" b="1" dirty="0">
                <a:solidFill>
                  <a:srgbClr val="0B1F3A"/>
                </a:solidFill>
              </a:rPr>
              <a:t>Format</a:t>
            </a:r>
            <a:endParaRPr lang="en-US" sz="1600" dirty="0"/>
          </a:p>
        </p:txBody>
      </p:sp>
      <p:sp>
        <p:nvSpPr>
          <p:cNvPr id="15" name="ck4_89"/>
          <p:cNvSpPr/>
          <p:nvPr/>
        </p:nvSpPr>
        <p:spPr>
          <a:xfrm>
            <a:off x="1874520" y="3657600"/>
            <a:ext cx="3931920" cy="640080"/>
          </a:xfrm>
          <a:prstGeom prst="roundRect">
            <a:avLst>
              <a:gd name="adj" fmla="val 14286"/>
            </a:avLst>
          </a:prstGeom>
          <a:solidFill>
            <a:srgbClr val="14305A"/>
          </a:solidFill>
          <a:ln/>
        </p:spPr>
      </p:sp>
      <p:sp>
        <p:nvSpPr>
          <p:cNvPr id="16" name="ck4_90"/>
          <p:cNvSpPr txBox="1"/>
          <p:nvPr/>
        </p:nvSpPr>
        <p:spPr>
          <a:xfrm>
            <a:off x="2011680" y="3712464"/>
            <a:ext cx="3657600" cy="530352"/>
          </a:xfrm>
          <a:prstGeom prst="rect">
            <a:avLst/>
          </a:prstGeom>
          <a:noFill/>
          <a:ln/>
        </p:spPr>
        <p:txBody>
          <a:bodyPr wrap="square" lIns="0" tIns="0" rIns="0" bIns="0" rtlCol="0" anchor="ctr"/>
          <a:lstStyle/>
          <a:p>
            <a:pPr indent="0" marL="0">
              <a:buNone/>
            </a:pPr>
            <a:r>
              <a:rPr lang="en-US" sz="1400" dirty="0">
                <a:solidFill>
                  <a:srgbClr val="FFFFFF"/>
                </a:solidFill>
              </a:rPr>
              <a:t>Answer in 5 lines, simple words.</a:t>
            </a:r>
            <a:endParaRPr lang="en-US" sz="1400" dirty="0"/>
          </a:p>
        </p:txBody>
      </p:sp>
      <p:sp>
        <p:nvSpPr>
          <p:cNvPr id="17" name="Shape 14"/>
          <p:cNvSpPr/>
          <p:nvPr/>
        </p:nvSpPr>
        <p:spPr>
          <a:xfrm>
            <a:off x="6035040" y="1325880"/>
            <a:ext cx="2651760" cy="2926080"/>
          </a:xfrm>
          <a:prstGeom prst="roundRect">
            <a:avLst>
              <a:gd name="adj" fmla="val 3448"/>
            </a:avLst>
          </a:prstGeom>
          <a:solidFill>
            <a:srgbClr val="A78BFA"/>
          </a:solidFill>
          <a:ln/>
        </p:spPr>
      </p:sp>
      <p:sp>
        <p:nvSpPr>
          <p:cNvPr id="18" name="Text 15"/>
          <p:cNvSpPr txBox="1"/>
          <p:nvPr/>
        </p:nvSpPr>
        <p:spPr>
          <a:xfrm>
            <a:off x="6217920" y="1508760"/>
            <a:ext cx="2286000" cy="548640"/>
          </a:xfrm>
          <a:prstGeom prst="rect">
            <a:avLst/>
          </a:prstGeom>
          <a:noFill/>
          <a:ln/>
        </p:spPr>
        <p:txBody>
          <a:bodyPr wrap="square" lIns="0" tIns="0" rIns="0" bIns="0" rtlCol="0" anchor="t"/>
          <a:lstStyle/>
          <a:p>
            <a:pPr indent="0" marL="0">
              <a:buNone/>
            </a:pPr>
            <a:r>
              <a:rPr lang="en-US" sz="1900" b="1" dirty="0">
                <a:solidFill>
                  <a:srgbClr val="0B1F3A"/>
                </a:solidFill>
              </a:rPr>
              <a:t>Brief a new intern</a:t>
            </a:r>
            <a:endParaRPr lang="en-US" sz="1900" dirty="0"/>
          </a:p>
        </p:txBody>
      </p:sp>
      <p:sp>
        <p:nvSpPr>
          <p:cNvPr id="19" name="Text 16"/>
          <p:cNvSpPr txBox="1"/>
          <p:nvPr/>
        </p:nvSpPr>
        <p:spPr>
          <a:xfrm>
            <a:off x="6217920" y="2194560"/>
            <a:ext cx="2286000" cy="1828800"/>
          </a:xfrm>
          <a:prstGeom prst="rect">
            <a:avLst/>
          </a:prstGeom>
          <a:noFill/>
          <a:ln/>
        </p:spPr>
        <p:txBody>
          <a:bodyPr wrap="square" lIns="0" tIns="0" rIns="0" bIns="0" rtlCol="0" anchor="t"/>
          <a:lstStyle/>
          <a:p>
            <a:pPr indent="0" marL="0">
              <a:buNone/>
            </a:pPr>
            <a:r>
              <a:rPr lang="en-US" sz="1500" dirty="0">
                <a:solidFill>
                  <a:srgbClr val="0B1F3A"/>
                </a:solidFill>
              </a:rPr>
              <a:t>A sticky note saying "handle this" gets chaos.</a:t>
            </a:r>
            <a:endParaRPr lang="en-US" sz="1500" dirty="0"/>
          </a:p>
          <a:p>
            <a:pPr indent="0" marL="0">
              <a:buNone/>
            </a:pPr>
            <a:endParaRPr lang="en-US" sz="1500" dirty="0"/>
          </a:p>
          <a:p>
            <a:pPr indent="0" marL="0">
              <a:buNone/>
            </a:pPr>
            <a:r>
              <a:rPr lang="en-US" sz="1500" dirty="0">
                <a:solidFill>
                  <a:srgbClr val="0B1F3A"/>
                </a:solidFill>
              </a:rPr>
              <a:t>A clear briefing gets good work.</a:t>
            </a:r>
            <a:endParaRPr lang="en-US" sz="1500" dirty="0"/>
          </a:p>
        </p:txBody>
      </p:sp>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B9C6DA"/>
                </a:solidFill>
              </a:defRPr>
            </a:lvl1pPr>
          </a:lstStyle>
          <a:p>
            <a:pPr algn="r"/>
            <a:fld id="{F7021451-1387-4CA6-816F-3879F97B5CBC}" type="slidenum">
              <a:rPr b="0" lang="en-US"/>
              <a:t>9</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56032"/>
            <a:ext cx="6400800" cy="201168"/>
          </a:xfrm>
          <a:prstGeom prst="rect">
            <a:avLst/>
          </a:prstGeom>
          <a:noFill/>
          <a:ln/>
        </p:spPr>
        <p:txBody>
          <a:bodyPr wrap="square" lIns="0" tIns="0" rIns="0" bIns="0" rtlCol="0" anchor="t"/>
          <a:lstStyle/>
          <a:p>
            <a:pPr indent="0" marL="0">
              <a:buNone/>
            </a:pPr>
            <a:r>
              <a:rPr lang="en-US" sz="1100" b="1" spc="200" kern="0" dirty="0">
                <a:solidFill>
                  <a:srgbClr val="F28C28"/>
                </a:solidFill>
              </a:rPr>
              <a:t>PAIR  |  30 SECONDS</a:t>
            </a:r>
            <a:endParaRPr lang="en-US" sz="1100" dirty="0"/>
          </a:p>
        </p:txBody>
      </p:sp>
      <p:sp>
        <p:nvSpPr>
          <p:cNvPr id="3" name="Text 2"/>
          <p:cNvSpPr/>
          <p:nvPr>
            <p:ph idx="103" type="title" hasCustomPrompt="1"/>
          </p:nvPr>
        </p:nvSpPr>
        <p:spPr>
          <a:xfrm>
            <a:off x="457200" y="457200"/>
            <a:ext cx="8229600" cy="685800"/>
          </a:xfrm>
          <a:prstGeom prst="rect">
            <a:avLst/>
          </a:prstGeom>
          <a:noFill/>
          <a:ln/>
        </p:spPr>
        <p:txBody>
          <a:bodyPr wrap="square" lIns="0" tIns="0" rIns="0" bIns="0" rtlCol="0" anchor="ctr"/>
          <a:lstStyle/>
          <a:p>
            <a:pPr algn="l" indent="0" marL="0">
              <a:buNone/>
            </a:pPr>
            <a:r>
              <a:rPr lang="en-US" sz="3000" b="1" dirty="0">
                <a:solidFill>
                  <a:srgbClr val="FFFFFF"/>
                </a:solidFill>
              </a:rPr>
              <a:t>Prompt makeover</a:t>
            </a:r>
            <a:endParaRPr lang="en-US" sz="3000" dirty="0"/>
          </a:p>
        </p:txBody>
      </p:sp>
      <p:sp>
        <p:nvSpPr>
          <p:cNvPr id="5" name="Text 2"/>
          <p:cNvSpPr txBox="1"/>
          <p:nvPr/>
        </p:nvSpPr>
        <p:spPr>
          <a:xfrm>
            <a:off x="6766560" y="256032"/>
            <a:ext cx="1920240" cy="237744"/>
          </a:xfrm>
          <a:prstGeom prst="roundRect">
            <a:avLst>
              <a:gd name="adj" fmla="val 38462"/>
            </a:avLst>
          </a:prstGeom>
          <a:solidFill>
            <a:srgbClr val="F2B134"/>
          </a:solidFill>
          <a:ln/>
        </p:spPr>
        <p:txBody>
          <a:bodyPr wrap="square" lIns="254" tIns="254" rIns="254" bIns="254" rtlCol="0" anchor="ctr"/>
          <a:lstStyle/>
          <a:p>
            <a:pPr algn="ctr" indent="0" marL="0">
              <a:buNone/>
            </a:pPr>
            <a:r>
              <a:rPr lang="en-US" sz="1100" b="1" dirty="0">
                <a:solidFill>
                  <a:srgbClr val="0B1F3A"/>
                </a:solidFill>
              </a:rPr>
              <a:t>WITH YOUR NEIGHBOUR</a:t>
            </a:r>
            <a:endParaRPr lang="en-US" sz="1100" dirty="0"/>
          </a:p>
        </p:txBody>
      </p:sp>
      <p:sp>
        <p:nvSpPr>
          <p:cNvPr id="6" name="Shape 3"/>
          <p:cNvSpPr/>
          <p:nvPr/>
        </p:nvSpPr>
        <p:spPr>
          <a:xfrm>
            <a:off x="457200" y="1325880"/>
            <a:ext cx="3291840" cy="2011680"/>
          </a:xfrm>
          <a:prstGeom prst="roundRect">
            <a:avLst>
              <a:gd name="adj" fmla="val 4545"/>
            </a:avLst>
          </a:prstGeom>
          <a:solidFill>
            <a:srgbClr val="14305A"/>
          </a:solidFill>
          <a:ln/>
        </p:spPr>
      </p:sp>
      <p:sp>
        <p:nvSpPr>
          <p:cNvPr id="7" name="Text 4"/>
          <p:cNvSpPr txBox="1"/>
          <p:nvPr/>
        </p:nvSpPr>
        <p:spPr>
          <a:xfrm>
            <a:off x="640080" y="1463040"/>
            <a:ext cx="822960" cy="237744"/>
          </a:xfrm>
          <a:prstGeom prst="roundRect">
            <a:avLst>
              <a:gd name="adj" fmla="val 38462"/>
            </a:avLst>
          </a:prstGeom>
          <a:solidFill>
            <a:srgbClr val="F26B6B"/>
          </a:solidFill>
          <a:ln/>
        </p:spPr>
        <p:txBody>
          <a:bodyPr wrap="square" lIns="254" tIns="254" rIns="254" bIns="254" rtlCol="0" anchor="ctr"/>
          <a:lstStyle/>
          <a:p>
            <a:pPr algn="ctr" indent="0" marL="0">
              <a:buNone/>
            </a:pPr>
            <a:r>
              <a:rPr lang="en-US" sz="1100" b="1" dirty="0">
                <a:solidFill>
                  <a:srgbClr val="0B1F3A"/>
                </a:solidFill>
              </a:rPr>
              <a:t>BEFORE</a:t>
            </a:r>
            <a:endParaRPr lang="en-US" sz="1100" dirty="0"/>
          </a:p>
        </p:txBody>
      </p:sp>
      <p:sp>
        <p:nvSpPr>
          <p:cNvPr id="8" name="Text 5"/>
          <p:cNvSpPr txBox="1"/>
          <p:nvPr/>
        </p:nvSpPr>
        <p:spPr>
          <a:xfrm>
            <a:off x="640080" y="1920240"/>
            <a:ext cx="2926080" cy="548640"/>
          </a:xfrm>
          <a:prstGeom prst="rect">
            <a:avLst/>
          </a:prstGeom>
          <a:noFill/>
          <a:ln/>
        </p:spPr>
        <p:txBody>
          <a:bodyPr wrap="square" lIns="0" tIns="0" rIns="0" bIns="0" rtlCol="0" anchor="t"/>
          <a:lstStyle/>
          <a:p>
            <a:pPr indent="0" marL="0">
              <a:buNone/>
            </a:pPr>
            <a:r>
              <a:rPr lang="en-US" sz="2200" b="1" dirty="0">
                <a:solidFill>
                  <a:srgbClr val="FFFFFF"/>
                </a:solidFill>
              </a:rPr>
              <a:t>"Explain Java."</a:t>
            </a:r>
            <a:endParaRPr lang="en-US" sz="2200" dirty="0"/>
          </a:p>
        </p:txBody>
      </p:sp>
      <p:sp>
        <p:nvSpPr>
          <p:cNvPr id="9" name="Text 6"/>
          <p:cNvSpPr txBox="1"/>
          <p:nvPr/>
        </p:nvSpPr>
        <p:spPr>
          <a:xfrm>
            <a:off x="640080" y="2651760"/>
            <a:ext cx="2926080" cy="640080"/>
          </a:xfrm>
          <a:prstGeom prst="rect">
            <a:avLst/>
          </a:prstGeom>
          <a:noFill/>
          <a:ln/>
        </p:spPr>
        <p:txBody>
          <a:bodyPr wrap="square" lIns="0" tIns="0" rIns="0" bIns="0" rtlCol="0" anchor="t"/>
          <a:lstStyle/>
          <a:p>
            <a:pPr indent="0" marL="0">
              <a:buNone/>
            </a:pPr>
            <a:r>
              <a:rPr lang="en-US" sz="1400" dirty="0">
                <a:solidFill>
                  <a:srgbClr val="B9C6DA"/>
                </a:solidFill>
              </a:rPr>
              <a:t>Improve it with role, context, task and format.</a:t>
            </a:r>
            <a:endParaRPr lang="en-US" sz="1400" dirty="0"/>
          </a:p>
        </p:txBody>
      </p:sp>
      <p:sp>
        <p:nvSpPr>
          <p:cNvPr id="10" name="ck1_91"/>
          <p:cNvSpPr txBox="1"/>
          <p:nvPr/>
        </p:nvSpPr>
        <p:spPr>
          <a:xfrm>
            <a:off x="3977640" y="1325880"/>
            <a:ext cx="822960" cy="237744"/>
          </a:xfrm>
          <a:prstGeom prst="roundRect">
            <a:avLst>
              <a:gd name="adj" fmla="val 38462"/>
            </a:avLst>
          </a:prstGeom>
          <a:solidFill>
            <a:srgbClr val="5DB85C"/>
          </a:solidFill>
          <a:ln/>
        </p:spPr>
        <p:txBody>
          <a:bodyPr wrap="square" lIns="254" tIns="254" rIns="254" bIns="254" rtlCol="0" anchor="ctr"/>
          <a:lstStyle/>
          <a:p>
            <a:pPr algn="ctr" indent="0" marL="0">
              <a:buNone/>
            </a:pPr>
            <a:r>
              <a:rPr lang="en-US" sz="1100" b="1" dirty="0">
                <a:solidFill>
                  <a:srgbClr val="0B1F3A"/>
                </a:solidFill>
              </a:rPr>
              <a:t>AFTER</a:t>
            </a:r>
            <a:endParaRPr lang="en-US" sz="1100" dirty="0"/>
          </a:p>
        </p:txBody>
      </p:sp>
      <p:sp>
        <p:nvSpPr>
          <p:cNvPr id="11" name="ck1_92"/>
          <p:cNvSpPr/>
          <p:nvPr/>
        </p:nvSpPr>
        <p:spPr>
          <a:xfrm>
            <a:off x="3977640" y="1645920"/>
            <a:ext cx="4709160" cy="1691640"/>
          </a:xfrm>
          <a:prstGeom prst="roundRect">
            <a:avLst>
              <a:gd name="adj" fmla="val 4324"/>
            </a:avLst>
          </a:prstGeom>
          <a:solidFill>
            <a:srgbClr val="061426"/>
          </a:solidFill>
          <a:ln w="12700">
            <a:solidFill>
              <a:srgbClr val="F28C28"/>
            </a:solidFill>
            <a:prstDash val="solid"/>
          </a:ln>
        </p:spPr>
      </p:sp>
      <p:sp>
        <p:nvSpPr>
          <p:cNvPr id="12" name="ck1_93"/>
          <p:cNvSpPr txBox="1"/>
          <p:nvPr/>
        </p:nvSpPr>
        <p:spPr>
          <a:xfrm>
            <a:off x="4160520" y="1783080"/>
            <a:ext cx="4343400" cy="1417320"/>
          </a:xfrm>
          <a:prstGeom prst="rect">
            <a:avLst/>
          </a:prstGeom>
          <a:noFill/>
          <a:ln/>
        </p:spPr>
        <p:txBody>
          <a:bodyPr wrap="square" lIns="0" tIns="0" rIns="0" bIns="0" rtlCol="0" anchor="t"/>
          <a:lstStyle/>
          <a:p>
            <a:pPr indent="0" marL="0">
              <a:buNone/>
            </a:pPr>
            <a:r>
              <a:rPr lang="en-US" sz="1300" dirty="0">
                <a:solidFill>
                  <a:srgbClr val="FFFFFF"/>
                </a:solidFill>
                <a:latin typeface="Consolas" pitchFamily="34" charset="0"/>
                <a:ea typeface="Consolas" pitchFamily="34" charset="-122"/>
                <a:cs typeface="Consolas" pitchFamily="34" charset="-120"/>
              </a:rPr>
              <a:t>Act as a Java interviewer for a fresher.</a:t>
            </a:r>
            <a:endParaRPr lang="en-US" sz="1300" dirty="0"/>
          </a:p>
          <a:p>
            <a:pPr indent="0" marL="0">
              <a:buNone/>
            </a:pPr>
            <a:r>
              <a:rPr lang="en-US" sz="1300" dirty="0">
                <a:solidFill>
                  <a:srgbClr val="FFFFFF"/>
                </a:solidFill>
                <a:latin typeface="Consolas" pitchFamily="34" charset="0"/>
                <a:ea typeface="Consolas" pitchFamily="34" charset="-122"/>
                <a:cs typeface="Consolas" pitchFamily="34" charset="-120"/>
              </a:rPr>
              <a:t>I know OOP and collections, not Spring.</a:t>
            </a:r>
            <a:endParaRPr lang="en-US" sz="1300" dirty="0"/>
          </a:p>
          <a:p>
            <a:pPr indent="0" marL="0">
              <a:buNone/>
            </a:pPr>
            <a:r>
              <a:rPr lang="en-US" sz="1300" dirty="0">
                <a:solidFill>
                  <a:srgbClr val="FFFFFF"/>
                </a:solidFill>
                <a:latin typeface="Consolas" pitchFamily="34" charset="0"/>
                <a:ea typeface="Consolas" pitchFamily="34" charset="-122"/>
                <a:cs typeface="Consolas" pitchFamily="34" charset="-120"/>
              </a:rPr>
              <a:t>Ask ONE question at a time.</a:t>
            </a:r>
            <a:endParaRPr lang="en-US" sz="1300" dirty="0"/>
          </a:p>
          <a:p>
            <a:pPr indent="0" marL="0">
              <a:buNone/>
            </a:pPr>
            <a:r>
              <a:rPr lang="en-US" sz="1300" dirty="0">
                <a:solidFill>
                  <a:srgbClr val="FFFFFF"/>
                </a:solidFill>
                <a:latin typeface="Consolas" pitchFamily="34" charset="0"/>
                <a:ea typeface="Consolas" pitchFamily="34" charset="-122"/>
                <a:cs typeface="Consolas" pitchFamily="34" charset="-120"/>
              </a:rPr>
              <a:t>Give feedback in two lines.</a:t>
            </a:r>
            <a:endParaRPr lang="en-US" sz="1300" dirty="0"/>
          </a:p>
        </p:txBody>
      </p:sp>
      <p:sp>
        <p:nvSpPr>
          <p:cNvPr id="13" name="ck2_94"/>
          <p:cNvSpPr/>
          <p:nvPr/>
        </p:nvSpPr>
        <p:spPr>
          <a:xfrm>
            <a:off x="457200" y="3611880"/>
            <a:ext cx="1920240" cy="868680"/>
          </a:xfrm>
          <a:prstGeom prst="roundRect">
            <a:avLst>
              <a:gd name="adj" fmla="val 10526"/>
            </a:avLst>
          </a:prstGeom>
          <a:solidFill>
            <a:srgbClr val="14305A"/>
          </a:solidFill>
          <a:ln/>
        </p:spPr>
      </p:sp>
      <p:sp>
        <p:nvSpPr>
          <p:cNvPr id="14" name="ck2_95"/>
          <p:cNvSpPr txBox="1"/>
          <p:nvPr/>
        </p:nvSpPr>
        <p:spPr>
          <a:xfrm>
            <a:off x="594360" y="3675888"/>
            <a:ext cx="1645920" cy="274320"/>
          </a:xfrm>
          <a:prstGeom prst="rect">
            <a:avLst/>
          </a:prstGeom>
          <a:noFill/>
          <a:ln/>
        </p:spPr>
        <p:txBody>
          <a:bodyPr wrap="square" lIns="0" tIns="0" rIns="0" bIns="0" rtlCol="0" anchor="t"/>
          <a:lstStyle/>
          <a:p>
            <a:pPr indent="0" marL="0">
              <a:buNone/>
            </a:pPr>
            <a:r>
              <a:rPr lang="en-US" sz="1400" b="1" dirty="0">
                <a:solidFill>
                  <a:srgbClr val="F28C28"/>
                </a:solidFill>
              </a:rPr>
              <a:t>Role</a:t>
            </a:r>
            <a:endParaRPr lang="en-US" sz="1400" dirty="0"/>
          </a:p>
        </p:txBody>
      </p:sp>
      <p:sp>
        <p:nvSpPr>
          <p:cNvPr id="15" name="ck2_96"/>
          <p:cNvSpPr txBox="1"/>
          <p:nvPr/>
        </p:nvSpPr>
        <p:spPr>
          <a:xfrm>
            <a:off x="594360" y="4005072"/>
            <a:ext cx="1645920" cy="411480"/>
          </a:xfrm>
          <a:prstGeom prst="rect">
            <a:avLst/>
          </a:prstGeom>
          <a:noFill/>
          <a:ln/>
        </p:spPr>
        <p:txBody>
          <a:bodyPr wrap="square" lIns="0" tIns="0" rIns="0" bIns="0" rtlCol="0" anchor="t"/>
          <a:lstStyle/>
          <a:p>
            <a:pPr indent="0" marL="0">
              <a:buNone/>
            </a:pPr>
            <a:r>
              <a:rPr lang="en-US" sz="1300" dirty="0">
                <a:solidFill>
                  <a:srgbClr val="B9C6DA"/>
                </a:solidFill>
              </a:rPr>
              <a:t>interviewer</a:t>
            </a:r>
            <a:endParaRPr lang="en-US" sz="1300" dirty="0"/>
          </a:p>
        </p:txBody>
      </p:sp>
      <p:sp>
        <p:nvSpPr>
          <p:cNvPr id="16" name="ck2_97"/>
          <p:cNvSpPr/>
          <p:nvPr/>
        </p:nvSpPr>
        <p:spPr>
          <a:xfrm>
            <a:off x="2560320" y="3611880"/>
            <a:ext cx="1920240" cy="868680"/>
          </a:xfrm>
          <a:prstGeom prst="roundRect">
            <a:avLst>
              <a:gd name="adj" fmla="val 10526"/>
            </a:avLst>
          </a:prstGeom>
          <a:solidFill>
            <a:srgbClr val="14305A"/>
          </a:solidFill>
          <a:ln/>
        </p:spPr>
      </p:sp>
      <p:sp>
        <p:nvSpPr>
          <p:cNvPr id="17" name="ck2_98"/>
          <p:cNvSpPr txBox="1"/>
          <p:nvPr/>
        </p:nvSpPr>
        <p:spPr>
          <a:xfrm>
            <a:off x="2697480" y="3675888"/>
            <a:ext cx="1645920" cy="274320"/>
          </a:xfrm>
          <a:prstGeom prst="rect">
            <a:avLst/>
          </a:prstGeom>
          <a:noFill/>
          <a:ln/>
        </p:spPr>
        <p:txBody>
          <a:bodyPr wrap="square" lIns="0" tIns="0" rIns="0" bIns="0" rtlCol="0" anchor="t"/>
          <a:lstStyle/>
          <a:p>
            <a:pPr indent="0" marL="0">
              <a:buNone/>
            </a:pPr>
            <a:r>
              <a:rPr lang="en-US" sz="1400" b="1" dirty="0">
                <a:solidFill>
                  <a:srgbClr val="F28C28"/>
                </a:solidFill>
              </a:rPr>
              <a:t>Context</a:t>
            </a:r>
            <a:endParaRPr lang="en-US" sz="1400" dirty="0"/>
          </a:p>
        </p:txBody>
      </p:sp>
      <p:sp>
        <p:nvSpPr>
          <p:cNvPr id="18" name="ck2_99"/>
          <p:cNvSpPr txBox="1"/>
          <p:nvPr/>
        </p:nvSpPr>
        <p:spPr>
          <a:xfrm>
            <a:off x="2697480" y="4005072"/>
            <a:ext cx="1645920" cy="411480"/>
          </a:xfrm>
          <a:prstGeom prst="rect">
            <a:avLst/>
          </a:prstGeom>
          <a:noFill/>
          <a:ln/>
        </p:spPr>
        <p:txBody>
          <a:bodyPr wrap="square" lIns="0" tIns="0" rIns="0" bIns="0" rtlCol="0" anchor="t"/>
          <a:lstStyle/>
          <a:p>
            <a:pPr indent="0" marL="0">
              <a:buNone/>
            </a:pPr>
            <a:r>
              <a:rPr lang="en-US" sz="1300" dirty="0">
                <a:solidFill>
                  <a:srgbClr val="B9C6DA"/>
                </a:solidFill>
              </a:rPr>
              <a:t>what I know</a:t>
            </a:r>
            <a:endParaRPr lang="en-US" sz="1300" dirty="0"/>
          </a:p>
        </p:txBody>
      </p:sp>
      <p:sp>
        <p:nvSpPr>
          <p:cNvPr id="19" name="ck2_100"/>
          <p:cNvSpPr/>
          <p:nvPr/>
        </p:nvSpPr>
        <p:spPr>
          <a:xfrm>
            <a:off x="4663440" y="3611880"/>
            <a:ext cx="1920240" cy="868680"/>
          </a:xfrm>
          <a:prstGeom prst="roundRect">
            <a:avLst>
              <a:gd name="adj" fmla="val 10526"/>
            </a:avLst>
          </a:prstGeom>
          <a:solidFill>
            <a:srgbClr val="14305A"/>
          </a:solidFill>
          <a:ln/>
        </p:spPr>
      </p:sp>
      <p:sp>
        <p:nvSpPr>
          <p:cNvPr id="20" name="ck2_101"/>
          <p:cNvSpPr txBox="1"/>
          <p:nvPr/>
        </p:nvSpPr>
        <p:spPr>
          <a:xfrm>
            <a:off x="4800600" y="3675888"/>
            <a:ext cx="1645920" cy="274320"/>
          </a:xfrm>
          <a:prstGeom prst="rect">
            <a:avLst/>
          </a:prstGeom>
          <a:noFill/>
          <a:ln/>
        </p:spPr>
        <p:txBody>
          <a:bodyPr wrap="square" lIns="0" tIns="0" rIns="0" bIns="0" rtlCol="0" anchor="t"/>
          <a:lstStyle/>
          <a:p>
            <a:pPr indent="0" marL="0">
              <a:buNone/>
            </a:pPr>
            <a:r>
              <a:rPr lang="en-US" sz="1400" b="1" dirty="0">
                <a:solidFill>
                  <a:srgbClr val="F28C28"/>
                </a:solidFill>
              </a:rPr>
              <a:t>Task</a:t>
            </a:r>
            <a:endParaRPr lang="en-US" sz="1400" dirty="0"/>
          </a:p>
        </p:txBody>
      </p:sp>
      <p:sp>
        <p:nvSpPr>
          <p:cNvPr id="21" name="ck2_102"/>
          <p:cNvSpPr txBox="1"/>
          <p:nvPr/>
        </p:nvSpPr>
        <p:spPr>
          <a:xfrm>
            <a:off x="4800600" y="4005072"/>
            <a:ext cx="1645920" cy="411480"/>
          </a:xfrm>
          <a:prstGeom prst="rect">
            <a:avLst/>
          </a:prstGeom>
          <a:noFill/>
          <a:ln/>
        </p:spPr>
        <p:txBody>
          <a:bodyPr wrap="square" lIns="0" tIns="0" rIns="0" bIns="0" rtlCol="0" anchor="t"/>
          <a:lstStyle/>
          <a:p>
            <a:pPr indent="0" marL="0">
              <a:buNone/>
            </a:pPr>
            <a:r>
              <a:rPr lang="en-US" sz="1300" dirty="0">
                <a:solidFill>
                  <a:srgbClr val="B9C6DA"/>
                </a:solidFill>
              </a:rPr>
              <a:t>one question</a:t>
            </a:r>
            <a:endParaRPr lang="en-US" sz="1300" dirty="0"/>
          </a:p>
        </p:txBody>
      </p:sp>
      <p:sp>
        <p:nvSpPr>
          <p:cNvPr id="22" name="ck2_103"/>
          <p:cNvSpPr/>
          <p:nvPr/>
        </p:nvSpPr>
        <p:spPr>
          <a:xfrm>
            <a:off x="6766560" y="3611880"/>
            <a:ext cx="1920240" cy="868680"/>
          </a:xfrm>
          <a:prstGeom prst="roundRect">
            <a:avLst>
              <a:gd name="adj" fmla="val 10526"/>
            </a:avLst>
          </a:prstGeom>
          <a:solidFill>
            <a:srgbClr val="14305A"/>
          </a:solidFill>
          <a:ln/>
        </p:spPr>
      </p:sp>
      <p:sp>
        <p:nvSpPr>
          <p:cNvPr id="23" name="ck2_104"/>
          <p:cNvSpPr txBox="1"/>
          <p:nvPr/>
        </p:nvSpPr>
        <p:spPr>
          <a:xfrm>
            <a:off x="6903720" y="3675888"/>
            <a:ext cx="1645920" cy="274320"/>
          </a:xfrm>
          <a:prstGeom prst="rect">
            <a:avLst/>
          </a:prstGeom>
          <a:noFill/>
          <a:ln/>
        </p:spPr>
        <p:txBody>
          <a:bodyPr wrap="square" lIns="0" tIns="0" rIns="0" bIns="0" rtlCol="0" anchor="t"/>
          <a:lstStyle/>
          <a:p>
            <a:pPr indent="0" marL="0">
              <a:buNone/>
            </a:pPr>
            <a:r>
              <a:rPr lang="en-US" sz="1400" b="1" dirty="0">
                <a:solidFill>
                  <a:srgbClr val="F28C28"/>
                </a:solidFill>
              </a:rPr>
              <a:t>Format</a:t>
            </a:r>
            <a:endParaRPr lang="en-US" sz="1400" dirty="0"/>
          </a:p>
        </p:txBody>
      </p:sp>
      <p:sp>
        <p:nvSpPr>
          <p:cNvPr id="24" name="ck2_105"/>
          <p:cNvSpPr txBox="1"/>
          <p:nvPr/>
        </p:nvSpPr>
        <p:spPr>
          <a:xfrm>
            <a:off x="6903720" y="4005072"/>
            <a:ext cx="1645920" cy="411480"/>
          </a:xfrm>
          <a:prstGeom prst="rect">
            <a:avLst/>
          </a:prstGeom>
          <a:noFill/>
          <a:ln/>
        </p:spPr>
        <p:txBody>
          <a:bodyPr wrap="square" lIns="0" tIns="0" rIns="0" bIns="0" rtlCol="0" anchor="t"/>
          <a:lstStyle/>
          <a:p>
            <a:pPr indent="0" marL="0">
              <a:buNone/>
            </a:pPr>
            <a:r>
              <a:rPr lang="en-US" sz="1300" dirty="0">
                <a:solidFill>
                  <a:srgbClr val="B9C6DA"/>
                </a:solidFill>
              </a:rPr>
              <a:t>two-line feedback</a:t>
            </a:r>
            <a:endParaRPr lang="en-US" sz="1300" dirty="0"/>
          </a:p>
        </p:txBody>
      </p:sp>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B9C6DA"/>
                </a:solidFill>
              </a:defRPr>
            </a:lvl1pPr>
          </a:lstStyle>
          <a:p>
            <a:pPr algn="r"/>
            <a:fld id="{F7021451-1387-4CA6-816F-3879F97B5CBC}" type="slidenum">
              <a:rPr b="0" lang="en-US"/>
              <a:t>10</a:t>
            </a:fld>
            <a:endParaRPr lang="en-US"/>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500"/>
                                        <p:tgtEl>
                                          <p:spTgt spid="17"/>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500"/>
                                        <p:tgtEl>
                                          <p:spTgt spid="1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500"/>
                                        <p:tgtEl>
                                          <p:spTgt spid="19"/>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500"/>
                                        <p:tgtEl>
                                          <p:spTgt spid="2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500"/>
                                        <p:tgtEl>
                                          <p:spTgt spid="21"/>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500"/>
                                        <p:tgtEl>
                                          <p:spTgt spid="22"/>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3"/>
                                        </p:tgtEl>
                                        <p:attrNameLst>
                                          <p:attrName>style.visibility</p:attrName>
                                        </p:attrNameLst>
                                      </p:cBhvr>
                                      <p:to>
                                        <p:strVal val="visible"/>
                                      </p:to>
                                    </p:set>
                                    <p:animEffect transition="in" filter="fade">
                                      <p:cBhvr>
                                        <p:cTn id="48" dur="500"/>
                                        <p:tgtEl>
                                          <p:spTgt spid="23"/>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4"/>
                                        </p:tgtEl>
                                        <p:attrNameLst>
                                          <p:attrName>style.visibility</p:attrName>
                                        </p:attrNameLst>
                                      </p:cBhvr>
                                      <p:to>
                                        <p:strVal val="visible"/>
                                      </p:to>
                                    </p:set>
                                    <p:animEffect transition="in" filter="fade">
                                      <p:cBhvr>
                                        <p:cTn id="51"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56032"/>
            <a:ext cx="6400800" cy="201168"/>
          </a:xfrm>
          <a:prstGeom prst="rect">
            <a:avLst/>
          </a:prstGeom>
          <a:noFill/>
          <a:ln/>
        </p:spPr>
        <p:txBody>
          <a:bodyPr wrap="square" lIns="0" tIns="0" rIns="0" bIns="0" rtlCol="0" anchor="t"/>
          <a:lstStyle/>
          <a:p>
            <a:pPr indent="0" marL="0">
              <a:buNone/>
            </a:pPr>
            <a:r>
              <a:rPr lang="en-US" sz="1100" b="1" spc="200" kern="0" dirty="0">
                <a:solidFill>
                  <a:srgbClr val="F28C28"/>
                </a:solidFill>
              </a:rPr>
              <a:t>2  TALKING TO AI</a:t>
            </a:r>
            <a:endParaRPr lang="en-US" sz="1100" dirty="0"/>
          </a:p>
        </p:txBody>
      </p:sp>
      <p:sp>
        <p:nvSpPr>
          <p:cNvPr id="3" name="Text 2"/>
          <p:cNvSpPr/>
          <p:nvPr>
            <p:ph idx="103" type="title" hasCustomPrompt="1"/>
          </p:nvPr>
        </p:nvSpPr>
        <p:spPr>
          <a:xfrm>
            <a:off x="457200" y="457200"/>
            <a:ext cx="8229600" cy="685800"/>
          </a:xfrm>
          <a:prstGeom prst="rect">
            <a:avLst/>
          </a:prstGeom>
          <a:noFill/>
          <a:ln/>
        </p:spPr>
        <p:txBody>
          <a:bodyPr wrap="square" lIns="0" tIns="0" rIns="0" bIns="0" rtlCol="0" anchor="ctr"/>
          <a:lstStyle/>
          <a:p>
            <a:pPr algn="l" indent="0" marL="0">
              <a:buNone/>
            </a:pPr>
            <a:r>
              <a:rPr lang="en-US" sz="3000" b="1" dirty="0">
                <a:solidFill>
                  <a:srgbClr val="FFFFFF"/>
                </a:solidFill>
              </a:rPr>
              <a:t>From Java, AI is just a web service call</a:t>
            </a:r>
            <a:endParaRPr lang="en-US" sz="3000" dirty="0"/>
          </a:p>
        </p:txBody>
      </p:sp>
      <p:sp>
        <p:nvSpPr>
          <p:cNvPr id="5" name="ck1_106"/>
          <p:cNvSpPr/>
          <p:nvPr/>
        </p:nvSpPr>
        <p:spPr>
          <a:xfrm>
            <a:off x="457200" y="1325880"/>
            <a:ext cx="2377440" cy="1051560"/>
          </a:xfrm>
          <a:prstGeom prst="roundRect">
            <a:avLst>
              <a:gd name="adj" fmla="val 8696"/>
            </a:avLst>
          </a:prstGeom>
          <a:solidFill>
            <a:srgbClr val="F28C28"/>
          </a:solidFill>
          <a:ln/>
        </p:spPr>
      </p:sp>
      <p:sp>
        <p:nvSpPr>
          <p:cNvPr id="6" name="ck1_107"/>
          <p:cNvSpPr txBox="1"/>
          <p:nvPr/>
        </p:nvSpPr>
        <p:spPr>
          <a:xfrm>
            <a:off x="640080" y="1417320"/>
            <a:ext cx="2011680" cy="411480"/>
          </a:xfrm>
          <a:prstGeom prst="rect">
            <a:avLst/>
          </a:prstGeom>
          <a:noFill/>
          <a:ln/>
        </p:spPr>
        <p:txBody>
          <a:bodyPr wrap="square" lIns="0" tIns="0" rIns="0" bIns="0" rtlCol="0" anchor="t"/>
          <a:lstStyle/>
          <a:p>
            <a:pPr indent="0" marL="0">
              <a:buNone/>
            </a:pPr>
            <a:r>
              <a:rPr lang="en-US" sz="1900" b="1" dirty="0">
                <a:solidFill>
                  <a:srgbClr val="0B1F3A"/>
                </a:solidFill>
              </a:rPr>
              <a:t>Your Java app</a:t>
            </a:r>
            <a:endParaRPr lang="en-US" sz="1900" dirty="0"/>
          </a:p>
        </p:txBody>
      </p:sp>
      <p:sp>
        <p:nvSpPr>
          <p:cNvPr id="7" name="ck1_108"/>
          <p:cNvSpPr txBox="1"/>
          <p:nvPr/>
        </p:nvSpPr>
        <p:spPr>
          <a:xfrm>
            <a:off x="640080" y="1874520"/>
            <a:ext cx="2011680" cy="365760"/>
          </a:xfrm>
          <a:prstGeom prst="rect">
            <a:avLst/>
          </a:prstGeom>
          <a:noFill/>
          <a:ln/>
        </p:spPr>
        <p:txBody>
          <a:bodyPr wrap="square" lIns="0" tIns="0" rIns="0" bIns="0" rtlCol="0" anchor="t"/>
          <a:lstStyle/>
          <a:p>
            <a:pPr indent="0" marL="0">
              <a:buNone/>
            </a:pPr>
            <a:r>
              <a:rPr lang="en-US" sz="1300" dirty="0">
                <a:solidFill>
                  <a:srgbClr val="0B1F3A"/>
                </a:solidFill>
              </a:rPr>
              <a:t>sends the question</a:t>
            </a:r>
            <a:endParaRPr lang="en-US" sz="1300" dirty="0"/>
          </a:p>
        </p:txBody>
      </p:sp>
      <p:sp>
        <p:nvSpPr>
          <p:cNvPr id="8" name="ck1_109"/>
          <p:cNvSpPr/>
          <p:nvPr/>
        </p:nvSpPr>
        <p:spPr>
          <a:xfrm>
            <a:off x="2816352" y="1828800"/>
            <a:ext cx="411480" cy="0"/>
          </a:xfrm>
          <a:prstGeom prst="line">
            <a:avLst/>
          </a:prstGeom>
          <a:noFill/>
          <a:ln w="25400">
            <a:solidFill>
              <a:srgbClr val="B9C6DA"/>
            </a:solidFill>
            <a:prstDash val="solid"/>
            <a:tailEnd type="triangle"/>
          </a:ln>
        </p:spPr>
      </p:sp>
      <p:sp>
        <p:nvSpPr>
          <p:cNvPr id="9" name="ck1_110"/>
          <p:cNvSpPr/>
          <p:nvPr/>
        </p:nvSpPr>
        <p:spPr>
          <a:xfrm>
            <a:off x="3291840" y="1325880"/>
            <a:ext cx="2377440" cy="1051560"/>
          </a:xfrm>
          <a:prstGeom prst="roundRect">
            <a:avLst>
              <a:gd name="adj" fmla="val 8696"/>
            </a:avLst>
          </a:prstGeom>
          <a:solidFill>
            <a:srgbClr val="A78BFA"/>
          </a:solidFill>
          <a:ln/>
        </p:spPr>
      </p:sp>
      <p:sp>
        <p:nvSpPr>
          <p:cNvPr id="10" name="ck1_111"/>
          <p:cNvSpPr txBox="1"/>
          <p:nvPr/>
        </p:nvSpPr>
        <p:spPr>
          <a:xfrm>
            <a:off x="3474720" y="1417320"/>
            <a:ext cx="2011680" cy="411480"/>
          </a:xfrm>
          <a:prstGeom prst="rect">
            <a:avLst/>
          </a:prstGeom>
          <a:noFill/>
          <a:ln/>
        </p:spPr>
        <p:txBody>
          <a:bodyPr wrap="square" lIns="0" tIns="0" rIns="0" bIns="0" rtlCol="0" anchor="t"/>
          <a:lstStyle/>
          <a:p>
            <a:pPr indent="0" marL="0">
              <a:buNone/>
            </a:pPr>
            <a:r>
              <a:rPr lang="en-US" sz="1900" b="1" dirty="0">
                <a:solidFill>
                  <a:srgbClr val="0B1F3A"/>
                </a:solidFill>
              </a:rPr>
              <a:t>AI service</a:t>
            </a:r>
            <a:endParaRPr lang="en-US" sz="1900" dirty="0"/>
          </a:p>
        </p:txBody>
      </p:sp>
      <p:sp>
        <p:nvSpPr>
          <p:cNvPr id="11" name="ck1_112"/>
          <p:cNvSpPr txBox="1"/>
          <p:nvPr/>
        </p:nvSpPr>
        <p:spPr>
          <a:xfrm>
            <a:off x="3474720" y="1874520"/>
            <a:ext cx="2011680" cy="365760"/>
          </a:xfrm>
          <a:prstGeom prst="rect">
            <a:avLst/>
          </a:prstGeom>
          <a:noFill/>
          <a:ln/>
        </p:spPr>
        <p:txBody>
          <a:bodyPr wrap="square" lIns="0" tIns="0" rIns="0" bIns="0" rtlCol="0" anchor="t"/>
          <a:lstStyle/>
          <a:p>
            <a:pPr indent="0" marL="0">
              <a:buNone/>
            </a:pPr>
            <a:r>
              <a:rPr lang="en-US" sz="1300" dirty="0">
                <a:solidFill>
                  <a:srgbClr val="0B1F3A"/>
                </a:solidFill>
              </a:rPr>
              <a:t>an API on the internet</a:t>
            </a:r>
            <a:endParaRPr lang="en-US" sz="1300" dirty="0"/>
          </a:p>
        </p:txBody>
      </p:sp>
      <p:sp>
        <p:nvSpPr>
          <p:cNvPr id="12" name="ck1_113"/>
          <p:cNvSpPr/>
          <p:nvPr/>
        </p:nvSpPr>
        <p:spPr>
          <a:xfrm>
            <a:off x="5650992" y="1828800"/>
            <a:ext cx="411480" cy="0"/>
          </a:xfrm>
          <a:prstGeom prst="line">
            <a:avLst/>
          </a:prstGeom>
          <a:noFill/>
          <a:ln w="25400">
            <a:solidFill>
              <a:srgbClr val="B9C6DA"/>
            </a:solidFill>
            <a:prstDash val="solid"/>
            <a:tailEnd type="triangle"/>
          </a:ln>
        </p:spPr>
      </p:sp>
      <p:sp>
        <p:nvSpPr>
          <p:cNvPr id="13" name="ck1_114"/>
          <p:cNvSpPr/>
          <p:nvPr/>
        </p:nvSpPr>
        <p:spPr>
          <a:xfrm>
            <a:off x="6126480" y="1325880"/>
            <a:ext cx="2377440" cy="1051560"/>
          </a:xfrm>
          <a:prstGeom prst="roundRect">
            <a:avLst>
              <a:gd name="adj" fmla="val 8696"/>
            </a:avLst>
          </a:prstGeom>
          <a:solidFill>
            <a:srgbClr val="14305A"/>
          </a:solidFill>
          <a:ln/>
        </p:spPr>
      </p:sp>
      <p:sp>
        <p:nvSpPr>
          <p:cNvPr id="14" name="ck1_115"/>
          <p:cNvSpPr txBox="1"/>
          <p:nvPr/>
        </p:nvSpPr>
        <p:spPr>
          <a:xfrm>
            <a:off x="6309360" y="1417320"/>
            <a:ext cx="2011680" cy="411480"/>
          </a:xfrm>
          <a:prstGeom prst="rect">
            <a:avLst/>
          </a:prstGeom>
          <a:noFill/>
          <a:ln/>
        </p:spPr>
        <p:txBody>
          <a:bodyPr wrap="square" lIns="0" tIns="0" rIns="0" bIns="0" rtlCol="0" anchor="t"/>
          <a:lstStyle/>
          <a:p>
            <a:pPr indent="0" marL="0">
              <a:buNone/>
            </a:pPr>
            <a:r>
              <a:rPr lang="en-US" sz="1900" b="1" dirty="0">
                <a:solidFill>
                  <a:srgbClr val="FFFFFF"/>
                </a:solidFill>
              </a:rPr>
              <a:t>Answer text</a:t>
            </a:r>
            <a:endParaRPr lang="en-US" sz="1900" dirty="0"/>
          </a:p>
        </p:txBody>
      </p:sp>
      <p:sp>
        <p:nvSpPr>
          <p:cNvPr id="15" name="ck1_116"/>
          <p:cNvSpPr txBox="1"/>
          <p:nvPr/>
        </p:nvSpPr>
        <p:spPr>
          <a:xfrm>
            <a:off x="6309360" y="1874520"/>
            <a:ext cx="2011680" cy="365760"/>
          </a:xfrm>
          <a:prstGeom prst="rect">
            <a:avLst/>
          </a:prstGeom>
          <a:noFill/>
          <a:ln/>
        </p:spPr>
        <p:txBody>
          <a:bodyPr wrap="square" lIns="0" tIns="0" rIns="0" bIns="0" rtlCol="0" anchor="t"/>
          <a:lstStyle/>
          <a:p>
            <a:pPr indent="0" marL="0">
              <a:buNone/>
            </a:pPr>
            <a:r>
              <a:rPr lang="en-US" sz="1300" dirty="0">
                <a:solidFill>
                  <a:srgbClr val="B9C6DA"/>
                </a:solidFill>
              </a:rPr>
              <a:t>comes back to your app</a:t>
            </a:r>
            <a:endParaRPr lang="en-US" sz="1300" dirty="0"/>
          </a:p>
        </p:txBody>
      </p:sp>
      <p:sp>
        <p:nvSpPr>
          <p:cNvPr id="16" name="ck2_117"/>
          <p:cNvSpPr/>
          <p:nvPr/>
        </p:nvSpPr>
        <p:spPr>
          <a:xfrm>
            <a:off x="457200" y="2697480"/>
            <a:ext cx="4023360" cy="1737360"/>
          </a:xfrm>
          <a:prstGeom prst="roundRect">
            <a:avLst>
              <a:gd name="adj" fmla="val 5263"/>
            </a:avLst>
          </a:prstGeom>
          <a:solidFill>
            <a:srgbClr val="14305A"/>
          </a:solidFill>
          <a:ln/>
        </p:spPr>
      </p:sp>
      <p:sp>
        <p:nvSpPr>
          <p:cNvPr id="17" name="ck2_118"/>
          <p:cNvSpPr txBox="1"/>
          <p:nvPr/>
        </p:nvSpPr>
        <p:spPr>
          <a:xfrm>
            <a:off x="640080" y="2834640"/>
            <a:ext cx="3657600" cy="320040"/>
          </a:xfrm>
          <a:prstGeom prst="rect">
            <a:avLst/>
          </a:prstGeom>
          <a:noFill/>
          <a:ln/>
        </p:spPr>
        <p:txBody>
          <a:bodyPr wrap="square" lIns="0" tIns="0" rIns="0" bIns="0" rtlCol="0" anchor="t"/>
          <a:lstStyle/>
          <a:p>
            <a:pPr indent="0" marL="0">
              <a:buNone/>
            </a:pPr>
            <a:r>
              <a:rPr lang="en-US" sz="1800" b="1" dirty="0">
                <a:solidFill>
                  <a:srgbClr val="F28C28"/>
                </a:solidFill>
              </a:rPr>
              <a:t>Nothing new</a:t>
            </a:r>
            <a:endParaRPr lang="en-US" sz="1800" dirty="0"/>
          </a:p>
        </p:txBody>
      </p:sp>
      <p:sp>
        <p:nvSpPr>
          <p:cNvPr id="18" name="ck2_119"/>
          <p:cNvSpPr txBox="1"/>
          <p:nvPr/>
        </p:nvSpPr>
        <p:spPr>
          <a:xfrm>
            <a:off x="640080" y="3246120"/>
            <a:ext cx="3657600" cy="1097280"/>
          </a:xfrm>
          <a:prstGeom prst="rect">
            <a:avLst/>
          </a:prstGeom>
          <a:noFill/>
          <a:ln/>
        </p:spPr>
        <p:txBody>
          <a:bodyPr wrap="square" lIns="0" tIns="0" rIns="0" bIns="0" rtlCol="0" anchor="t"/>
          <a:lstStyle/>
          <a:p>
            <a:pPr indent="0" marL="0">
              <a:buNone/>
            </a:pPr>
            <a:r>
              <a:rPr lang="en-US" sz="1500" dirty="0">
                <a:solidFill>
                  <a:srgbClr val="B9C6DA"/>
                </a:solidFill>
              </a:rPr>
              <a:t>You have already called web services. Calling an AI works the same way: send text, get text.</a:t>
            </a:r>
            <a:endParaRPr lang="en-US" sz="1500" dirty="0"/>
          </a:p>
        </p:txBody>
      </p:sp>
      <p:sp>
        <p:nvSpPr>
          <p:cNvPr id="19" name="ck3_120"/>
          <p:cNvSpPr/>
          <p:nvPr/>
        </p:nvSpPr>
        <p:spPr>
          <a:xfrm>
            <a:off x="4663440" y="2697480"/>
            <a:ext cx="4023360" cy="1737360"/>
          </a:xfrm>
          <a:prstGeom prst="roundRect">
            <a:avLst>
              <a:gd name="adj" fmla="val 5263"/>
            </a:avLst>
          </a:prstGeom>
          <a:solidFill>
            <a:srgbClr val="14305A"/>
          </a:solidFill>
          <a:ln/>
        </p:spPr>
      </p:sp>
      <p:sp>
        <p:nvSpPr>
          <p:cNvPr id="20" name="ck3_121"/>
          <p:cNvSpPr txBox="1"/>
          <p:nvPr/>
        </p:nvSpPr>
        <p:spPr>
          <a:xfrm>
            <a:off x="4846320" y="2834640"/>
            <a:ext cx="3657600" cy="320040"/>
          </a:xfrm>
          <a:prstGeom prst="rect">
            <a:avLst/>
          </a:prstGeom>
          <a:noFill/>
          <a:ln/>
        </p:spPr>
        <p:txBody>
          <a:bodyPr wrap="square" lIns="0" tIns="0" rIns="0" bIns="0" rtlCol="0" anchor="t"/>
          <a:lstStyle/>
          <a:p>
            <a:pPr indent="0" marL="0">
              <a:buNone/>
            </a:pPr>
            <a:r>
              <a:rPr lang="en-US" sz="1800" b="1" dirty="0">
                <a:solidFill>
                  <a:srgbClr val="F2B134"/>
                </a:solidFill>
              </a:rPr>
              <a:t>Keep the key secret</a:t>
            </a:r>
            <a:endParaRPr lang="en-US" sz="1800" dirty="0"/>
          </a:p>
        </p:txBody>
      </p:sp>
      <p:sp>
        <p:nvSpPr>
          <p:cNvPr id="21" name="ck3_122"/>
          <p:cNvSpPr txBox="1"/>
          <p:nvPr/>
        </p:nvSpPr>
        <p:spPr>
          <a:xfrm>
            <a:off x="4846320" y="3246120"/>
            <a:ext cx="3657600" cy="1097280"/>
          </a:xfrm>
          <a:prstGeom prst="rect">
            <a:avLst/>
          </a:prstGeom>
          <a:noFill/>
          <a:ln/>
        </p:spPr>
        <p:txBody>
          <a:bodyPr wrap="square" lIns="0" tIns="0" rIns="0" bIns="0" rtlCol="0" anchor="t"/>
          <a:lstStyle/>
          <a:p>
            <a:pPr indent="0" marL="0">
              <a:buNone/>
            </a:pPr>
            <a:r>
              <a:rPr lang="en-US" sz="1500" dirty="0">
                <a:solidFill>
                  <a:srgbClr val="B9C6DA"/>
                </a:solidFill>
              </a:rPr>
              <a:t>The API key is like your ATM PIN. Keep it on the server. Never in the browser, never in GitHub.</a:t>
            </a:r>
            <a:endParaRPr lang="en-US" sz="1500" dirty="0"/>
          </a:p>
        </p:txBody>
      </p:sp>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B9C6DA"/>
                </a:solidFill>
              </a:defRPr>
            </a:lvl1pPr>
          </a:lstStyle>
          <a:p>
            <a:pPr algn="r"/>
            <a:fld id="{F7021451-1387-4CA6-816F-3879F97B5CBC}" type="slidenum">
              <a:rPr b="0" lang="en-US"/>
              <a:t>11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500"/>
                                        <p:tgtEl>
                                          <p:spTgt spid="16"/>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500"/>
                                        <p:tgtEl>
                                          <p:spTgt spid="17"/>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500"/>
                                        <p:tgtEl>
                                          <p:spTgt spid="18"/>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500"/>
                                        <p:tgtEl>
                                          <p:spTgt spid="19"/>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500"/>
                                        <p:tgtEl>
                                          <p:spTgt spid="2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56032"/>
            <a:ext cx="6400800" cy="201168"/>
          </a:xfrm>
          <a:prstGeom prst="rect">
            <a:avLst/>
          </a:prstGeom>
          <a:noFill/>
          <a:ln/>
        </p:spPr>
        <p:txBody>
          <a:bodyPr wrap="square" lIns="0" tIns="0" rIns="0" bIns="0" rtlCol="0" anchor="t"/>
          <a:lstStyle/>
          <a:p>
            <a:pPr indent="0" marL="0">
              <a:buNone/>
            </a:pPr>
            <a:r>
              <a:rPr lang="en-US" sz="1100" b="1" spc="200" kern="0" dirty="0">
                <a:solidFill>
                  <a:srgbClr val="F28C28"/>
                </a:solidFill>
              </a:rPr>
              <a:t>2  TALKING TO AI</a:t>
            </a:r>
            <a:endParaRPr lang="en-US" sz="1100" dirty="0"/>
          </a:p>
        </p:txBody>
      </p:sp>
      <p:sp>
        <p:nvSpPr>
          <p:cNvPr id="3" name="Text 2"/>
          <p:cNvSpPr/>
          <p:nvPr>
            <p:ph idx="103" type="title" hasCustomPrompt="1"/>
          </p:nvPr>
        </p:nvSpPr>
        <p:spPr>
          <a:xfrm>
            <a:off x="457200" y="457200"/>
            <a:ext cx="8229600" cy="685800"/>
          </a:xfrm>
          <a:prstGeom prst="rect">
            <a:avLst/>
          </a:prstGeom>
          <a:noFill/>
          <a:ln/>
        </p:spPr>
        <p:txBody>
          <a:bodyPr wrap="square" lIns="0" tIns="0" rIns="0" bIns="0" rtlCol="0" anchor="ctr"/>
          <a:lstStyle/>
          <a:p>
            <a:pPr algn="l" indent="0" marL="0">
              <a:buNone/>
            </a:pPr>
            <a:r>
              <a:rPr lang="en-US" sz="3000" b="1" dirty="0">
                <a:solidFill>
                  <a:srgbClr val="FFFFFF"/>
                </a:solidFill>
              </a:rPr>
              <a:t>Use AI responsibly</a:t>
            </a:r>
            <a:endParaRPr lang="en-US" sz="3000" dirty="0"/>
          </a:p>
        </p:txBody>
      </p:sp>
      <p:sp>
        <p:nvSpPr>
          <p:cNvPr id="5" name="Text 2"/>
          <p:cNvSpPr txBox="1"/>
          <p:nvPr/>
        </p:nvSpPr>
        <p:spPr>
          <a:xfrm>
            <a:off x="7223760" y="256032"/>
            <a:ext cx="1463040" cy="237744"/>
          </a:xfrm>
          <a:prstGeom prst="roundRect">
            <a:avLst>
              <a:gd name="adj" fmla="val 38462"/>
            </a:avLst>
          </a:prstGeom>
          <a:solidFill>
            <a:srgbClr val="F2B134"/>
          </a:solidFill>
          <a:ln/>
        </p:spPr>
        <p:txBody>
          <a:bodyPr wrap="square" lIns="254" tIns="254" rIns="254" bIns="254" rtlCol="0" anchor="ctr"/>
          <a:lstStyle/>
          <a:p>
            <a:pPr algn="ctr" indent="0" marL="0">
              <a:buNone/>
            </a:pPr>
            <a:r>
              <a:rPr lang="en-US" sz="1100" b="1" dirty="0">
                <a:solidFill>
                  <a:srgbClr val="0B1F3A"/>
                </a:solidFill>
              </a:rPr>
              <a:t>DISCUSS  |  2 MIN</a:t>
            </a:r>
            <a:endParaRPr lang="en-US" sz="1100" dirty="0"/>
          </a:p>
        </p:txBody>
      </p:sp>
      <p:sp>
        <p:nvSpPr>
          <p:cNvPr id="6" name="ck1_123"/>
          <p:cNvSpPr/>
          <p:nvPr/>
        </p:nvSpPr>
        <p:spPr>
          <a:xfrm>
            <a:off x="457200" y="1325880"/>
            <a:ext cx="4023360" cy="1280160"/>
          </a:xfrm>
          <a:prstGeom prst="roundRect">
            <a:avLst>
              <a:gd name="adj" fmla="val 7143"/>
            </a:avLst>
          </a:prstGeom>
          <a:solidFill>
            <a:srgbClr val="14305A"/>
          </a:solidFill>
          <a:ln/>
        </p:spPr>
      </p:sp>
      <p:sp>
        <p:nvSpPr>
          <p:cNvPr id="7" name="ck1_124"/>
          <p:cNvSpPr/>
          <p:nvPr/>
        </p:nvSpPr>
        <p:spPr>
          <a:xfrm>
            <a:off x="640080" y="1508760"/>
            <a:ext cx="502920" cy="502920"/>
          </a:xfrm>
          <a:prstGeom prst="ellipse">
            <a:avLst/>
          </a:prstGeom>
          <a:solidFill>
            <a:srgbClr val="F28C28"/>
          </a:solidFill>
          <a:ln/>
        </p:spPr>
      </p:sp>
      <p:pic>
        <p:nvPicPr>
          <p:cNvPr id="8" name="ck1_125" descr="preencoded.png">    </p:cNvPr>
          <p:cNvPicPr>
            <a:picLocks noChangeAspect="1"/>
          </p:cNvPicPr>
          <p:nvPr/>
        </p:nvPicPr>
        <p:blipFill>
          <a:blip r:embed="rId1"/>
          <a:stretch>
            <a:fillRect/>
          </a:stretch>
        </p:blipFill>
        <p:spPr>
          <a:xfrm>
            <a:off x="760781" y="1629461"/>
            <a:ext cx="261518" cy="261518"/>
          </a:xfrm>
          <a:prstGeom prst="rect">
            <a:avLst/>
          </a:prstGeom>
        </p:spPr>
      </p:pic>
      <p:sp>
        <p:nvSpPr>
          <p:cNvPr id="9" name="ck1_126"/>
          <p:cNvSpPr txBox="1"/>
          <p:nvPr/>
        </p:nvSpPr>
        <p:spPr>
          <a:xfrm>
            <a:off x="1325880" y="1490472"/>
            <a:ext cx="3017520" cy="274320"/>
          </a:xfrm>
          <a:prstGeom prst="rect">
            <a:avLst/>
          </a:prstGeom>
          <a:noFill/>
          <a:ln/>
        </p:spPr>
        <p:txBody>
          <a:bodyPr wrap="square" lIns="0" tIns="0" rIns="0" bIns="0" rtlCol="0" anchor="t"/>
          <a:lstStyle/>
          <a:p>
            <a:pPr indent="0" marL="0">
              <a:buNone/>
            </a:pPr>
            <a:r>
              <a:rPr lang="en-US" sz="1700" b="1" dirty="0">
                <a:solidFill>
                  <a:srgbClr val="FFFFFF"/>
                </a:solidFill>
              </a:rPr>
              <a:t>Privacy</a:t>
            </a:r>
            <a:endParaRPr lang="en-US" sz="1700" dirty="0"/>
          </a:p>
        </p:txBody>
      </p:sp>
      <p:sp>
        <p:nvSpPr>
          <p:cNvPr id="10" name="ck1_127"/>
          <p:cNvSpPr txBox="1"/>
          <p:nvPr/>
        </p:nvSpPr>
        <p:spPr>
          <a:xfrm>
            <a:off x="1325880" y="1828800"/>
            <a:ext cx="3017520" cy="731520"/>
          </a:xfrm>
          <a:prstGeom prst="rect">
            <a:avLst/>
          </a:prstGeom>
          <a:noFill/>
          <a:ln/>
        </p:spPr>
        <p:txBody>
          <a:bodyPr wrap="square" lIns="0" tIns="0" rIns="0" bIns="0" rtlCol="0" anchor="t"/>
          <a:lstStyle/>
          <a:p>
            <a:pPr indent="0" marL="0">
              <a:buNone/>
            </a:pPr>
            <a:r>
              <a:rPr lang="en-US" sz="1400" dirty="0">
                <a:solidFill>
                  <a:srgbClr val="B9C6DA"/>
                </a:solidFill>
              </a:rPr>
              <a:t>Would you paste a friend's phone number or your Aadhaar into a public chatbot?</a:t>
            </a:r>
            <a:endParaRPr lang="en-US" sz="1400" dirty="0"/>
          </a:p>
        </p:txBody>
      </p:sp>
      <p:sp>
        <p:nvSpPr>
          <p:cNvPr id="11" name="ck2_128"/>
          <p:cNvSpPr/>
          <p:nvPr/>
        </p:nvSpPr>
        <p:spPr>
          <a:xfrm>
            <a:off x="4663440" y="1325880"/>
            <a:ext cx="4023360" cy="1280160"/>
          </a:xfrm>
          <a:prstGeom prst="roundRect">
            <a:avLst>
              <a:gd name="adj" fmla="val 7143"/>
            </a:avLst>
          </a:prstGeom>
          <a:solidFill>
            <a:srgbClr val="14305A"/>
          </a:solidFill>
          <a:ln/>
        </p:spPr>
      </p:sp>
      <p:sp>
        <p:nvSpPr>
          <p:cNvPr id="12" name="ck2_129"/>
          <p:cNvSpPr/>
          <p:nvPr/>
        </p:nvSpPr>
        <p:spPr>
          <a:xfrm>
            <a:off x="4846320" y="1508760"/>
            <a:ext cx="502920" cy="502920"/>
          </a:xfrm>
          <a:prstGeom prst="ellipse">
            <a:avLst/>
          </a:prstGeom>
          <a:solidFill>
            <a:srgbClr val="F28C28"/>
          </a:solidFill>
          <a:ln/>
        </p:spPr>
      </p:sp>
      <p:pic>
        <p:nvPicPr>
          <p:cNvPr id="13" name="ck2_130" descr="preencoded.png">    </p:cNvPr>
          <p:cNvPicPr>
            <a:picLocks noChangeAspect="1"/>
          </p:cNvPicPr>
          <p:nvPr/>
        </p:nvPicPr>
        <p:blipFill>
          <a:blip r:embed="rId2"/>
          <a:stretch>
            <a:fillRect/>
          </a:stretch>
        </p:blipFill>
        <p:spPr>
          <a:xfrm>
            <a:off x="4967021" y="1629461"/>
            <a:ext cx="261518" cy="261518"/>
          </a:xfrm>
          <a:prstGeom prst="rect">
            <a:avLst/>
          </a:prstGeom>
        </p:spPr>
      </p:pic>
      <p:sp>
        <p:nvSpPr>
          <p:cNvPr id="14" name="ck2_131"/>
          <p:cNvSpPr txBox="1"/>
          <p:nvPr/>
        </p:nvSpPr>
        <p:spPr>
          <a:xfrm>
            <a:off x="5532120" y="1490472"/>
            <a:ext cx="3017520" cy="274320"/>
          </a:xfrm>
          <a:prstGeom prst="rect">
            <a:avLst/>
          </a:prstGeom>
          <a:noFill/>
          <a:ln/>
        </p:spPr>
        <p:txBody>
          <a:bodyPr wrap="square" lIns="0" tIns="0" rIns="0" bIns="0" rtlCol="0" anchor="t"/>
          <a:lstStyle/>
          <a:p>
            <a:pPr indent="0" marL="0">
              <a:buNone/>
            </a:pPr>
            <a:r>
              <a:rPr lang="en-US" sz="1700" b="1" dirty="0">
                <a:solidFill>
                  <a:srgbClr val="FFFFFF"/>
                </a:solidFill>
              </a:rPr>
              <a:t>Fairness</a:t>
            </a:r>
            <a:endParaRPr lang="en-US" sz="1700" dirty="0"/>
          </a:p>
        </p:txBody>
      </p:sp>
      <p:sp>
        <p:nvSpPr>
          <p:cNvPr id="15" name="ck2_132"/>
          <p:cNvSpPr txBox="1"/>
          <p:nvPr/>
        </p:nvSpPr>
        <p:spPr>
          <a:xfrm>
            <a:off x="5532120" y="1828800"/>
            <a:ext cx="3017520" cy="731520"/>
          </a:xfrm>
          <a:prstGeom prst="rect">
            <a:avLst/>
          </a:prstGeom>
          <a:noFill/>
          <a:ln/>
        </p:spPr>
        <p:txBody>
          <a:bodyPr wrap="square" lIns="0" tIns="0" rIns="0" bIns="0" rtlCol="0" anchor="t"/>
          <a:lstStyle/>
          <a:p>
            <a:pPr indent="0" marL="0">
              <a:buNone/>
            </a:pPr>
            <a:r>
              <a:rPr lang="en-US" sz="1400" dirty="0">
                <a:solidFill>
                  <a:srgbClr val="B9C6DA"/>
                </a:solidFill>
              </a:rPr>
              <a:t>AI learned from people, so it can copy human bias.</a:t>
            </a:r>
            <a:endParaRPr lang="en-US" sz="1400" dirty="0"/>
          </a:p>
        </p:txBody>
      </p:sp>
      <p:sp>
        <p:nvSpPr>
          <p:cNvPr id="16" name="ck3_133"/>
          <p:cNvSpPr/>
          <p:nvPr/>
        </p:nvSpPr>
        <p:spPr>
          <a:xfrm>
            <a:off x="457200" y="2743200"/>
            <a:ext cx="4023360" cy="1280160"/>
          </a:xfrm>
          <a:prstGeom prst="roundRect">
            <a:avLst>
              <a:gd name="adj" fmla="val 7143"/>
            </a:avLst>
          </a:prstGeom>
          <a:solidFill>
            <a:srgbClr val="14305A"/>
          </a:solidFill>
          <a:ln/>
        </p:spPr>
      </p:sp>
      <p:sp>
        <p:nvSpPr>
          <p:cNvPr id="17" name="ck3_134"/>
          <p:cNvSpPr/>
          <p:nvPr/>
        </p:nvSpPr>
        <p:spPr>
          <a:xfrm>
            <a:off x="640080" y="2926080"/>
            <a:ext cx="502920" cy="502920"/>
          </a:xfrm>
          <a:prstGeom prst="ellipse">
            <a:avLst/>
          </a:prstGeom>
          <a:solidFill>
            <a:srgbClr val="F28C28"/>
          </a:solidFill>
          <a:ln/>
        </p:spPr>
      </p:sp>
      <p:pic>
        <p:nvPicPr>
          <p:cNvPr id="18" name="ck3_135" descr="preencoded.png">    </p:cNvPr>
          <p:cNvPicPr>
            <a:picLocks noChangeAspect="1"/>
          </p:cNvPicPr>
          <p:nvPr/>
        </p:nvPicPr>
        <p:blipFill>
          <a:blip r:embed="rId3"/>
          <a:stretch>
            <a:fillRect/>
          </a:stretch>
        </p:blipFill>
        <p:spPr>
          <a:xfrm>
            <a:off x="760781" y="3046781"/>
            <a:ext cx="261518" cy="261518"/>
          </a:xfrm>
          <a:prstGeom prst="rect">
            <a:avLst/>
          </a:prstGeom>
        </p:spPr>
      </p:pic>
      <p:sp>
        <p:nvSpPr>
          <p:cNvPr id="19" name="ck3_136"/>
          <p:cNvSpPr txBox="1"/>
          <p:nvPr/>
        </p:nvSpPr>
        <p:spPr>
          <a:xfrm>
            <a:off x="1325880" y="2907792"/>
            <a:ext cx="3017520" cy="274320"/>
          </a:xfrm>
          <a:prstGeom prst="rect">
            <a:avLst/>
          </a:prstGeom>
          <a:noFill/>
          <a:ln/>
        </p:spPr>
        <p:txBody>
          <a:bodyPr wrap="square" lIns="0" tIns="0" rIns="0" bIns="0" rtlCol="0" anchor="t"/>
          <a:lstStyle/>
          <a:p>
            <a:pPr indent="0" marL="0">
              <a:buNone/>
            </a:pPr>
            <a:r>
              <a:rPr lang="en-US" sz="1700" b="1" dirty="0">
                <a:solidFill>
                  <a:srgbClr val="FFFFFF"/>
                </a:solidFill>
              </a:rPr>
              <a:t>Copyright</a:t>
            </a:r>
            <a:endParaRPr lang="en-US" sz="1700" dirty="0"/>
          </a:p>
        </p:txBody>
      </p:sp>
      <p:sp>
        <p:nvSpPr>
          <p:cNvPr id="20" name="ck3_137"/>
          <p:cNvSpPr txBox="1"/>
          <p:nvPr/>
        </p:nvSpPr>
        <p:spPr>
          <a:xfrm>
            <a:off x="1325880" y="3246120"/>
            <a:ext cx="3017520" cy="731520"/>
          </a:xfrm>
          <a:prstGeom prst="rect">
            <a:avLst/>
          </a:prstGeom>
          <a:noFill/>
          <a:ln/>
        </p:spPr>
        <p:txBody>
          <a:bodyPr wrap="square" lIns="0" tIns="0" rIns="0" bIns="0" rtlCol="0" anchor="t"/>
          <a:lstStyle/>
          <a:p>
            <a:pPr indent="0" marL="0">
              <a:buNone/>
            </a:pPr>
            <a:r>
              <a:rPr lang="en-US" sz="1400" dirty="0">
                <a:solidFill>
                  <a:srgbClr val="B9C6DA"/>
                </a:solidFill>
              </a:rPr>
              <a:t>Not everything it writes is free to copy.</a:t>
            </a:r>
            <a:endParaRPr lang="en-US" sz="1400" dirty="0"/>
          </a:p>
        </p:txBody>
      </p:sp>
      <p:sp>
        <p:nvSpPr>
          <p:cNvPr id="21" name="ck4_138"/>
          <p:cNvSpPr/>
          <p:nvPr/>
        </p:nvSpPr>
        <p:spPr>
          <a:xfrm>
            <a:off x="4663440" y="2743200"/>
            <a:ext cx="4023360" cy="1280160"/>
          </a:xfrm>
          <a:prstGeom prst="roundRect">
            <a:avLst>
              <a:gd name="adj" fmla="val 7143"/>
            </a:avLst>
          </a:prstGeom>
          <a:solidFill>
            <a:srgbClr val="14305A"/>
          </a:solidFill>
          <a:ln/>
        </p:spPr>
      </p:sp>
      <p:sp>
        <p:nvSpPr>
          <p:cNvPr id="22" name="ck4_139"/>
          <p:cNvSpPr/>
          <p:nvPr/>
        </p:nvSpPr>
        <p:spPr>
          <a:xfrm>
            <a:off x="4846320" y="2926080"/>
            <a:ext cx="502920" cy="502920"/>
          </a:xfrm>
          <a:prstGeom prst="ellipse">
            <a:avLst/>
          </a:prstGeom>
          <a:solidFill>
            <a:srgbClr val="F28C28"/>
          </a:solidFill>
          <a:ln/>
        </p:spPr>
      </p:sp>
      <p:pic>
        <p:nvPicPr>
          <p:cNvPr id="23" name="ck4_140" descr="preencoded.png">    </p:cNvPr>
          <p:cNvPicPr>
            <a:picLocks noChangeAspect="1"/>
          </p:cNvPicPr>
          <p:nvPr/>
        </p:nvPicPr>
        <p:blipFill>
          <a:blip r:embed="rId4"/>
          <a:stretch>
            <a:fillRect/>
          </a:stretch>
        </p:blipFill>
        <p:spPr>
          <a:xfrm>
            <a:off x="4967021" y="3046781"/>
            <a:ext cx="261518" cy="261518"/>
          </a:xfrm>
          <a:prstGeom prst="rect">
            <a:avLst/>
          </a:prstGeom>
        </p:spPr>
      </p:pic>
      <p:sp>
        <p:nvSpPr>
          <p:cNvPr id="24" name="ck4_141"/>
          <p:cNvSpPr txBox="1"/>
          <p:nvPr/>
        </p:nvSpPr>
        <p:spPr>
          <a:xfrm>
            <a:off x="5532120" y="2907792"/>
            <a:ext cx="3017520" cy="274320"/>
          </a:xfrm>
          <a:prstGeom prst="rect">
            <a:avLst/>
          </a:prstGeom>
          <a:noFill/>
          <a:ln/>
        </p:spPr>
        <p:txBody>
          <a:bodyPr wrap="square" lIns="0" tIns="0" rIns="0" bIns="0" rtlCol="0" anchor="t"/>
          <a:lstStyle/>
          <a:p>
            <a:pPr indent="0" marL="0">
              <a:buNone/>
            </a:pPr>
            <a:r>
              <a:rPr lang="en-US" sz="1700" b="1" dirty="0">
                <a:solidFill>
                  <a:srgbClr val="FFFFFF"/>
                </a:solidFill>
              </a:rPr>
              <a:t>Honesty</a:t>
            </a:r>
            <a:endParaRPr lang="en-US" sz="1700" dirty="0"/>
          </a:p>
        </p:txBody>
      </p:sp>
      <p:sp>
        <p:nvSpPr>
          <p:cNvPr id="25" name="ck4_142"/>
          <p:cNvSpPr txBox="1"/>
          <p:nvPr/>
        </p:nvSpPr>
        <p:spPr>
          <a:xfrm>
            <a:off x="5532120" y="3246120"/>
            <a:ext cx="3017520" cy="731520"/>
          </a:xfrm>
          <a:prstGeom prst="rect">
            <a:avLst/>
          </a:prstGeom>
          <a:noFill/>
          <a:ln/>
        </p:spPr>
        <p:txBody>
          <a:bodyPr wrap="square" lIns="0" tIns="0" rIns="0" bIns="0" rtlCol="0" anchor="t"/>
          <a:lstStyle/>
          <a:p>
            <a:pPr indent="0" marL="0">
              <a:buNone/>
            </a:pPr>
            <a:r>
              <a:rPr lang="en-US" sz="1400" dirty="0">
                <a:solidFill>
                  <a:srgbClr val="B9C6DA"/>
                </a:solidFill>
              </a:rPr>
              <a:t>Say when something is AI-assisted.</a:t>
            </a:r>
            <a:endParaRPr lang="en-US" sz="1400" dirty="0"/>
          </a:p>
        </p:txBody>
      </p:sp>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B9C6DA"/>
                </a:solidFill>
              </a:defRPr>
            </a:lvl1pPr>
          </a:lstStyle>
          <a:p>
            <a:pPr algn="r"/>
            <a:fld id="{F7021451-1387-4CA6-816F-3879F97B5CBC}" type="slidenum">
              <a:rPr b="0" lang="en-US"/>
              <a:t>12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par>
                                <p:cTn id="28" presetID="10" presetClass="entr" presetSubtype="0" fill="hold"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5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50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500"/>
                                        <p:tgtEl>
                                          <p:spTgt spid="17"/>
                                        </p:tgtEl>
                                      </p:cBhvr>
                                    </p:animEffect>
                                  </p:childTnLst>
                                </p:cTn>
                              </p:par>
                              <p:par>
                                <p:cTn id="45" presetID="10" presetClass="entr" presetSubtype="0" fill="hold"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500"/>
                                        <p:tgtEl>
                                          <p:spTgt spid="1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500"/>
                                        <p:tgtEl>
                                          <p:spTgt spid="1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500"/>
                                        <p:tgtEl>
                                          <p:spTgt spid="20"/>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500"/>
                                        <p:tgtEl>
                                          <p:spTgt spid="2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500"/>
                                        <p:tgtEl>
                                          <p:spTgt spid="22"/>
                                        </p:tgtEl>
                                      </p:cBhvr>
                                    </p:animEffect>
                                  </p:childTnLst>
                                </p:cTn>
                              </p:par>
                              <p:par>
                                <p:cTn id="62" presetID="10" presetClass="entr" presetSubtype="0" fill="hold"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500"/>
                                        <p:tgtEl>
                                          <p:spTgt spid="2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500"/>
                                        <p:tgtEl>
                                          <p:spTgt spid="24"/>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11" grpId="0" animBg="1"/>
      <p:bldP spid="12" grpId="0" animBg="1"/>
      <p:bldP spid="14" grpId="0" animBg="1"/>
      <p:bldP spid="15" grpId="0" animBg="1"/>
      <p:bldP spid="16" grpId="0" animBg="1"/>
      <p:bldP spid="17" grpId="0" animBg="1"/>
      <p:bldP spid="19" grpId="0" animBg="1"/>
      <p:bldP spid="20" grpId="0" animBg="1"/>
      <p:bldP spid="21" grpId="0" animBg="1"/>
      <p:bldP spid="22" grpId="0" animBg="1"/>
      <p:bldP spid="24" grpId="0" animBg="1"/>
      <p:bldP spid="2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256032"/>
            <a:ext cx="6400800" cy="201168"/>
          </a:xfrm>
          <a:prstGeom prst="rect">
            <a:avLst/>
          </a:prstGeom>
          <a:noFill/>
          <a:ln/>
        </p:spPr>
        <p:txBody>
          <a:bodyPr wrap="square" lIns="0" tIns="0" rIns="0" bIns="0" rtlCol="0" anchor="t"/>
          <a:lstStyle/>
          <a:p>
            <a:pPr indent="0" marL="0">
              <a:buNone/>
            </a:pPr>
            <a:r>
              <a:rPr lang="en-US" sz="1100" b="1" spc="200" kern="0" dirty="0">
                <a:solidFill>
                  <a:srgbClr val="F26B6B"/>
                </a:solidFill>
              </a:rPr>
              <a:t>3  WHEN AI IS WRONG</a:t>
            </a:r>
            <a:endParaRPr lang="en-US" sz="1100" dirty="0"/>
          </a:p>
        </p:txBody>
      </p:sp>
      <p:sp>
        <p:nvSpPr>
          <p:cNvPr id="3" name="Text 2"/>
          <p:cNvSpPr/>
          <p:nvPr>
            <p:ph idx="103" type="title" hasCustomPrompt="1"/>
          </p:nvPr>
        </p:nvSpPr>
        <p:spPr>
          <a:xfrm>
            <a:off x="457200" y="457200"/>
            <a:ext cx="8229600" cy="685800"/>
          </a:xfrm>
          <a:prstGeom prst="rect">
            <a:avLst/>
          </a:prstGeom>
          <a:noFill/>
          <a:ln/>
        </p:spPr>
        <p:txBody>
          <a:bodyPr wrap="square" lIns="0" tIns="0" rIns="0" bIns="0" rtlCol="0" anchor="ctr"/>
          <a:lstStyle/>
          <a:p>
            <a:pPr algn="l" indent="0" marL="0">
              <a:buNone/>
            </a:pPr>
            <a:r>
              <a:rPr lang="en-US" sz="3000" b="1" dirty="0">
                <a:solidFill>
                  <a:srgbClr val="FFFFFF"/>
                </a:solidFill>
              </a:rPr>
              <a:t>Hallucination: confident and wrong</a:t>
            </a:r>
            <a:endParaRPr lang="en-US" sz="3000" dirty="0"/>
          </a:p>
        </p:txBody>
      </p:sp>
      <p:sp>
        <p:nvSpPr>
          <p:cNvPr id="5" name="Shape 2"/>
          <p:cNvSpPr/>
          <p:nvPr/>
        </p:nvSpPr>
        <p:spPr>
          <a:xfrm>
            <a:off x="457200" y="1325880"/>
            <a:ext cx="3840480" cy="3108960"/>
          </a:xfrm>
          <a:prstGeom prst="roundRect">
            <a:avLst>
              <a:gd name="adj" fmla="val 2941"/>
            </a:avLst>
          </a:prstGeom>
          <a:solidFill>
            <a:srgbClr val="14305A"/>
          </a:solidFill>
          <a:ln/>
        </p:spPr>
      </p:sp>
      <p:sp>
        <p:nvSpPr>
          <p:cNvPr id="6" name="Text 3"/>
          <p:cNvSpPr txBox="1"/>
          <p:nvPr/>
        </p:nvSpPr>
        <p:spPr>
          <a:xfrm>
            <a:off x="640080" y="1508760"/>
            <a:ext cx="3474720" cy="914400"/>
          </a:xfrm>
          <a:prstGeom prst="rect">
            <a:avLst/>
          </a:prstGeom>
          <a:noFill/>
          <a:ln/>
        </p:spPr>
        <p:txBody>
          <a:bodyPr wrap="square" lIns="0" tIns="0" rIns="0" bIns="0" rtlCol="0" anchor="t"/>
          <a:lstStyle/>
          <a:p>
            <a:pPr indent="0" marL="0">
              <a:buNone/>
            </a:pPr>
            <a:r>
              <a:rPr lang="en-US" sz="2200" b="1" dirty="0">
                <a:solidFill>
                  <a:srgbClr val="F26B6B"/>
                </a:solidFill>
              </a:rPr>
              <a:t>A confident answer that is not true.</a:t>
            </a:r>
            <a:endParaRPr lang="en-US" sz="2200" dirty="0"/>
          </a:p>
        </p:txBody>
      </p:sp>
      <p:sp>
        <p:nvSpPr>
          <p:cNvPr id="7" name="Text 4"/>
          <p:cNvSpPr txBox="1"/>
          <p:nvPr/>
        </p:nvSpPr>
        <p:spPr>
          <a:xfrm>
            <a:off x="640080" y="2560320"/>
            <a:ext cx="3474720" cy="274320"/>
          </a:xfrm>
          <a:prstGeom prst="rect">
            <a:avLst/>
          </a:prstGeom>
          <a:noFill/>
          <a:ln/>
        </p:spPr>
        <p:txBody>
          <a:bodyPr wrap="square" lIns="0" tIns="0" rIns="0" bIns="0" rtlCol="0" anchor="t"/>
          <a:lstStyle/>
          <a:p>
            <a:pPr indent="0" marL="0">
              <a:buNone/>
            </a:pPr>
            <a:r>
              <a:rPr lang="en-US" sz="1400" b="1" dirty="0">
                <a:solidFill>
                  <a:srgbClr val="B9C6DA"/>
                </a:solidFill>
              </a:rPr>
              <a:t>Common examples</a:t>
            </a:r>
            <a:endParaRPr lang="en-US" sz="1400" dirty="0"/>
          </a:p>
        </p:txBody>
      </p:sp>
      <p:sp>
        <p:nvSpPr>
          <p:cNvPr id="8" name="Text 5"/>
          <p:cNvSpPr txBox="1"/>
          <p:nvPr/>
        </p:nvSpPr>
        <p:spPr>
          <a:xfrm>
            <a:off x="640080" y="2880360"/>
            <a:ext cx="3474720" cy="13716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FFFFFF"/>
                </a:solidFill>
              </a:rPr>
              <a:t>A Java method that does not exist</a:t>
            </a:r>
            <a:endParaRPr lang="en-US" sz="1500" dirty="0"/>
          </a:p>
          <a:p>
            <a:pPr marL="342900" indent="-342900">
              <a:spcAft>
                <a:spcPts val="600"/>
              </a:spcAft>
              <a:buSzPct val="100000"/>
              <a:buChar char="•"/>
            </a:pPr>
            <a:r>
              <a:rPr lang="en-US" sz="1500" dirty="0">
                <a:solidFill>
                  <a:srgbClr val="FFFFFF"/>
                </a:solidFill>
              </a:rPr>
              <a:t>A book nobody wrote</a:t>
            </a:r>
            <a:endParaRPr lang="en-US" sz="1500" dirty="0"/>
          </a:p>
          <a:p>
            <a:pPr marL="342900" indent="-342900">
              <a:spcAft>
                <a:spcPts val="600"/>
              </a:spcAft>
              <a:buSzPct val="100000"/>
              <a:buChar char="•"/>
            </a:pPr>
            <a:r>
              <a:rPr lang="en-US" sz="1500" dirty="0">
                <a:solidFill>
                  <a:srgbClr val="FFFFFF"/>
                </a:solidFill>
              </a:rPr>
              <a:t>A college rule that was never made</a:t>
            </a:r>
            <a:endParaRPr lang="en-US" sz="1500" dirty="0"/>
          </a:p>
        </p:txBody>
      </p:sp>
      <p:sp>
        <p:nvSpPr>
          <p:cNvPr id="9" name="ck1_143"/>
          <p:cNvSpPr/>
          <p:nvPr/>
        </p:nvSpPr>
        <p:spPr>
          <a:xfrm>
            <a:off x="4526280" y="1325880"/>
            <a:ext cx="4160520" cy="914400"/>
          </a:xfrm>
          <a:prstGeom prst="roundRect">
            <a:avLst>
              <a:gd name="adj" fmla="val 10000"/>
            </a:avLst>
          </a:prstGeom>
          <a:solidFill>
            <a:srgbClr val="14305A"/>
          </a:solidFill>
          <a:ln/>
        </p:spPr>
      </p:sp>
      <p:sp>
        <p:nvSpPr>
          <p:cNvPr id="10" name="ck1_144"/>
          <p:cNvSpPr txBox="1"/>
          <p:nvPr/>
        </p:nvSpPr>
        <p:spPr>
          <a:xfrm>
            <a:off x="4709160" y="1554480"/>
            <a:ext cx="457200" cy="457200"/>
          </a:xfrm>
          <a:prstGeom prst="ellipse">
            <a:avLst/>
          </a:prstGeom>
          <a:solidFill>
            <a:srgbClr val="F26B6B"/>
          </a:solidFill>
          <a:ln/>
        </p:spPr>
        <p:txBody>
          <a:bodyPr wrap="square" lIns="0" tIns="0" rIns="0" bIns="0" rtlCol="0" anchor="ctr"/>
          <a:lstStyle/>
          <a:p>
            <a:pPr algn="ctr" indent="0" marL="0">
              <a:buNone/>
            </a:pPr>
            <a:r>
              <a:rPr lang="en-US" sz="1400" b="1" dirty="0">
                <a:solidFill>
                  <a:srgbClr val="0B1F3A"/>
                </a:solidFill>
              </a:rPr>
              <a:t>1</a:t>
            </a:r>
            <a:endParaRPr lang="en-US" sz="1400" dirty="0"/>
          </a:p>
        </p:txBody>
      </p:sp>
      <p:sp>
        <p:nvSpPr>
          <p:cNvPr id="11" name="ck1_145"/>
          <p:cNvSpPr txBox="1"/>
          <p:nvPr/>
        </p:nvSpPr>
        <p:spPr>
          <a:xfrm>
            <a:off x="5349240" y="1453896"/>
            <a:ext cx="3200400" cy="274320"/>
          </a:xfrm>
          <a:prstGeom prst="rect">
            <a:avLst/>
          </a:prstGeom>
          <a:noFill/>
          <a:ln/>
        </p:spPr>
        <p:txBody>
          <a:bodyPr wrap="square" lIns="0" tIns="0" rIns="0" bIns="0" rtlCol="0" anchor="t"/>
          <a:lstStyle/>
          <a:p>
            <a:pPr indent="0" marL="0">
              <a:buNone/>
            </a:pPr>
            <a:r>
              <a:rPr lang="en-US" sz="1600" b="1" dirty="0">
                <a:solidFill>
                  <a:srgbClr val="FFFFFF"/>
                </a:solidFill>
              </a:rPr>
              <a:t>It guesses what sounds right</a:t>
            </a:r>
            <a:endParaRPr lang="en-US" sz="1600" dirty="0"/>
          </a:p>
        </p:txBody>
      </p:sp>
      <p:sp>
        <p:nvSpPr>
          <p:cNvPr id="12" name="ck1_146"/>
          <p:cNvSpPr txBox="1"/>
          <p:nvPr/>
        </p:nvSpPr>
        <p:spPr>
          <a:xfrm>
            <a:off x="5349240" y="1801368"/>
            <a:ext cx="3200400" cy="365760"/>
          </a:xfrm>
          <a:prstGeom prst="rect">
            <a:avLst/>
          </a:prstGeom>
          <a:noFill/>
          <a:ln/>
        </p:spPr>
        <p:txBody>
          <a:bodyPr wrap="square" lIns="0" tIns="0" rIns="0" bIns="0" rtlCol="0" anchor="t"/>
          <a:lstStyle/>
          <a:p>
            <a:pPr indent="0" marL="0">
              <a:buNone/>
            </a:pPr>
            <a:r>
              <a:rPr lang="en-US" sz="1400" dirty="0">
                <a:solidFill>
                  <a:srgbClr val="B9C6DA"/>
                </a:solidFill>
              </a:rPr>
              <a:t>It does not check facts.</a:t>
            </a:r>
            <a:endParaRPr lang="en-US" sz="1400" dirty="0"/>
          </a:p>
        </p:txBody>
      </p:sp>
      <p:sp>
        <p:nvSpPr>
          <p:cNvPr id="13" name="ck2_147"/>
          <p:cNvSpPr/>
          <p:nvPr/>
        </p:nvSpPr>
        <p:spPr>
          <a:xfrm>
            <a:off x="4526280" y="2404872"/>
            <a:ext cx="4160520" cy="914400"/>
          </a:xfrm>
          <a:prstGeom prst="roundRect">
            <a:avLst>
              <a:gd name="adj" fmla="val 10000"/>
            </a:avLst>
          </a:prstGeom>
          <a:solidFill>
            <a:srgbClr val="14305A"/>
          </a:solidFill>
          <a:ln/>
        </p:spPr>
      </p:sp>
      <p:sp>
        <p:nvSpPr>
          <p:cNvPr id="14" name="ck2_148"/>
          <p:cNvSpPr txBox="1"/>
          <p:nvPr/>
        </p:nvSpPr>
        <p:spPr>
          <a:xfrm>
            <a:off x="4709160" y="2633472"/>
            <a:ext cx="457200" cy="457200"/>
          </a:xfrm>
          <a:prstGeom prst="ellipse">
            <a:avLst/>
          </a:prstGeom>
          <a:solidFill>
            <a:srgbClr val="F26B6B"/>
          </a:solidFill>
          <a:ln/>
        </p:spPr>
        <p:txBody>
          <a:bodyPr wrap="square" lIns="0" tIns="0" rIns="0" bIns="0" rtlCol="0" anchor="ctr"/>
          <a:lstStyle/>
          <a:p>
            <a:pPr algn="ctr" indent="0" marL="0">
              <a:buNone/>
            </a:pPr>
            <a:r>
              <a:rPr lang="en-US" sz="1400" b="1" dirty="0">
                <a:solidFill>
                  <a:srgbClr val="0B1F3A"/>
                </a:solidFill>
              </a:rPr>
              <a:t>2</a:t>
            </a:r>
            <a:endParaRPr lang="en-US" sz="1400" dirty="0"/>
          </a:p>
        </p:txBody>
      </p:sp>
      <p:sp>
        <p:nvSpPr>
          <p:cNvPr id="15" name="ck2_149"/>
          <p:cNvSpPr txBox="1"/>
          <p:nvPr/>
        </p:nvSpPr>
        <p:spPr>
          <a:xfrm>
            <a:off x="5349240" y="2532888"/>
            <a:ext cx="3200400" cy="274320"/>
          </a:xfrm>
          <a:prstGeom prst="rect">
            <a:avLst/>
          </a:prstGeom>
          <a:noFill/>
          <a:ln/>
        </p:spPr>
        <p:txBody>
          <a:bodyPr wrap="square" lIns="0" tIns="0" rIns="0" bIns="0" rtlCol="0" anchor="t"/>
          <a:lstStyle/>
          <a:p>
            <a:pPr indent="0" marL="0">
              <a:buNone/>
            </a:pPr>
            <a:r>
              <a:rPr lang="en-US" sz="1600" b="1" dirty="0">
                <a:solidFill>
                  <a:srgbClr val="FFFFFF"/>
                </a:solidFill>
              </a:rPr>
              <a:t>No source of truth</a:t>
            </a:r>
            <a:endParaRPr lang="en-US" sz="1600" dirty="0"/>
          </a:p>
        </p:txBody>
      </p:sp>
      <p:sp>
        <p:nvSpPr>
          <p:cNvPr id="16" name="ck2_150"/>
          <p:cNvSpPr txBox="1"/>
          <p:nvPr/>
        </p:nvSpPr>
        <p:spPr>
          <a:xfrm>
            <a:off x="5349240" y="2880360"/>
            <a:ext cx="3200400" cy="365760"/>
          </a:xfrm>
          <a:prstGeom prst="rect">
            <a:avLst/>
          </a:prstGeom>
          <a:noFill/>
          <a:ln/>
        </p:spPr>
        <p:txBody>
          <a:bodyPr wrap="square" lIns="0" tIns="0" rIns="0" bIns="0" rtlCol="0" anchor="t"/>
          <a:lstStyle/>
          <a:p>
            <a:pPr indent="0" marL="0">
              <a:buNone/>
            </a:pPr>
            <a:r>
              <a:rPr lang="en-US" sz="1400" dirty="0">
                <a:solidFill>
                  <a:srgbClr val="B9C6DA"/>
                </a:solidFill>
              </a:rPr>
              <a:t>Unless you give it a document.</a:t>
            </a:r>
            <a:endParaRPr lang="en-US" sz="1400" dirty="0"/>
          </a:p>
        </p:txBody>
      </p:sp>
      <p:sp>
        <p:nvSpPr>
          <p:cNvPr id="17" name="ck3_151"/>
          <p:cNvSpPr/>
          <p:nvPr/>
        </p:nvSpPr>
        <p:spPr>
          <a:xfrm>
            <a:off x="4526280" y="3483864"/>
            <a:ext cx="4160520" cy="914400"/>
          </a:xfrm>
          <a:prstGeom prst="roundRect">
            <a:avLst>
              <a:gd name="adj" fmla="val 10000"/>
            </a:avLst>
          </a:prstGeom>
          <a:solidFill>
            <a:srgbClr val="14305A"/>
          </a:solidFill>
          <a:ln/>
        </p:spPr>
      </p:sp>
      <p:sp>
        <p:nvSpPr>
          <p:cNvPr id="18" name="ck3_152"/>
          <p:cNvSpPr txBox="1"/>
          <p:nvPr/>
        </p:nvSpPr>
        <p:spPr>
          <a:xfrm>
            <a:off x="4709160" y="3712464"/>
            <a:ext cx="457200" cy="457200"/>
          </a:xfrm>
          <a:prstGeom prst="ellipse">
            <a:avLst/>
          </a:prstGeom>
          <a:solidFill>
            <a:srgbClr val="F26B6B"/>
          </a:solidFill>
          <a:ln/>
        </p:spPr>
        <p:txBody>
          <a:bodyPr wrap="square" lIns="0" tIns="0" rIns="0" bIns="0" rtlCol="0" anchor="ctr"/>
          <a:lstStyle/>
          <a:p>
            <a:pPr algn="ctr" indent="0" marL="0">
              <a:buNone/>
            </a:pPr>
            <a:r>
              <a:rPr lang="en-US" sz="1400" b="1" dirty="0">
                <a:solidFill>
                  <a:srgbClr val="0B1F3A"/>
                </a:solidFill>
              </a:rPr>
              <a:t>3</a:t>
            </a:r>
            <a:endParaRPr lang="en-US" sz="1400" dirty="0"/>
          </a:p>
        </p:txBody>
      </p:sp>
      <p:sp>
        <p:nvSpPr>
          <p:cNvPr id="19" name="ck3_153"/>
          <p:cNvSpPr txBox="1"/>
          <p:nvPr/>
        </p:nvSpPr>
        <p:spPr>
          <a:xfrm>
            <a:off x="5349240" y="3611880"/>
            <a:ext cx="3200400" cy="274320"/>
          </a:xfrm>
          <a:prstGeom prst="rect">
            <a:avLst/>
          </a:prstGeom>
          <a:noFill/>
          <a:ln/>
        </p:spPr>
        <p:txBody>
          <a:bodyPr wrap="square" lIns="0" tIns="0" rIns="0" bIns="0" rtlCol="0" anchor="t"/>
          <a:lstStyle/>
          <a:p>
            <a:pPr indent="0" marL="0">
              <a:buNone/>
            </a:pPr>
            <a:r>
              <a:rPr lang="en-US" sz="1600" b="1" dirty="0">
                <a:solidFill>
                  <a:srgbClr val="FFFFFF"/>
                </a:solidFill>
              </a:rPr>
              <a:t>Knowledge stops at a date</a:t>
            </a:r>
            <a:endParaRPr lang="en-US" sz="1600" dirty="0"/>
          </a:p>
        </p:txBody>
      </p:sp>
      <p:sp>
        <p:nvSpPr>
          <p:cNvPr id="20" name="ck3_154"/>
          <p:cNvSpPr txBox="1"/>
          <p:nvPr/>
        </p:nvSpPr>
        <p:spPr>
          <a:xfrm>
            <a:off x="5349240" y="3959352"/>
            <a:ext cx="3200400" cy="365760"/>
          </a:xfrm>
          <a:prstGeom prst="rect">
            <a:avLst/>
          </a:prstGeom>
          <a:noFill/>
          <a:ln/>
        </p:spPr>
        <p:txBody>
          <a:bodyPr wrap="square" lIns="0" tIns="0" rIns="0" bIns="0" rtlCol="0" anchor="t"/>
          <a:lstStyle/>
          <a:p>
            <a:pPr indent="0" marL="0">
              <a:buNone/>
            </a:pPr>
            <a:r>
              <a:rPr lang="en-US" sz="1400" dirty="0">
                <a:solidFill>
                  <a:srgbClr val="B9C6DA"/>
                </a:solidFill>
              </a:rPr>
              <a:t>It does not know yesterday's news.</a:t>
            </a:r>
            <a:endParaRPr lang="en-US" sz="1400" dirty="0"/>
          </a:p>
        </p:txBody>
      </p:sp>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B9C6DA"/>
                </a:solidFill>
              </a:defRPr>
            </a:lvl1pPr>
          </a:lstStyle>
          <a:p>
            <a:pPr algn="r"/>
            <a:fld id="{F7021451-1387-4CA6-816F-3879F97B5CBC}" type="slidenum">
              <a:rPr b="0" lang="en-US"/>
              <a:t>13</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500"/>
                                        <p:tgtEl>
                                          <p:spTgt spid="17"/>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500"/>
                                        <p:tgtEl>
                                          <p:spTgt spid="18"/>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500"/>
                                        <p:tgtEl>
                                          <p:spTgt spid="19"/>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256032"/>
            <a:ext cx="6400800" cy="201168"/>
          </a:xfrm>
          <a:prstGeom prst="rect">
            <a:avLst/>
          </a:prstGeom>
          <a:noFill/>
          <a:ln/>
        </p:spPr>
        <p:txBody>
          <a:bodyPr wrap="square" lIns="0" tIns="0" rIns="0" bIns="0" rtlCol="0" anchor="t"/>
          <a:lstStyle/>
          <a:p>
            <a:pPr indent="0" marL="0">
              <a:buNone/>
            </a:pPr>
            <a:r>
              <a:rPr lang="en-US" sz="1100" b="1" spc="200" kern="0" dirty="0">
                <a:solidFill>
                  <a:srgbClr val="F26B6B"/>
                </a:solidFill>
              </a:rPr>
              <a:t>LIVE DEMO</a:t>
            </a:r>
            <a:endParaRPr lang="en-US" sz="1100" dirty="0"/>
          </a:p>
        </p:txBody>
      </p:sp>
      <p:sp>
        <p:nvSpPr>
          <p:cNvPr id="3" name="Text 2"/>
          <p:cNvSpPr/>
          <p:nvPr>
            <p:ph idx="103" type="title" hasCustomPrompt="1"/>
          </p:nvPr>
        </p:nvSpPr>
        <p:spPr>
          <a:xfrm>
            <a:off x="457200" y="457200"/>
            <a:ext cx="8229600" cy="685800"/>
          </a:xfrm>
          <a:prstGeom prst="rect">
            <a:avLst/>
          </a:prstGeom>
          <a:noFill/>
          <a:ln/>
        </p:spPr>
        <p:txBody>
          <a:bodyPr wrap="square" lIns="0" tIns="0" rIns="0" bIns="0" rtlCol="0" anchor="ctr"/>
          <a:lstStyle/>
          <a:p>
            <a:pPr algn="l" indent="0" marL="0">
              <a:buNone/>
            </a:pPr>
            <a:r>
              <a:rPr lang="en-US" sz="3000" b="1" dirty="0">
                <a:solidFill>
                  <a:srgbClr val="FFFFFF"/>
                </a:solidFill>
              </a:rPr>
              <a:t>Ask about something from today</a:t>
            </a:r>
            <a:endParaRPr lang="en-US" sz="3000" dirty="0"/>
          </a:p>
        </p:txBody>
      </p:sp>
      <p:sp>
        <p:nvSpPr>
          <p:cNvPr id="5" name="Shape 2"/>
          <p:cNvSpPr/>
          <p:nvPr/>
        </p:nvSpPr>
        <p:spPr>
          <a:xfrm>
            <a:off x="457200" y="1325880"/>
            <a:ext cx="3931920" cy="2240280"/>
          </a:xfrm>
          <a:prstGeom prst="roundRect">
            <a:avLst>
              <a:gd name="adj" fmla="val 4082"/>
            </a:avLst>
          </a:prstGeom>
          <a:solidFill>
            <a:srgbClr val="14305A"/>
          </a:solidFill>
          <a:ln/>
        </p:spPr>
      </p:sp>
      <p:sp>
        <p:nvSpPr>
          <p:cNvPr id="6" name="Text 3"/>
          <p:cNvSpPr txBox="1"/>
          <p:nvPr/>
        </p:nvSpPr>
        <p:spPr>
          <a:xfrm>
            <a:off x="685800" y="1554480"/>
            <a:ext cx="3474720" cy="1737360"/>
          </a:xfrm>
          <a:prstGeom prst="rect">
            <a:avLst/>
          </a:prstGeom>
          <a:noFill/>
          <a:ln/>
        </p:spPr>
        <p:txBody>
          <a:bodyPr wrap="square" lIns="0" tIns="0" rIns="0" bIns="0" rtlCol="0" anchor="t"/>
          <a:lstStyle/>
          <a:p>
            <a:pPr indent="0" marL="0">
              <a:buNone/>
            </a:pPr>
            <a:r>
              <a:rPr lang="en-US" sz="1800" dirty="0">
                <a:solidFill>
                  <a:srgbClr val="FFFFFF"/>
                </a:solidFill>
              </a:rPr>
              <a:t>Open a chatbot with no web search. Ask about news from this morning.</a:t>
            </a:r>
            <a:endParaRPr lang="en-US" sz="1800" dirty="0"/>
          </a:p>
          <a:p>
            <a:pPr indent="0" marL="0">
              <a:buNone/>
            </a:pPr>
            <a:endParaRPr lang="en-US" sz="1800" dirty="0"/>
          </a:p>
          <a:p>
            <a:pPr indent="0" marL="0">
              <a:buNone/>
            </a:pPr>
            <a:r>
              <a:rPr lang="en-US" sz="1800" dirty="0">
                <a:solidFill>
                  <a:srgbClr val="FFFFFF"/>
                </a:solidFill>
              </a:rPr>
              <a:t>Watch it answer. Confidently.</a:t>
            </a:r>
            <a:endParaRPr lang="en-US" sz="1800" dirty="0"/>
          </a:p>
        </p:txBody>
      </p:sp>
      <p:sp>
        <p:nvSpPr>
          <p:cNvPr id="7" name="Shape 4"/>
          <p:cNvSpPr/>
          <p:nvPr/>
        </p:nvSpPr>
        <p:spPr>
          <a:xfrm>
            <a:off x="4663440" y="1325880"/>
            <a:ext cx="4023360" cy="2240280"/>
          </a:xfrm>
          <a:prstGeom prst="roundRect">
            <a:avLst>
              <a:gd name="adj" fmla="val 4082"/>
            </a:avLst>
          </a:prstGeom>
          <a:solidFill>
            <a:srgbClr val="061426"/>
          </a:solidFill>
          <a:ln w="12700">
            <a:solidFill>
              <a:srgbClr val="B9C6DA"/>
            </a:solidFill>
            <a:prstDash val="solid"/>
          </a:ln>
        </p:spPr>
      </p:sp>
      <p:sp>
        <p:nvSpPr>
          <p:cNvPr id="8" name="Text 5"/>
          <p:cNvSpPr txBox="1"/>
          <p:nvPr/>
        </p:nvSpPr>
        <p:spPr>
          <a:xfrm>
            <a:off x="4846320" y="1417320"/>
            <a:ext cx="1828800" cy="201168"/>
          </a:xfrm>
          <a:prstGeom prst="rect">
            <a:avLst/>
          </a:prstGeom>
          <a:noFill/>
          <a:ln/>
        </p:spPr>
        <p:txBody>
          <a:bodyPr wrap="square" lIns="0" tIns="0" rIns="0" bIns="0" rtlCol="0" anchor="t"/>
          <a:lstStyle/>
          <a:p>
            <a:pPr indent="0" marL="0">
              <a:buNone/>
            </a:pPr>
            <a:r>
              <a:rPr lang="en-US" sz="1000" b="1" spc="200" kern="0" dirty="0">
                <a:solidFill>
                  <a:srgbClr val="B9C6DA"/>
                </a:solidFill>
              </a:rPr>
              <a:t>ILLUSTRATIVE</a:t>
            </a:r>
            <a:endParaRPr lang="en-US" sz="1000" dirty="0"/>
          </a:p>
        </p:txBody>
      </p:sp>
      <p:sp>
        <p:nvSpPr>
          <p:cNvPr id="9" name="Text 6"/>
          <p:cNvSpPr txBox="1"/>
          <p:nvPr/>
        </p:nvSpPr>
        <p:spPr>
          <a:xfrm>
            <a:off x="4846320" y="1737360"/>
            <a:ext cx="2651760" cy="411480"/>
          </a:xfrm>
          <a:prstGeom prst="roundRect">
            <a:avLst>
              <a:gd name="adj" fmla="val 22222"/>
            </a:avLst>
          </a:prstGeom>
          <a:solidFill>
            <a:srgbClr val="F26B6B"/>
          </a:solidFill>
          <a:ln/>
        </p:spPr>
        <p:txBody>
          <a:bodyPr wrap="square" lIns="1524" tIns="1524" rIns="1524" bIns="1524" rtlCol="0" anchor="ctr"/>
          <a:lstStyle/>
          <a:p>
            <a:pPr algn="l" indent="0" marL="0">
              <a:buNone/>
            </a:pPr>
            <a:r>
              <a:rPr lang="en-US" sz="1300" b="1" dirty="0">
                <a:solidFill>
                  <a:srgbClr val="0B1F3A"/>
                </a:solidFill>
              </a:rPr>
              <a:t>What happened this morning?</a:t>
            </a:r>
            <a:endParaRPr lang="en-US" sz="1300" dirty="0"/>
          </a:p>
        </p:txBody>
      </p:sp>
      <p:sp>
        <p:nvSpPr>
          <p:cNvPr id="10" name="Text 7"/>
          <p:cNvSpPr txBox="1"/>
          <p:nvPr/>
        </p:nvSpPr>
        <p:spPr>
          <a:xfrm>
            <a:off x="5074920" y="2286000"/>
            <a:ext cx="3429000" cy="502920"/>
          </a:xfrm>
          <a:prstGeom prst="roundRect">
            <a:avLst>
              <a:gd name="adj" fmla="val 18182"/>
            </a:avLst>
          </a:prstGeom>
          <a:solidFill>
            <a:srgbClr val="14305A"/>
          </a:solidFill>
          <a:ln/>
        </p:spPr>
        <p:txBody>
          <a:bodyPr wrap="square" lIns="1524" tIns="1524" rIns="1524" bIns="1524" rtlCol="0" anchor="ctr"/>
          <a:lstStyle/>
          <a:p>
            <a:pPr algn="l" indent="0" marL="0">
              <a:buNone/>
            </a:pPr>
            <a:r>
              <a:rPr lang="en-US" sz="1300" dirty="0">
                <a:solidFill>
                  <a:srgbClr val="FFFFFF"/>
                </a:solidFill>
              </a:rPr>
              <a:t>Here is a detailed summary of the main events ...</a:t>
            </a:r>
            <a:endParaRPr lang="en-US" sz="1300" dirty="0"/>
          </a:p>
        </p:txBody>
      </p:sp>
      <p:sp>
        <p:nvSpPr>
          <p:cNvPr id="11" name="Text 8"/>
          <p:cNvSpPr txBox="1"/>
          <p:nvPr/>
        </p:nvSpPr>
        <p:spPr>
          <a:xfrm>
            <a:off x="5074920" y="2971800"/>
            <a:ext cx="3108960" cy="237744"/>
          </a:xfrm>
          <a:prstGeom prst="roundRect">
            <a:avLst>
              <a:gd name="adj" fmla="val 38462"/>
            </a:avLst>
          </a:prstGeom>
          <a:solidFill>
            <a:srgbClr val="F26B6B"/>
          </a:solidFill>
          <a:ln/>
        </p:spPr>
        <p:txBody>
          <a:bodyPr wrap="square" lIns="254" tIns="254" rIns="254" bIns="254" rtlCol="0" anchor="ctr"/>
          <a:lstStyle/>
          <a:p>
            <a:pPr algn="ctr" indent="0" marL="0">
              <a:buNone/>
            </a:pPr>
            <a:r>
              <a:rPr lang="en-US" sz="1100" b="1" dirty="0">
                <a:solidFill>
                  <a:srgbClr val="0B1F3A"/>
                </a:solidFill>
              </a:rPr>
              <a:t>NO SOURCE. NO DATE. POSSIBLY INVENTED.</a:t>
            </a:r>
            <a:endParaRPr lang="en-US" sz="1100" dirty="0"/>
          </a:p>
        </p:txBody>
      </p:sp>
      <p:sp>
        <p:nvSpPr>
          <p:cNvPr id="12" name="ck1_155"/>
          <p:cNvSpPr txBox="1"/>
          <p:nvPr/>
        </p:nvSpPr>
        <p:spPr>
          <a:xfrm>
            <a:off x="457200" y="3794760"/>
            <a:ext cx="8229600" cy="640080"/>
          </a:xfrm>
          <a:prstGeom prst="roundRect">
            <a:avLst>
              <a:gd name="adj" fmla="val 14286"/>
            </a:avLst>
          </a:prstGeom>
          <a:solidFill>
            <a:srgbClr val="F2B134"/>
          </a:solidFill>
          <a:ln/>
        </p:spPr>
        <p:txBody>
          <a:bodyPr wrap="square" lIns="762" tIns="762" rIns="762" bIns="762" rtlCol="0" anchor="ctr"/>
          <a:lstStyle/>
          <a:p>
            <a:pPr algn="ctr" indent="0" marL="0">
              <a:buNone/>
            </a:pPr>
            <a:r>
              <a:rPr lang="en-US" sz="2200" b="1" dirty="0">
                <a:solidFill>
                  <a:srgbClr val="0B1F3A"/>
                </a:solidFill>
              </a:rPr>
              <a:t>Fluent is not the same as correct.</a:t>
            </a:r>
            <a:endParaRPr lang="en-US" sz="2200" dirty="0"/>
          </a:p>
        </p:txBody>
      </p:sp>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B9C6DA"/>
                </a:solidFill>
              </a:defRPr>
            </a:lvl1pPr>
          </a:lstStyle>
          <a:p>
            <a:pPr algn="r"/>
            <a:fld id="{F7021451-1387-4CA6-816F-3879F97B5CBC}" type="slidenum">
              <a:rPr b="0" lang="en-US"/>
              <a:t>14</a:t>
            </a:fld>
            <a:endParaRPr lang="en-US"/>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256032"/>
            <a:ext cx="6400800" cy="201168"/>
          </a:xfrm>
          <a:prstGeom prst="rect">
            <a:avLst/>
          </a:prstGeom>
          <a:noFill/>
          <a:ln/>
        </p:spPr>
        <p:txBody>
          <a:bodyPr wrap="square" lIns="0" tIns="0" rIns="0" bIns="0" rtlCol="0" anchor="t"/>
          <a:lstStyle/>
          <a:p>
            <a:pPr indent="0" marL="0">
              <a:buNone/>
            </a:pPr>
            <a:r>
              <a:rPr lang="en-US" sz="1100" b="1" spc="200" kern="0" dirty="0">
                <a:solidFill>
                  <a:srgbClr val="F26B6B"/>
                </a:solidFill>
              </a:rPr>
              <a:t>3  WHEN AI IS WRONG</a:t>
            </a:r>
            <a:endParaRPr lang="en-US" sz="1100" dirty="0"/>
          </a:p>
        </p:txBody>
      </p:sp>
      <p:sp>
        <p:nvSpPr>
          <p:cNvPr id="3" name="Text 2"/>
          <p:cNvSpPr/>
          <p:nvPr>
            <p:ph idx="103" type="title" hasCustomPrompt="1"/>
          </p:nvPr>
        </p:nvSpPr>
        <p:spPr>
          <a:xfrm>
            <a:off x="457200" y="457200"/>
            <a:ext cx="8229600" cy="685800"/>
          </a:xfrm>
          <a:prstGeom prst="rect">
            <a:avLst/>
          </a:prstGeom>
          <a:noFill/>
          <a:ln/>
        </p:spPr>
        <p:txBody>
          <a:bodyPr wrap="square" lIns="0" tIns="0" rIns="0" bIns="0" rtlCol="0" anchor="ctr"/>
          <a:lstStyle/>
          <a:p>
            <a:pPr algn="l" indent="0" marL="0">
              <a:buNone/>
            </a:pPr>
            <a:r>
              <a:rPr lang="en-US" sz="3000" b="1" dirty="0">
                <a:solidFill>
                  <a:srgbClr val="FFFFFF"/>
                </a:solidFill>
              </a:rPr>
              <a:t>Three habits to stay safe</a:t>
            </a:r>
            <a:endParaRPr lang="en-US" sz="3000" dirty="0"/>
          </a:p>
        </p:txBody>
      </p:sp>
      <p:sp>
        <p:nvSpPr>
          <p:cNvPr id="5" name="ck1_156"/>
          <p:cNvSpPr/>
          <p:nvPr/>
        </p:nvSpPr>
        <p:spPr>
          <a:xfrm>
            <a:off x="457200" y="1325880"/>
            <a:ext cx="2651760" cy="3017520"/>
          </a:xfrm>
          <a:prstGeom prst="roundRect">
            <a:avLst>
              <a:gd name="adj" fmla="val 3448"/>
            </a:avLst>
          </a:prstGeom>
          <a:solidFill>
            <a:srgbClr val="14305A"/>
          </a:solidFill>
          <a:ln/>
        </p:spPr>
      </p:sp>
      <p:sp>
        <p:nvSpPr>
          <p:cNvPr id="6" name="ck1_157"/>
          <p:cNvSpPr/>
          <p:nvPr/>
        </p:nvSpPr>
        <p:spPr>
          <a:xfrm>
            <a:off x="640080" y="1508760"/>
            <a:ext cx="594360" cy="594360"/>
          </a:xfrm>
          <a:prstGeom prst="ellipse">
            <a:avLst/>
          </a:prstGeom>
          <a:solidFill>
            <a:srgbClr val="F26B6B"/>
          </a:solidFill>
          <a:ln/>
        </p:spPr>
      </p:sp>
      <p:pic>
        <p:nvPicPr>
          <p:cNvPr id="7" name="ck1_158" descr="preencoded.png">    </p:cNvPr>
          <p:cNvPicPr>
            <a:picLocks noChangeAspect="1"/>
          </p:cNvPicPr>
          <p:nvPr/>
        </p:nvPicPr>
        <p:blipFill>
          <a:blip r:embed="rId1"/>
          <a:stretch>
            <a:fillRect/>
          </a:stretch>
        </p:blipFill>
        <p:spPr>
          <a:xfrm>
            <a:off x="782726" y="1651406"/>
            <a:ext cx="309067" cy="309067"/>
          </a:xfrm>
          <a:prstGeom prst="rect">
            <a:avLst/>
          </a:prstGeom>
        </p:spPr>
      </p:pic>
      <p:sp>
        <p:nvSpPr>
          <p:cNvPr id="8" name="ck1_159"/>
          <p:cNvSpPr txBox="1"/>
          <p:nvPr/>
        </p:nvSpPr>
        <p:spPr>
          <a:xfrm>
            <a:off x="640080" y="2286000"/>
            <a:ext cx="2286000" cy="640080"/>
          </a:xfrm>
          <a:prstGeom prst="rect">
            <a:avLst/>
          </a:prstGeom>
          <a:noFill/>
          <a:ln/>
        </p:spPr>
        <p:txBody>
          <a:bodyPr wrap="square" lIns="0" tIns="0" rIns="0" bIns="0" rtlCol="0" anchor="t"/>
          <a:lstStyle/>
          <a:p>
            <a:pPr indent="0" marL="0">
              <a:buNone/>
            </a:pPr>
            <a:r>
              <a:rPr lang="en-US" sz="1900" b="1" dirty="0">
                <a:solidFill>
                  <a:srgbClr val="FFFFFF"/>
                </a:solidFill>
              </a:rPr>
              <a:t>Ask for the source</a:t>
            </a:r>
            <a:endParaRPr lang="en-US" sz="1900" dirty="0"/>
          </a:p>
        </p:txBody>
      </p:sp>
      <p:sp>
        <p:nvSpPr>
          <p:cNvPr id="9" name="ck1_160"/>
          <p:cNvSpPr txBox="1"/>
          <p:nvPr/>
        </p:nvSpPr>
        <p:spPr>
          <a:xfrm>
            <a:off x="640080" y="2971800"/>
            <a:ext cx="2286000" cy="1280160"/>
          </a:xfrm>
          <a:prstGeom prst="rect">
            <a:avLst/>
          </a:prstGeom>
          <a:noFill/>
          <a:ln/>
        </p:spPr>
        <p:txBody>
          <a:bodyPr wrap="square" lIns="0" tIns="0" rIns="0" bIns="0" rtlCol="0" anchor="t"/>
          <a:lstStyle/>
          <a:p>
            <a:pPr indent="0" marL="0">
              <a:buNone/>
            </a:pPr>
            <a:r>
              <a:rPr lang="en-US" sz="1400" dirty="0">
                <a:solidFill>
                  <a:srgbClr val="B9C6DA"/>
                </a:solidFill>
              </a:rPr>
              <a:t>Then open the source and read it. No source? Be careful.</a:t>
            </a:r>
            <a:endParaRPr lang="en-US" sz="1400" dirty="0"/>
          </a:p>
        </p:txBody>
      </p:sp>
      <p:sp>
        <p:nvSpPr>
          <p:cNvPr id="10" name="ck2_161"/>
          <p:cNvSpPr/>
          <p:nvPr/>
        </p:nvSpPr>
        <p:spPr>
          <a:xfrm>
            <a:off x="3246120" y="1325880"/>
            <a:ext cx="2651760" cy="3017520"/>
          </a:xfrm>
          <a:prstGeom prst="roundRect">
            <a:avLst>
              <a:gd name="adj" fmla="val 3448"/>
            </a:avLst>
          </a:prstGeom>
          <a:solidFill>
            <a:srgbClr val="14305A"/>
          </a:solidFill>
          <a:ln/>
        </p:spPr>
      </p:sp>
      <p:sp>
        <p:nvSpPr>
          <p:cNvPr id="11" name="ck2_162"/>
          <p:cNvSpPr/>
          <p:nvPr/>
        </p:nvSpPr>
        <p:spPr>
          <a:xfrm>
            <a:off x="3429000" y="1508760"/>
            <a:ext cx="594360" cy="594360"/>
          </a:xfrm>
          <a:prstGeom prst="ellipse">
            <a:avLst/>
          </a:prstGeom>
          <a:solidFill>
            <a:srgbClr val="F26B6B"/>
          </a:solidFill>
          <a:ln/>
        </p:spPr>
      </p:sp>
      <p:pic>
        <p:nvPicPr>
          <p:cNvPr id="12" name="ck2_163" descr="preencoded.png">    </p:cNvPr>
          <p:cNvPicPr>
            <a:picLocks noChangeAspect="1"/>
          </p:cNvPicPr>
          <p:nvPr/>
        </p:nvPicPr>
        <p:blipFill>
          <a:blip r:embed="rId2"/>
          <a:stretch>
            <a:fillRect/>
          </a:stretch>
        </p:blipFill>
        <p:spPr>
          <a:xfrm>
            <a:off x="3571646" y="1651406"/>
            <a:ext cx="309067" cy="309067"/>
          </a:xfrm>
          <a:prstGeom prst="rect">
            <a:avLst/>
          </a:prstGeom>
        </p:spPr>
      </p:pic>
      <p:sp>
        <p:nvSpPr>
          <p:cNvPr id="13" name="ck2_164"/>
          <p:cNvSpPr txBox="1"/>
          <p:nvPr/>
        </p:nvSpPr>
        <p:spPr>
          <a:xfrm>
            <a:off x="3429000" y="2286000"/>
            <a:ext cx="2286000" cy="640080"/>
          </a:xfrm>
          <a:prstGeom prst="rect">
            <a:avLst/>
          </a:prstGeom>
          <a:noFill/>
          <a:ln/>
        </p:spPr>
        <p:txBody>
          <a:bodyPr wrap="square" lIns="0" tIns="0" rIns="0" bIns="0" rtlCol="0" anchor="t"/>
          <a:lstStyle/>
          <a:p>
            <a:pPr indent="0" marL="0">
              <a:buNone/>
            </a:pPr>
            <a:r>
              <a:rPr lang="en-US" sz="1900" b="1" dirty="0">
                <a:solidFill>
                  <a:srgbClr val="FFFFFF"/>
                </a:solidFill>
              </a:rPr>
              <a:t>Give it your document</a:t>
            </a:r>
            <a:endParaRPr lang="en-US" sz="1900" dirty="0"/>
          </a:p>
        </p:txBody>
      </p:sp>
      <p:sp>
        <p:nvSpPr>
          <p:cNvPr id="14" name="ck2_165"/>
          <p:cNvSpPr txBox="1"/>
          <p:nvPr/>
        </p:nvSpPr>
        <p:spPr>
          <a:xfrm>
            <a:off x="3429000" y="2971800"/>
            <a:ext cx="2286000" cy="1280160"/>
          </a:xfrm>
          <a:prstGeom prst="rect">
            <a:avLst/>
          </a:prstGeom>
          <a:noFill/>
          <a:ln/>
        </p:spPr>
        <p:txBody>
          <a:bodyPr wrap="square" lIns="0" tIns="0" rIns="0" bIns="0" rtlCol="0" anchor="t"/>
          <a:lstStyle/>
          <a:p>
            <a:pPr indent="0" marL="0">
              <a:buNone/>
            </a:pPr>
            <a:r>
              <a:rPr lang="en-US" sz="1400" dirty="0">
                <a:solidFill>
                  <a:srgbClr val="B9C6DA"/>
                </a:solidFill>
              </a:rPr>
              <a:t>Tell it to answer only from the document. This idea is called RAG.</a:t>
            </a:r>
            <a:endParaRPr lang="en-US" sz="1400" dirty="0"/>
          </a:p>
        </p:txBody>
      </p:sp>
      <p:sp>
        <p:nvSpPr>
          <p:cNvPr id="15" name="ck3_166"/>
          <p:cNvSpPr/>
          <p:nvPr/>
        </p:nvSpPr>
        <p:spPr>
          <a:xfrm>
            <a:off x="6035040" y="1325880"/>
            <a:ext cx="2651760" cy="3017520"/>
          </a:xfrm>
          <a:prstGeom prst="roundRect">
            <a:avLst>
              <a:gd name="adj" fmla="val 3448"/>
            </a:avLst>
          </a:prstGeom>
          <a:solidFill>
            <a:srgbClr val="14305A"/>
          </a:solidFill>
          <a:ln/>
        </p:spPr>
      </p:sp>
      <p:sp>
        <p:nvSpPr>
          <p:cNvPr id="16" name="ck3_167"/>
          <p:cNvSpPr/>
          <p:nvPr/>
        </p:nvSpPr>
        <p:spPr>
          <a:xfrm>
            <a:off x="6217920" y="1508760"/>
            <a:ext cx="594360" cy="594360"/>
          </a:xfrm>
          <a:prstGeom prst="ellipse">
            <a:avLst/>
          </a:prstGeom>
          <a:solidFill>
            <a:srgbClr val="F26B6B"/>
          </a:solidFill>
          <a:ln/>
        </p:spPr>
      </p:sp>
      <p:pic>
        <p:nvPicPr>
          <p:cNvPr id="17" name="ck3_168" descr="preencoded.png">    </p:cNvPr>
          <p:cNvPicPr>
            <a:picLocks noChangeAspect="1"/>
          </p:cNvPicPr>
          <p:nvPr/>
        </p:nvPicPr>
        <p:blipFill>
          <a:blip r:embed="rId3"/>
          <a:stretch>
            <a:fillRect/>
          </a:stretch>
        </p:blipFill>
        <p:spPr>
          <a:xfrm>
            <a:off x="6360566" y="1651406"/>
            <a:ext cx="309067" cy="309067"/>
          </a:xfrm>
          <a:prstGeom prst="rect">
            <a:avLst/>
          </a:prstGeom>
        </p:spPr>
      </p:pic>
      <p:sp>
        <p:nvSpPr>
          <p:cNvPr id="18" name="ck3_169"/>
          <p:cNvSpPr txBox="1"/>
          <p:nvPr/>
        </p:nvSpPr>
        <p:spPr>
          <a:xfrm>
            <a:off x="6217920" y="2286000"/>
            <a:ext cx="2286000" cy="640080"/>
          </a:xfrm>
          <a:prstGeom prst="rect">
            <a:avLst/>
          </a:prstGeom>
          <a:noFill/>
          <a:ln/>
        </p:spPr>
        <p:txBody>
          <a:bodyPr wrap="square" lIns="0" tIns="0" rIns="0" bIns="0" rtlCol="0" anchor="t"/>
          <a:lstStyle/>
          <a:p>
            <a:pPr indent="0" marL="0">
              <a:buNone/>
            </a:pPr>
            <a:r>
              <a:rPr lang="en-US" sz="1900" b="1" dirty="0">
                <a:solidFill>
                  <a:srgbClr val="FFFFFF"/>
                </a:solidFill>
              </a:rPr>
              <a:t>Check important facts</a:t>
            </a:r>
            <a:endParaRPr lang="en-US" sz="1900" dirty="0"/>
          </a:p>
        </p:txBody>
      </p:sp>
      <p:sp>
        <p:nvSpPr>
          <p:cNvPr id="19" name="ck3_170"/>
          <p:cNvSpPr txBox="1"/>
          <p:nvPr/>
        </p:nvSpPr>
        <p:spPr>
          <a:xfrm>
            <a:off x="6217920" y="2971800"/>
            <a:ext cx="2286000" cy="1280160"/>
          </a:xfrm>
          <a:prstGeom prst="rect">
            <a:avLst/>
          </a:prstGeom>
          <a:noFill/>
          <a:ln/>
        </p:spPr>
        <p:txBody>
          <a:bodyPr wrap="square" lIns="0" tIns="0" rIns="0" bIns="0" rtlCol="0" anchor="t"/>
          <a:lstStyle/>
          <a:p>
            <a:pPr indent="0" marL="0">
              <a:buNone/>
            </a:pPr>
            <a:r>
              <a:rPr lang="en-US" sz="1400" dirty="0">
                <a:solidFill>
                  <a:srgbClr val="B9C6DA"/>
                </a:solidFill>
              </a:rPr>
              <a:t>Marks, money, medicine, law: you verify. AI is a first draft, not the final judge.</a:t>
            </a:r>
            <a:endParaRPr lang="en-US" sz="1400" dirty="0"/>
          </a:p>
        </p:txBody>
      </p:sp>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B9C6DA"/>
                </a:solidFill>
              </a:defRPr>
            </a:lvl1pPr>
          </a:lstStyle>
          <a:p>
            <a:pPr algn="r"/>
            <a:fld id="{F7021451-1387-4CA6-816F-3879F97B5CBC}" type="slidenum">
              <a:rPr b="0" lang="en-US"/>
              <a:t>15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par>
                                <p:cTn id="28" presetID="10" presetClass="entr" presetSubtype="0" fill="hold"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childTnLst>
                                </p:cTn>
                              </p:par>
                              <p:par>
                                <p:cTn id="45" presetID="10" presetClass="entr" presetSubtype="0" fill="hold"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5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0" grpId="0" animBg="1"/>
      <p:bldP spid="11" grpId="0" animBg="1"/>
      <p:bldP spid="13" grpId="0" animBg="1"/>
      <p:bldP spid="14" grpId="0" animBg="1"/>
      <p:bldP spid="15" grpId="0" animBg="1"/>
      <p:bldP spid="16" grpId="0" animBg="1"/>
      <p:bldP spid="18" grpId="0" animBg="1"/>
      <p:bldP spid="1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57200" y="256032"/>
            <a:ext cx="6400800" cy="201168"/>
          </a:xfrm>
          <a:prstGeom prst="rect">
            <a:avLst/>
          </a:prstGeom>
          <a:noFill/>
          <a:ln/>
        </p:spPr>
        <p:txBody>
          <a:bodyPr wrap="square" lIns="0" tIns="0" rIns="0" bIns="0" rtlCol="0" anchor="t"/>
          <a:lstStyle/>
          <a:p>
            <a:pPr indent="0" marL="0">
              <a:buNone/>
            </a:pPr>
            <a:r>
              <a:rPr lang="en-US" sz="1100" b="1" spc="200" kern="0" dirty="0">
                <a:solidFill>
                  <a:srgbClr val="A78BFA"/>
                </a:solidFill>
              </a:rPr>
              <a:t>4  SMARTER AI</a:t>
            </a:r>
            <a:endParaRPr lang="en-US" sz="1100" dirty="0"/>
          </a:p>
        </p:txBody>
      </p:sp>
      <p:sp>
        <p:nvSpPr>
          <p:cNvPr id="3" name="Text 2"/>
          <p:cNvSpPr/>
          <p:nvPr>
            <p:ph idx="103" type="title" hasCustomPrompt="1"/>
          </p:nvPr>
        </p:nvSpPr>
        <p:spPr>
          <a:xfrm>
            <a:off x="457200" y="457200"/>
            <a:ext cx="8229600" cy="685800"/>
          </a:xfrm>
          <a:prstGeom prst="rect">
            <a:avLst/>
          </a:prstGeom>
          <a:noFill/>
          <a:ln/>
        </p:spPr>
        <p:txBody>
          <a:bodyPr wrap="square" lIns="0" tIns="0" rIns="0" bIns="0" rtlCol="0" anchor="ctr"/>
          <a:lstStyle/>
          <a:p>
            <a:pPr algn="l" indent="0" marL="0">
              <a:buNone/>
            </a:pPr>
            <a:r>
              <a:rPr lang="en-US" sz="3000" b="1" dirty="0">
                <a:solidFill>
                  <a:srgbClr val="FFFFFF"/>
                </a:solidFill>
              </a:rPr>
              <a:t>RAG: AI with an open book</a:t>
            </a:r>
            <a:endParaRPr lang="en-US" sz="3000" dirty="0"/>
          </a:p>
        </p:txBody>
      </p:sp>
      <p:sp>
        <p:nvSpPr>
          <p:cNvPr id="5" name="ck1_171"/>
          <p:cNvSpPr txBox="1"/>
          <p:nvPr/>
        </p:nvSpPr>
        <p:spPr>
          <a:xfrm>
            <a:off x="457200" y="1325880"/>
            <a:ext cx="1874520" cy="685800"/>
          </a:xfrm>
          <a:prstGeom prst="roundRect">
            <a:avLst>
              <a:gd name="adj" fmla="val 13333"/>
            </a:avLst>
          </a:prstGeom>
          <a:solidFill>
            <a:srgbClr val="A78BFA"/>
          </a:solidFill>
          <a:ln/>
        </p:spPr>
        <p:txBody>
          <a:bodyPr wrap="square" lIns="762" tIns="762" rIns="762" bIns="762" rtlCol="0" anchor="ctr"/>
          <a:lstStyle/>
          <a:p>
            <a:pPr algn="ctr" indent="0" marL="0">
              <a:buNone/>
            </a:pPr>
            <a:r>
              <a:rPr lang="en-US" sz="1600" b="1" dirty="0">
                <a:solidFill>
                  <a:srgbClr val="0B1F3A"/>
                </a:solidFill>
              </a:rPr>
              <a:t>Your question</a:t>
            </a:r>
            <a:endParaRPr lang="en-US" sz="1600" dirty="0"/>
          </a:p>
        </p:txBody>
      </p:sp>
      <p:sp>
        <p:nvSpPr>
          <p:cNvPr id="6" name="ck1_172"/>
          <p:cNvSpPr txBox="1"/>
          <p:nvPr/>
        </p:nvSpPr>
        <p:spPr>
          <a:xfrm>
            <a:off x="457200" y="2084832"/>
            <a:ext cx="1874520" cy="457200"/>
          </a:xfrm>
          <a:prstGeom prst="rect">
            <a:avLst/>
          </a:prstGeom>
          <a:noFill/>
          <a:ln/>
        </p:spPr>
        <p:txBody>
          <a:bodyPr wrap="square" lIns="0" tIns="0" rIns="0" bIns="0" rtlCol="0" anchor="t"/>
          <a:lstStyle/>
          <a:p>
            <a:pPr algn="ctr" indent="0" marL="0">
              <a:buNone/>
            </a:pPr>
            <a:r>
              <a:rPr lang="en-US" sz="1300" dirty="0">
                <a:solidFill>
                  <a:srgbClr val="B9C6DA"/>
                </a:solidFill>
              </a:rPr>
              <a:t>You ask</a:t>
            </a:r>
            <a:endParaRPr lang="en-US" sz="1300" dirty="0"/>
          </a:p>
        </p:txBody>
      </p:sp>
      <p:sp>
        <p:nvSpPr>
          <p:cNvPr id="7" name="ck2_173"/>
          <p:cNvSpPr/>
          <p:nvPr/>
        </p:nvSpPr>
        <p:spPr>
          <a:xfrm>
            <a:off x="2350008" y="1664208"/>
            <a:ext cx="182880" cy="0"/>
          </a:xfrm>
          <a:prstGeom prst="line">
            <a:avLst/>
          </a:prstGeom>
          <a:noFill/>
          <a:ln w="25400">
            <a:solidFill>
              <a:srgbClr val="B9C6DA"/>
            </a:solidFill>
            <a:prstDash val="solid"/>
            <a:tailEnd type="triangle"/>
          </a:ln>
        </p:spPr>
      </p:sp>
      <p:sp>
        <p:nvSpPr>
          <p:cNvPr id="8" name="ck2_174"/>
          <p:cNvSpPr txBox="1"/>
          <p:nvPr/>
        </p:nvSpPr>
        <p:spPr>
          <a:xfrm>
            <a:off x="2560320" y="1325880"/>
            <a:ext cx="1874520" cy="685800"/>
          </a:xfrm>
          <a:prstGeom prst="roundRect">
            <a:avLst>
              <a:gd name="adj" fmla="val 13333"/>
            </a:avLst>
          </a:prstGeom>
          <a:solidFill>
            <a:srgbClr val="A78BFA"/>
          </a:solidFill>
          <a:ln/>
        </p:spPr>
        <p:txBody>
          <a:bodyPr wrap="square" lIns="762" tIns="762" rIns="762" bIns="762" rtlCol="0" anchor="ctr"/>
          <a:lstStyle/>
          <a:p>
            <a:pPr algn="ctr" indent="0" marL="0">
              <a:buNone/>
            </a:pPr>
            <a:r>
              <a:rPr lang="en-US" sz="1600" b="1" dirty="0">
                <a:solidFill>
                  <a:srgbClr val="0B1F3A"/>
                </a:solidFill>
              </a:rPr>
              <a:t>Search files</a:t>
            </a:r>
            <a:endParaRPr lang="en-US" sz="1600" dirty="0"/>
          </a:p>
        </p:txBody>
      </p:sp>
      <p:sp>
        <p:nvSpPr>
          <p:cNvPr id="9" name="ck2_175"/>
          <p:cNvSpPr txBox="1"/>
          <p:nvPr/>
        </p:nvSpPr>
        <p:spPr>
          <a:xfrm>
            <a:off x="2560320" y="2084832"/>
            <a:ext cx="1874520" cy="457200"/>
          </a:xfrm>
          <a:prstGeom prst="rect">
            <a:avLst/>
          </a:prstGeom>
          <a:noFill/>
          <a:ln/>
        </p:spPr>
        <p:txBody>
          <a:bodyPr wrap="square" lIns="0" tIns="0" rIns="0" bIns="0" rtlCol="0" anchor="t"/>
          <a:lstStyle/>
          <a:p>
            <a:pPr algn="ctr" indent="0" marL="0">
              <a:buNone/>
            </a:pPr>
            <a:r>
              <a:rPr lang="en-US" sz="1300" dirty="0">
                <a:solidFill>
                  <a:srgbClr val="B9C6DA"/>
                </a:solidFill>
              </a:rPr>
              <a:t>Find the right documents</a:t>
            </a:r>
            <a:endParaRPr lang="en-US" sz="1300" dirty="0"/>
          </a:p>
        </p:txBody>
      </p:sp>
      <p:sp>
        <p:nvSpPr>
          <p:cNvPr id="10" name="ck3_176"/>
          <p:cNvSpPr/>
          <p:nvPr/>
        </p:nvSpPr>
        <p:spPr>
          <a:xfrm>
            <a:off x="4453128" y="1664208"/>
            <a:ext cx="182880" cy="0"/>
          </a:xfrm>
          <a:prstGeom prst="line">
            <a:avLst/>
          </a:prstGeom>
          <a:noFill/>
          <a:ln w="25400">
            <a:solidFill>
              <a:srgbClr val="B9C6DA"/>
            </a:solidFill>
            <a:prstDash val="solid"/>
            <a:tailEnd type="triangle"/>
          </a:ln>
        </p:spPr>
      </p:sp>
      <p:sp>
        <p:nvSpPr>
          <p:cNvPr id="11" name="ck3_177"/>
          <p:cNvSpPr txBox="1"/>
          <p:nvPr/>
        </p:nvSpPr>
        <p:spPr>
          <a:xfrm>
            <a:off x="4663440" y="1325880"/>
            <a:ext cx="1874520" cy="685800"/>
          </a:xfrm>
          <a:prstGeom prst="roundRect">
            <a:avLst>
              <a:gd name="adj" fmla="val 13333"/>
            </a:avLst>
          </a:prstGeom>
          <a:solidFill>
            <a:srgbClr val="A78BFA"/>
          </a:solidFill>
          <a:ln/>
        </p:spPr>
        <p:txBody>
          <a:bodyPr wrap="square" lIns="762" tIns="762" rIns="762" bIns="762" rtlCol="0" anchor="ctr"/>
          <a:lstStyle/>
          <a:p>
            <a:pPr algn="ctr" indent="0" marL="0">
              <a:buNone/>
            </a:pPr>
            <a:r>
              <a:rPr lang="en-US" sz="1600" b="1" dirty="0">
                <a:solidFill>
                  <a:srgbClr val="0B1F3A"/>
                </a:solidFill>
              </a:rPr>
              <a:t>Read the parts</a:t>
            </a:r>
            <a:endParaRPr lang="en-US" sz="1600" dirty="0"/>
          </a:p>
        </p:txBody>
      </p:sp>
      <p:sp>
        <p:nvSpPr>
          <p:cNvPr id="12" name="ck3_178"/>
          <p:cNvSpPr txBox="1"/>
          <p:nvPr/>
        </p:nvSpPr>
        <p:spPr>
          <a:xfrm>
            <a:off x="4663440" y="2084832"/>
            <a:ext cx="1874520" cy="457200"/>
          </a:xfrm>
          <a:prstGeom prst="rect">
            <a:avLst/>
          </a:prstGeom>
          <a:noFill/>
          <a:ln/>
        </p:spPr>
        <p:txBody>
          <a:bodyPr wrap="square" lIns="0" tIns="0" rIns="0" bIns="0" rtlCol="0" anchor="t"/>
          <a:lstStyle/>
          <a:p>
            <a:pPr algn="ctr" indent="0" marL="0">
              <a:buNone/>
            </a:pPr>
            <a:r>
              <a:rPr lang="en-US" sz="1300" dirty="0">
                <a:solidFill>
                  <a:srgbClr val="B9C6DA"/>
                </a:solidFill>
              </a:rPr>
              <a:t>Pick the relevant pieces</a:t>
            </a:r>
            <a:endParaRPr lang="en-US" sz="1300" dirty="0"/>
          </a:p>
        </p:txBody>
      </p:sp>
      <p:sp>
        <p:nvSpPr>
          <p:cNvPr id="13" name="ck4_179"/>
          <p:cNvSpPr/>
          <p:nvPr/>
        </p:nvSpPr>
        <p:spPr>
          <a:xfrm>
            <a:off x="6556248" y="1664208"/>
            <a:ext cx="182880" cy="0"/>
          </a:xfrm>
          <a:prstGeom prst="line">
            <a:avLst/>
          </a:prstGeom>
          <a:noFill/>
          <a:ln w="25400">
            <a:solidFill>
              <a:srgbClr val="B9C6DA"/>
            </a:solidFill>
            <a:prstDash val="solid"/>
            <a:tailEnd type="triangle"/>
          </a:ln>
        </p:spPr>
      </p:sp>
      <p:sp>
        <p:nvSpPr>
          <p:cNvPr id="14" name="ck4_180"/>
          <p:cNvSpPr txBox="1"/>
          <p:nvPr/>
        </p:nvSpPr>
        <p:spPr>
          <a:xfrm>
            <a:off x="6766560" y="1325880"/>
            <a:ext cx="1874520" cy="685800"/>
          </a:xfrm>
          <a:prstGeom prst="roundRect">
            <a:avLst>
              <a:gd name="adj" fmla="val 13333"/>
            </a:avLst>
          </a:prstGeom>
          <a:solidFill>
            <a:srgbClr val="F2B134"/>
          </a:solidFill>
          <a:ln/>
        </p:spPr>
        <p:txBody>
          <a:bodyPr wrap="square" lIns="762" tIns="762" rIns="762" bIns="762" rtlCol="0" anchor="ctr"/>
          <a:lstStyle/>
          <a:p>
            <a:pPr algn="ctr" indent="0" marL="0">
              <a:buNone/>
            </a:pPr>
            <a:r>
              <a:rPr lang="en-US" sz="1600" b="1" dirty="0">
                <a:solidFill>
                  <a:srgbClr val="0B1F3A"/>
                </a:solidFill>
              </a:rPr>
              <a:t>Write the answer</a:t>
            </a:r>
            <a:endParaRPr lang="en-US" sz="1600" dirty="0"/>
          </a:p>
        </p:txBody>
      </p:sp>
      <p:sp>
        <p:nvSpPr>
          <p:cNvPr id="15" name="ck4_181"/>
          <p:cNvSpPr txBox="1"/>
          <p:nvPr/>
        </p:nvSpPr>
        <p:spPr>
          <a:xfrm>
            <a:off x="6766560" y="2084832"/>
            <a:ext cx="1874520" cy="457200"/>
          </a:xfrm>
          <a:prstGeom prst="rect">
            <a:avLst/>
          </a:prstGeom>
          <a:noFill/>
          <a:ln/>
        </p:spPr>
        <p:txBody>
          <a:bodyPr wrap="square" lIns="0" tIns="0" rIns="0" bIns="0" rtlCol="0" anchor="t"/>
          <a:lstStyle/>
          <a:p>
            <a:pPr algn="ctr" indent="0" marL="0">
              <a:buNone/>
            </a:pPr>
            <a:r>
              <a:rPr lang="en-US" sz="1300" dirty="0">
                <a:solidFill>
                  <a:srgbClr val="B9C6DA"/>
                </a:solidFill>
              </a:rPr>
              <a:t>AI answers from them</a:t>
            </a:r>
            <a:endParaRPr lang="en-US" sz="1300" dirty="0"/>
          </a:p>
        </p:txBody>
      </p:sp>
      <p:sp>
        <p:nvSpPr>
          <p:cNvPr id="16" name="ck5_182"/>
          <p:cNvSpPr/>
          <p:nvPr/>
        </p:nvSpPr>
        <p:spPr>
          <a:xfrm>
            <a:off x="457200" y="2697480"/>
            <a:ext cx="4023360" cy="1280160"/>
          </a:xfrm>
          <a:prstGeom prst="roundRect">
            <a:avLst>
              <a:gd name="adj" fmla="val 7143"/>
            </a:avLst>
          </a:prstGeom>
          <a:solidFill>
            <a:srgbClr val="14305A"/>
          </a:solidFill>
          <a:ln/>
        </p:spPr>
      </p:sp>
      <p:sp>
        <p:nvSpPr>
          <p:cNvPr id="17" name="ck5_183"/>
          <p:cNvSpPr/>
          <p:nvPr/>
        </p:nvSpPr>
        <p:spPr>
          <a:xfrm>
            <a:off x="4663440" y="2697480"/>
            <a:ext cx="4023360" cy="1280160"/>
          </a:xfrm>
          <a:prstGeom prst="roundRect">
            <a:avLst>
              <a:gd name="adj" fmla="val 7143"/>
            </a:avLst>
          </a:prstGeom>
          <a:solidFill>
            <a:srgbClr val="14305A"/>
          </a:solidFill>
          <a:ln/>
        </p:spPr>
      </p:sp>
      <p:sp>
        <p:nvSpPr>
          <p:cNvPr id="18" name="ck5_184"/>
          <p:cNvSpPr txBox="1"/>
          <p:nvPr/>
        </p:nvSpPr>
        <p:spPr>
          <a:xfrm>
            <a:off x="640080" y="2816352"/>
            <a:ext cx="1280160" cy="237744"/>
          </a:xfrm>
          <a:prstGeom prst="roundRect">
            <a:avLst>
              <a:gd name="adj" fmla="val 38462"/>
            </a:avLst>
          </a:prstGeom>
          <a:solidFill>
            <a:srgbClr val="F26B6B"/>
          </a:solidFill>
          <a:ln/>
        </p:spPr>
        <p:txBody>
          <a:bodyPr wrap="square" lIns="254" tIns="254" rIns="254" bIns="254" rtlCol="0" anchor="ctr"/>
          <a:lstStyle/>
          <a:p>
            <a:pPr algn="ctr" indent="0" marL="0">
              <a:buNone/>
            </a:pPr>
            <a:r>
              <a:rPr lang="en-US" sz="1100" b="1" dirty="0">
                <a:solidFill>
                  <a:srgbClr val="0B1F3A"/>
                </a:solidFill>
              </a:rPr>
              <a:t>WITHOUT RAG</a:t>
            </a:r>
            <a:endParaRPr lang="en-US" sz="1100" dirty="0"/>
          </a:p>
        </p:txBody>
      </p:sp>
      <p:sp>
        <p:nvSpPr>
          <p:cNvPr id="19" name="ck5_185"/>
          <p:cNvSpPr txBox="1"/>
          <p:nvPr/>
        </p:nvSpPr>
        <p:spPr>
          <a:xfrm>
            <a:off x="640080" y="3154680"/>
            <a:ext cx="3657600" cy="777240"/>
          </a:xfrm>
          <a:prstGeom prst="rect">
            <a:avLst/>
          </a:prstGeom>
          <a:noFill/>
          <a:ln/>
        </p:spPr>
        <p:txBody>
          <a:bodyPr wrap="square" lIns="0" tIns="0" rIns="0" bIns="0" rtlCol="0" anchor="t"/>
          <a:lstStyle/>
          <a:p>
            <a:pPr indent="0" marL="0">
              <a:buNone/>
            </a:pPr>
            <a:r>
              <a:rPr lang="en-US" sz="1500" dirty="0">
                <a:solidFill>
                  <a:srgbClr val="FFFFFF"/>
                </a:solidFill>
              </a:rPr>
              <a:t>Closed-book exam. AI answers from memory and may guess.</a:t>
            </a:r>
            <a:endParaRPr lang="en-US" sz="1500" dirty="0"/>
          </a:p>
        </p:txBody>
      </p:sp>
      <p:sp>
        <p:nvSpPr>
          <p:cNvPr id="20" name="ck5_186"/>
          <p:cNvSpPr txBox="1"/>
          <p:nvPr/>
        </p:nvSpPr>
        <p:spPr>
          <a:xfrm>
            <a:off x="4846320" y="2816352"/>
            <a:ext cx="1005840" cy="237744"/>
          </a:xfrm>
          <a:prstGeom prst="roundRect">
            <a:avLst>
              <a:gd name="adj" fmla="val 38462"/>
            </a:avLst>
          </a:prstGeom>
          <a:solidFill>
            <a:srgbClr val="5DB85C"/>
          </a:solidFill>
          <a:ln/>
        </p:spPr>
        <p:txBody>
          <a:bodyPr wrap="square" lIns="254" tIns="254" rIns="254" bIns="254" rtlCol="0" anchor="ctr"/>
          <a:lstStyle/>
          <a:p>
            <a:pPr algn="ctr" indent="0" marL="0">
              <a:buNone/>
            </a:pPr>
            <a:r>
              <a:rPr lang="en-US" sz="1100" b="1" dirty="0">
                <a:solidFill>
                  <a:srgbClr val="0B1F3A"/>
                </a:solidFill>
              </a:rPr>
              <a:t>WITH RAG</a:t>
            </a:r>
            <a:endParaRPr lang="en-US" sz="1100" dirty="0"/>
          </a:p>
        </p:txBody>
      </p:sp>
      <p:sp>
        <p:nvSpPr>
          <p:cNvPr id="21" name="ck5_187"/>
          <p:cNvSpPr txBox="1"/>
          <p:nvPr/>
        </p:nvSpPr>
        <p:spPr>
          <a:xfrm>
            <a:off x="4846320" y="3154680"/>
            <a:ext cx="3657600" cy="777240"/>
          </a:xfrm>
          <a:prstGeom prst="rect">
            <a:avLst/>
          </a:prstGeom>
          <a:noFill/>
          <a:ln/>
        </p:spPr>
        <p:txBody>
          <a:bodyPr wrap="square" lIns="0" tIns="0" rIns="0" bIns="0" rtlCol="0" anchor="t"/>
          <a:lstStyle/>
          <a:p>
            <a:pPr indent="0" marL="0">
              <a:buNone/>
            </a:pPr>
            <a:r>
              <a:rPr lang="en-US" sz="1500" dirty="0">
                <a:solidFill>
                  <a:srgbClr val="FFFFFF"/>
                </a:solidFill>
              </a:rPr>
              <a:t>Open-book exam. AI reads your approved pages first.</a:t>
            </a:r>
            <a:endParaRPr lang="en-US" sz="1500" dirty="0"/>
          </a:p>
        </p:txBody>
      </p:sp>
      <p:sp>
        <p:nvSpPr>
          <p:cNvPr id="22" name="Text 19"/>
          <p:cNvSpPr txBox="1"/>
          <p:nvPr/>
        </p:nvSpPr>
        <p:spPr>
          <a:xfrm>
            <a:off x="457200" y="4069080"/>
            <a:ext cx="8229600" cy="457200"/>
          </a:xfrm>
          <a:prstGeom prst="roundRect">
            <a:avLst>
              <a:gd name="adj" fmla="val 20000"/>
            </a:avLst>
          </a:prstGeom>
          <a:solidFill>
            <a:srgbClr val="14305A"/>
          </a:solidFill>
          <a:ln/>
        </p:spPr>
        <p:txBody>
          <a:bodyPr wrap="square" lIns="762" tIns="762" rIns="762" bIns="762" rtlCol="0" anchor="ctr"/>
          <a:lstStyle/>
          <a:p>
            <a:pPr algn="ctr" indent="0" marL="0">
              <a:buNone/>
            </a:pPr>
            <a:r>
              <a:rPr lang="en-US" sz="1400" i="1" dirty="0">
                <a:solidFill>
                  <a:srgbClr val="F2B134"/>
                </a:solidFill>
              </a:rPr>
              <a:t>Example: a college chatbot reads the placement rules PDF to answer "What is the minimum CGPA?"</a:t>
            </a:r>
            <a:endParaRPr lang="en-US" sz="1400" dirty="0"/>
          </a:p>
        </p:txBody>
      </p:sp>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B9C6DA"/>
                </a:solidFill>
              </a:defRPr>
            </a:lvl1pPr>
          </a:lstStyle>
          <a:p>
            <a:pPr algn="r"/>
            <a:fld id="{F7021451-1387-4CA6-816F-3879F97B5CBC}" type="slidenum">
              <a:rPr b="0" lang="en-US"/>
              <a:t>16</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500"/>
                                        <p:tgtEl>
                                          <p:spTgt spid="1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500"/>
                                        <p:tgtEl>
                                          <p:spTgt spid="1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500"/>
                                        <p:tgtEl>
                                          <p:spTgt spid="18"/>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500"/>
                                        <p:tgtEl>
                                          <p:spTgt spid="1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500"/>
                                        <p:tgtEl>
                                          <p:spTgt spid="2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57200" y="256032"/>
            <a:ext cx="6400800" cy="201168"/>
          </a:xfrm>
          <a:prstGeom prst="rect">
            <a:avLst/>
          </a:prstGeom>
          <a:noFill/>
          <a:ln/>
        </p:spPr>
        <p:txBody>
          <a:bodyPr wrap="square" lIns="0" tIns="0" rIns="0" bIns="0" rtlCol="0" anchor="t"/>
          <a:lstStyle/>
          <a:p>
            <a:pPr indent="0" marL="0">
              <a:buNone/>
            </a:pPr>
            <a:r>
              <a:rPr lang="en-US" sz="1100" b="1" spc="200" kern="0" dirty="0">
                <a:solidFill>
                  <a:srgbClr val="A78BFA"/>
                </a:solidFill>
              </a:rPr>
              <a:t>LAB  |  10 MINUTES</a:t>
            </a:r>
            <a:endParaRPr lang="en-US" sz="1100" dirty="0"/>
          </a:p>
        </p:txBody>
      </p:sp>
      <p:sp>
        <p:nvSpPr>
          <p:cNvPr id="3" name="Text 2"/>
          <p:cNvSpPr/>
          <p:nvPr>
            <p:ph idx="103" type="title" hasCustomPrompt="1"/>
          </p:nvPr>
        </p:nvSpPr>
        <p:spPr>
          <a:xfrm>
            <a:off x="457200" y="457200"/>
            <a:ext cx="8229600" cy="685800"/>
          </a:xfrm>
          <a:prstGeom prst="rect">
            <a:avLst/>
          </a:prstGeom>
          <a:noFill/>
          <a:ln/>
        </p:spPr>
        <p:txBody>
          <a:bodyPr wrap="square" lIns="0" tIns="0" rIns="0" bIns="0" rtlCol="0" anchor="ctr"/>
          <a:lstStyle/>
          <a:p>
            <a:pPr algn="l" indent="0" marL="0">
              <a:buNone/>
            </a:pPr>
            <a:r>
              <a:rPr lang="en-US" sz="3000" b="1" dirty="0">
                <a:solidFill>
                  <a:srgbClr val="FFFFFF"/>
                </a:solidFill>
              </a:rPr>
              <a:t>Lab: build a mini RAG by hand</a:t>
            </a:r>
            <a:endParaRPr lang="en-US" sz="3000" dirty="0"/>
          </a:p>
        </p:txBody>
      </p:sp>
      <p:sp>
        <p:nvSpPr>
          <p:cNvPr id="5" name="Text 2"/>
          <p:cNvSpPr txBox="1"/>
          <p:nvPr/>
        </p:nvSpPr>
        <p:spPr>
          <a:xfrm>
            <a:off x="6766560" y="256032"/>
            <a:ext cx="1920240" cy="237744"/>
          </a:xfrm>
          <a:prstGeom prst="roundRect">
            <a:avLst>
              <a:gd name="adj" fmla="val 38462"/>
            </a:avLst>
          </a:prstGeom>
          <a:solidFill>
            <a:srgbClr val="F2B134"/>
          </a:solidFill>
          <a:ln/>
        </p:spPr>
        <p:txBody>
          <a:bodyPr wrap="square" lIns="254" tIns="254" rIns="254" bIns="254" rtlCol="0" anchor="ctr"/>
          <a:lstStyle/>
          <a:p>
            <a:pPr algn="ctr" indent="0" marL="0">
              <a:buNone/>
            </a:pPr>
            <a:r>
              <a:rPr lang="en-US" sz="1100" b="1" dirty="0">
                <a:solidFill>
                  <a:srgbClr val="0B1F3A"/>
                </a:solidFill>
              </a:rPr>
              <a:t>USE ANY AI CHATBOT</a:t>
            </a:r>
            <a:endParaRPr lang="en-US" sz="1100" dirty="0"/>
          </a:p>
        </p:txBody>
      </p:sp>
      <p:sp>
        <p:nvSpPr>
          <p:cNvPr id="6" name="ck1_188"/>
          <p:cNvSpPr/>
          <p:nvPr/>
        </p:nvSpPr>
        <p:spPr>
          <a:xfrm>
            <a:off x="457200" y="1325880"/>
            <a:ext cx="5029200" cy="749808"/>
          </a:xfrm>
          <a:prstGeom prst="roundRect">
            <a:avLst>
              <a:gd name="adj" fmla="val 12195"/>
            </a:avLst>
          </a:prstGeom>
          <a:solidFill>
            <a:srgbClr val="14305A"/>
          </a:solidFill>
          <a:ln/>
        </p:spPr>
      </p:sp>
      <p:sp>
        <p:nvSpPr>
          <p:cNvPr id="7" name="ck1_189"/>
          <p:cNvSpPr txBox="1"/>
          <p:nvPr/>
        </p:nvSpPr>
        <p:spPr>
          <a:xfrm>
            <a:off x="594360" y="1453896"/>
            <a:ext cx="502920" cy="502920"/>
          </a:xfrm>
          <a:prstGeom prst="ellipse">
            <a:avLst/>
          </a:prstGeom>
          <a:solidFill>
            <a:srgbClr val="A78BFA"/>
          </a:solidFill>
          <a:ln/>
        </p:spPr>
        <p:txBody>
          <a:bodyPr wrap="square" lIns="0" tIns="0" rIns="0" bIns="0" rtlCol="0" anchor="ctr"/>
          <a:lstStyle/>
          <a:p>
            <a:pPr algn="ctr" indent="0" marL="0">
              <a:buNone/>
            </a:pPr>
            <a:r>
              <a:rPr lang="en-US" sz="1800" b="1" dirty="0">
                <a:solidFill>
                  <a:srgbClr val="0B1F3A"/>
                </a:solidFill>
              </a:rPr>
              <a:t>1</a:t>
            </a:r>
            <a:endParaRPr lang="en-US" sz="1800" dirty="0"/>
          </a:p>
        </p:txBody>
      </p:sp>
      <p:sp>
        <p:nvSpPr>
          <p:cNvPr id="8" name="ck1_190"/>
          <p:cNvSpPr txBox="1"/>
          <p:nvPr/>
        </p:nvSpPr>
        <p:spPr>
          <a:xfrm>
            <a:off x="1280160" y="1417320"/>
            <a:ext cx="4114800" cy="274320"/>
          </a:xfrm>
          <a:prstGeom prst="rect">
            <a:avLst/>
          </a:prstGeom>
          <a:noFill/>
          <a:ln/>
        </p:spPr>
        <p:txBody>
          <a:bodyPr wrap="square" lIns="0" tIns="0" rIns="0" bIns="0" rtlCol="0" anchor="t"/>
          <a:lstStyle/>
          <a:p>
            <a:pPr indent="0" marL="0">
              <a:buNone/>
            </a:pPr>
            <a:r>
              <a:rPr lang="en-US" sz="1600" b="1" dirty="0">
                <a:solidFill>
                  <a:srgbClr val="FFFFFF"/>
                </a:solidFill>
              </a:rPr>
              <a:t>Paste a short paragraph</a:t>
            </a:r>
            <a:endParaRPr lang="en-US" sz="1600" dirty="0"/>
          </a:p>
        </p:txBody>
      </p:sp>
      <p:sp>
        <p:nvSpPr>
          <p:cNvPr id="9" name="ck1_191"/>
          <p:cNvSpPr txBox="1"/>
          <p:nvPr/>
        </p:nvSpPr>
        <p:spPr>
          <a:xfrm>
            <a:off x="1280160" y="1719072"/>
            <a:ext cx="4114800" cy="320040"/>
          </a:xfrm>
          <a:prstGeom prst="rect">
            <a:avLst/>
          </a:prstGeom>
          <a:noFill/>
          <a:ln/>
        </p:spPr>
        <p:txBody>
          <a:bodyPr wrap="square" lIns="0" tIns="0" rIns="0" bIns="0" rtlCol="0" anchor="t"/>
          <a:lstStyle/>
          <a:p>
            <a:pPr indent="0" marL="0">
              <a:buNone/>
            </a:pPr>
            <a:r>
              <a:rPr lang="en-US" sz="1300" dirty="0">
                <a:solidFill>
                  <a:srgbClr val="B9C6DA"/>
                </a:solidFill>
              </a:rPr>
              <a:t>Your college rules, timetable or notes. No private data.</a:t>
            </a:r>
            <a:endParaRPr lang="en-US" sz="1300" dirty="0"/>
          </a:p>
        </p:txBody>
      </p:sp>
      <p:sp>
        <p:nvSpPr>
          <p:cNvPr id="10" name="ck2_192"/>
          <p:cNvSpPr/>
          <p:nvPr/>
        </p:nvSpPr>
        <p:spPr>
          <a:xfrm>
            <a:off x="457200" y="2194560"/>
            <a:ext cx="5029200" cy="749808"/>
          </a:xfrm>
          <a:prstGeom prst="roundRect">
            <a:avLst>
              <a:gd name="adj" fmla="val 12195"/>
            </a:avLst>
          </a:prstGeom>
          <a:solidFill>
            <a:srgbClr val="14305A"/>
          </a:solidFill>
          <a:ln/>
        </p:spPr>
      </p:sp>
      <p:sp>
        <p:nvSpPr>
          <p:cNvPr id="11" name="ck2_193"/>
          <p:cNvSpPr txBox="1"/>
          <p:nvPr/>
        </p:nvSpPr>
        <p:spPr>
          <a:xfrm>
            <a:off x="594360" y="2322576"/>
            <a:ext cx="502920" cy="502920"/>
          </a:xfrm>
          <a:prstGeom prst="ellipse">
            <a:avLst/>
          </a:prstGeom>
          <a:solidFill>
            <a:srgbClr val="A78BFA"/>
          </a:solidFill>
          <a:ln/>
        </p:spPr>
        <p:txBody>
          <a:bodyPr wrap="square" lIns="0" tIns="0" rIns="0" bIns="0" rtlCol="0" anchor="ctr"/>
          <a:lstStyle/>
          <a:p>
            <a:pPr algn="ctr" indent="0" marL="0">
              <a:buNone/>
            </a:pPr>
            <a:r>
              <a:rPr lang="en-US" sz="1800" b="1" dirty="0">
                <a:solidFill>
                  <a:srgbClr val="0B1F3A"/>
                </a:solidFill>
              </a:rPr>
              <a:t>2</a:t>
            </a:r>
            <a:endParaRPr lang="en-US" sz="1800" dirty="0"/>
          </a:p>
        </p:txBody>
      </p:sp>
      <p:sp>
        <p:nvSpPr>
          <p:cNvPr id="12" name="ck2_194"/>
          <p:cNvSpPr txBox="1"/>
          <p:nvPr/>
        </p:nvSpPr>
        <p:spPr>
          <a:xfrm>
            <a:off x="1280160" y="2286000"/>
            <a:ext cx="4114800" cy="274320"/>
          </a:xfrm>
          <a:prstGeom prst="rect">
            <a:avLst/>
          </a:prstGeom>
          <a:noFill/>
          <a:ln/>
        </p:spPr>
        <p:txBody>
          <a:bodyPr wrap="square" lIns="0" tIns="0" rIns="0" bIns="0" rtlCol="0" anchor="t"/>
          <a:lstStyle/>
          <a:p>
            <a:pPr indent="0" marL="0">
              <a:buNone/>
            </a:pPr>
            <a:r>
              <a:rPr lang="en-US" sz="1600" b="1" dirty="0">
                <a:solidFill>
                  <a:srgbClr val="FFFFFF"/>
                </a:solidFill>
              </a:rPr>
              <a:t>Give this instruction</a:t>
            </a:r>
            <a:endParaRPr lang="en-US" sz="1600" dirty="0"/>
          </a:p>
        </p:txBody>
      </p:sp>
      <p:sp>
        <p:nvSpPr>
          <p:cNvPr id="13" name="ck2_195"/>
          <p:cNvSpPr txBox="1"/>
          <p:nvPr/>
        </p:nvSpPr>
        <p:spPr>
          <a:xfrm>
            <a:off x="1280160" y="2587752"/>
            <a:ext cx="4114800" cy="320040"/>
          </a:xfrm>
          <a:prstGeom prst="rect">
            <a:avLst/>
          </a:prstGeom>
          <a:noFill/>
          <a:ln/>
        </p:spPr>
        <p:txBody>
          <a:bodyPr wrap="square" lIns="0" tIns="0" rIns="0" bIns="0" rtlCol="0" anchor="t"/>
          <a:lstStyle/>
          <a:p>
            <a:pPr indent="0" marL="0">
              <a:buNone/>
            </a:pPr>
            <a:r>
              <a:rPr lang="en-US" sz="1300" dirty="0">
                <a:solidFill>
                  <a:srgbClr val="B9C6DA"/>
                </a:solidFill>
              </a:rPr>
              <a:t>Answer ONLY from the text above.</a:t>
            </a:r>
            <a:endParaRPr lang="en-US" sz="1300" dirty="0"/>
          </a:p>
        </p:txBody>
      </p:sp>
      <p:sp>
        <p:nvSpPr>
          <p:cNvPr id="14" name="ck3_196"/>
          <p:cNvSpPr/>
          <p:nvPr/>
        </p:nvSpPr>
        <p:spPr>
          <a:xfrm>
            <a:off x="457200" y="3063240"/>
            <a:ext cx="5029200" cy="749808"/>
          </a:xfrm>
          <a:prstGeom prst="roundRect">
            <a:avLst>
              <a:gd name="adj" fmla="val 12195"/>
            </a:avLst>
          </a:prstGeom>
          <a:solidFill>
            <a:srgbClr val="14305A"/>
          </a:solidFill>
          <a:ln/>
        </p:spPr>
      </p:sp>
      <p:sp>
        <p:nvSpPr>
          <p:cNvPr id="15" name="ck3_197"/>
          <p:cNvSpPr txBox="1"/>
          <p:nvPr/>
        </p:nvSpPr>
        <p:spPr>
          <a:xfrm>
            <a:off x="594360" y="3191256"/>
            <a:ext cx="502920" cy="502920"/>
          </a:xfrm>
          <a:prstGeom prst="ellipse">
            <a:avLst/>
          </a:prstGeom>
          <a:solidFill>
            <a:srgbClr val="A78BFA"/>
          </a:solidFill>
          <a:ln/>
        </p:spPr>
        <p:txBody>
          <a:bodyPr wrap="square" lIns="0" tIns="0" rIns="0" bIns="0" rtlCol="0" anchor="ctr"/>
          <a:lstStyle/>
          <a:p>
            <a:pPr algn="ctr" indent="0" marL="0">
              <a:buNone/>
            </a:pPr>
            <a:r>
              <a:rPr lang="en-US" sz="1800" b="1" dirty="0">
                <a:solidFill>
                  <a:srgbClr val="0B1F3A"/>
                </a:solidFill>
              </a:rPr>
              <a:t>3</a:t>
            </a:r>
            <a:endParaRPr lang="en-US" sz="1800" dirty="0"/>
          </a:p>
        </p:txBody>
      </p:sp>
      <p:sp>
        <p:nvSpPr>
          <p:cNvPr id="16" name="ck3_198"/>
          <p:cNvSpPr txBox="1"/>
          <p:nvPr/>
        </p:nvSpPr>
        <p:spPr>
          <a:xfrm>
            <a:off x="1280160" y="3154680"/>
            <a:ext cx="4114800" cy="274320"/>
          </a:xfrm>
          <a:prstGeom prst="rect">
            <a:avLst/>
          </a:prstGeom>
          <a:noFill/>
          <a:ln/>
        </p:spPr>
        <p:txBody>
          <a:bodyPr wrap="square" lIns="0" tIns="0" rIns="0" bIns="0" rtlCol="0" anchor="t"/>
          <a:lstStyle/>
          <a:p>
            <a:pPr indent="0" marL="0">
              <a:buNone/>
            </a:pPr>
            <a:r>
              <a:rPr lang="en-US" sz="1600" b="1" dirty="0">
                <a:solidFill>
                  <a:srgbClr val="FFFFFF"/>
                </a:solidFill>
              </a:rPr>
              <a:t>Ask two questions</a:t>
            </a:r>
            <a:endParaRPr lang="en-US" sz="1600" dirty="0"/>
          </a:p>
        </p:txBody>
      </p:sp>
      <p:sp>
        <p:nvSpPr>
          <p:cNvPr id="17" name="ck3_199"/>
          <p:cNvSpPr txBox="1"/>
          <p:nvPr/>
        </p:nvSpPr>
        <p:spPr>
          <a:xfrm>
            <a:off x="1280160" y="3456432"/>
            <a:ext cx="4114800" cy="320040"/>
          </a:xfrm>
          <a:prstGeom prst="rect">
            <a:avLst/>
          </a:prstGeom>
          <a:noFill/>
          <a:ln/>
        </p:spPr>
        <p:txBody>
          <a:bodyPr wrap="square" lIns="0" tIns="0" rIns="0" bIns="0" rtlCol="0" anchor="t"/>
          <a:lstStyle/>
          <a:p>
            <a:pPr indent="0" marL="0">
              <a:buNone/>
            </a:pPr>
            <a:r>
              <a:rPr lang="en-US" sz="1300" dirty="0">
                <a:solidFill>
                  <a:srgbClr val="B9C6DA"/>
                </a:solidFill>
              </a:rPr>
              <a:t>One that IS in the text. One that is NOT.</a:t>
            </a:r>
            <a:endParaRPr lang="en-US" sz="1300" dirty="0"/>
          </a:p>
        </p:txBody>
      </p:sp>
      <p:sp>
        <p:nvSpPr>
          <p:cNvPr id="18" name="Shape 15"/>
          <p:cNvSpPr/>
          <p:nvPr/>
        </p:nvSpPr>
        <p:spPr>
          <a:xfrm>
            <a:off x="5715000" y="1325880"/>
            <a:ext cx="2971800" cy="1645920"/>
          </a:xfrm>
          <a:prstGeom prst="roundRect">
            <a:avLst>
              <a:gd name="adj" fmla="val 4444"/>
            </a:avLst>
          </a:prstGeom>
          <a:solidFill>
            <a:srgbClr val="061426"/>
          </a:solidFill>
          <a:ln w="12700">
            <a:solidFill>
              <a:srgbClr val="A78BFA"/>
            </a:solidFill>
            <a:prstDash val="solid"/>
          </a:ln>
        </p:spPr>
      </p:sp>
      <p:sp>
        <p:nvSpPr>
          <p:cNvPr id="19" name="Text 16"/>
          <p:cNvSpPr txBox="1"/>
          <p:nvPr/>
        </p:nvSpPr>
        <p:spPr>
          <a:xfrm>
            <a:off x="5897880" y="1463040"/>
            <a:ext cx="2606040" cy="1371600"/>
          </a:xfrm>
          <a:prstGeom prst="rect">
            <a:avLst/>
          </a:prstGeom>
          <a:noFill/>
          <a:ln/>
        </p:spPr>
        <p:txBody>
          <a:bodyPr wrap="square" lIns="0" tIns="0" rIns="0" bIns="0" rtlCol="0" anchor="t"/>
          <a:lstStyle/>
          <a:p>
            <a:pPr indent="0" marL="0">
              <a:buNone/>
            </a:pPr>
            <a:r>
              <a:rPr lang="en-US" sz="1300" dirty="0">
                <a:solidFill>
                  <a:srgbClr val="FFFFFF"/>
                </a:solidFill>
                <a:latin typeface="Consolas" pitchFamily="34" charset="0"/>
                <a:ea typeface="Consolas" pitchFamily="34" charset="-122"/>
                <a:cs typeface="Consolas" pitchFamily="34" charset="-120"/>
              </a:rPr>
              <a:t>Answer ONLY from</a:t>
            </a:r>
            <a:endParaRPr lang="en-US" sz="1300" dirty="0"/>
          </a:p>
          <a:p>
            <a:pPr indent="0" marL="0">
              <a:buNone/>
            </a:pPr>
            <a:r>
              <a:rPr lang="en-US" sz="1300" dirty="0">
                <a:solidFill>
                  <a:srgbClr val="FFFFFF"/>
                </a:solidFill>
                <a:latin typeface="Consolas" pitchFamily="34" charset="0"/>
                <a:ea typeface="Consolas" pitchFamily="34" charset="-122"/>
                <a:cs typeface="Consolas" pitchFamily="34" charset="-120"/>
              </a:rPr>
              <a:t>the text above.</a:t>
            </a:r>
            <a:endParaRPr lang="en-US" sz="1300" dirty="0"/>
          </a:p>
          <a:p>
            <a:pPr indent="0" marL="0">
              <a:buNone/>
            </a:pPr>
            <a:r>
              <a:rPr lang="en-US" sz="1300" dirty="0">
                <a:solidFill>
                  <a:srgbClr val="FFFFFF"/>
                </a:solidFill>
                <a:latin typeface="Consolas" pitchFamily="34" charset="0"/>
                <a:ea typeface="Consolas" pitchFamily="34" charset="-122"/>
                <a:cs typeface="Consolas" pitchFamily="34" charset="-120"/>
              </a:rPr>
              <a:t>If it is not there,</a:t>
            </a:r>
            <a:endParaRPr lang="en-US" sz="1300" dirty="0"/>
          </a:p>
          <a:p>
            <a:pPr indent="0" marL="0">
              <a:buNone/>
            </a:pPr>
            <a:r>
              <a:rPr lang="en-US" sz="1300" dirty="0">
                <a:solidFill>
                  <a:srgbClr val="FFFFFF"/>
                </a:solidFill>
                <a:latin typeface="Consolas" pitchFamily="34" charset="0"/>
                <a:ea typeface="Consolas" pitchFamily="34" charset="-122"/>
                <a:cs typeface="Consolas" pitchFamily="34" charset="-120"/>
              </a:rPr>
              <a:t>say "not in the</a:t>
            </a:r>
            <a:endParaRPr lang="en-US" sz="1300" dirty="0"/>
          </a:p>
          <a:p>
            <a:pPr indent="0" marL="0">
              <a:buNone/>
            </a:pPr>
            <a:r>
              <a:rPr lang="en-US" sz="1300" dirty="0">
                <a:solidFill>
                  <a:srgbClr val="FFFFFF"/>
                </a:solidFill>
                <a:latin typeface="Consolas" pitchFamily="34" charset="0"/>
                <a:ea typeface="Consolas" pitchFamily="34" charset="-122"/>
                <a:cs typeface="Consolas" pitchFamily="34" charset="-120"/>
              </a:rPr>
              <a:t>document".</a:t>
            </a:r>
            <a:endParaRPr lang="en-US" sz="1300" dirty="0"/>
          </a:p>
        </p:txBody>
      </p:sp>
      <p:sp>
        <p:nvSpPr>
          <p:cNvPr id="20" name="Text 17"/>
          <p:cNvSpPr txBox="1"/>
          <p:nvPr/>
        </p:nvSpPr>
        <p:spPr>
          <a:xfrm>
            <a:off x="5715000" y="3017520"/>
            <a:ext cx="2971800" cy="182880"/>
          </a:xfrm>
          <a:prstGeom prst="rect">
            <a:avLst/>
          </a:prstGeom>
          <a:noFill/>
          <a:ln/>
        </p:spPr>
        <p:txBody>
          <a:bodyPr wrap="square" lIns="0" tIns="0" rIns="0" bIns="0" rtlCol="0" anchor="t"/>
          <a:lstStyle/>
          <a:p>
            <a:pPr indent="0" marL="0">
              <a:buNone/>
            </a:pPr>
            <a:r>
              <a:rPr lang="en-US" sz="1000" b="1" spc="200" kern="0" dirty="0">
                <a:solidFill>
                  <a:srgbClr val="B9C6DA"/>
                </a:solidFill>
              </a:rPr>
              <a:t>COPY THIS INSTRUCTION</a:t>
            </a:r>
            <a:endParaRPr lang="en-US" sz="1000" dirty="0"/>
          </a:p>
        </p:txBody>
      </p:sp>
      <p:sp>
        <p:nvSpPr>
          <p:cNvPr id="21" name="ck4_200"/>
          <p:cNvSpPr txBox="1"/>
          <p:nvPr/>
        </p:nvSpPr>
        <p:spPr>
          <a:xfrm>
            <a:off x="457200" y="3977640"/>
            <a:ext cx="8229600" cy="548640"/>
          </a:xfrm>
          <a:prstGeom prst="roundRect">
            <a:avLst>
              <a:gd name="adj" fmla="val 16667"/>
            </a:avLst>
          </a:prstGeom>
          <a:solidFill>
            <a:srgbClr val="F2B134"/>
          </a:solidFill>
          <a:ln/>
        </p:spPr>
        <p:txBody>
          <a:bodyPr wrap="square" lIns="762" tIns="762" rIns="762" bIns="762" rtlCol="0" anchor="ctr"/>
          <a:lstStyle/>
          <a:p>
            <a:pPr algn="ctr" indent="0" marL="0">
              <a:buNone/>
            </a:pPr>
            <a:r>
              <a:rPr lang="en-US" sz="1800" b="1" dirty="0">
                <a:solidFill>
                  <a:srgbClr val="0B1F3A"/>
                </a:solidFill>
              </a:rPr>
              <a:t>You just built RAG by hand. The document is the open book.</a:t>
            </a:r>
            <a:endParaRPr lang="en-US" sz="1800" dirty="0"/>
          </a:p>
        </p:txBody>
      </p:sp>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B9C6DA"/>
                </a:solidFill>
              </a:defRPr>
            </a:lvl1pPr>
          </a:lstStyle>
          <a:p>
            <a:pPr algn="r"/>
            <a:fld id="{F7021451-1387-4CA6-816F-3879F97B5CBC}" type="slidenum">
              <a:rPr b="0" lang="en-US"/>
              <a:t>17</a:t>
            </a:fld>
            <a:endParaRPr lang="en-US"/>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500"/>
                                        <p:tgtEl>
                                          <p:spTgt spid="1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50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500"/>
                                        <p:tgtEl>
                                          <p:spTgt spid="17"/>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2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57200" y="256032"/>
            <a:ext cx="6400800" cy="201168"/>
          </a:xfrm>
          <a:prstGeom prst="rect">
            <a:avLst/>
          </a:prstGeom>
          <a:noFill/>
          <a:ln/>
        </p:spPr>
        <p:txBody>
          <a:bodyPr wrap="square" lIns="0" tIns="0" rIns="0" bIns="0" rtlCol="0" anchor="t"/>
          <a:lstStyle/>
          <a:p>
            <a:pPr indent="0" marL="0">
              <a:buNone/>
            </a:pPr>
            <a:r>
              <a:rPr lang="en-US" sz="1100" b="1" spc="200" kern="0" dirty="0">
                <a:solidFill>
                  <a:srgbClr val="A78BFA"/>
                </a:solidFill>
              </a:rPr>
              <a:t>4  SMARTER AI</a:t>
            </a:r>
            <a:endParaRPr lang="en-US" sz="1100" dirty="0"/>
          </a:p>
        </p:txBody>
      </p:sp>
      <p:sp>
        <p:nvSpPr>
          <p:cNvPr id="3" name="Text 2"/>
          <p:cNvSpPr/>
          <p:nvPr>
            <p:ph idx="103" type="title" hasCustomPrompt="1"/>
          </p:nvPr>
        </p:nvSpPr>
        <p:spPr>
          <a:xfrm>
            <a:off x="457200" y="457200"/>
            <a:ext cx="8229600" cy="685800"/>
          </a:xfrm>
          <a:prstGeom prst="rect">
            <a:avLst/>
          </a:prstGeom>
          <a:noFill/>
          <a:ln/>
        </p:spPr>
        <p:txBody>
          <a:bodyPr wrap="square" lIns="0" tIns="0" rIns="0" bIns="0" rtlCol="0" anchor="ctr"/>
          <a:lstStyle/>
          <a:p>
            <a:pPr algn="l" indent="0" marL="0">
              <a:buNone/>
            </a:pPr>
            <a:r>
              <a:rPr lang="en-US" sz="3000" b="1" dirty="0">
                <a:solidFill>
                  <a:srgbClr val="FFFFFF"/>
                </a:solidFill>
              </a:rPr>
              <a:t>AI agent: AI that does the task</a:t>
            </a:r>
            <a:endParaRPr lang="en-US" sz="3000" dirty="0"/>
          </a:p>
        </p:txBody>
      </p:sp>
      <p:sp>
        <p:nvSpPr>
          <p:cNvPr id="5" name="ck1_201"/>
          <p:cNvSpPr txBox="1"/>
          <p:nvPr/>
        </p:nvSpPr>
        <p:spPr>
          <a:xfrm>
            <a:off x="457200" y="1371600"/>
            <a:ext cx="1417320" cy="685800"/>
          </a:xfrm>
          <a:prstGeom prst="roundRect">
            <a:avLst>
              <a:gd name="adj" fmla="val 13333"/>
            </a:avLst>
          </a:prstGeom>
          <a:solidFill>
            <a:srgbClr val="A78BFA"/>
          </a:solidFill>
          <a:ln/>
        </p:spPr>
        <p:txBody>
          <a:bodyPr wrap="square" lIns="762" tIns="762" rIns="762" bIns="762" rtlCol="0" anchor="ctr"/>
          <a:lstStyle/>
          <a:p>
            <a:pPr algn="ctr" indent="0" marL="0">
              <a:buNone/>
            </a:pPr>
            <a:r>
              <a:rPr lang="en-US" sz="1600" b="1" dirty="0">
                <a:solidFill>
                  <a:srgbClr val="0B1F3A"/>
                </a:solidFill>
              </a:rPr>
              <a:t>Goal</a:t>
            </a:r>
            <a:endParaRPr lang="en-US" sz="1600" dirty="0"/>
          </a:p>
        </p:txBody>
      </p:sp>
      <p:sp>
        <p:nvSpPr>
          <p:cNvPr id="6" name="ck2_202"/>
          <p:cNvSpPr/>
          <p:nvPr/>
        </p:nvSpPr>
        <p:spPr>
          <a:xfrm>
            <a:off x="1892808" y="1691640"/>
            <a:ext cx="237744" cy="0"/>
          </a:xfrm>
          <a:prstGeom prst="line">
            <a:avLst/>
          </a:prstGeom>
          <a:noFill/>
          <a:ln w="25400">
            <a:solidFill>
              <a:srgbClr val="B9C6DA"/>
            </a:solidFill>
            <a:prstDash val="solid"/>
            <a:tailEnd type="triangle"/>
          </a:ln>
        </p:spPr>
      </p:sp>
      <p:sp>
        <p:nvSpPr>
          <p:cNvPr id="7" name="ck2_203"/>
          <p:cNvSpPr txBox="1"/>
          <p:nvPr/>
        </p:nvSpPr>
        <p:spPr>
          <a:xfrm>
            <a:off x="2148840" y="1371600"/>
            <a:ext cx="1417320" cy="685800"/>
          </a:xfrm>
          <a:prstGeom prst="roundRect">
            <a:avLst>
              <a:gd name="adj" fmla="val 13333"/>
            </a:avLst>
          </a:prstGeom>
          <a:solidFill>
            <a:srgbClr val="A78BFA"/>
          </a:solidFill>
          <a:ln/>
        </p:spPr>
        <p:txBody>
          <a:bodyPr wrap="square" lIns="762" tIns="762" rIns="762" bIns="762" rtlCol="0" anchor="ctr"/>
          <a:lstStyle/>
          <a:p>
            <a:pPr algn="ctr" indent="0" marL="0">
              <a:buNone/>
            </a:pPr>
            <a:r>
              <a:rPr lang="en-US" sz="1600" b="1" dirty="0">
                <a:solidFill>
                  <a:srgbClr val="0B1F3A"/>
                </a:solidFill>
              </a:rPr>
              <a:t>Plan</a:t>
            </a:r>
            <a:endParaRPr lang="en-US" sz="1600" dirty="0"/>
          </a:p>
        </p:txBody>
      </p:sp>
      <p:sp>
        <p:nvSpPr>
          <p:cNvPr id="8" name="ck3_204"/>
          <p:cNvSpPr/>
          <p:nvPr/>
        </p:nvSpPr>
        <p:spPr>
          <a:xfrm>
            <a:off x="3584448" y="1691640"/>
            <a:ext cx="237744" cy="0"/>
          </a:xfrm>
          <a:prstGeom prst="line">
            <a:avLst/>
          </a:prstGeom>
          <a:noFill/>
          <a:ln w="25400">
            <a:solidFill>
              <a:srgbClr val="B9C6DA"/>
            </a:solidFill>
            <a:prstDash val="solid"/>
            <a:tailEnd type="triangle"/>
          </a:ln>
        </p:spPr>
      </p:sp>
      <p:sp>
        <p:nvSpPr>
          <p:cNvPr id="9" name="ck3_205"/>
          <p:cNvSpPr txBox="1"/>
          <p:nvPr/>
        </p:nvSpPr>
        <p:spPr>
          <a:xfrm>
            <a:off x="3840480" y="1371600"/>
            <a:ext cx="1417320" cy="685800"/>
          </a:xfrm>
          <a:prstGeom prst="roundRect">
            <a:avLst>
              <a:gd name="adj" fmla="val 13333"/>
            </a:avLst>
          </a:prstGeom>
          <a:solidFill>
            <a:srgbClr val="A78BFA"/>
          </a:solidFill>
          <a:ln/>
        </p:spPr>
        <p:txBody>
          <a:bodyPr wrap="square" lIns="762" tIns="762" rIns="762" bIns="762" rtlCol="0" anchor="ctr"/>
          <a:lstStyle/>
          <a:p>
            <a:pPr algn="ctr" indent="0" marL="0">
              <a:buNone/>
            </a:pPr>
            <a:r>
              <a:rPr lang="en-US" sz="1600" b="1" dirty="0">
                <a:solidFill>
                  <a:srgbClr val="0B1F3A"/>
                </a:solidFill>
              </a:rPr>
              <a:t>Use tools</a:t>
            </a:r>
            <a:endParaRPr lang="en-US" sz="1600" dirty="0"/>
          </a:p>
        </p:txBody>
      </p:sp>
      <p:sp>
        <p:nvSpPr>
          <p:cNvPr id="10" name="ck4_206"/>
          <p:cNvSpPr/>
          <p:nvPr/>
        </p:nvSpPr>
        <p:spPr>
          <a:xfrm>
            <a:off x="5276088" y="1691640"/>
            <a:ext cx="237744" cy="0"/>
          </a:xfrm>
          <a:prstGeom prst="line">
            <a:avLst/>
          </a:prstGeom>
          <a:noFill/>
          <a:ln w="25400">
            <a:solidFill>
              <a:srgbClr val="B9C6DA"/>
            </a:solidFill>
            <a:prstDash val="solid"/>
            <a:tailEnd type="triangle"/>
          </a:ln>
        </p:spPr>
      </p:sp>
      <p:sp>
        <p:nvSpPr>
          <p:cNvPr id="11" name="ck4_207"/>
          <p:cNvSpPr txBox="1"/>
          <p:nvPr/>
        </p:nvSpPr>
        <p:spPr>
          <a:xfrm>
            <a:off x="5532120" y="1371600"/>
            <a:ext cx="1417320" cy="685800"/>
          </a:xfrm>
          <a:prstGeom prst="roundRect">
            <a:avLst>
              <a:gd name="adj" fmla="val 13333"/>
            </a:avLst>
          </a:prstGeom>
          <a:solidFill>
            <a:srgbClr val="A78BFA"/>
          </a:solidFill>
          <a:ln/>
        </p:spPr>
        <p:txBody>
          <a:bodyPr wrap="square" lIns="762" tIns="762" rIns="762" bIns="762" rtlCol="0" anchor="ctr"/>
          <a:lstStyle/>
          <a:p>
            <a:pPr algn="ctr" indent="0" marL="0">
              <a:buNone/>
            </a:pPr>
            <a:r>
              <a:rPr lang="en-US" sz="1600" b="1" dirty="0">
                <a:solidFill>
                  <a:srgbClr val="0B1F3A"/>
                </a:solidFill>
              </a:rPr>
              <a:t>Check</a:t>
            </a:r>
            <a:endParaRPr lang="en-US" sz="1600" dirty="0"/>
          </a:p>
        </p:txBody>
      </p:sp>
      <p:sp>
        <p:nvSpPr>
          <p:cNvPr id="12" name="ck5_208"/>
          <p:cNvSpPr/>
          <p:nvPr/>
        </p:nvSpPr>
        <p:spPr>
          <a:xfrm>
            <a:off x="6967728" y="1691640"/>
            <a:ext cx="237744" cy="0"/>
          </a:xfrm>
          <a:prstGeom prst="line">
            <a:avLst/>
          </a:prstGeom>
          <a:noFill/>
          <a:ln w="25400">
            <a:solidFill>
              <a:srgbClr val="B9C6DA"/>
            </a:solidFill>
            <a:prstDash val="solid"/>
            <a:tailEnd type="triangle"/>
          </a:ln>
        </p:spPr>
      </p:sp>
      <p:sp>
        <p:nvSpPr>
          <p:cNvPr id="13" name="ck5_209"/>
          <p:cNvSpPr txBox="1"/>
          <p:nvPr/>
        </p:nvSpPr>
        <p:spPr>
          <a:xfrm>
            <a:off x="7223760" y="1371600"/>
            <a:ext cx="1417320" cy="685800"/>
          </a:xfrm>
          <a:prstGeom prst="roundRect">
            <a:avLst>
              <a:gd name="adj" fmla="val 13333"/>
            </a:avLst>
          </a:prstGeom>
          <a:solidFill>
            <a:srgbClr val="F2B134"/>
          </a:solidFill>
          <a:ln/>
        </p:spPr>
        <p:txBody>
          <a:bodyPr wrap="square" lIns="762" tIns="762" rIns="762" bIns="762" rtlCol="0" anchor="ctr"/>
          <a:lstStyle/>
          <a:p>
            <a:pPr algn="ctr" indent="0" marL="0">
              <a:buNone/>
            </a:pPr>
            <a:r>
              <a:rPr lang="en-US" sz="1600" b="1" dirty="0">
                <a:solidFill>
                  <a:srgbClr val="0B1F3A"/>
                </a:solidFill>
              </a:rPr>
              <a:t>Done</a:t>
            </a:r>
            <a:endParaRPr lang="en-US" sz="1600" dirty="0"/>
          </a:p>
        </p:txBody>
      </p:sp>
      <p:sp>
        <p:nvSpPr>
          <p:cNvPr id="14" name="Text 11"/>
          <p:cNvSpPr txBox="1"/>
          <p:nvPr/>
        </p:nvSpPr>
        <p:spPr>
          <a:xfrm>
            <a:off x="457200" y="2121408"/>
            <a:ext cx="8229600" cy="256032"/>
          </a:xfrm>
          <a:prstGeom prst="rect">
            <a:avLst/>
          </a:prstGeom>
          <a:noFill/>
          <a:ln/>
        </p:spPr>
        <p:txBody>
          <a:bodyPr wrap="square" lIns="0" tIns="0" rIns="0" bIns="0" rtlCol="0" anchor="t"/>
          <a:lstStyle/>
          <a:p>
            <a:pPr algn="ctr" indent="0" marL="0">
              <a:buNone/>
            </a:pPr>
            <a:r>
              <a:rPr lang="en-US" sz="1300" i="1" dirty="0">
                <a:solidFill>
                  <a:srgbClr val="B9C6DA"/>
                </a:solidFill>
              </a:rPr>
              <a:t>Not right? It adjusts and tries again.</a:t>
            </a:r>
            <a:endParaRPr lang="en-US" sz="1300" dirty="0"/>
          </a:p>
        </p:txBody>
      </p:sp>
      <p:sp>
        <p:nvSpPr>
          <p:cNvPr id="15" name="ck6_210"/>
          <p:cNvSpPr/>
          <p:nvPr/>
        </p:nvSpPr>
        <p:spPr>
          <a:xfrm>
            <a:off x="457200" y="2560320"/>
            <a:ext cx="8229600" cy="868680"/>
          </a:xfrm>
          <a:prstGeom prst="roundRect">
            <a:avLst>
              <a:gd name="adj" fmla="val 10526"/>
            </a:avLst>
          </a:prstGeom>
          <a:solidFill>
            <a:srgbClr val="14305A"/>
          </a:solidFill>
          <a:ln/>
        </p:spPr>
      </p:sp>
      <p:sp>
        <p:nvSpPr>
          <p:cNvPr id="16" name="ck6_211"/>
          <p:cNvSpPr txBox="1"/>
          <p:nvPr/>
        </p:nvSpPr>
        <p:spPr>
          <a:xfrm>
            <a:off x="640080" y="2633472"/>
            <a:ext cx="1097280" cy="182880"/>
          </a:xfrm>
          <a:prstGeom prst="rect">
            <a:avLst/>
          </a:prstGeom>
          <a:noFill/>
          <a:ln/>
        </p:spPr>
        <p:txBody>
          <a:bodyPr wrap="square" lIns="0" tIns="0" rIns="0" bIns="0" rtlCol="0" anchor="t"/>
          <a:lstStyle/>
          <a:p>
            <a:pPr indent="0" marL="0">
              <a:buNone/>
            </a:pPr>
            <a:r>
              <a:rPr lang="en-US" sz="1000" b="1" spc="200" kern="0" dirty="0">
                <a:solidFill>
                  <a:srgbClr val="F2B134"/>
                </a:solidFill>
              </a:rPr>
              <a:t>TOOLS</a:t>
            </a:r>
            <a:endParaRPr lang="en-US" sz="1000" dirty="0"/>
          </a:p>
        </p:txBody>
      </p:sp>
      <p:sp>
        <p:nvSpPr>
          <p:cNvPr id="17" name="ck6_212"/>
          <p:cNvSpPr/>
          <p:nvPr/>
        </p:nvSpPr>
        <p:spPr>
          <a:xfrm>
            <a:off x="685800" y="2852928"/>
            <a:ext cx="411480" cy="411480"/>
          </a:xfrm>
          <a:prstGeom prst="ellipse">
            <a:avLst/>
          </a:prstGeom>
          <a:solidFill>
            <a:srgbClr val="A78BFA"/>
          </a:solidFill>
          <a:ln/>
        </p:spPr>
      </p:sp>
      <p:pic>
        <p:nvPicPr>
          <p:cNvPr id="18" name="ck6_213" descr="preencoded.png">    </p:cNvPr>
          <p:cNvPicPr>
            <a:picLocks noChangeAspect="1"/>
          </p:cNvPicPr>
          <p:nvPr/>
        </p:nvPicPr>
        <p:blipFill>
          <a:blip r:embed="rId1"/>
          <a:stretch>
            <a:fillRect/>
          </a:stretch>
        </p:blipFill>
        <p:spPr>
          <a:xfrm>
            <a:off x="784555" y="2951683"/>
            <a:ext cx="213970" cy="213970"/>
          </a:xfrm>
          <a:prstGeom prst="rect">
            <a:avLst/>
          </a:prstGeom>
        </p:spPr>
      </p:pic>
      <p:sp>
        <p:nvSpPr>
          <p:cNvPr id="19" name="ck6_214"/>
          <p:cNvSpPr txBox="1"/>
          <p:nvPr/>
        </p:nvSpPr>
        <p:spPr>
          <a:xfrm>
            <a:off x="1188720" y="2852928"/>
            <a:ext cx="1371600" cy="411480"/>
          </a:xfrm>
          <a:prstGeom prst="rect">
            <a:avLst/>
          </a:prstGeom>
          <a:noFill/>
          <a:ln/>
        </p:spPr>
        <p:txBody>
          <a:bodyPr wrap="square" lIns="0" tIns="0" rIns="0" bIns="0" rtlCol="0" anchor="ctr"/>
          <a:lstStyle/>
          <a:p>
            <a:pPr indent="0" marL="0">
              <a:buNone/>
            </a:pPr>
            <a:r>
              <a:rPr lang="en-US" sz="1400" b="1" dirty="0">
                <a:solidFill>
                  <a:srgbClr val="FFFFFF"/>
                </a:solidFill>
              </a:rPr>
              <a:t>Web search</a:t>
            </a:r>
            <a:endParaRPr lang="en-US" sz="1400" dirty="0"/>
          </a:p>
        </p:txBody>
      </p:sp>
      <p:sp>
        <p:nvSpPr>
          <p:cNvPr id="20" name="ck6_215"/>
          <p:cNvSpPr/>
          <p:nvPr/>
        </p:nvSpPr>
        <p:spPr>
          <a:xfrm>
            <a:off x="2697480" y="2852928"/>
            <a:ext cx="411480" cy="411480"/>
          </a:xfrm>
          <a:prstGeom prst="ellipse">
            <a:avLst/>
          </a:prstGeom>
          <a:solidFill>
            <a:srgbClr val="A78BFA"/>
          </a:solidFill>
          <a:ln/>
        </p:spPr>
      </p:sp>
      <p:pic>
        <p:nvPicPr>
          <p:cNvPr id="21" name="ck6_216" descr="preencoded.png">    </p:cNvPr>
          <p:cNvPicPr>
            <a:picLocks noChangeAspect="1"/>
          </p:cNvPicPr>
          <p:nvPr/>
        </p:nvPicPr>
        <p:blipFill>
          <a:blip r:embed="rId2"/>
          <a:stretch>
            <a:fillRect/>
          </a:stretch>
        </p:blipFill>
        <p:spPr>
          <a:xfrm>
            <a:off x="2796235" y="2951683"/>
            <a:ext cx="213970" cy="213970"/>
          </a:xfrm>
          <a:prstGeom prst="rect">
            <a:avLst/>
          </a:prstGeom>
        </p:spPr>
      </p:pic>
      <p:sp>
        <p:nvSpPr>
          <p:cNvPr id="22" name="ck6_217"/>
          <p:cNvSpPr txBox="1"/>
          <p:nvPr/>
        </p:nvSpPr>
        <p:spPr>
          <a:xfrm>
            <a:off x="3200400" y="2852928"/>
            <a:ext cx="1371600" cy="411480"/>
          </a:xfrm>
          <a:prstGeom prst="rect">
            <a:avLst/>
          </a:prstGeom>
          <a:noFill/>
          <a:ln/>
        </p:spPr>
        <p:txBody>
          <a:bodyPr wrap="square" lIns="0" tIns="0" rIns="0" bIns="0" rtlCol="0" anchor="ctr"/>
          <a:lstStyle/>
          <a:p>
            <a:pPr indent="0" marL="0">
              <a:buNone/>
            </a:pPr>
            <a:r>
              <a:rPr lang="en-US" sz="1400" b="1" dirty="0">
                <a:solidFill>
                  <a:srgbClr val="FFFFFF"/>
                </a:solidFill>
              </a:rPr>
              <a:t>Calculator</a:t>
            </a:r>
            <a:endParaRPr lang="en-US" sz="1400" dirty="0"/>
          </a:p>
        </p:txBody>
      </p:sp>
      <p:sp>
        <p:nvSpPr>
          <p:cNvPr id="23" name="ck6_218"/>
          <p:cNvSpPr/>
          <p:nvPr/>
        </p:nvSpPr>
        <p:spPr>
          <a:xfrm>
            <a:off x="4709160" y="2852928"/>
            <a:ext cx="411480" cy="411480"/>
          </a:xfrm>
          <a:prstGeom prst="ellipse">
            <a:avLst/>
          </a:prstGeom>
          <a:solidFill>
            <a:srgbClr val="A78BFA"/>
          </a:solidFill>
          <a:ln/>
        </p:spPr>
      </p:sp>
      <p:pic>
        <p:nvPicPr>
          <p:cNvPr id="24" name="ck6_219" descr="preencoded.png">    </p:cNvPr>
          <p:cNvPicPr>
            <a:picLocks noChangeAspect="1"/>
          </p:cNvPicPr>
          <p:nvPr/>
        </p:nvPicPr>
        <p:blipFill>
          <a:blip r:embed="rId3"/>
          <a:stretch>
            <a:fillRect/>
          </a:stretch>
        </p:blipFill>
        <p:spPr>
          <a:xfrm>
            <a:off x="4807915" y="2951683"/>
            <a:ext cx="213970" cy="213970"/>
          </a:xfrm>
          <a:prstGeom prst="rect">
            <a:avLst/>
          </a:prstGeom>
        </p:spPr>
      </p:pic>
      <p:sp>
        <p:nvSpPr>
          <p:cNvPr id="25" name="ck6_220"/>
          <p:cNvSpPr txBox="1"/>
          <p:nvPr/>
        </p:nvSpPr>
        <p:spPr>
          <a:xfrm>
            <a:off x="5212080" y="2852928"/>
            <a:ext cx="1371600" cy="411480"/>
          </a:xfrm>
          <a:prstGeom prst="rect">
            <a:avLst/>
          </a:prstGeom>
          <a:noFill/>
          <a:ln/>
        </p:spPr>
        <p:txBody>
          <a:bodyPr wrap="square" lIns="0" tIns="0" rIns="0" bIns="0" rtlCol="0" anchor="ctr"/>
          <a:lstStyle/>
          <a:p>
            <a:pPr indent="0" marL="0">
              <a:buNone/>
            </a:pPr>
            <a:r>
              <a:rPr lang="en-US" sz="1400" b="1" dirty="0">
                <a:solidFill>
                  <a:srgbClr val="FFFFFF"/>
                </a:solidFill>
              </a:rPr>
              <a:t>Email</a:t>
            </a:r>
            <a:endParaRPr lang="en-US" sz="1400" dirty="0"/>
          </a:p>
        </p:txBody>
      </p:sp>
      <p:sp>
        <p:nvSpPr>
          <p:cNvPr id="26" name="ck6_221"/>
          <p:cNvSpPr/>
          <p:nvPr/>
        </p:nvSpPr>
        <p:spPr>
          <a:xfrm>
            <a:off x="6720840" y="2852928"/>
            <a:ext cx="411480" cy="411480"/>
          </a:xfrm>
          <a:prstGeom prst="ellipse">
            <a:avLst/>
          </a:prstGeom>
          <a:solidFill>
            <a:srgbClr val="A78BFA"/>
          </a:solidFill>
          <a:ln/>
        </p:spPr>
      </p:sp>
      <p:pic>
        <p:nvPicPr>
          <p:cNvPr id="27" name="ck6_222" descr="preencoded.png">    </p:cNvPr>
          <p:cNvPicPr>
            <a:picLocks noChangeAspect="1"/>
          </p:cNvPicPr>
          <p:nvPr/>
        </p:nvPicPr>
        <p:blipFill>
          <a:blip r:embed="rId4"/>
          <a:stretch>
            <a:fillRect/>
          </a:stretch>
        </p:blipFill>
        <p:spPr>
          <a:xfrm>
            <a:off x="6819595" y="2951683"/>
            <a:ext cx="213970" cy="213970"/>
          </a:xfrm>
          <a:prstGeom prst="rect">
            <a:avLst/>
          </a:prstGeom>
        </p:spPr>
      </p:pic>
      <p:sp>
        <p:nvSpPr>
          <p:cNvPr id="28" name="ck6_223"/>
          <p:cNvSpPr txBox="1"/>
          <p:nvPr/>
        </p:nvSpPr>
        <p:spPr>
          <a:xfrm>
            <a:off x="7223760" y="2852928"/>
            <a:ext cx="1371600" cy="411480"/>
          </a:xfrm>
          <a:prstGeom prst="rect">
            <a:avLst/>
          </a:prstGeom>
          <a:noFill/>
          <a:ln/>
        </p:spPr>
        <p:txBody>
          <a:bodyPr wrap="square" lIns="0" tIns="0" rIns="0" bIns="0" rtlCol="0" anchor="ctr"/>
          <a:lstStyle/>
          <a:p>
            <a:pPr indent="0" marL="0">
              <a:buNone/>
            </a:pPr>
            <a:r>
              <a:rPr lang="en-US" sz="1400" b="1" dirty="0">
                <a:solidFill>
                  <a:srgbClr val="FFFFFF"/>
                </a:solidFill>
              </a:rPr>
              <a:t>Files</a:t>
            </a:r>
            <a:endParaRPr lang="en-US" sz="1400" dirty="0"/>
          </a:p>
        </p:txBody>
      </p:sp>
      <p:sp>
        <p:nvSpPr>
          <p:cNvPr id="29" name="ck7_224"/>
          <p:cNvSpPr/>
          <p:nvPr/>
        </p:nvSpPr>
        <p:spPr>
          <a:xfrm>
            <a:off x="457200" y="3611880"/>
            <a:ext cx="8229600" cy="868680"/>
          </a:xfrm>
          <a:prstGeom prst="roundRect">
            <a:avLst>
              <a:gd name="adj" fmla="val 10526"/>
            </a:avLst>
          </a:prstGeom>
          <a:solidFill>
            <a:srgbClr val="14305A"/>
          </a:solidFill>
          <a:ln w="19050">
            <a:solidFill>
              <a:srgbClr val="F2B134"/>
            </a:solidFill>
            <a:prstDash val="solid"/>
          </a:ln>
        </p:spPr>
      </p:sp>
      <p:sp>
        <p:nvSpPr>
          <p:cNvPr id="30" name="ck7_225"/>
          <p:cNvSpPr txBox="1"/>
          <p:nvPr/>
        </p:nvSpPr>
        <p:spPr>
          <a:xfrm>
            <a:off x="685800" y="3611880"/>
            <a:ext cx="7772400" cy="868680"/>
          </a:xfrm>
          <a:prstGeom prst="rect">
            <a:avLst/>
          </a:prstGeom>
          <a:noFill/>
          <a:ln/>
        </p:spPr>
        <p:txBody>
          <a:bodyPr wrap="square" lIns="0" tIns="0" rIns="0" bIns="0" rtlCol="0" anchor="ctr"/>
          <a:lstStyle/>
          <a:p>
            <a:pPr indent="0" marL="0">
              <a:buNone/>
            </a:pPr>
            <a:r>
              <a:rPr lang="en-US" sz="1600" b="1" dirty="0">
                <a:solidFill>
                  <a:srgbClr val="F2B134"/>
                </a:solidFill>
              </a:rPr>
              <a:t>Example   </a:t>
            </a:r>
            <a:pPr indent="0" marL="0">
              <a:buNone/>
            </a:pPr>
            <a:r>
              <a:rPr lang="en-US" sz="1600" dirty="0">
                <a:solidFill>
                  <a:srgbClr val="FFFFFF"/>
                </a:solidFill>
              </a:rPr>
              <a:t>"Find three Java internships, compare them and write me a short summary."</a:t>
            </a:r>
            <a:endParaRPr lang="en-US" sz="1600" dirty="0"/>
          </a:p>
        </p:txBody>
      </p:sp>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B9C6DA"/>
                </a:solidFill>
              </a:defRPr>
            </a:lvl1pPr>
          </a:lstStyle>
          <a:p>
            <a:pPr algn="r"/>
            <a:fld id="{F7021451-1387-4CA6-816F-3879F97B5CBC}" type="slidenum">
              <a:rPr b="0" lang="en-US"/>
              <a:t>18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par>
                                <p:cTn id="51" presetID="10" presetClass="entr" presetSubtype="0" fill="hold"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500"/>
                                        <p:tgtEl>
                                          <p:spTgt spid="20"/>
                                        </p:tgtEl>
                                      </p:cBhvr>
                                    </p:animEffect>
                                  </p:childTnLst>
                                </p:cTn>
                              </p:par>
                              <p:par>
                                <p:cTn id="60" presetID="10" presetClass="entr" presetSubtype="0" fill="hold" nodeType="with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500"/>
                                        <p:tgtEl>
                                          <p:spTgt spid="21"/>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500"/>
                                        <p:tgtEl>
                                          <p:spTgt spid="22"/>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500"/>
                                        <p:tgtEl>
                                          <p:spTgt spid="23"/>
                                        </p:tgtEl>
                                      </p:cBhvr>
                                    </p:animEffect>
                                  </p:childTnLst>
                                </p:cTn>
                              </p:par>
                              <p:par>
                                <p:cTn id="69" presetID="10" presetClass="entr" presetSubtype="0" fill="hold" nodeType="with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500"/>
                                        <p:tgtEl>
                                          <p:spTgt spid="24"/>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500"/>
                                        <p:tgtEl>
                                          <p:spTgt spid="25"/>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500"/>
                                        <p:tgtEl>
                                          <p:spTgt spid="26"/>
                                        </p:tgtEl>
                                      </p:cBhvr>
                                    </p:animEffect>
                                  </p:childTnLst>
                                </p:cTn>
                              </p:par>
                              <p:par>
                                <p:cTn id="78" presetID="10" presetClass="entr" presetSubtype="0" fill="hold" nodeType="with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fade">
                                      <p:cBhvr>
                                        <p:cTn id="80" dur="500"/>
                                        <p:tgtEl>
                                          <p:spTgt spid="27"/>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8"/>
                                        </p:tgtEl>
                                        <p:attrNameLst>
                                          <p:attrName>style.visibility</p:attrName>
                                        </p:attrNameLst>
                                      </p:cBhvr>
                                      <p:to>
                                        <p:strVal val="visible"/>
                                      </p:to>
                                    </p:set>
                                    <p:animEffect transition="in" filter="fade">
                                      <p:cBhvr>
                                        <p:cTn id="83" dur="500"/>
                                        <p:tgtEl>
                                          <p:spTgt spid="28"/>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29"/>
                                        </p:tgtEl>
                                        <p:attrNameLst>
                                          <p:attrName>style.visibility</p:attrName>
                                        </p:attrNameLst>
                                      </p:cBhvr>
                                      <p:to>
                                        <p:strVal val="visible"/>
                                      </p:to>
                                    </p:set>
                                    <p:animEffect transition="in" filter="fade">
                                      <p:cBhvr>
                                        <p:cTn id="88" dur="500"/>
                                        <p:tgtEl>
                                          <p:spTgt spid="29"/>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0"/>
                                        </p:tgtEl>
                                        <p:attrNameLst>
                                          <p:attrName>style.visibility</p:attrName>
                                        </p:attrNameLst>
                                      </p:cBhvr>
                                      <p:to>
                                        <p:strVal val="visible"/>
                                      </p:to>
                                    </p:set>
                                    <p:animEffect transition="in" filter="fade">
                                      <p:cBhvr>
                                        <p:cTn id="91"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5" grpId="0" animBg="1"/>
      <p:bldP spid="16" grpId="0" animBg="1"/>
      <p:bldP spid="17" grpId="0" animBg="1"/>
      <p:bldP spid="19" grpId="0" animBg="1"/>
      <p:bldP spid="20" grpId="0" animBg="1"/>
      <p:bldP spid="22" grpId="0" animBg="1"/>
      <p:bldP spid="23" grpId="0" animBg="1"/>
      <p:bldP spid="25" grpId="0" animBg="1"/>
      <p:bldP spid="26" grpId="0" animBg="1"/>
      <p:bldP spid="28" grpId="0" animBg="1"/>
      <p:bldP spid="29" grpId="0" animBg="1"/>
      <p:bldP spid="3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57200" y="256032"/>
            <a:ext cx="6400800" cy="201168"/>
          </a:xfrm>
          <a:prstGeom prst="rect">
            <a:avLst/>
          </a:prstGeom>
          <a:noFill/>
          <a:ln/>
        </p:spPr>
        <p:txBody>
          <a:bodyPr wrap="square" lIns="0" tIns="0" rIns="0" bIns="0" rtlCol="0" anchor="t"/>
          <a:lstStyle/>
          <a:p>
            <a:pPr indent="0" marL="0">
              <a:buNone/>
            </a:pPr>
            <a:r>
              <a:rPr lang="en-US" sz="1100" b="1" spc="200" kern="0" dirty="0">
                <a:solidFill>
                  <a:srgbClr val="A78BFA"/>
                </a:solidFill>
              </a:rPr>
              <a:t>4  SMARTER AI</a:t>
            </a:r>
            <a:endParaRPr lang="en-US" sz="1100" dirty="0"/>
          </a:p>
        </p:txBody>
      </p:sp>
      <p:sp>
        <p:nvSpPr>
          <p:cNvPr id="3" name="Text 2"/>
          <p:cNvSpPr/>
          <p:nvPr>
            <p:ph idx="103" type="title" hasCustomPrompt="1"/>
          </p:nvPr>
        </p:nvSpPr>
        <p:spPr>
          <a:xfrm>
            <a:off x="457200" y="457200"/>
            <a:ext cx="8229600" cy="685800"/>
          </a:xfrm>
          <a:prstGeom prst="rect">
            <a:avLst/>
          </a:prstGeom>
          <a:noFill/>
          <a:ln/>
        </p:spPr>
        <p:txBody>
          <a:bodyPr wrap="square" lIns="0" tIns="0" rIns="0" bIns="0" rtlCol="0" anchor="ctr"/>
          <a:lstStyle/>
          <a:p>
            <a:pPr algn="l" indent="0" marL="0">
              <a:buNone/>
            </a:pPr>
            <a:r>
              <a:rPr lang="en-US" sz="3000" b="1" dirty="0">
                <a:solidFill>
                  <a:srgbClr val="FFFFFF"/>
                </a:solidFill>
              </a:rPr>
              <a:t>Agentic AI: a team of AI agents</a:t>
            </a:r>
            <a:endParaRPr lang="en-US" sz="3000" dirty="0"/>
          </a:p>
        </p:txBody>
      </p:sp>
      <p:sp>
        <p:nvSpPr>
          <p:cNvPr id="5" name="ck1_226"/>
          <p:cNvSpPr/>
          <p:nvPr/>
        </p:nvSpPr>
        <p:spPr>
          <a:xfrm>
            <a:off x="457200" y="1371600"/>
            <a:ext cx="1417320" cy="1417320"/>
          </a:xfrm>
          <a:prstGeom prst="roundRect">
            <a:avLst>
              <a:gd name="adj" fmla="val 6452"/>
            </a:avLst>
          </a:prstGeom>
          <a:solidFill>
            <a:srgbClr val="14305A"/>
          </a:solidFill>
          <a:ln/>
        </p:spPr>
      </p:sp>
      <p:sp>
        <p:nvSpPr>
          <p:cNvPr id="6" name="ck1_227"/>
          <p:cNvSpPr/>
          <p:nvPr/>
        </p:nvSpPr>
        <p:spPr>
          <a:xfrm>
            <a:off x="868680" y="1481328"/>
            <a:ext cx="594360" cy="594360"/>
          </a:xfrm>
          <a:prstGeom prst="ellipse">
            <a:avLst/>
          </a:prstGeom>
          <a:solidFill>
            <a:srgbClr val="A78BFA"/>
          </a:solidFill>
          <a:ln/>
        </p:spPr>
      </p:sp>
      <p:pic>
        <p:nvPicPr>
          <p:cNvPr id="7" name="ck1_228" descr="preencoded.png">    </p:cNvPr>
          <p:cNvPicPr>
            <a:picLocks noChangeAspect="1"/>
          </p:cNvPicPr>
          <p:nvPr/>
        </p:nvPicPr>
        <p:blipFill>
          <a:blip r:embed="rId1"/>
          <a:stretch>
            <a:fillRect/>
          </a:stretch>
        </p:blipFill>
        <p:spPr>
          <a:xfrm>
            <a:off x="1011326" y="1623974"/>
            <a:ext cx="309067" cy="309067"/>
          </a:xfrm>
          <a:prstGeom prst="rect">
            <a:avLst/>
          </a:prstGeom>
        </p:spPr>
      </p:pic>
      <p:sp>
        <p:nvSpPr>
          <p:cNvPr id="8" name="ck1_229"/>
          <p:cNvSpPr txBox="1"/>
          <p:nvPr/>
        </p:nvSpPr>
        <p:spPr>
          <a:xfrm>
            <a:off x="502920" y="2148840"/>
            <a:ext cx="1325880" cy="274320"/>
          </a:xfrm>
          <a:prstGeom prst="rect">
            <a:avLst/>
          </a:prstGeom>
          <a:noFill/>
          <a:ln/>
        </p:spPr>
        <p:txBody>
          <a:bodyPr wrap="square" lIns="0" tIns="0" rIns="0" bIns="0" rtlCol="0" anchor="t"/>
          <a:lstStyle/>
          <a:p>
            <a:pPr algn="ctr" indent="0" marL="0">
              <a:buNone/>
            </a:pPr>
            <a:r>
              <a:rPr lang="en-US" sz="1300" b="1" dirty="0">
                <a:solidFill>
                  <a:srgbClr val="FFFFFF"/>
                </a:solidFill>
              </a:rPr>
              <a:t>Manager AI</a:t>
            </a:r>
            <a:endParaRPr lang="en-US" sz="1300" dirty="0"/>
          </a:p>
        </p:txBody>
      </p:sp>
      <p:sp>
        <p:nvSpPr>
          <p:cNvPr id="9" name="ck1_230"/>
          <p:cNvSpPr txBox="1"/>
          <p:nvPr/>
        </p:nvSpPr>
        <p:spPr>
          <a:xfrm>
            <a:off x="502920" y="2423160"/>
            <a:ext cx="1325880" cy="320040"/>
          </a:xfrm>
          <a:prstGeom prst="rect">
            <a:avLst/>
          </a:prstGeom>
          <a:noFill/>
          <a:ln/>
        </p:spPr>
        <p:txBody>
          <a:bodyPr wrap="square" lIns="0" tIns="0" rIns="0" bIns="0" rtlCol="0" anchor="t"/>
          <a:lstStyle/>
          <a:p>
            <a:pPr algn="ctr" indent="0" marL="0">
              <a:buNone/>
            </a:pPr>
            <a:r>
              <a:rPr lang="en-US" sz="1100" dirty="0">
                <a:solidFill>
                  <a:srgbClr val="B9C6DA"/>
                </a:solidFill>
              </a:rPr>
              <a:t>Splits the work</a:t>
            </a:r>
            <a:endParaRPr lang="en-US" sz="1100" dirty="0"/>
          </a:p>
        </p:txBody>
      </p:sp>
      <p:sp>
        <p:nvSpPr>
          <p:cNvPr id="10" name="ck2_231"/>
          <p:cNvSpPr/>
          <p:nvPr/>
        </p:nvSpPr>
        <p:spPr>
          <a:xfrm>
            <a:off x="1892808" y="2011680"/>
            <a:ext cx="237744" cy="0"/>
          </a:xfrm>
          <a:prstGeom prst="line">
            <a:avLst/>
          </a:prstGeom>
          <a:noFill/>
          <a:ln w="25400">
            <a:solidFill>
              <a:srgbClr val="B9C6DA"/>
            </a:solidFill>
            <a:prstDash val="solid"/>
            <a:tailEnd type="triangle"/>
          </a:ln>
        </p:spPr>
      </p:sp>
      <p:sp>
        <p:nvSpPr>
          <p:cNvPr id="11" name="ck2_232"/>
          <p:cNvSpPr/>
          <p:nvPr/>
        </p:nvSpPr>
        <p:spPr>
          <a:xfrm>
            <a:off x="2148840" y="1371600"/>
            <a:ext cx="1417320" cy="1417320"/>
          </a:xfrm>
          <a:prstGeom prst="roundRect">
            <a:avLst>
              <a:gd name="adj" fmla="val 6452"/>
            </a:avLst>
          </a:prstGeom>
          <a:solidFill>
            <a:srgbClr val="14305A"/>
          </a:solidFill>
          <a:ln/>
        </p:spPr>
      </p:sp>
      <p:sp>
        <p:nvSpPr>
          <p:cNvPr id="12" name="ck2_233"/>
          <p:cNvSpPr/>
          <p:nvPr/>
        </p:nvSpPr>
        <p:spPr>
          <a:xfrm>
            <a:off x="2560320" y="1481328"/>
            <a:ext cx="594360" cy="594360"/>
          </a:xfrm>
          <a:prstGeom prst="ellipse">
            <a:avLst/>
          </a:prstGeom>
          <a:solidFill>
            <a:srgbClr val="A78BFA"/>
          </a:solidFill>
          <a:ln/>
        </p:spPr>
      </p:sp>
      <p:pic>
        <p:nvPicPr>
          <p:cNvPr id="13" name="ck2_234" descr="preencoded.png">    </p:cNvPr>
          <p:cNvPicPr>
            <a:picLocks noChangeAspect="1"/>
          </p:cNvPicPr>
          <p:nvPr/>
        </p:nvPicPr>
        <p:blipFill>
          <a:blip r:embed="rId2"/>
          <a:stretch>
            <a:fillRect/>
          </a:stretch>
        </p:blipFill>
        <p:spPr>
          <a:xfrm>
            <a:off x="2702966" y="1623974"/>
            <a:ext cx="309067" cy="309067"/>
          </a:xfrm>
          <a:prstGeom prst="rect">
            <a:avLst/>
          </a:prstGeom>
        </p:spPr>
      </p:pic>
      <p:sp>
        <p:nvSpPr>
          <p:cNvPr id="14" name="ck2_235"/>
          <p:cNvSpPr txBox="1"/>
          <p:nvPr/>
        </p:nvSpPr>
        <p:spPr>
          <a:xfrm>
            <a:off x="2194560" y="2148840"/>
            <a:ext cx="1325880" cy="274320"/>
          </a:xfrm>
          <a:prstGeom prst="rect">
            <a:avLst/>
          </a:prstGeom>
          <a:noFill/>
          <a:ln/>
        </p:spPr>
        <p:txBody>
          <a:bodyPr wrap="square" lIns="0" tIns="0" rIns="0" bIns="0" rtlCol="0" anchor="t"/>
          <a:lstStyle/>
          <a:p>
            <a:pPr algn="ctr" indent="0" marL="0">
              <a:buNone/>
            </a:pPr>
            <a:r>
              <a:rPr lang="en-US" sz="1300" b="1" dirty="0">
                <a:solidFill>
                  <a:srgbClr val="FFFFFF"/>
                </a:solidFill>
              </a:rPr>
              <a:t>Researcher AI</a:t>
            </a:r>
            <a:endParaRPr lang="en-US" sz="1300" dirty="0"/>
          </a:p>
        </p:txBody>
      </p:sp>
      <p:sp>
        <p:nvSpPr>
          <p:cNvPr id="15" name="ck2_236"/>
          <p:cNvSpPr txBox="1"/>
          <p:nvPr/>
        </p:nvSpPr>
        <p:spPr>
          <a:xfrm>
            <a:off x="2194560" y="2423160"/>
            <a:ext cx="1325880" cy="320040"/>
          </a:xfrm>
          <a:prstGeom prst="rect">
            <a:avLst/>
          </a:prstGeom>
          <a:noFill/>
          <a:ln/>
        </p:spPr>
        <p:txBody>
          <a:bodyPr wrap="square" lIns="0" tIns="0" rIns="0" bIns="0" rtlCol="0" anchor="t"/>
          <a:lstStyle/>
          <a:p>
            <a:pPr algn="ctr" indent="0" marL="0">
              <a:buNone/>
            </a:pPr>
            <a:r>
              <a:rPr lang="en-US" sz="1100" dirty="0">
                <a:solidFill>
                  <a:srgbClr val="B9C6DA"/>
                </a:solidFill>
              </a:rPr>
              <a:t>Finds information</a:t>
            </a:r>
            <a:endParaRPr lang="en-US" sz="1100" dirty="0"/>
          </a:p>
        </p:txBody>
      </p:sp>
      <p:sp>
        <p:nvSpPr>
          <p:cNvPr id="16" name="ck2_237"/>
          <p:cNvSpPr/>
          <p:nvPr/>
        </p:nvSpPr>
        <p:spPr>
          <a:xfrm>
            <a:off x="3584448" y="2011680"/>
            <a:ext cx="237744" cy="0"/>
          </a:xfrm>
          <a:prstGeom prst="line">
            <a:avLst/>
          </a:prstGeom>
          <a:noFill/>
          <a:ln w="25400">
            <a:solidFill>
              <a:srgbClr val="B9C6DA"/>
            </a:solidFill>
            <a:prstDash val="solid"/>
            <a:tailEnd type="triangle"/>
          </a:ln>
        </p:spPr>
      </p:sp>
      <p:sp>
        <p:nvSpPr>
          <p:cNvPr id="17" name="ck2_238"/>
          <p:cNvSpPr/>
          <p:nvPr/>
        </p:nvSpPr>
        <p:spPr>
          <a:xfrm>
            <a:off x="3840480" y="1371600"/>
            <a:ext cx="1417320" cy="1417320"/>
          </a:xfrm>
          <a:prstGeom prst="roundRect">
            <a:avLst>
              <a:gd name="adj" fmla="val 6452"/>
            </a:avLst>
          </a:prstGeom>
          <a:solidFill>
            <a:srgbClr val="14305A"/>
          </a:solidFill>
          <a:ln/>
        </p:spPr>
      </p:sp>
      <p:sp>
        <p:nvSpPr>
          <p:cNvPr id="18" name="ck2_239"/>
          <p:cNvSpPr/>
          <p:nvPr/>
        </p:nvSpPr>
        <p:spPr>
          <a:xfrm>
            <a:off x="4251960" y="1481328"/>
            <a:ext cx="594360" cy="594360"/>
          </a:xfrm>
          <a:prstGeom prst="ellipse">
            <a:avLst/>
          </a:prstGeom>
          <a:solidFill>
            <a:srgbClr val="A78BFA"/>
          </a:solidFill>
          <a:ln/>
        </p:spPr>
      </p:sp>
      <p:pic>
        <p:nvPicPr>
          <p:cNvPr id="19" name="ck2_240" descr="preencoded.png">    </p:cNvPr>
          <p:cNvPicPr>
            <a:picLocks noChangeAspect="1"/>
          </p:cNvPicPr>
          <p:nvPr/>
        </p:nvPicPr>
        <p:blipFill>
          <a:blip r:embed="rId3"/>
          <a:stretch>
            <a:fillRect/>
          </a:stretch>
        </p:blipFill>
        <p:spPr>
          <a:xfrm>
            <a:off x="4394606" y="1623974"/>
            <a:ext cx="309067" cy="309067"/>
          </a:xfrm>
          <a:prstGeom prst="rect">
            <a:avLst/>
          </a:prstGeom>
        </p:spPr>
      </p:pic>
      <p:sp>
        <p:nvSpPr>
          <p:cNvPr id="20" name="ck2_241"/>
          <p:cNvSpPr txBox="1"/>
          <p:nvPr/>
        </p:nvSpPr>
        <p:spPr>
          <a:xfrm>
            <a:off x="3886200" y="2148840"/>
            <a:ext cx="1325880" cy="274320"/>
          </a:xfrm>
          <a:prstGeom prst="rect">
            <a:avLst/>
          </a:prstGeom>
          <a:noFill/>
          <a:ln/>
        </p:spPr>
        <p:txBody>
          <a:bodyPr wrap="square" lIns="0" tIns="0" rIns="0" bIns="0" rtlCol="0" anchor="t"/>
          <a:lstStyle/>
          <a:p>
            <a:pPr algn="ctr" indent="0" marL="0">
              <a:buNone/>
            </a:pPr>
            <a:r>
              <a:rPr lang="en-US" sz="1300" b="1" dirty="0">
                <a:solidFill>
                  <a:srgbClr val="FFFFFF"/>
                </a:solidFill>
              </a:rPr>
              <a:t>Writer AI</a:t>
            </a:r>
            <a:endParaRPr lang="en-US" sz="1300" dirty="0"/>
          </a:p>
        </p:txBody>
      </p:sp>
      <p:sp>
        <p:nvSpPr>
          <p:cNvPr id="21" name="ck2_242"/>
          <p:cNvSpPr txBox="1"/>
          <p:nvPr/>
        </p:nvSpPr>
        <p:spPr>
          <a:xfrm>
            <a:off x="3886200" y="2423160"/>
            <a:ext cx="1325880" cy="320040"/>
          </a:xfrm>
          <a:prstGeom prst="rect">
            <a:avLst/>
          </a:prstGeom>
          <a:noFill/>
          <a:ln/>
        </p:spPr>
        <p:txBody>
          <a:bodyPr wrap="square" lIns="0" tIns="0" rIns="0" bIns="0" rtlCol="0" anchor="t"/>
          <a:lstStyle/>
          <a:p>
            <a:pPr algn="ctr" indent="0" marL="0">
              <a:buNone/>
            </a:pPr>
            <a:r>
              <a:rPr lang="en-US" sz="1100" dirty="0">
                <a:solidFill>
                  <a:srgbClr val="B9C6DA"/>
                </a:solidFill>
              </a:rPr>
              <a:t>Writes the content</a:t>
            </a:r>
            <a:endParaRPr lang="en-US" sz="1100" dirty="0"/>
          </a:p>
        </p:txBody>
      </p:sp>
      <p:sp>
        <p:nvSpPr>
          <p:cNvPr id="22" name="ck3_243"/>
          <p:cNvSpPr/>
          <p:nvPr/>
        </p:nvSpPr>
        <p:spPr>
          <a:xfrm>
            <a:off x="5276088" y="2011680"/>
            <a:ext cx="237744" cy="0"/>
          </a:xfrm>
          <a:prstGeom prst="line">
            <a:avLst/>
          </a:prstGeom>
          <a:noFill/>
          <a:ln w="25400">
            <a:solidFill>
              <a:srgbClr val="B9C6DA"/>
            </a:solidFill>
            <a:prstDash val="solid"/>
            <a:tailEnd type="triangle"/>
          </a:ln>
        </p:spPr>
      </p:sp>
      <p:sp>
        <p:nvSpPr>
          <p:cNvPr id="23" name="ck3_244"/>
          <p:cNvSpPr/>
          <p:nvPr/>
        </p:nvSpPr>
        <p:spPr>
          <a:xfrm>
            <a:off x="5532120" y="1371600"/>
            <a:ext cx="1417320" cy="1417320"/>
          </a:xfrm>
          <a:prstGeom prst="roundRect">
            <a:avLst>
              <a:gd name="adj" fmla="val 6452"/>
            </a:avLst>
          </a:prstGeom>
          <a:solidFill>
            <a:srgbClr val="14305A"/>
          </a:solidFill>
          <a:ln/>
        </p:spPr>
      </p:sp>
      <p:sp>
        <p:nvSpPr>
          <p:cNvPr id="24" name="ck3_245"/>
          <p:cNvSpPr/>
          <p:nvPr/>
        </p:nvSpPr>
        <p:spPr>
          <a:xfrm>
            <a:off x="5943600" y="1481328"/>
            <a:ext cx="594360" cy="594360"/>
          </a:xfrm>
          <a:prstGeom prst="ellipse">
            <a:avLst/>
          </a:prstGeom>
          <a:solidFill>
            <a:srgbClr val="A78BFA"/>
          </a:solidFill>
          <a:ln/>
        </p:spPr>
      </p:sp>
      <p:pic>
        <p:nvPicPr>
          <p:cNvPr id="25" name="ck3_246" descr="preencoded.png">    </p:cNvPr>
          <p:cNvPicPr>
            <a:picLocks noChangeAspect="1"/>
          </p:cNvPicPr>
          <p:nvPr/>
        </p:nvPicPr>
        <p:blipFill>
          <a:blip r:embed="rId4"/>
          <a:stretch>
            <a:fillRect/>
          </a:stretch>
        </p:blipFill>
        <p:spPr>
          <a:xfrm>
            <a:off x="6086246" y="1623974"/>
            <a:ext cx="309067" cy="309067"/>
          </a:xfrm>
          <a:prstGeom prst="rect">
            <a:avLst/>
          </a:prstGeom>
        </p:spPr>
      </p:pic>
      <p:sp>
        <p:nvSpPr>
          <p:cNvPr id="26" name="ck3_247"/>
          <p:cNvSpPr txBox="1"/>
          <p:nvPr/>
        </p:nvSpPr>
        <p:spPr>
          <a:xfrm>
            <a:off x="5577840" y="2148840"/>
            <a:ext cx="1325880" cy="274320"/>
          </a:xfrm>
          <a:prstGeom prst="rect">
            <a:avLst/>
          </a:prstGeom>
          <a:noFill/>
          <a:ln/>
        </p:spPr>
        <p:txBody>
          <a:bodyPr wrap="square" lIns="0" tIns="0" rIns="0" bIns="0" rtlCol="0" anchor="t"/>
          <a:lstStyle/>
          <a:p>
            <a:pPr algn="ctr" indent="0" marL="0">
              <a:buNone/>
            </a:pPr>
            <a:r>
              <a:rPr lang="en-US" sz="1300" b="1" dirty="0">
                <a:solidFill>
                  <a:srgbClr val="FFFFFF"/>
                </a:solidFill>
              </a:rPr>
              <a:t>Reviewer AI</a:t>
            </a:r>
            <a:endParaRPr lang="en-US" sz="1300" dirty="0"/>
          </a:p>
        </p:txBody>
      </p:sp>
      <p:sp>
        <p:nvSpPr>
          <p:cNvPr id="27" name="ck3_248"/>
          <p:cNvSpPr txBox="1"/>
          <p:nvPr/>
        </p:nvSpPr>
        <p:spPr>
          <a:xfrm>
            <a:off x="5577840" y="2423160"/>
            <a:ext cx="1325880" cy="320040"/>
          </a:xfrm>
          <a:prstGeom prst="rect">
            <a:avLst/>
          </a:prstGeom>
          <a:noFill/>
          <a:ln/>
        </p:spPr>
        <p:txBody>
          <a:bodyPr wrap="square" lIns="0" tIns="0" rIns="0" bIns="0" rtlCol="0" anchor="t"/>
          <a:lstStyle/>
          <a:p>
            <a:pPr algn="ctr" indent="0" marL="0">
              <a:buNone/>
            </a:pPr>
            <a:r>
              <a:rPr lang="en-US" sz="1100" dirty="0">
                <a:solidFill>
                  <a:srgbClr val="B9C6DA"/>
                </a:solidFill>
              </a:rPr>
              <a:t>Checks the quality</a:t>
            </a:r>
            <a:endParaRPr lang="en-US" sz="1100" dirty="0"/>
          </a:p>
        </p:txBody>
      </p:sp>
      <p:sp>
        <p:nvSpPr>
          <p:cNvPr id="28" name="ck4_249"/>
          <p:cNvSpPr/>
          <p:nvPr/>
        </p:nvSpPr>
        <p:spPr>
          <a:xfrm>
            <a:off x="6967728" y="2011680"/>
            <a:ext cx="237744" cy="0"/>
          </a:xfrm>
          <a:prstGeom prst="line">
            <a:avLst/>
          </a:prstGeom>
          <a:noFill/>
          <a:ln w="25400">
            <a:solidFill>
              <a:srgbClr val="B9C6DA"/>
            </a:solidFill>
            <a:prstDash val="solid"/>
            <a:tailEnd type="triangle"/>
          </a:ln>
        </p:spPr>
      </p:sp>
      <p:sp>
        <p:nvSpPr>
          <p:cNvPr id="29" name="ck4_250"/>
          <p:cNvSpPr/>
          <p:nvPr/>
        </p:nvSpPr>
        <p:spPr>
          <a:xfrm>
            <a:off x="7223760" y="1371600"/>
            <a:ext cx="1417320" cy="1417320"/>
          </a:xfrm>
          <a:prstGeom prst="roundRect">
            <a:avLst>
              <a:gd name="adj" fmla="val 6452"/>
            </a:avLst>
          </a:prstGeom>
          <a:solidFill>
            <a:srgbClr val="F2B134"/>
          </a:solidFill>
          <a:ln/>
        </p:spPr>
      </p:sp>
      <p:sp>
        <p:nvSpPr>
          <p:cNvPr id="30" name="ck4_251"/>
          <p:cNvSpPr/>
          <p:nvPr/>
        </p:nvSpPr>
        <p:spPr>
          <a:xfrm>
            <a:off x="7635240" y="1481328"/>
            <a:ext cx="594360" cy="594360"/>
          </a:xfrm>
          <a:prstGeom prst="ellipse">
            <a:avLst/>
          </a:prstGeom>
          <a:solidFill>
            <a:srgbClr val="FFFFFF"/>
          </a:solidFill>
          <a:ln/>
        </p:spPr>
      </p:sp>
      <p:pic>
        <p:nvPicPr>
          <p:cNvPr id="31" name="ck4_252" descr="preencoded.png">    </p:cNvPr>
          <p:cNvPicPr>
            <a:picLocks noChangeAspect="1"/>
          </p:cNvPicPr>
          <p:nvPr/>
        </p:nvPicPr>
        <p:blipFill>
          <a:blip r:embed="rId5"/>
          <a:stretch>
            <a:fillRect/>
          </a:stretch>
        </p:blipFill>
        <p:spPr>
          <a:xfrm>
            <a:off x="7777886" y="1623974"/>
            <a:ext cx="309067" cy="309067"/>
          </a:xfrm>
          <a:prstGeom prst="rect">
            <a:avLst/>
          </a:prstGeom>
        </p:spPr>
      </p:pic>
      <p:sp>
        <p:nvSpPr>
          <p:cNvPr id="32" name="ck4_253"/>
          <p:cNvSpPr txBox="1"/>
          <p:nvPr/>
        </p:nvSpPr>
        <p:spPr>
          <a:xfrm>
            <a:off x="7269480" y="2148840"/>
            <a:ext cx="1325880" cy="274320"/>
          </a:xfrm>
          <a:prstGeom prst="rect">
            <a:avLst/>
          </a:prstGeom>
          <a:noFill/>
          <a:ln/>
        </p:spPr>
        <p:txBody>
          <a:bodyPr wrap="square" lIns="0" tIns="0" rIns="0" bIns="0" rtlCol="0" anchor="t"/>
          <a:lstStyle/>
          <a:p>
            <a:pPr algn="ctr" indent="0" marL="0">
              <a:buNone/>
            </a:pPr>
            <a:r>
              <a:rPr lang="en-US" sz="1300" b="1" dirty="0">
                <a:solidFill>
                  <a:srgbClr val="0B1F3A"/>
                </a:solidFill>
              </a:rPr>
              <a:t>Final result</a:t>
            </a:r>
            <a:endParaRPr lang="en-US" sz="1300" dirty="0"/>
          </a:p>
        </p:txBody>
      </p:sp>
      <p:sp>
        <p:nvSpPr>
          <p:cNvPr id="33" name="ck4_254"/>
          <p:cNvSpPr txBox="1"/>
          <p:nvPr/>
        </p:nvSpPr>
        <p:spPr>
          <a:xfrm>
            <a:off x="7269480" y="2423160"/>
            <a:ext cx="1325880" cy="320040"/>
          </a:xfrm>
          <a:prstGeom prst="rect">
            <a:avLst/>
          </a:prstGeom>
          <a:noFill/>
          <a:ln/>
        </p:spPr>
        <p:txBody>
          <a:bodyPr wrap="square" lIns="0" tIns="0" rIns="0" bIns="0" rtlCol="0" anchor="t"/>
          <a:lstStyle/>
          <a:p>
            <a:pPr algn="ctr" indent="0" marL="0">
              <a:buNone/>
            </a:pPr>
            <a:r>
              <a:rPr lang="en-US" sz="1100" dirty="0">
                <a:solidFill>
                  <a:srgbClr val="0B1F3A"/>
                </a:solidFill>
              </a:rPr>
              <a:t>Delivered to you</a:t>
            </a:r>
            <a:endParaRPr lang="en-US" sz="1100" dirty="0"/>
          </a:p>
        </p:txBody>
      </p:sp>
      <p:sp>
        <p:nvSpPr>
          <p:cNvPr id="34" name="ck5_255"/>
          <p:cNvSpPr txBox="1"/>
          <p:nvPr/>
        </p:nvSpPr>
        <p:spPr>
          <a:xfrm>
            <a:off x="457200" y="3017520"/>
            <a:ext cx="8229600" cy="457200"/>
          </a:xfrm>
          <a:prstGeom prst="roundRect">
            <a:avLst>
              <a:gd name="adj" fmla="val 20000"/>
            </a:avLst>
          </a:prstGeom>
          <a:solidFill>
            <a:srgbClr val="14305A"/>
          </a:solidFill>
          <a:ln w="12700">
            <a:solidFill>
              <a:srgbClr val="B9C6DA"/>
            </a:solidFill>
            <a:prstDash val="dash"/>
          </a:ln>
        </p:spPr>
        <p:txBody>
          <a:bodyPr wrap="square" lIns="762" tIns="762" rIns="762" bIns="762" rtlCol="0" anchor="ctr"/>
          <a:lstStyle/>
          <a:p>
            <a:pPr algn="ctr" indent="0" marL="0">
              <a:buNone/>
            </a:pPr>
            <a:r>
              <a:rPr lang="en-US" sz="1300" dirty="0">
                <a:solidFill>
                  <a:srgbClr val="B9C6DA"/>
                </a:solidFill>
              </a:rPr>
              <a:t>Shared notes: the whole team remembers what the others learned</a:t>
            </a:r>
            <a:endParaRPr lang="en-US" sz="1300" dirty="0"/>
          </a:p>
        </p:txBody>
      </p:sp>
      <p:sp>
        <p:nvSpPr>
          <p:cNvPr id="35" name="ck5_256"/>
          <p:cNvSpPr/>
          <p:nvPr/>
        </p:nvSpPr>
        <p:spPr>
          <a:xfrm>
            <a:off x="457200" y="3657600"/>
            <a:ext cx="8229600" cy="822960"/>
          </a:xfrm>
          <a:prstGeom prst="roundRect">
            <a:avLst>
              <a:gd name="adj" fmla="val 11111"/>
            </a:avLst>
          </a:prstGeom>
          <a:solidFill>
            <a:srgbClr val="14305A"/>
          </a:solidFill>
          <a:ln w="19050">
            <a:solidFill>
              <a:srgbClr val="F2B134"/>
            </a:solidFill>
            <a:prstDash val="solid"/>
          </a:ln>
        </p:spPr>
      </p:sp>
      <p:sp>
        <p:nvSpPr>
          <p:cNvPr id="36" name="ck5_257"/>
          <p:cNvSpPr txBox="1"/>
          <p:nvPr/>
        </p:nvSpPr>
        <p:spPr>
          <a:xfrm>
            <a:off x="685800" y="3657600"/>
            <a:ext cx="7772400" cy="822960"/>
          </a:xfrm>
          <a:prstGeom prst="rect">
            <a:avLst/>
          </a:prstGeom>
          <a:noFill/>
          <a:ln/>
        </p:spPr>
        <p:txBody>
          <a:bodyPr wrap="square" lIns="0" tIns="0" rIns="0" bIns="0" rtlCol="0" anchor="ctr"/>
          <a:lstStyle/>
          <a:p>
            <a:pPr indent="0" marL="0">
              <a:buNone/>
            </a:pPr>
            <a:r>
              <a:rPr lang="en-US" sz="1500" b="1" dirty="0">
                <a:solidFill>
                  <a:srgbClr val="F2B134"/>
                </a:solidFill>
              </a:rPr>
              <a:t>Example   </a:t>
            </a:r>
            <a:pPr indent="0" marL="0">
              <a:buNone/>
            </a:pPr>
            <a:r>
              <a:rPr lang="en-US" sz="1500" dirty="0">
                <a:solidFill>
                  <a:srgbClr val="FFFFFF"/>
                </a:solidFill>
              </a:rPr>
              <a:t>College fest campaign: one AI researches, one writes posts, one checks the tone, and a person approves.</a:t>
            </a:r>
            <a:endParaRPr lang="en-US" sz="1500" dirty="0"/>
          </a:p>
        </p:txBody>
      </p:sp>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B9C6DA"/>
                </a:solidFill>
              </a:defRPr>
            </a:lvl1pPr>
          </a:lstStyle>
          <a:p>
            <a:pPr algn="r"/>
            <a:fld id="{F7021451-1387-4CA6-816F-3879F97B5CBC}" type="slidenum">
              <a:rPr b="0" lang="en-US"/>
              <a:t>19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par>
                                <p:cTn id="31" presetID="10" presetClass="entr" presetSubtype="0" fill="hold"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500"/>
                                        <p:tgtEl>
                                          <p:spTgt spid="1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500"/>
                                        <p:tgtEl>
                                          <p:spTgt spid="16"/>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500"/>
                                        <p:tgtEl>
                                          <p:spTgt spid="17"/>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500"/>
                                        <p:tgtEl>
                                          <p:spTgt spid="18"/>
                                        </p:tgtEl>
                                      </p:cBhvr>
                                    </p:animEffect>
                                  </p:childTnLst>
                                </p:cTn>
                              </p:par>
                              <p:par>
                                <p:cTn id="49" presetID="10" presetClass="entr" presetSubtype="0" fill="hold"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00"/>
                                        <p:tgtEl>
                                          <p:spTgt spid="19"/>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500"/>
                                        <p:tgtEl>
                                          <p:spTgt spid="2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500"/>
                                        <p:tgtEl>
                                          <p:spTgt spid="21"/>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500"/>
                                        <p:tgtEl>
                                          <p:spTgt spid="22"/>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3"/>
                                        </p:tgtEl>
                                        <p:attrNameLst>
                                          <p:attrName>style.visibility</p:attrName>
                                        </p:attrNameLst>
                                      </p:cBhvr>
                                      <p:to>
                                        <p:strVal val="visible"/>
                                      </p:to>
                                    </p:set>
                                    <p:animEffect transition="in" filter="fade">
                                      <p:cBhvr>
                                        <p:cTn id="65" dur="500"/>
                                        <p:tgtEl>
                                          <p:spTgt spid="23"/>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4"/>
                                        </p:tgtEl>
                                        <p:attrNameLst>
                                          <p:attrName>style.visibility</p:attrName>
                                        </p:attrNameLst>
                                      </p:cBhvr>
                                      <p:to>
                                        <p:strVal val="visible"/>
                                      </p:to>
                                    </p:set>
                                    <p:animEffect transition="in" filter="fade">
                                      <p:cBhvr>
                                        <p:cTn id="68" dur="500"/>
                                        <p:tgtEl>
                                          <p:spTgt spid="24"/>
                                        </p:tgtEl>
                                      </p:cBhvr>
                                    </p:animEffect>
                                  </p:childTnLst>
                                </p:cTn>
                              </p:par>
                              <p:par>
                                <p:cTn id="69" presetID="10" presetClass="entr" presetSubtype="0" fill="hold" nodeType="with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500"/>
                                        <p:tgtEl>
                                          <p:spTgt spid="25"/>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6"/>
                                        </p:tgtEl>
                                        <p:attrNameLst>
                                          <p:attrName>style.visibility</p:attrName>
                                        </p:attrNameLst>
                                      </p:cBhvr>
                                      <p:to>
                                        <p:strVal val="visible"/>
                                      </p:to>
                                    </p:set>
                                    <p:animEffect transition="in" filter="fade">
                                      <p:cBhvr>
                                        <p:cTn id="74" dur="500"/>
                                        <p:tgtEl>
                                          <p:spTgt spid="26"/>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7"/>
                                        </p:tgtEl>
                                        <p:attrNameLst>
                                          <p:attrName>style.visibility</p:attrName>
                                        </p:attrNameLst>
                                      </p:cBhvr>
                                      <p:to>
                                        <p:strVal val="visible"/>
                                      </p:to>
                                    </p:set>
                                    <p:animEffect transition="in" filter="fade">
                                      <p:cBhvr>
                                        <p:cTn id="77" dur="500"/>
                                        <p:tgtEl>
                                          <p:spTgt spid="27"/>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28"/>
                                        </p:tgtEl>
                                        <p:attrNameLst>
                                          <p:attrName>style.visibility</p:attrName>
                                        </p:attrNameLst>
                                      </p:cBhvr>
                                      <p:to>
                                        <p:strVal val="visible"/>
                                      </p:to>
                                    </p:set>
                                    <p:animEffect transition="in" filter="fade">
                                      <p:cBhvr>
                                        <p:cTn id="82" dur="500"/>
                                        <p:tgtEl>
                                          <p:spTgt spid="28"/>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29"/>
                                        </p:tgtEl>
                                        <p:attrNameLst>
                                          <p:attrName>style.visibility</p:attrName>
                                        </p:attrNameLst>
                                      </p:cBhvr>
                                      <p:to>
                                        <p:strVal val="visible"/>
                                      </p:to>
                                    </p:set>
                                    <p:animEffect transition="in" filter="fade">
                                      <p:cBhvr>
                                        <p:cTn id="85" dur="500"/>
                                        <p:tgtEl>
                                          <p:spTgt spid="29"/>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0"/>
                                        </p:tgtEl>
                                        <p:attrNameLst>
                                          <p:attrName>style.visibility</p:attrName>
                                        </p:attrNameLst>
                                      </p:cBhvr>
                                      <p:to>
                                        <p:strVal val="visible"/>
                                      </p:to>
                                    </p:set>
                                    <p:animEffect transition="in" filter="fade">
                                      <p:cBhvr>
                                        <p:cTn id="88" dur="500"/>
                                        <p:tgtEl>
                                          <p:spTgt spid="30"/>
                                        </p:tgtEl>
                                      </p:cBhvr>
                                    </p:animEffect>
                                  </p:childTnLst>
                                </p:cTn>
                              </p:par>
                              <p:par>
                                <p:cTn id="89" presetID="10" presetClass="entr" presetSubtype="0" fill="hold" nodeType="withEffect">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91" dur="500"/>
                                        <p:tgtEl>
                                          <p:spTgt spid="31"/>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2"/>
                                        </p:tgtEl>
                                        <p:attrNameLst>
                                          <p:attrName>style.visibility</p:attrName>
                                        </p:attrNameLst>
                                      </p:cBhvr>
                                      <p:to>
                                        <p:strVal val="visible"/>
                                      </p:to>
                                    </p:set>
                                    <p:animEffect transition="in" filter="fade">
                                      <p:cBhvr>
                                        <p:cTn id="94" dur="500"/>
                                        <p:tgtEl>
                                          <p:spTgt spid="32"/>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3"/>
                                        </p:tgtEl>
                                        <p:attrNameLst>
                                          <p:attrName>style.visibility</p:attrName>
                                        </p:attrNameLst>
                                      </p:cBhvr>
                                      <p:to>
                                        <p:strVal val="visible"/>
                                      </p:to>
                                    </p:set>
                                    <p:animEffect transition="in" filter="fade">
                                      <p:cBhvr>
                                        <p:cTn id="97" dur="500"/>
                                        <p:tgtEl>
                                          <p:spTgt spid="33"/>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34"/>
                                        </p:tgtEl>
                                        <p:attrNameLst>
                                          <p:attrName>style.visibility</p:attrName>
                                        </p:attrNameLst>
                                      </p:cBhvr>
                                      <p:to>
                                        <p:strVal val="visible"/>
                                      </p:to>
                                    </p:set>
                                    <p:animEffect transition="in" filter="fade">
                                      <p:cBhvr>
                                        <p:cTn id="102" dur="500"/>
                                        <p:tgtEl>
                                          <p:spTgt spid="34"/>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5"/>
                                        </p:tgtEl>
                                        <p:attrNameLst>
                                          <p:attrName>style.visibility</p:attrName>
                                        </p:attrNameLst>
                                      </p:cBhvr>
                                      <p:to>
                                        <p:strVal val="visible"/>
                                      </p:to>
                                    </p:set>
                                    <p:animEffect transition="in" filter="fade">
                                      <p:cBhvr>
                                        <p:cTn id="105" dur="500"/>
                                        <p:tgtEl>
                                          <p:spTgt spid="35"/>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6"/>
                                        </p:tgtEl>
                                        <p:attrNameLst>
                                          <p:attrName>style.visibility</p:attrName>
                                        </p:attrNameLst>
                                      </p:cBhvr>
                                      <p:to>
                                        <p:strVal val="visible"/>
                                      </p:to>
                                    </p:set>
                                    <p:animEffect transition="in" filter="fade">
                                      <p:cBhvr>
                                        <p:cTn id="108"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0" grpId="0" animBg="1"/>
      <p:bldP spid="11" grpId="0" animBg="1"/>
      <p:bldP spid="12" grpId="0" animBg="1"/>
      <p:bldP spid="14" grpId="0" animBg="1"/>
      <p:bldP spid="15" grpId="0" animBg="1"/>
      <p:bldP spid="16" grpId="0" animBg="1"/>
      <p:bldP spid="17" grpId="0" animBg="1"/>
      <p:bldP spid="18" grpId="0" animBg="1"/>
      <p:bldP spid="20" grpId="0" animBg="1"/>
      <p:bldP spid="21" grpId="0" animBg="1"/>
      <p:bldP spid="22" grpId="0" animBg="1"/>
      <p:bldP spid="23" grpId="0" animBg="1"/>
      <p:bldP spid="24" grpId="0" animBg="1"/>
      <p:bldP spid="26" grpId="0" animBg="1"/>
      <p:bldP spid="27" grpId="0" animBg="1"/>
      <p:bldP spid="28" grpId="0" animBg="1"/>
      <p:bldP spid="29" grpId="0" animBg="1"/>
      <p:bldP spid="30" grpId="0" animBg="1"/>
      <p:bldP spid="32" grpId="0" animBg="1"/>
      <p:bldP spid="33" grpId="0" animBg="1"/>
      <p:bldP spid="34" grpId="0" animBg="1"/>
      <p:bldP spid="35" grpId="0" animBg="1"/>
      <p:bldP spid="3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457200" y="256032"/>
            <a:ext cx="6400800" cy="201168"/>
          </a:xfrm>
          <a:prstGeom prst="rect">
            <a:avLst/>
          </a:prstGeom>
          <a:noFill/>
          <a:ln/>
        </p:spPr>
        <p:txBody>
          <a:bodyPr wrap="square" lIns="0" tIns="0" rIns="0" bIns="0" rtlCol="0" anchor="t"/>
          <a:lstStyle/>
          <a:p>
            <a:pPr indent="0" marL="0">
              <a:buNone/>
            </a:pPr>
            <a:r>
              <a:rPr lang="en-US" sz="1100" b="1" spc="200" kern="0" dirty="0">
                <a:solidFill>
                  <a:srgbClr val="A78BFA"/>
                </a:solidFill>
              </a:rPr>
              <a:t>4  SMARTER AI</a:t>
            </a:r>
            <a:endParaRPr lang="en-US" sz="1100" dirty="0"/>
          </a:p>
        </p:txBody>
      </p:sp>
      <p:sp>
        <p:nvSpPr>
          <p:cNvPr id="3" name="Text 2"/>
          <p:cNvSpPr/>
          <p:nvPr>
            <p:ph idx="103" type="title" hasCustomPrompt="1"/>
          </p:nvPr>
        </p:nvSpPr>
        <p:spPr>
          <a:xfrm>
            <a:off x="457200" y="457200"/>
            <a:ext cx="8229600" cy="685800"/>
          </a:xfrm>
          <a:prstGeom prst="rect">
            <a:avLst/>
          </a:prstGeom>
          <a:noFill/>
          <a:ln/>
        </p:spPr>
        <p:txBody>
          <a:bodyPr wrap="square" lIns="0" tIns="0" rIns="0" bIns="0" rtlCol="0" anchor="ctr"/>
          <a:lstStyle/>
          <a:p>
            <a:pPr algn="l" indent="0" marL="0">
              <a:buNone/>
            </a:pPr>
            <a:r>
              <a:rPr lang="en-US" sz="3000" b="1" dirty="0">
                <a:solidFill>
                  <a:srgbClr val="FFFFFF"/>
                </a:solidFill>
              </a:rPr>
              <a:t>LLM, RAG, agent, agentic AI</a:t>
            </a:r>
            <a:endParaRPr lang="en-US" sz="3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1554480"/>
                <a:gridCol w="1668780"/>
                <a:gridCol w="1668780"/>
                <a:gridCol w="1668780"/>
                <a:gridCol w="1668780"/>
              </a:tblGrid>
              <a:tr h="384048">
                <a:tc>
                  <a:txBody>
                    <a:bodyPr/>
                    <a:lstStyle/>
                    <a:p>
                      <a:pPr indent="0" marL="0">
                        <a:buNone/>
                      </a:pPr>
                      <a:endParaRPr lang="en-US" sz="1300" dirty="0"/>
                    </a:p>
                  </a:txBody>
                  <a:tcPr marL="91440" marR="91440" marT="45720" marB="45720"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A78BFA"/>
                    </a:solidFill>
                  </a:tcPr>
                </a:tc>
                <a:tc>
                  <a:txBody>
                    <a:bodyPr/>
                    <a:lstStyle/>
                    <a:p>
                      <a:pPr indent="0" marL="0">
                        <a:buNone/>
                      </a:pPr>
                      <a:r>
                        <a:rPr lang="en-US" sz="1300" b="1" dirty="0">
                          <a:solidFill>
                            <a:srgbClr val="0B1F3A"/>
                          </a:solidFill>
                        </a:rPr>
                        <a:t>LLM</a:t>
                      </a:r>
                      <a:endParaRPr lang="en-US" sz="1300" dirty="0"/>
                    </a:p>
                  </a:txBody>
                  <a:tcPr marL="91440" marR="91440" marT="45720" marB="45720"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A78BFA"/>
                    </a:solidFill>
                  </a:tcPr>
                </a:tc>
                <a:tc>
                  <a:txBody>
                    <a:bodyPr/>
                    <a:lstStyle/>
                    <a:p>
                      <a:pPr indent="0" marL="0">
                        <a:buNone/>
                      </a:pPr>
                      <a:r>
                        <a:rPr lang="en-US" sz="1300" b="1" dirty="0">
                          <a:solidFill>
                            <a:srgbClr val="0B1F3A"/>
                          </a:solidFill>
                        </a:rPr>
                        <a:t>RAG</a:t>
                      </a:r>
                      <a:endParaRPr lang="en-US" sz="1300" dirty="0"/>
                    </a:p>
                  </a:txBody>
                  <a:tcPr marL="91440" marR="91440" marT="45720" marB="45720"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A78BFA"/>
                    </a:solidFill>
                  </a:tcPr>
                </a:tc>
                <a:tc>
                  <a:txBody>
                    <a:bodyPr/>
                    <a:lstStyle/>
                    <a:p>
                      <a:pPr indent="0" marL="0">
                        <a:buNone/>
                      </a:pPr>
                      <a:r>
                        <a:rPr lang="en-US" sz="1300" b="1" dirty="0">
                          <a:solidFill>
                            <a:srgbClr val="0B1F3A"/>
                          </a:solidFill>
                        </a:rPr>
                        <a:t>AI agent</a:t>
                      </a:r>
                      <a:endParaRPr lang="en-US" sz="1300" dirty="0"/>
                    </a:p>
                  </a:txBody>
                  <a:tcPr marL="91440" marR="91440" marT="45720" marB="45720"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A78BFA"/>
                    </a:solidFill>
                  </a:tcPr>
                </a:tc>
                <a:tc>
                  <a:txBody>
                    <a:bodyPr/>
                    <a:lstStyle/>
                    <a:p>
                      <a:pPr indent="0" marL="0">
                        <a:buNone/>
                      </a:pPr>
                      <a:r>
                        <a:rPr lang="en-US" sz="1300" b="1" dirty="0">
                          <a:solidFill>
                            <a:srgbClr val="0B1F3A"/>
                          </a:solidFill>
                        </a:rPr>
                        <a:t>Agentic AI</a:t>
                      </a:r>
                      <a:endParaRPr lang="en-US" sz="1300" dirty="0"/>
                    </a:p>
                  </a:txBody>
                  <a:tcPr marL="91440" marR="91440" marT="45720" marB="45720"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A78BFA"/>
                    </a:solidFill>
                  </a:tcPr>
                </a:tc>
              </a:tr>
              <a:tr h="566928">
                <a:tc>
                  <a:txBody>
                    <a:bodyPr/>
                    <a:lstStyle/>
                    <a:p>
                      <a:pPr indent="0" marL="0">
                        <a:buNone/>
                      </a:pPr>
                      <a:r>
                        <a:rPr lang="en-US" sz="1300" b="1" dirty="0">
                          <a:solidFill>
                            <a:srgbClr val="F2B134"/>
                          </a:solidFill>
                        </a:rPr>
                        <a:t>In one line</a:t>
                      </a:r>
                      <a:endParaRPr lang="en-US" sz="1300" dirty="0"/>
                    </a:p>
                  </a:txBody>
                  <a:tcPr marL="91440" marR="91440" marT="45720" marB="45720"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14305A"/>
                    </a:solidFill>
                  </a:tcPr>
                </a:tc>
                <a:tc>
                  <a:txBody>
                    <a:bodyPr/>
                    <a:lstStyle/>
                    <a:p>
                      <a:pPr indent="0" marL="0">
                        <a:buNone/>
                      </a:pPr>
                      <a:r>
                        <a:rPr lang="en-US" sz="1300" dirty="0">
                          <a:solidFill>
                            <a:srgbClr val="FFFFFF"/>
                          </a:solidFill>
                        </a:rPr>
                        <a:t>Smart text generator</a:t>
                      </a:r>
                      <a:endParaRPr lang="en-US" sz="1300" dirty="0"/>
                    </a:p>
                  </a:txBody>
                  <a:tcPr marL="91440" marR="91440" marT="45720" marB="45720"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14305A"/>
                    </a:solidFill>
                  </a:tcPr>
                </a:tc>
                <a:tc>
                  <a:txBody>
                    <a:bodyPr/>
                    <a:lstStyle/>
                    <a:p>
                      <a:pPr indent="0" marL="0">
                        <a:buNone/>
                      </a:pPr>
                      <a:r>
                        <a:rPr lang="en-US" sz="1300" dirty="0">
                          <a:solidFill>
                            <a:srgbClr val="FFFFFF"/>
                          </a:solidFill>
                        </a:rPr>
                        <a:t>Answers from your documents</a:t>
                      </a:r>
                      <a:endParaRPr lang="en-US" sz="1300" dirty="0"/>
                    </a:p>
                  </a:txBody>
                  <a:tcPr marL="91440" marR="91440" marT="45720" marB="45720"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14305A"/>
                    </a:solidFill>
                  </a:tcPr>
                </a:tc>
                <a:tc>
                  <a:txBody>
                    <a:bodyPr/>
                    <a:lstStyle/>
                    <a:p>
                      <a:pPr indent="0" marL="0">
                        <a:buNone/>
                      </a:pPr>
                      <a:r>
                        <a:rPr lang="en-US" sz="1300" dirty="0">
                          <a:solidFill>
                            <a:srgbClr val="FFFFFF"/>
                          </a:solidFill>
                        </a:rPr>
                        <a:t>Plans and uses tools to do a task</a:t>
                      </a:r>
                      <a:endParaRPr lang="en-US" sz="1300" dirty="0"/>
                    </a:p>
                  </a:txBody>
                  <a:tcPr marL="91440" marR="91440" marT="45720" marB="45720"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14305A"/>
                    </a:solidFill>
                  </a:tcPr>
                </a:tc>
                <a:tc>
                  <a:txBody>
                    <a:bodyPr/>
                    <a:lstStyle/>
                    <a:p>
                      <a:pPr indent="0" marL="0">
                        <a:buNone/>
                      </a:pPr>
                      <a:r>
                        <a:rPr lang="en-US" sz="1300" dirty="0">
                          <a:solidFill>
                            <a:srgbClr val="FFFFFF"/>
                          </a:solidFill>
                        </a:rPr>
                        <a:t>A team of AI agents</a:t>
                      </a:r>
                      <a:endParaRPr lang="en-US" sz="1300" dirty="0"/>
                    </a:p>
                  </a:txBody>
                  <a:tcPr marL="91440" marR="91440" marT="45720" marB="45720"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14305A"/>
                    </a:solidFill>
                  </a:tcPr>
                </a:tc>
              </a:tr>
              <a:tr h="502920">
                <a:tc>
                  <a:txBody>
                    <a:bodyPr/>
                    <a:lstStyle/>
                    <a:p>
                      <a:pPr indent="0" marL="0">
                        <a:buNone/>
                      </a:pPr>
                      <a:r>
                        <a:rPr lang="en-US" sz="1300" b="1" dirty="0">
                          <a:solidFill>
                            <a:srgbClr val="F2B134"/>
                          </a:solidFill>
                        </a:rPr>
                        <a:t>Uses your documents?</a:t>
                      </a:r>
                      <a:endParaRPr lang="en-US" sz="1300" dirty="0"/>
                    </a:p>
                  </a:txBody>
                  <a:tcPr marL="91440" marR="91440" marT="45720" marB="45720"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14305A"/>
                    </a:solidFill>
                  </a:tcPr>
                </a:tc>
                <a:tc>
                  <a:txBody>
                    <a:bodyPr/>
                    <a:lstStyle/>
                    <a:p>
                      <a:pPr indent="0" marL="0">
                        <a:buNone/>
                      </a:pPr>
                      <a:r>
                        <a:rPr lang="en-US" sz="1300" dirty="0">
                          <a:solidFill>
                            <a:srgbClr val="FFFFFF"/>
                          </a:solidFill>
                        </a:rPr>
                        <a:t>No</a:t>
                      </a:r>
                      <a:endParaRPr lang="en-US" sz="1300" dirty="0"/>
                    </a:p>
                  </a:txBody>
                  <a:tcPr marL="91440" marR="91440" marT="45720" marB="45720"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14305A"/>
                    </a:solidFill>
                  </a:tcPr>
                </a:tc>
                <a:tc>
                  <a:txBody>
                    <a:bodyPr/>
                    <a:lstStyle/>
                    <a:p>
                      <a:pPr indent="0" marL="0">
                        <a:buNone/>
                      </a:pPr>
                      <a:r>
                        <a:rPr lang="en-US" sz="1300" dirty="0">
                          <a:solidFill>
                            <a:srgbClr val="FFFFFF"/>
                          </a:solidFill>
                        </a:rPr>
                        <a:t>Yes</a:t>
                      </a:r>
                      <a:endParaRPr lang="en-US" sz="1300" dirty="0"/>
                    </a:p>
                  </a:txBody>
                  <a:tcPr marL="91440" marR="91440" marT="45720" marB="45720"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14305A"/>
                    </a:solidFill>
                  </a:tcPr>
                </a:tc>
                <a:tc>
                  <a:txBody>
                    <a:bodyPr/>
                    <a:lstStyle/>
                    <a:p>
                      <a:pPr indent="0" marL="0">
                        <a:buNone/>
                      </a:pPr>
                      <a:r>
                        <a:rPr lang="en-US" sz="1300" dirty="0">
                          <a:solidFill>
                            <a:srgbClr val="FFFFFF"/>
                          </a:solidFill>
                        </a:rPr>
                        <a:t>If you connect them</a:t>
                      </a:r>
                      <a:endParaRPr lang="en-US" sz="1300" dirty="0"/>
                    </a:p>
                  </a:txBody>
                  <a:tcPr marL="91440" marR="91440" marT="45720" marB="45720"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14305A"/>
                    </a:solidFill>
                  </a:tcPr>
                </a:tc>
                <a:tc>
                  <a:txBody>
                    <a:bodyPr/>
                    <a:lstStyle/>
                    <a:p>
                      <a:pPr indent="0" marL="0">
                        <a:buNone/>
                      </a:pPr>
                      <a:r>
                        <a:rPr lang="en-US" sz="1300" dirty="0">
                          <a:solidFill>
                            <a:srgbClr val="FFFFFF"/>
                          </a:solidFill>
                        </a:rPr>
                        <a:t>If you connect them</a:t>
                      </a:r>
                      <a:endParaRPr lang="en-US" sz="1300" dirty="0"/>
                    </a:p>
                  </a:txBody>
                  <a:tcPr marL="91440" marR="91440" marT="45720" marB="45720"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14305A"/>
                    </a:solidFill>
                  </a:tcPr>
                </a:tc>
              </a:tr>
              <a:tr h="502920">
                <a:tc>
                  <a:txBody>
                    <a:bodyPr/>
                    <a:lstStyle/>
                    <a:p>
                      <a:pPr indent="0" marL="0">
                        <a:buNone/>
                      </a:pPr>
                      <a:r>
                        <a:rPr lang="en-US" sz="1300" b="1" dirty="0">
                          <a:solidFill>
                            <a:srgbClr val="F2B134"/>
                          </a:solidFill>
                        </a:rPr>
                        <a:t>Can do tasks?</a:t>
                      </a:r>
                      <a:endParaRPr lang="en-US" sz="1300" dirty="0"/>
                    </a:p>
                  </a:txBody>
                  <a:tcPr marL="91440" marR="91440" marT="45720" marB="45720"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14305A"/>
                    </a:solidFill>
                  </a:tcPr>
                </a:tc>
                <a:tc>
                  <a:txBody>
                    <a:bodyPr/>
                    <a:lstStyle/>
                    <a:p>
                      <a:pPr indent="0" marL="0">
                        <a:buNone/>
                      </a:pPr>
                      <a:r>
                        <a:rPr lang="en-US" sz="1300" dirty="0">
                          <a:solidFill>
                            <a:srgbClr val="FFFFFF"/>
                          </a:solidFill>
                        </a:rPr>
                        <a:t>No, only text</a:t>
                      </a:r>
                      <a:endParaRPr lang="en-US" sz="1300" dirty="0"/>
                    </a:p>
                  </a:txBody>
                  <a:tcPr marL="91440" marR="91440" marT="45720" marB="45720"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14305A"/>
                    </a:solidFill>
                  </a:tcPr>
                </a:tc>
                <a:tc>
                  <a:txBody>
                    <a:bodyPr/>
                    <a:lstStyle/>
                    <a:p>
                      <a:pPr indent="0" marL="0">
                        <a:buNone/>
                      </a:pPr>
                      <a:r>
                        <a:rPr lang="en-US" sz="1300" dirty="0">
                          <a:solidFill>
                            <a:srgbClr val="FFFFFF"/>
                          </a:solidFill>
                        </a:rPr>
                        <a:t>No, only answers</a:t>
                      </a:r>
                      <a:endParaRPr lang="en-US" sz="1300" dirty="0"/>
                    </a:p>
                  </a:txBody>
                  <a:tcPr marL="91440" marR="91440" marT="45720" marB="45720"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14305A"/>
                    </a:solidFill>
                  </a:tcPr>
                </a:tc>
                <a:tc>
                  <a:txBody>
                    <a:bodyPr/>
                    <a:lstStyle/>
                    <a:p>
                      <a:pPr indent="0" marL="0">
                        <a:buNone/>
                      </a:pPr>
                      <a:r>
                        <a:rPr lang="en-US" sz="1300" dirty="0">
                          <a:solidFill>
                            <a:srgbClr val="FFFFFF"/>
                          </a:solidFill>
                        </a:rPr>
                        <a:t>Yes</a:t>
                      </a:r>
                      <a:endParaRPr lang="en-US" sz="1300" dirty="0"/>
                    </a:p>
                  </a:txBody>
                  <a:tcPr marL="91440" marR="91440" marT="45720" marB="45720"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14305A"/>
                    </a:solidFill>
                  </a:tcPr>
                </a:tc>
                <a:tc>
                  <a:txBody>
                    <a:bodyPr/>
                    <a:lstStyle/>
                    <a:p>
                      <a:pPr indent="0" marL="0">
                        <a:buNone/>
                      </a:pPr>
                      <a:r>
                        <a:rPr lang="en-US" sz="1300" dirty="0">
                          <a:solidFill>
                            <a:srgbClr val="FFFFFF"/>
                          </a:solidFill>
                        </a:rPr>
                        <a:t>Yes, as a team</a:t>
                      </a:r>
                      <a:endParaRPr lang="en-US" sz="1300" dirty="0"/>
                    </a:p>
                  </a:txBody>
                  <a:tcPr marL="91440" marR="91440" marT="45720" marB="45720"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14305A"/>
                    </a:solidFill>
                  </a:tcPr>
                </a:tc>
              </a:tr>
              <a:tr h="457200">
                <a:tc>
                  <a:txBody>
                    <a:bodyPr/>
                    <a:lstStyle/>
                    <a:p>
                      <a:pPr indent="0" marL="0">
                        <a:buNone/>
                      </a:pPr>
                      <a:r>
                        <a:rPr lang="en-US" sz="1300" b="1" dirty="0">
                          <a:solidFill>
                            <a:srgbClr val="F2B134"/>
                          </a:solidFill>
                        </a:rPr>
                        <a:t>Real example</a:t>
                      </a:r>
                      <a:endParaRPr lang="en-US" sz="1300" dirty="0"/>
                    </a:p>
                  </a:txBody>
                  <a:tcPr marL="91440" marR="91440" marT="45720" marB="45720"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14305A"/>
                    </a:solidFill>
                  </a:tcPr>
                </a:tc>
                <a:tc>
                  <a:txBody>
                    <a:bodyPr/>
                    <a:lstStyle/>
                    <a:p>
                      <a:pPr indent="0" marL="0">
                        <a:buNone/>
                      </a:pPr>
                      <a:r>
                        <a:rPr lang="en-US" sz="1300" dirty="0">
                          <a:solidFill>
                            <a:srgbClr val="FFFFFF"/>
                          </a:solidFill>
                        </a:rPr>
                        <a:t>ChatGPT</a:t>
                      </a:r>
                      <a:endParaRPr lang="en-US" sz="1300" dirty="0"/>
                    </a:p>
                  </a:txBody>
                  <a:tcPr marL="91440" marR="91440" marT="45720" marB="45720"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14305A"/>
                    </a:solidFill>
                  </a:tcPr>
                </a:tc>
                <a:tc>
                  <a:txBody>
                    <a:bodyPr/>
                    <a:lstStyle/>
                    <a:p>
                      <a:pPr indent="0" marL="0">
                        <a:buNone/>
                      </a:pPr>
                      <a:r>
                        <a:rPr lang="en-US" sz="1300" dirty="0">
                          <a:solidFill>
                            <a:srgbClr val="FFFFFF"/>
                          </a:solidFill>
                        </a:rPr>
                        <a:t>Help chatbot</a:t>
                      </a:r>
                      <a:endParaRPr lang="en-US" sz="1300" dirty="0"/>
                    </a:p>
                  </a:txBody>
                  <a:tcPr marL="91440" marR="91440" marT="45720" marB="45720"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14305A"/>
                    </a:solidFill>
                  </a:tcPr>
                </a:tc>
                <a:tc>
                  <a:txBody>
                    <a:bodyPr/>
                    <a:lstStyle/>
                    <a:p>
                      <a:pPr indent="0" marL="0">
                        <a:buNone/>
                      </a:pPr>
                      <a:r>
                        <a:rPr lang="en-US" sz="1300" dirty="0">
                          <a:solidFill>
                            <a:srgbClr val="FFFFFF"/>
                          </a:solidFill>
                        </a:rPr>
                        <a:t>Coding assistant</a:t>
                      </a:r>
                      <a:endParaRPr lang="en-US" sz="1300" dirty="0"/>
                    </a:p>
                  </a:txBody>
                  <a:tcPr marL="91440" marR="91440" marT="45720" marB="45720"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14305A"/>
                    </a:solidFill>
                  </a:tcPr>
                </a:tc>
                <a:tc>
                  <a:txBody>
                    <a:bodyPr/>
                    <a:lstStyle/>
                    <a:p>
                      <a:pPr indent="0" marL="0">
                        <a:buNone/>
                      </a:pPr>
                      <a:r>
                        <a:rPr lang="en-US" sz="1300" dirty="0">
                          <a:solidFill>
                            <a:srgbClr val="FFFFFF"/>
                          </a:solidFill>
                        </a:rPr>
                        <a:t>AutoGen, CrewAI</a:t>
                      </a:r>
                      <a:endParaRPr lang="en-US" sz="1300" dirty="0"/>
                    </a:p>
                  </a:txBody>
                  <a:tcPr marL="91440" marR="91440" marT="45720" marB="45720" anchor="ctr">
                    <a:lnL w="12700" cap="flat" cmpd="sng" algn="ctr">
                      <a:solidFill>
                        <a:srgbClr val="0B1F3A"/>
                      </a:solidFill>
                      <a:prstDash val="solid"/>
                      <a:round/>
                      <a:headEnd type="none" w="med" len="med"/>
                      <a:tailEnd type="none" w="med" len="med"/>
                    </a:lnL>
                    <a:lnR w="12700" cap="flat" cmpd="sng" algn="ctr">
                      <a:solidFill>
                        <a:srgbClr val="0B1F3A"/>
                      </a:solidFill>
                      <a:prstDash val="solid"/>
                      <a:round/>
                      <a:headEnd type="none" w="med" len="med"/>
                      <a:tailEnd type="none" w="med" len="med"/>
                    </a:lnR>
                    <a:lnT w="12700" cap="flat" cmpd="sng" algn="ctr">
                      <a:solidFill>
                        <a:srgbClr val="0B1F3A"/>
                      </a:solidFill>
                      <a:prstDash val="solid"/>
                      <a:round/>
                      <a:headEnd type="none" w="med" len="med"/>
                      <a:tailEnd type="none" w="med" len="med"/>
                    </a:lnT>
                    <a:lnB w="12700" cap="flat" cmpd="sng" algn="ctr">
                      <a:solidFill>
                        <a:srgbClr val="0B1F3A"/>
                      </a:solidFill>
                      <a:prstDash val="solid"/>
                      <a:round/>
                      <a:headEnd type="none" w="med" len="med"/>
                      <a:tailEnd type="none" w="med" len="med"/>
                    </a:lnB>
                    <a:solidFill>
                      <a:srgbClr val="14305A"/>
                    </a:solidFill>
                  </a:tcPr>
                </a:tc>
              </a:tr>
            </a:tbl>
          </a:graphicData>
        </a:graphic>
      </p:graphicFrame>
      <p:sp>
        <p:nvSpPr>
          <p:cNvPr id="6" name="ck1_258"/>
          <p:cNvSpPr txBox="1"/>
          <p:nvPr/>
        </p:nvSpPr>
        <p:spPr>
          <a:xfrm>
            <a:off x="457200" y="4069080"/>
            <a:ext cx="8229600" cy="411480"/>
          </a:xfrm>
          <a:prstGeom prst="roundRect">
            <a:avLst>
              <a:gd name="adj" fmla="val 22222"/>
            </a:avLst>
          </a:prstGeom>
          <a:solidFill>
            <a:srgbClr val="F2B134"/>
          </a:solidFill>
          <a:ln/>
        </p:spPr>
        <p:txBody>
          <a:bodyPr wrap="square" lIns="762" tIns="762" rIns="762" bIns="762" rtlCol="0" anchor="ctr"/>
          <a:lstStyle/>
          <a:p>
            <a:pPr algn="ctr" indent="0" marL="0">
              <a:buNone/>
            </a:pPr>
            <a:r>
              <a:rPr lang="en-US" sz="1600" b="1" dirty="0">
                <a:solidFill>
                  <a:srgbClr val="0B1F3A"/>
                </a:solidFill>
              </a:rPr>
              <a:t>Start simple. Use the smallest one that solves the problem.</a:t>
            </a:r>
            <a:endParaRPr lang="en-US" sz="1600" dirty="0"/>
          </a:p>
        </p:txBody>
      </p:sp>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B9C6DA"/>
                </a:solidFill>
              </a:defRPr>
            </a:lvl1pPr>
          </a:lstStyle>
          <a:p>
            <a:pPr algn="r"/>
            <a:fld id="{F7021451-1387-4CA6-816F-3879F97B5CBC}" type="slidenum">
              <a:rPr b="0" lang="en-US"/>
              <a:t>20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457200" y="256032"/>
            <a:ext cx="6400800" cy="201168"/>
          </a:xfrm>
          <a:prstGeom prst="rect">
            <a:avLst/>
          </a:prstGeom>
          <a:noFill/>
          <a:ln/>
        </p:spPr>
        <p:txBody>
          <a:bodyPr wrap="square" lIns="0" tIns="0" rIns="0" bIns="0" rtlCol="0" anchor="t"/>
          <a:lstStyle/>
          <a:p>
            <a:pPr indent="0" marL="0">
              <a:buNone/>
            </a:pPr>
            <a:r>
              <a:rPr lang="en-US" sz="1100" b="1" spc="200" kern="0" dirty="0">
                <a:solidFill>
                  <a:srgbClr val="A78BFA"/>
                </a:solidFill>
              </a:rPr>
              <a:t>GAME  |  SHOUT THE ANSWER</a:t>
            </a:r>
            <a:endParaRPr lang="en-US" sz="1100" dirty="0"/>
          </a:p>
        </p:txBody>
      </p:sp>
      <p:sp>
        <p:nvSpPr>
          <p:cNvPr id="3" name="Text 2"/>
          <p:cNvSpPr/>
          <p:nvPr>
            <p:ph idx="103" type="title" hasCustomPrompt="1"/>
          </p:nvPr>
        </p:nvSpPr>
        <p:spPr>
          <a:xfrm>
            <a:off x="457200" y="457200"/>
            <a:ext cx="8229600" cy="685800"/>
          </a:xfrm>
          <a:prstGeom prst="rect">
            <a:avLst/>
          </a:prstGeom>
          <a:noFill/>
          <a:ln/>
        </p:spPr>
        <p:txBody>
          <a:bodyPr wrap="square" lIns="0" tIns="0" rIns="0" bIns="0" rtlCol="0" anchor="ctr"/>
          <a:lstStyle/>
          <a:p>
            <a:pPr algn="l" indent="0" marL="0">
              <a:buNone/>
            </a:pPr>
            <a:r>
              <a:rPr lang="en-US" sz="3000" b="1" dirty="0">
                <a:solidFill>
                  <a:srgbClr val="FFFFFF"/>
                </a:solidFill>
              </a:rPr>
              <a:t>LLM, RAG, agent or agentic AI?</a:t>
            </a:r>
            <a:endParaRPr lang="en-US" sz="3000" dirty="0"/>
          </a:p>
        </p:txBody>
      </p:sp>
      <p:sp>
        <p:nvSpPr>
          <p:cNvPr id="5" name="Text 2"/>
          <p:cNvSpPr txBox="1"/>
          <p:nvPr/>
        </p:nvSpPr>
        <p:spPr>
          <a:xfrm>
            <a:off x="7223760" y="256032"/>
            <a:ext cx="1463040" cy="237744"/>
          </a:xfrm>
          <a:prstGeom prst="roundRect">
            <a:avLst>
              <a:gd name="adj" fmla="val 38462"/>
            </a:avLst>
          </a:prstGeom>
          <a:solidFill>
            <a:srgbClr val="F2B134"/>
          </a:solidFill>
          <a:ln/>
        </p:spPr>
        <p:txBody>
          <a:bodyPr wrap="square" lIns="254" tIns="254" rIns="254" bIns="254" rtlCol="0" anchor="ctr"/>
          <a:lstStyle/>
          <a:p>
            <a:pPr algn="ctr" indent="0" marL="0">
              <a:buNone/>
            </a:pPr>
            <a:r>
              <a:rPr lang="en-US" sz="1100" b="1" dirty="0">
                <a:solidFill>
                  <a:srgbClr val="0B1F3A"/>
                </a:solidFill>
              </a:rPr>
              <a:t>SHOUT IT OUT</a:t>
            </a:r>
            <a:endParaRPr lang="en-US" sz="1100" dirty="0"/>
          </a:p>
        </p:txBody>
      </p:sp>
      <p:sp>
        <p:nvSpPr>
          <p:cNvPr id="6" name="Shape 3"/>
          <p:cNvSpPr/>
          <p:nvPr/>
        </p:nvSpPr>
        <p:spPr>
          <a:xfrm>
            <a:off x="457200" y="1325880"/>
            <a:ext cx="6126480" cy="658368"/>
          </a:xfrm>
          <a:prstGeom prst="roundRect">
            <a:avLst>
              <a:gd name="adj" fmla="val 13889"/>
            </a:avLst>
          </a:prstGeom>
          <a:solidFill>
            <a:srgbClr val="14305A"/>
          </a:solidFill>
          <a:ln/>
        </p:spPr>
      </p:sp>
      <p:sp>
        <p:nvSpPr>
          <p:cNvPr id="7" name="Text 4"/>
          <p:cNvSpPr txBox="1"/>
          <p:nvPr/>
        </p:nvSpPr>
        <p:spPr>
          <a:xfrm>
            <a:off x="658368" y="1325880"/>
            <a:ext cx="5760720" cy="658368"/>
          </a:xfrm>
          <a:prstGeom prst="rect">
            <a:avLst/>
          </a:prstGeom>
          <a:noFill/>
          <a:ln/>
        </p:spPr>
        <p:txBody>
          <a:bodyPr wrap="square" lIns="0" tIns="0" rIns="0" bIns="0" rtlCol="0" anchor="ctr"/>
          <a:lstStyle/>
          <a:p>
            <a:pPr indent="0" marL="0">
              <a:buNone/>
            </a:pPr>
            <a:r>
              <a:rPr lang="en-US" sz="1500" dirty="0">
                <a:solidFill>
                  <a:srgbClr val="FFFFFF"/>
                </a:solidFill>
              </a:rPr>
              <a:t>Write a poem about the monsoon.</a:t>
            </a:r>
            <a:endParaRPr lang="en-US" sz="1500" dirty="0"/>
          </a:p>
        </p:txBody>
      </p:sp>
      <p:sp>
        <p:nvSpPr>
          <p:cNvPr id="8" name="Text 5"/>
          <p:cNvSpPr txBox="1"/>
          <p:nvPr/>
        </p:nvSpPr>
        <p:spPr>
          <a:xfrm>
            <a:off x="6766560" y="1325880"/>
            <a:ext cx="1920240" cy="658368"/>
          </a:xfrm>
          <a:prstGeom prst="roundRect">
            <a:avLst>
              <a:gd name="adj" fmla="val 13889"/>
            </a:avLst>
          </a:prstGeom>
          <a:solidFill>
            <a:srgbClr val="14305A"/>
          </a:solidFill>
          <a:ln w="19050">
            <a:solidFill>
              <a:srgbClr val="F2B134"/>
            </a:solidFill>
            <a:prstDash val="dash"/>
          </a:ln>
        </p:spPr>
        <p:txBody>
          <a:bodyPr wrap="square" lIns="762" tIns="762" rIns="762" bIns="762" rtlCol="0" anchor="ctr"/>
          <a:lstStyle/>
          <a:p>
            <a:pPr algn="ctr" indent="0" marL="0">
              <a:buNone/>
            </a:pPr>
            <a:r>
              <a:rPr lang="en-US" sz="2200" b="1" dirty="0">
                <a:solidFill>
                  <a:srgbClr val="F2B134"/>
                </a:solidFill>
              </a:rPr>
              <a:t>?</a:t>
            </a:r>
            <a:endParaRPr lang="en-US" sz="2200" dirty="0"/>
          </a:p>
        </p:txBody>
      </p:sp>
      <p:sp>
        <p:nvSpPr>
          <p:cNvPr id="9" name="ck1_259"/>
          <p:cNvSpPr txBox="1"/>
          <p:nvPr/>
        </p:nvSpPr>
        <p:spPr>
          <a:xfrm>
            <a:off x="6766560" y="1325880"/>
            <a:ext cx="1920240" cy="658368"/>
          </a:xfrm>
          <a:prstGeom prst="roundRect">
            <a:avLst>
              <a:gd name="adj" fmla="val 13889"/>
            </a:avLst>
          </a:prstGeom>
          <a:solidFill>
            <a:srgbClr val="A78BFA"/>
          </a:solidFill>
          <a:ln/>
        </p:spPr>
        <p:txBody>
          <a:bodyPr wrap="square" lIns="762" tIns="762" rIns="762" bIns="762" rtlCol="0" anchor="ctr"/>
          <a:lstStyle/>
          <a:p>
            <a:pPr algn="ctr" indent="0" marL="0">
              <a:buNone/>
            </a:pPr>
            <a:r>
              <a:rPr lang="en-US" sz="1600" b="1" dirty="0">
                <a:solidFill>
                  <a:srgbClr val="0B1F3A"/>
                </a:solidFill>
              </a:rPr>
              <a:t>LLM</a:t>
            </a:r>
            <a:endParaRPr lang="en-US" sz="1600" dirty="0"/>
          </a:p>
        </p:txBody>
      </p:sp>
      <p:sp>
        <p:nvSpPr>
          <p:cNvPr id="10" name="Shape 7"/>
          <p:cNvSpPr/>
          <p:nvPr/>
        </p:nvSpPr>
        <p:spPr>
          <a:xfrm>
            <a:off x="457200" y="2103120"/>
            <a:ext cx="6126480" cy="658368"/>
          </a:xfrm>
          <a:prstGeom prst="roundRect">
            <a:avLst>
              <a:gd name="adj" fmla="val 13889"/>
            </a:avLst>
          </a:prstGeom>
          <a:solidFill>
            <a:srgbClr val="14305A"/>
          </a:solidFill>
          <a:ln/>
        </p:spPr>
      </p:sp>
      <p:sp>
        <p:nvSpPr>
          <p:cNvPr id="11" name="Text 8"/>
          <p:cNvSpPr txBox="1"/>
          <p:nvPr/>
        </p:nvSpPr>
        <p:spPr>
          <a:xfrm>
            <a:off x="658368" y="2103120"/>
            <a:ext cx="5760720" cy="658368"/>
          </a:xfrm>
          <a:prstGeom prst="rect">
            <a:avLst/>
          </a:prstGeom>
          <a:noFill/>
          <a:ln/>
        </p:spPr>
        <p:txBody>
          <a:bodyPr wrap="square" lIns="0" tIns="0" rIns="0" bIns="0" rtlCol="0" anchor="ctr"/>
          <a:lstStyle/>
          <a:p>
            <a:pPr indent="0" marL="0">
              <a:buNone/>
            </a:pPr>
            <a:r>
              <a:rPr lang="en-US" sz="1500" dirty="0">
                <a:solidFill>
                  <a:srgbClr val="FFFFFF"/>
                </a:solidFill>
              </a:rPr>
              <a:t>Answer questions from our college rulebook PDF.</a:t>
            </a:r>
            <a:endParaRPr lang="en-US" sz="1500" dirty="0"/>
          </a:p>
        </p:txBody>
      </p:sp>
      <p:sp>
        <p:nvSpPr>
          <p:cNvPr id="12" name="Text 9"/>
          <p:cNvSpPr txBox="1"/>
          <p:nvPr/>
        </p:nvSpPr>
        <p:spPr>
          <a:xfrm>
            <a:off x="6766560" y="2103120"/>
            <a:ext cx="1920240" cy="658368"/>
          </a:xfrm>
          <a:prstGeom prst="roundRect">
            <a:avLst>
              <a:gd name="adj" fmla="val 13889"/>
            </a:avLst>
          </a:prstGeom>
          <a:solidFill>
            <a:srgbClr val="14305A"/>
          </a:solidFill>
          <a:ln w="19050">
            <a:solidFill>
              <a:srgbClr val="F2B134"/>
            </a:solidFill>
            <a:prstDash val="dash"/>
          </a:ln>
        </p:spPr>
        <p:txBody>
          <a:bodyPr wrap="square" lIns="762" tIns="762" rIns="762" bIns="762" rtlCol="0" anchor="ctr"/>
          <a:lstStyle/>
          <a:p>
            <a:pPr algn="ctr" indent="0" marL="0">
              <a:buNone/>
            </a:pPr>
            <a:r>
              <a:rPr lang="en-US" sz="2200" b="1" dirty="0">
                <a:solidFill>
                  <a:srgbClr val="F2B134"/>
                </a:solidFill>
              </a:rPr>
              <a:t>?</a:t>
            </a:r>
            <a:endParaRPr lang="en-US" sz="2200" dirty="0"/>
          </a:p>
        </p:txBody>
      </p:sp>
      <p:sp>
        <p:nvSpPr>
          <p:cNvPr id="13" name="ck2_260"/>
          <p:cNvSpPr txBox="1"/>
          <p:nvPr/>
        </p:nvSpPr>
        <p:spPr>
          <a:xfrm>
            <a:off x="6766560" y="2103120"/>
            <a:ext cx="1920240" cy="658368"/>
          </a:xfrm>
          <a:prstGeom prst="roundRect">
            <a:avLst>
              <a:gd name="adj" fmla="val 13889"/>
            </a:avLst>
          </a:prstGeom>
          <a:solidFill>
            <a:srgbClr val="13A89E"/>
          </a:solidFill>
          <a:ln/>
        </p:spPr>
        <p:txBody>
          <a:bodyPr wrap="square" lIns="762" tIns="762" rIns="762" bIns="762" rtlCol="0" anchor="ctr"/>
          <a:lstStyle/>
          <a:p>
            <a:pPr algn="ctr" indent="0" marL="0">
              <a:buNone/>
            </a:pPr>
            <a:r>
              <a:rPr lang="en-US" sz="1600" b="1" dirty="0">
                <a:solidFill>
                  <a:srgbClr val="0B1F3A"/>
                </a:solidFill>
              </a:rPr>
              <a:t>RAG</a:t>
            </a:r>
            <a:endParaRPr lang="en-US" sz="1600" dirty="0"/>
          </a:p>
        </p:txBody>
      </p:sp>
      <p:sp>
        <p:nvSpPr>
          <p:cNvPr id="14" name="Shape 11"/>
          <p:cNvSpPr/>
          <p:nvPr/>
        </p:nvSpPr>
        <p:spPr>
          <a:xfrm>
            <a:off x="457200" y="2880360"/>
            <a:ext cx="6126480" cy="658368"/>
          </a:xfrm>
          <a:prstGeom prst="roundRect">
            <a:avLst>
              <a:gd name="adj" fmla="val 13889"/>
            </a:avLst>
          </a:prstGeom>
          <a:solidFill>
            <a:srgbClr val="14305A"/>
          </a:solidFill>
          <a:ln/>
        </p:spPr>
      </p:sp>
      <p:sp>
        <p:nvSpPr>
          <p:cNvPr id="15" name="Text 12"/>
          <p:cNvSpPr txBox="1"/>
          <p:nvPr/>
        </p:nvSpPr>
        <p:spPr>
          <a:xfrm>
            <a:off x="658368" y="2880360"/>
            <a:ext cx="5760720" cy="658368"/>
          </a:xfrm>
          <a:prstGeom prst="rect">
            <a:avLst/>
          </a:prstGeom>
          <a:noFill/>
          <a:ln/>
        </p:spPr>
        <p:txBody>
          <a:bodyPr wrap="square" lIns="0" tIns="0" rIns="0" bIns="0" rtlCol="0" anchor="ctr"/>
          <a:lstStyle/>
          <a:p>
            <a:pPr indent="0" marL="0">
              <a:buNone/>
            </a:pPr>
            <a:r>
              <a:rPr lang="en-US" sz="1500" dirty="0">
                <a:solidFill>
                  <a:srgbClr val="FFFFFF"/>
                </a:solidFill>
              </a:rPr>
              <a:t>Search the web, compare 3 laptops and email me a summary.</a:t>
            </a:r>
            <a:endParaRPr lang="en-US" sz="1500" dirty="0"/>
          </a:p>
        </p:txBody>
      </p:sp>
      <p:sp>
        <p:nvSpPr>
          <p:cNvPr id="16" name="Text 13"/>
          <p:cNvSpPr txBox="1"/>
          <p:nvPr/>
        </p:nvSpPr>
        <p:spPr>
          <a:xfrm>
            <a:off x="6766560" y="2880360"/>
            <a:ext cx="1920240" cy="658368"/>
          </a:xfrm>
          <a:prstGeom prst="roundRect">
            <a:avLst>
              <a:gd name="adj" fmla="val 13889"/>
            </a:avLst>
          </a:prstGeom>
          <a:solidFill>
            <a:srgbClr val="14305A"/>
          </a:solidFill>
          <a:ln w="19050">
            <a:solidFill>
              <a:srgbClr val="F2B134"/>
            </a:solidFill>
            <a:prstDash val="dash"/>
          </a:ln>
        </p:spPr>
        <p:txBody>
          <a:bodyPr wrap="square" lIns="762" tIns="762" rIns="762" bIns="762" rtlCol="0" anchor="ctr"/>
          <a:lstStyle/>
          <a:p>
            <a:pPr algn="ctr" indent="0" marL="0">
              <a:buNone/>
            </a:pPr>
            <a:r>
              <a:rPr lang="en-US" sz="2200" b="1" dirty="0">
                <a:solidFill>
                  <a:srgbClr val="F2B134"/>
                </a:solidFill>
              </a:rPr>
              <a:t>?</a:t>
            </a:r>
            <a:endParaRPr lang="en-US" sz="2200" dirty="0"/>
          </a:p>
        </p:txBody>
      </p:sp>
      <p:sp>
        <p:nvSpPr>
          <p:cNvPr id="17" name="ck3_261"/>
          <p:cNvSpPr txBox="1"/>
          <p:nvPr/>
        </p:nvSpPr>
        <p:spPr>
          <a:xfrm>
            <a:off x="6766560" y="2880360"/>
            <a:ext cx="1920240" cy="658368"/>
          </a:xfrm>
          <a:prstGeom prst="roundRect">
            <a:avLst>
              <a:gd name="adj" fmla="val 13889"/>
            </a:avLst>
          </a:prstGeom>
          <a:solidFill>
            <a:srgbClr val="F2B134"/>
          </a:solidFill>
          <a:ln/>
        </p:spPr>
        <p:txBody>
          <a:bodyPr wrap="square" lIns="762" tIns="762" rIns="762" bIns="762" rtlCol="0" anchor="ctr"/>
          <a:lstStyle/>
          <a:p>
            <a:pPr algn="ctr" indent="0" marL="0">
              <a:buNone/>
            </a:pPr>
            <a:r>
              <a:rPr lang="en-US" sz="1600" b="1" dirty="0">
                <a:solidFill>
                  <a:srgbClr val="0B1F3A"/>
                </a:solidFill>
              </a:rPr>
              <a:t>AGENT</a:t>
            </a:r>
            <a:endParaRPr lang="en-US" sz="1600" dirty="0"/>
          </a:p>
        </p:txBody>
      </p:sp>
      <p:sp>
        <p:nvSpPr>
          <p:cNvPr id="18" name="Shape 15"/>
          <p:cNvSpPr/>
          <p:nvPr/>
        </p:nvSpPr>
        <p:spPr>
          <a:xfrm>
            <a:off x="457200" y="3657600"/>
            <a:ext cx="6126480" cy="658368"/>
          </a:xfrm>
          <a:prstGeom prst="roundRect">
            <a:avLst>
              <a:gd name="adj" fmla="val 13889"/>
            </a:avLst>
          </a:prstGeom>
          <a:solidFill>
            <a:srgbClr val="14305A"/>
          </a:solidFill>
          <a:ln/>
        </p:spPr>
      </p:sp>
      <p:sp>
        <p:nvSpPr>
          <p:cNvPr id="19" name="Text 16"/>
          <p:cNvSpPr txBox="1"/>
          <p:nvPr/>
        </p:nvSpPr>
        <p:spPr>
          <a:xfrm>
            <a:off x="658368" y="3657600"/>
            <a:ext cx="5760720" cy="658368"/>
          </a:xfrm>
          <a:prstGeom prst="rect">
            <a:avLst/>
          </a:prstGeom>
          <a:noFill/>
          <a:ln/>
        </p:spPr>
        <p:txBody>
          <a:bodyPr wrap="square" lIns="0" tIns="0" rIns="0" bIns="0" rtlCol="0" anchor="ctr"/>
          <a:lstStyle/>
          <a:p>
            <a:pPr indent="0" marL="0">
              <a:buNone/>
            </a:pPr>
            <a:r>
              <a:rPr lang="en-US" sz="1500" dirty="0">
                <a:solidFill>
                  <a:srgbClr val="FFFFFF"/>
                </a:solidFill>
              </a:rPr>
              <a:t>One AI researches, one writes, one reviews a full marketing plan.</a:t>
            </a:r>
            <a:endParaRPr lang="en-US" sz="1500" dirty="0"/>
          </a:p>
        </p:txBody>
      </p:sp>
      <p:sp>
        <p:nvSpPr>
          <p:cNvPr id="20" name="Text 17"/>
          <p:cNvSpPr txBox="1"/>
          <p:nvPr/>
        </p:nvSpPr>
        <p:spPr>
          <a:xfrm>
            <a:off x="6766560" y="3657600"/>
            <a:ext cx="1920240" cy="658368"/>
          </a:xfrm>
          <a:prstGeom prst="roundRect">
            <a:avLst>
              <a:gd name="adj" fmla="val 13889"/>
            </a:avLst>
          </a:prstGeom>
          <a:solidFill>
            <a:srgbClr val="14305A"/>
          </a:solidFill>
          <a:ln w="19050">
            <a:solidFill>
              <a:srgbClr val="F2B134"/>
            </a:solidFill>
            <a:prstDash val="dash"/>
          </a:ln>
        </p:spPr>
        <p:txBody>
          <a:bodyPr wrap="square" lIns="762" tIns="762" rIns="762" bIns="762" rtlCol="0" anchor="ctr"/>
          <a:lstStyle/>
          <a:p>
            <a:pPr algn="ctr" indent="0" marL="0">
              <a:buNone/>
            </a:pPr>
            <a:r>
              <a:rPr lang="en-US" sz="2200" b="1" dirty="0">
                <a:solidFill>
                  <a:srgbClr val="F2B134"/>
                </a:solidFill>
              </a:rPr>
              <a:t>?</a:t>
            </a:r>
            <a:endParaRPr lang="en-US" sz="2200" dirty="0"/>
          </a:p>
        </p:txBody>
      </p:sp>
      <p:sp>
        <p:nvSpPr>
          <p:cNvPr id="21" name="ck4_262"/>
          <p:cNvSpPr txBox="1"/>
          <p:nvPr/>
        </p:nvSpPr>
        <p:spPr>
          <a:xfrm>
            <a:off x="6766560" y="3657600"/>
            <a:ext cx="1920240" cy="658368"/>
          </a:xfrm>
          <a:prstGeom prst="roundRect">
            <a:avLst>
              <a:gd name="adj" fmla="val 13889"/>
            </a:avLst>
          </a:prstGeom>
          <a:solidFill>
            <a:srgbClr val="F472B6"/>
          </a:solidFill>
          <a:ln/>
        </p:spPr>
        <p:txBody>
          <a:bodyPr wrap="square" lIns="762" tIns="762" rIns="762" bIns="762" rtlCol="0" anchor="ctr"/>
          <a:lstStyle/>
          <a:p>
            <a:pPr algn="ctr" indent="0" marL="0">
              <a:buNone/>
            </a:pPr>
            <a:r>
              <a:rPr lang="en-US" sz="1600" b="1" dirty="0">
                <a:solidFill>
                  <a:srgbClr val="0B1F3A"/>
                </a:solidFill>
              </a:rPr>
              <a:t>AGENTIC AI</a:t>
            </a:r>
            <a:endParaRPr lang="en-US" sz="1600" dirty="0"/>
          </a:p>
        </p:txBody>
      </p:sp>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B9C6DA"/>
                </a:solidFill>
              </a:defRPr>
            </a:lvl1pPr>
          </a:lstStyle>
          <a:p>
            <a:pPr algn="r"/>
            <a:fld id="{F7021451-1387-4CA6-816F-3879F97B5CBC}" type="slidenum">
              <a:rPr b="0" lang="en-US"/>
              <a:t>21</a:t>
            </a:fld>
            <a:endParaRPr lang="en-US"/>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animBg="1"/>
      <p:bldP spid="17" grpId="0" animBg="1"/>
      <p:bldP spid="2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457200" y="256032"/>
            <a:ext cx="6400800" cy="201168"/>
          </a:xfrm>
          <a:prstGeom prst="rect">
            <a:avLst/>
          </a:prstGeom>
          <a:noFill/>
          <a:ln/>
        </p:spPr>
        <p:txBody>
          <a:bodyPr wrap="square" lIns="0" tIns="0" rIns="0" bIns="0" rtlCol="0" anchor="t"/>
          <a:lstStyle/>
          <a:p>
            <a:pPr indent="0" marL="0">
              <a:buNone/>
            </a:pPr>
            <a:r>
              <a:rPr lang="en-US" sz="1100" b="1" spc="200" kern="0" dirty="0">
                <a:solidFill>
                  <a:srgbClr val="38BDF8"/>
                </a:solidFill>
              </a:rPr>
              <a:t>STRETCH</a:t>
            </a:r>
            <a:endParaRPr lang="en-US" sz="1100" dirty="0"/>
          </a:p>
        </p:txBody>
      </p:sp>
      <p:sp>
        <p:nvSpPr>
          <p:cNvPr id="3" name="Text 2"/>
          <p:cNvSpPr/>
          <p:nvPr>
            <p:ph idx="103" type="title" hasCustomPrompt="1"/>
          </p:nvPr>
        </p:nvSpPr>
        <p:spPr>
          <a:xfrm>
            <a:off x="457200" y="457200"/>
            <a:ext cx="8229600" cy="685800"/>
          </a:xfrm>
          <a:prstGeom prst="rect">
            <a:avLst/>
          </a:prstGeom>
          <a:noFill/>
          <a:ln/>
        </p:spPr>
        <p:txBody>
          <a:bodyPr wrap="square" lIns="0" tIns="0" rIns="0" bIns="0" rtlCol="0" anchor="ctr"/>
          <a:lstStyle/>
          <a:p>
            <a:pPr algn="l" indent="0" marL="0">
              <a:buNone/>
            </a:pPr>
            <a:r>
              <a:rPr lang="en-US" sz="3000" b="1" dirty="0">
                <a:solidFill>
                  <a:srgbClr val="FFFFFF"/>
                </a:solidFill>
              </a:rPr>
              <a:t>Stretch break</a:t>
            </a:r>
            <a:endParaRPr lang="en-US" sz="3000" dirty="0"/>
          </a:p>
        </p:txBody>
      </p:sp>
      <p:sp>
        <p:nvSpPr>
          <p:cNvPr id="5" name="Shape 2"/>
          <p:cNvSpPr/>
          <p:nvPr/>
        </p:nvSpPr>
        <p:spPr>
          <a:xfrm>
            <a:off x="731520" y="1417320"/>
            <a:ext cx="2560320" cy="2560320"/>
          </a:xfrm>
          <a:prstGeom prst="ellipse">
            <a:avLst/>
          </a:prstGeom>
          <a:solidFill>
            <a:srgbClr val="14305A"/>
          </a:solidFill>
          <a:ln w="50800">
            <a:solidFill>
              <a:srgbClr val="38BDF8"/>
            </a:solidFill>
            <a:prstDash val="solid"/>
          </a:ln>
        </p:spPr>
      </p:sp>
      <p:sp>
        <p:nvSpPr>
          <p:cNvPr id="6" name="Text 3"/>
          <p:cNvSpPr txBox="1"/>
          <p:nvPr/>
        </p:nvSpPr>
        <p:spPr>
          <a:xfrm>
            <a:off x="731520" y="1920240"/>
            <a:ext cx="2560320" cy="1097280"/>
          </a:xfrm>
          <a:prstGeom prst="rect">
            <a:avLst/>
          </a:prstGeom>
          <a:noFill/>
          <a:ln/>
        </p:spPr>
        <p:txBody>
          <a:bodyPr wrap="square" lIns="0" tIns="0" rIns="0" bIns="0" rtlCol="0" anchor="t"/>
          <a:lstStyle/>
          <a:p>
            <a:pPr algn="ctr" indent="0" marL="0">
              <a:buNone/>
            </a:pPr>
            <a:r>
              <a:rPr lang="en-US" sz="7200" b="1" dirty="0">
                <a:solidFill>
                  <a:srgbClr val="38BDF8"/>
                </a:solidFill>
              </a:rPr>
              <a:t>10</a:t>
            </a:r>
            <a:endParaRPr lang="en-US" sz="7200" dirty="0"/>
          </a:p>
        </p:txBody>
      </p:sp>
      <p:sp>
        <p:nvSpPr>
          <p:cNvPr id="7" name="Text 4"/>
          <p:cNvSpPr txBox="1"/>
          <p:nvPr/>
        </p:nvSpPr>
        <p:spPr>
          <a:xfrm>
            <a:off x="731520" y="3017520"/>
            <a:ext cx="2560320" cy="365760"/>
          </a:xfrm>
          <a:prstGeom prst="rect">
            <a:avLst/>
          </a:prstGeom>
          <a:noFill/>
          <a:ln/>
        </p:spPr>
        <p:txBody>
          <a:bodyPr wrap="square" lIns="0" tIns="0" rIns="0" bIns="0" rtlCol="0" anchor="t"/>
          <a:lstStyle/>
          <a:p>
            <a:pPr algn="ctr" indent="0" marL="0">
              <a:buNone/>
            </a:pPr>
            <a:r>
              <a:rPr lang="en-US" sz="1800" dirty="0">
                <a:solidFill>
                  <a:srgbClr val="B9C6DA"/>
                </a:solidFill>
              </a:rPr>
              <a:t>minutes</a:t>
            </a:r>
            <a:endParaRPr lang="en-US" sz="1800" dirty="0"/>
          </a:p>
        </p:txBody>
      </p:sp>
      <p:sp>
        <p:nvSpPr>
          <p:cNvPr id="8" name="ck1_263"/>
          <p:cNvSpPr/>
          <p:nvPr/>
        </p:nvSpPr>
        <p:spPr>
          <a:xfrm>
            <a:off x="3749040" y="1417320"/>
            <a:ext cx="4937760" cy="1097280"/>
          </a:xfrm>
          <a:prstGeom prst="roundRect">
            <a:avLst>
              <a:gd name="adj" fmla="val 8333"/>
            </a:avLst>
          </a:prstGeom>
          <a:solidFill>
            <a:srgbClr val="14305A"/>
          </a:solidFill>
          <a:ln/>
        </p:spPr>
      </p:sp>
      <p:sp>
        <p:nvSpPr>
          <p:cNvPr id="9" name="ck1_264"/>
          <p:cNvSpPr txBox="1"/>
          <p:nvPr/>
        </p:nvSpPr>
        <p:spPr>
          <a:xfrm>
            <a:off x="3931920" y="1737360"/>
            <a:ext cx="457200" cy="457200"/>
          </a:xfrm>
          <a:prstGeom prst="ellipse">
            <a:avLst/>
          </a:prstGeom>
          <a:solidFill>
            <a:srgbClr val="38BDF8"/>
          </a:solidFill>
          <a:ln/>
        </p:spPr>
        <p:txBody>
          <a:bodyPr wrap="square" lIns="0" tIns="0" rIns="0" bIns="0" rtlCol="0" anchor="ctr"/>
          <a:lstStyle/>
          <a:p>
            <a:pPr algn="ctr" indent="0" marL="0">
              <a:buNone/>
            </a:pPr>
            <a:r>
              <a:rPr lang="en-US" sz="1400" b="1" dirty="0">
                <a:solidFill>
                  <a:srgbClr val="0B1F3A"/>
                </a:solidFill>
              </a:rPr>
              <a:t>1</a:t>
            </a:r>
            <a:endParaRPr lang="en-US" sz="1400" dirty="0"/>
          </a:p>
        </p:txBody>
      </p:sp>
      <p:sp>
        <p:nvSpPr>
          <p:cNvPr id="10" name="ck1_265"/>
          <p:cNvSpPr txBox="1"/>
          <p:nvPr/>
        </p:nvSpPr>
        <p:spPr>
          <a:xfrm>
            <a:off x="4572000" y="1417320"/>
            <a:ext cx="4023360" cy="1097280"/>
          </a:xfrm>
          <a:prstGeom prst="rect">
            <a:avLst/>
          </a:prstGeom>
          <a:noFill/>
          <a:ln/>
        </p:spPr>
        <p:txBody>
          <a:bodyPr wrap="square" lIns="0" tIns="0" rIns="0" bIns="0" rtlCol="0" anchor="ctr"/>
          <a:lstStyle/>
          <a:p>
            <a:pPr indent="0" marL="0">
              <a:buNone/>
            </a:pPr>
            <a:r>
              <a:rPr lang="en-US" sz="1500" dirty="0">
                <a:solidFill>
                  <a:srgbClr val="FFFFFF"/>
                </a:solidFill>
              </a:rPr>
              <a:t>Stand up. Roll your shoulders. Turn to your neighbour and explain "LLM" in one sentence.</a:t>
            </a:r>
            <a:endParaRPr lang="en-US" sz="1500" dirty="0"/>
          </a:p>
        </p:txBody>
      </p:sp>
      <p:sp>
        <p:nvSpPr>
          <p:cNvPr id="11" name="ck2_266"/>
          <p:cNvSpPr/>
          <p:nvPr/>
        </p:nvSpPr>
        <p:spPr>
          <a:xfrm>
            <a:off x="3749040" y="2743200"/>
            <a:ext cx="4937760" cy="1097280"/>
          </a:xfrm>
          <a:prstGeom prst="roundRect">
            <a:avLst>
              <a:gd name="adj" fmla="val 8333"/>
            </a:avLst>
          </a:prstGeom>
          <a:solidFill>
            <a:srgbClr val="14305A"/>
          </a:solidFill>
          <a:ln/>
        </p:spPr>
      </p:sp>
      <p:sp>
        <p:nvSpPr>
          <p:cNvPr id="12" name="ck2_267"/>
          <p:cNvSpPr txBox="1"/>
          <p:nvPr/>
        </p:nvSpPr>
        <p:spPr>
          <a:xfrm>
            <a:off x="3931920" y="3063240"/>
            <a:ext cx="457200" cy="457200"/>
          </a:xfrm>
          <a:prstGeom prst="ellipse">
            <a:avLst/>
          </a:prstGeom>
          <a:solidFill>
            <a:srgbClr val="F2B134"/>
          </a:solidFill>
          <a:ln/>
        </p:spPr>
        <p:txBody>
          <a:bodyPr wrap="square" lIns="0" tIns="0" rIns="0" bIns="0" rtlCol="0" anchor="ctr"/>
          <a:lstStyle/>
          <a:p>
            <a:pPr algn="ctr" indent="0" marL="0">
              <a:buNone/>
            </a:pPr>
            <a:r>
              <a:rPr lang="en-US" sz="1400" b="1" dirty="0">
                <a:solidFill>
                  <a:srgbClr val="0B1F3A"/>
                </a:solidFill>
              </a:rPr>
              <a:t>2</a:t>
            </a:r>
            <a:endParaRPr lang="en-US" sz="1400" dirty="0"/>
          </a:p>
        </p:txBody>
      </p:sp>
      <p:sp>
        <p:nvSpPr>
          <p:cNvPr id="13" name="ck2_268"/>
          <p:cNvSpPr txBox="1"/>
          <p:nvPr/>
        </p:nvSpPr>
        <p:spPr>
          <a:xfrm>
            <a:off x="4572000" y="2743200"/>
            <a:ext cx="4023360" cy="1097280"/>
          </a:xfrm>
          <a:prstGeom prst="rect">
            <a:avLst/>
          </a:prstGeom>
          <a:noFill/>
          <a:ln/>
        </p:spPr>
        <p:txBody>
          <a:bodyPr wrap="square" lIns="0" tIns="0" rIns="0" bIns="0" rtlCol="0" anchor="ctr"/>
          <a:lstStyle/>
          <a:p>
            <a:pPr indent="0" marL="0">
              <a:buNone/>
            </a:pPr>
            <a:r>
              <a:rPr lang="en-US" sz="1500" dirty="0">
                <a:solidFill>
                  <a:srgbClr val="FFFFFF"/>
                </a:solidFill>
              </a:rPr>
              <a:t>Now explain RAG as an open-book exam. Stuck? Ask me when we are back.</a:t>
            </a:r>
            <a:endParaRPr lang="en-US" sz="1500" dirty="0"/>
          </a:p>
        </p:txBody>
      </p:sp>
      <p:sp>
        <p:nvSpPr>
          <p:cNvPr id="14" name="Text 11"/>
          <p:cNvSpPr txBox="1"/>
          <p:nvPr/>
        </p:nvSpPr>
        <p:spPr>
          <a:xfrm>
            <a:off x="457200" y="4160520"/>
            <a:ext cx="8229600" cy="320040"/>
          </a:xfrm>
          <a:prstGeom prst="rect">
            <a:avLst/>
          </a:prstGeom>
          <a:noFill/>
          <a:ln/>
        </p:spPr>
        <p:txBody>
          <a:bodyPr wrap="square" lIns="0" tIns="0" rIns="0" bIns="0" rtlCol="0" anchor="t"/>
          <a:lstStyle/>
          <a:p>
            <a:pPr indent="0" marL="0">
              <a:buNone/>
            </a:pPr>
            <a:r>
              <a:rPr lang="en-US" sz="1400" i="1" dirty="0">
                <a:solidFill>
                  <a:srgbClr val="B9C6DA"/>
                </a:solidFill>
              </a:rPr>
              <a:t>Next: how real companies use AI.</a:t>
            </a:r>
            <a:endParaRPr lang="en-US" sz="1400" dirty="0"/>
          </a:p>
        </p:txBody>
      </p:sp>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B9C6DA"/>
                </a:solidFill>
              </a:defRPr>
            </a:lvl1pPr>
          </a:lstStyle>
          <a:p>
            <a:pPr algn="r"/>
            <a:fld id="{F7021451-1387-4CA6-816F-3879F97B5CBC}" type="slidenum">
              <a:rPr b="0" lang="en-US"/>
              <a:t>22</a:t>
            </a:fld>
            <a:endParaRPr lang="en-US"/>
          </a:p>
        </p:txBody>
      </p:sp>
    </p:spTree>
  </p:cSld>
  <p:clrMapOvr>
    <a:masterClrMapping/>
  </p:clrMapOvr>
  <p:transition spd="slow">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457200" y="256032"/>
            <a:ext cx="6400800" cy="201168"/>
          </a:xfrm>
          <a:prstGeom prst="rect">
            <a:avLst/>
          </a:prstGeom>
          <a:noFill/>
          <a:ln/>
        </p:spPr>
        <p:txBody>
          <a:bodyPr wrap="square" lIns="0" tIns="0" rIns="0" bIns="0" rtlCol="0" anchor="t"/>
          <a:lstStyle/>
          <a:p>
            <a:pPr indent="0" marL="0">
              <a:buNone/>
            </a:pPr>
            <a:r>
              <a:rPr lang="en-US" sz="1100" b="1" spc="200" kern="0" dirty="0">
                <a:solidFill>
                  <a:srgbClr val="38BDF8"/>
                </a:solidFill>
              </a:rPr>
              <a:t>5  AI IN REAL LIFE</a:t>
            </a:r>
            <a:endParaRPr lang="en-US" sz="1100" dirty="0"/>
          </a:p>
        </p:txBody>
      </p:sp>
      <p:sp>
        <p:nvSpPr>
          <p:cNvPr id="3" name="Text 2"/>
          <p:cNvSpPr/>
          <p:nvPr>
            <p:ph idx="103" type="title" hasCustomPrompt="1"/>
          </p:nvPr>
        </p:nvSpPr>
        <p:spPr>
          <a:xfrm>
            <a:off x="457200" y="457200"/>
            <a:ext cx="8229600" cy="685800"/>
          </a:xfrm>
          <a:prstGeom prst="rect">
            <a:avLst/>
          </a:prstGeom>
          <a:noFill/>
          <a:ln/>
        </p:spPr>
        <p:txBody>
          <a:bodyPr wrap="square" lIns="0" tIns="0" rIns="0" bIns="0" rtlCol="0" anchor="ctr"/>
          <a:lstStyle/>
          <a:p>
            <a:pPr algn="l" indent="0" marL="0">
              <a:buNone/>
            </a:pPr>
            <a:r>
              <a:rPr lang="en-US" sz="3000" b="1" dirty="0">
                <a:solidFill>
                  <a:srgbClr val="FFFFFF"/>
                </a:solidFill>
              </a:rPr>
              <a:t>Where companies use AI</a:t>
            </a:r>
            <a:endParaRPr lang="en-US" sz="3000" dirty="0"/>
          </a:p>
        </p:txBody>
      </p:sp>
      <p:sp>
        <p:nvSpPr>
          <p:cNvPr id="5" name="ck1_269"/>
          <p:cNvSpPr/>
          <p:nvPr/>
        </p:nvSpPr>
        <p:spPr>
          <a:xfrm>
            <a:off x="457200" y="1325880"/>
            <a:ext cx="2651760" cy="1463040"/>
          </a:xfrm>
          <a:prstGeom prst="roundRect">
            <a:avLst>
              <a:gd name="adj" fmla="val 6250"/>
            </a:avLst>
          </a:prstGeom>
          <a:solidFill>
            <a:srgbClr val="14305A"/>
          </a:solidFill>
          <a:ln/>
        </p:spPr>
      </p:sp>
      <p:sp>
        <p:nvSpPr>
          <p:cNvPr id="6" name="ck1_270"/>
          <p:cNvSpPr/>
          <p:nvPr/>
        </p:nvSpPr>
        <p:spPr>
          <a:xfrm>
            <a:off x="640080" y="1508760"/>
            <a:ext cx="457200" cy="457200"/>
          </a:xfrm>
          <a:prstGeom prst="ellipse">
            <a:avLst/>
          </a:prstGeom>
          <a:solidFill>
            <a:srgbClr val="38BDF8"/>
          </a:solidFill>
          <a:ln/>
        </p:spPr>
      </p:sp>
      <p:pic>
        <p:nvPicPr>
          <p:cNvPr id="7" name="ck1_271" descr="preencoded.png">    </p:cNvPr>
          <p:cNvPicPr>
            <a:picLocks noChangeAspect="1"/>
          </p:cNvPicPr>
          <p:nvPr/>
        </p:nvPicPr>
        <p:blipFill>
          <a:blip r:embed="rId1"/>
          <a:stretch>
            <a:fillRect/>
          </a:stretch>
        </p:blipFill>
        <p:spPr>
          <a:xfrm>
            <a:off x="749808" y="1618488"/>
            <a:ext cx="237744" cy="237744"/>
          </a:xfrm>
          <a:prstGeom prst="rect">
            <a:avLst/>
          </a:prstGeom>
        </p:spPr>
      </p:pic>
      <p:sp>
        <p:nvSpPr>
          <p:cNvPr id="8" name="ck1_272"/>
          <p:cNvSpPr txBox="1"/>
          <p:nvPr/>
        </p:nvSpPr>
        <p:spPr>
          <a:xfrm>
            <a:off x="1234440" y="1508760"/>
            <a:ext cx="1783080" cy="457200"/>
          </a:xfrm>
          <a:prstGeom prst="rect">
            <a:avLst/>
          </a:prstGeom>
          <a:noFill/>
          <a:ln/>
        </p:spPr>
        <p:txBody>
          <a:bodyPr wrap="square" lIns="0" tIns="0" rIns="0" bIns="0" rtlCol="0" anchor="ctr"/>
          <a:lstStyle/>
          <a:p>
            <a:pPr indent="0" marL="0">
              <a:buNone/>
            </a:pPr>
            <a:r>
              <a:rPr lang="en-US" sz="1500" b="1" dirty="0">
                <a:solidFill>
                  <a:srgbClr val="FFFFFF"/>
                </a:solidFill>
              </a:rPr>
              <a:t>Banks</a:t>
            </a:r>
            <a:endParaRPr lang="en-US" sz="1500" dirty="0"/>
          </a:p>
        </p:txBody>
      </p:sp>
      <p:sp>
        <p:nvSpPr>
          <p:cNvPr id="9" name="ck1_273"/>
          <p:cNvSpPr txBox="1"/>
          <p:nvPr/>
        </p:nvSpPr>
        <p:spPr>
          <a:xfrm>
            <a:off x="640080" y="2103120"/>
            <a:ext cx="2331720" cy="640080"/>
          </a:xfrm>
          <a:prstGeom prst="rect">
            <a:avLst/>
          </a:prstGeom>
          <a:noFill/>
          <a:ln/>
        </p:spPr>
        <p:txBody>
          <a:bodyPr wrap="square" lIns="0" tIns="0" rIns="0" bIns="0" rtlCol="0" anchor="t"/>
          <a:lstStyle/>
          <a:p>
            <a:pPr indent="0" marL="0">
              <a:buNone/>
            </a:pPr>
            <a:r>
              <a:rPr lang="en-US" sz="1400" dirty="0">
                <a:solidFill>
                  <a:srgbClr val="B9C6DA"/>
                </a:solidFill>
              </a:rPr>
              <a:t>Spotting fraud, reading documents, support chat</a:t>
            </a:r>
            <a:endParaRPr lang="en-US" sz="1400" dirty="0"/>
          </a:p>
        </p:txBody>
      </p:sp>
      <p:sp>
        <p:nvSpPr>
          <p:cNvPr id="10" name="ck2_274"/>
          <p:cNvSpPr/>
          <p:nvPr/>
        </p:nvSpPr>
        <p:spPr>
          <a:xfrm>
            <a:off x="3246120" y="1325880"/>
            <a:ext cx="2651760" cy="1463040"/>
          </a:xfrm>
          <a:prstGeom prst="roundRect">
            <a:avLst>
              <a:gd name="adj" fmla="val 6250"/>
            </a:avLst>
          </a:prstGeom>
          <a:solidFill>
            <a:srgbClr val="14305A"/>
          </a:solidFill>
          <a:ln/>
        </p:spPr>
      </p:sp>
      <p:sp>
        <p:nvSpPr>
          <p:cNvPr id="11" name="ck2_275"/>
          <p:cNvSpPr/>
          <p:nvPr/>
        </p:nvSpPr>
        <p:spPr>
          <a:xfrm>
            <a:off x="3429000" y="1508760"/>
            <a:ext cx="457200" cy="457200"/>
          </a:xfrm>
          <a:prstGeom prst="ellipse">
            <a:avLst/>
          </a:prstGeom>
          <a:solidFill>
            <a:srgbClr val="38BDF8"/>
          </a:solidFill>
          <a:ln/>
        </p:spPr>
      </p:sp>
      <p:pic>
        <p:nvPicPr>
          <p:cNvPr id="12" name="ck2_276" descr="preencoded.png">    </p:cNvPr>
          <p:cNvPicPr>
            <a:picLocks noChangeAspect="1"/>
          </p:cNvPicPr>
          <p:nvPr/>
        </p:nvPicPr>
        <p:blipFill>
          <a:blip r:embed="rId2"/>
          <a:stretch>
            <a:fillRect/>
          </a:stretch>
        </p:blipFill>
        <p:spPr>
          <a:xfrm>
            <a:off x="3538728" y="1618488"/>
            <a:ext cx="237744" cy="237744"/>
          </a:xfrm>
          <a:prstGeom prst="rect">
            <a:avLst/>
          </a:prstGeom>
        </p:spPr>
      </p:pic>
      <p:sp>
        <p:nvSpPr>
          <p:cNvPr id="13" name="ck2_277"/>
          <p:cNvSpPr txBox="1"/>
          <p:nvPr/>
        </p:nvSpPr>
        <p:spPr>
          <a:xfrm>
            <a:off x="4023360" y="1508760"/>
            <a:ext cx="1783080" cy="457200"/>
          </a:xfrm>
          <a:prstGeom prst="rect">
            <a:avLst/>
          </a:prstGeom>
          <a:noFill/>
          <a:ln/>
        </p:spPr>
        <p:txBody>
          <a:bodyPr wrap="square" lIns="0" tIns="0" rIns="0" bIns="0" rtlCol="0" anchor="ctr"/>
          <a:lstStyle/>
          <a:p>
            <a:pPr indent="0" marL="0">
              <a:buNone/>
            </a:pPr>
            <a:r>
              <a:rPr lang="en-US" sz="1500" b="1" dirty="0">
                <a:solidFill>
                  <a:srgbClr val="FFFFFF"/>
                </a:solidFill>
              </a:rPr>
              <a:t>Hospitals</a:t>
            </a:r>
            <a:endParaRPr lang="en-US" sz="1500" dirty="0"/>
          </a:p>
        </p:txBody>
      </p:sp>
      <p:sp>
        <p:nvSpPr>
          <p:cNvPr id="14" name="ck2_278"/>
          <p:cNvSpPr txBox="1"/>
          <p:nvPr/>
        </p:nvSpPr>
        <p:spPr>
          <a:xfrm>
            <a:off x="3429000" y="2103120"/>
            <a:ext cx="2331720" cy="640080"/>
          </a:xfrm>
          <a:prstGeom prst="rect">
            <a:avLst/>
          </a:prstGeom>
          <a:noFill/>
          <a:ln/>
        </p:spPr>
        <p:txBody>
          <a:bodyPr wrap="square" lIns="0" tIns="0" rIns="0" bIns="0" rtlCol="0" anchor="t"/>
          <a:lstStyle/>
          <a:p>
            <a:pPr indent="0" marL="0">
              <a:buNone/>
            </a:pPr>
            <a:r>
              <a:rPr lang="en-US" sz="1400" dirty="0">
                <a:solidFill>
                  <a:srgbClr val="B9C6DA"/>
                </a:solidFill>
              </a:rPr>
              <a:t>Summarising notes; the doctor still decides</a:t>
            </a:r>
            <a:endParaRPr lang="en-US" sz="1400" dirty="0"/>
          </a:p>
        </p:txBody>
      </p:sp>
      <p:sp>
        <p:nvSpPr>
          <p:cNvPr id="15" name="ck3_279"/>
          <p:cNvSpPr/>
          <p:nvPr/>
        </p:nvSpPr>
        <p:spPr>
          <a:xfrm>
            <a:off x="6035040" y="1325880"/>
            <a:ext cx="2651760" cy="1463040"/>
          </a:xfrm>
          <a:prstGeom prst="roundRect">
            <a:avLst>
              <a:gd name="adj" fmla="val 6250"/>
            </a:avLst>
          </a:prstGeom>
          <a:solidFill>
            <a:srgbClr val="14305A"/>
          </a:solidFill>
          <a:ln/>
        </p:spPr>
      </p:sp>
      <p:sp>
        <p:nvSpPr>
          <p:cNvPr id="16" name="ck3_280"/>
          <p:cNvSpPr/>
          <p:nvPr/>
        </p:nvSpPr>
        <p:spPr>
          <a:xfrm>
            <a:off x="6217920" y="1508760"/>
            <a:ext cx="457200" cy="457200"/>
          </a:xfrm>
          <a:prstGeom prst="ellipse">
            <a:avLst/>
          </a:prstGeom>
          <a:solidFill>
            <a:srgbClr val="38BDF8"/>
          </a:solidFill>
          <a:ln/>
        </p:spPr>
      </p:sp>
      <p:pic>
        <p:nvPicPr>
          <p:cNvPr id="17" name="ck3_281" descr="preencoded.png">    </p:cNvPr>
          <p:cNvPicPr>
            <a:picLocks noChangeAspect="1"/>
          </p:cNvPicPr>
          <p:nvPr/>
        </p:nvPicPr>
        <p:blipFill>
          <a:blip r:embed="rId3"/>
          <a:stretch>
            <a:fillRect/>
          </a:stretch>
        </p:blipFill>
        <p:spPr>
          <a:xfrm>
            <a:off x="6327648" y="1618488"/>
            <a:ext cx="237744" cy="237744"/>
          </a:xfrm>
          <a:prstGeom prst="rect">
            <a:avLst/>
          </a:prstGeom>
        </p:spPr>
      </p:pic>
      <p:sp>
        <p:nvSpPr>
          <p:cNvPr id="18" name="ck3_282"/>
          <p:cNvSpPr txBox="1"/>
          <p:nvPr/>
        </p:nvSpPr>
        <p:spPr>
          <a:xfrm>
            <a:off x="6812280" y="1508760"/>
            <a:ext cx="1783080" cy="457200"/>
          </a:xfrm>
          <a:prstGeom prst="rect">
            <a:avLst/>
          </a:prstGeom>
          <a:noFill/>
          <a:ln/>
        </p:spPr>
        <p:txBody>
          <a:bodyPr wrap="square" lIns="0" tIns="0" rIns="0" bIns="0" rtlCol="0" anchor="ctr"/>
          <a:lstStyle/>
          <a:p>
            <a:pPr indent="0" marL="0">
              <a:buNone/>
            </a:pPr>
            <a:r>
              <a:rPr lang="en-US" sz="1500" b="1" dirty="0">
                <a:solidFill>
                  <a:srgbClr val="FFFFFF"/>
                </a:solidFill>
              </a:rPr>
              <a:t>Online shopping</a:t>
            </a:r>
            <a:endParaRPr lang="en-US" sz="1500" dirty="0"/>
          </a:p>
        </p:txBody>
      </p:sp>
      <p:sp>
        <p:nvSpPr>
          <p:cNvPr id="19" name="ck3_283"/>
          <p:cNvSpPr txBox="1"/>
          <p:nvPr/>
        </p:nvSpPr>
        <p:spPr>
          <a:xfrm>
            <a:off x="6217920" y="2103120"/>
            <a:ext cx="2331720" cy="640080"/>
          </a:xfrm>
          <a:prstGeom prst="rect">
            <a:avLst/>
          </a:prstGeom>
          <a:noFill/>
          <a:ln/>
        </p:spPr>
        <p:txBody>
          <a:bodyPr wrap="square" lIns="0" tIns="0" rIns="0" bIns="0" rtlCol="0" anchor="t"/>
          <a:lstStyle/>
          <a:p>
            <a:pPr indent="0" marL="0">
              <a:buNone/>
            </a:pPr>
            <a:r>
              <a:rPr lang="en-US" sz="1400" dirty="0">
                <a:solidFill>
                  <a:srgbClr val="B9C6DA"/>
                </a:solidFill>
              </a:rPr>
              <a:t>Search, recommendations, review summaries</a:t>
            </a:r>
            <a:endParaRPr lang="en-US" sz="1400" dirty="0"/>
          </a:p>
        </p:txBody>
      </p:sp>
      <p:sp>
        <p:nvSpPr>
          <p:cNvPr id="20" name="ck4_284"/>
          <p:cNvSpPr/>
          <p:nvPr/>
        </p:nvSpPr>
        <p:spPr>
          <a:xfrm>
            <a:off x="457200" y="2926080"/>
            <a:ext cx="2651760" cy="1463040"/>
          </a:xfrm>
          <a:prstGeom prst="roundRect">
            <a:avLst>
              <a:gd name="adj" fmla="val 6250"/>
            </a:avLst>
          </a:prstGeom>
          <a:solidFill>
            <a:srgbClr val="14305A"/>
          </a:solidFill>
          <a:ln/>
        </p:spPr>
      </p:sp>
      <p:sp>
        <p:nvSpPr>
          <p:cNvPr id="21" name="ck4_285"/>
          <p:cNvSpPr/>
          <p:nvPr/>
        </p:nvSpPr>
        <p:spPr>
          <a:xfrm>
            <a:off x="640080" y="3108960"/>
            <a:ext cx="457200" cy="457200"/>
          </a:xfrm>
          <a:prstGeom prst="ellipse">
            <a:avLst/>
          </a:prstGeom>
          <a:solidFill>
            <a:srgbClr val="38BDF8"/>
          </a:solidFill>
          <a:ln/>
        </p:spPr>
      </p:sp>
      <p:pic>
        <p:nvPicPr>
          <p:cNvPr id="22" name="ck4_286" descr="preencoded.png">    </p:cNvPr>
          <p:cNvPicPr>
            <a:picLocks noChangeAspect="1"/>
          </p:cNvPicPr>
          <p:nvPr/>
        </p:nvPicPr>
        <p:blipFill>
          <a:blip r:embed="rId4"/>
          <a:stretch>
            <a:fillRect/>
          </a:stretch>
        </p:blipFill>
        <p:spPr>
          <a:xfrm>
            <a:off x="749808" y="3218688"/>
            <a:ext cx="237744" cy="237744"/>
          </a:xfrm>
          <a:prstGeom prst="rect">
            <a:avLst/>
          </a:prstGeom>
        </p:spPr>
      </p:pic>
      <p:sp>
        <p:nvSpPr>
          <p:cNvPr id="23" name="ck4_287"/>
          <p:cNvSpPr txBox="1"/>
          <p:nvPr/>
        </p:nvSpPr>
        <p:spPr>
          <a:xfrm>
            <a:off x="1234440" y="3108960"/>
            <a:ext cx="1783080" cy="457200"/>
          </a:xfrm>
          <a:prstGeom prst="rect">
            <a:avLst/>
          </a:prstGeom>
          <a:noFill/>
          <a:ln/>
        </p:spPr>
        <p:txBody>
          <a:bodyPr wrap="square" lIns="0" tIns="0" rIns="0" bIns="0" rtlCol="0" anchor="ctr"/>
          <a:lstStyle/>
          <a:p>
            <a:pPr indent="0" marL="0">
              <a:buNone/>
            </a:pPr>
            <a:r>
              <a:rPr lang="en-US" sz="1500" b="1" dirty="0">
                <a:solidFill>
                  <a:srgbClr val="FFFFFF"/>
                </a:solidFill>
              </a:rPr>
              <a:t>Customer support</a:t>
            </a:r>
            <a:endParaRPr lang="en-US" sz="1500" dirty="0"/>
          </a:p>
        </p:txBody>
      </p:sp>
      <p:sp>
        <p:nvSpPr>
          <p:cNvPr id="24" name="ck4_288"/>
          <p:cNvSpPr txBox="1"/>
          <p:nvPr/>
        </p:nvSpPr>
        <p:spPr>
          <a:xfrm>
            <a:off x="640080" y="3703320"/>
            <a:ext cx="2331720" cy="640080"/>
          </a:xfrm>
          <a:prstGeom prst="rect">
            <a:avLst/>
          </a:prstGeom>
          <a:noFill/>
          <a:ln/>
        </p:spPr>
        <p:txBody>
          <a:bodyPr wrap="square" lIns="0" tIns="0" rIns="0" bIns="0" rtlCol="0" anchor="t"/>
          <a:lstStyle/>
          <a:p>
            <a:pPr indent="0" marL="0">
              <a:buNone/>
            </a:pPr>
            <a:r>
              <a:rPr lang="en-US" sz="1400" dirty="0">
                <a:solidFill>
                  <a:srgbClr val="B9C6DA"/>
                </a:solidFill>
              </a:rPr>
              <a:t>Chatbots that answer from company documents (RAG)</a:t>
            </a:r>
            <a:endParaRPr lang="en-US" sz="1400" dirty="0"/>
          </a:p>
        </p:txBody>
      </p:sp>
      <p:sp>
        <p:nvSpPr>
          <p:cNvPr id="25" name="ck5_289"/>
          <p:cNvSpPr/>
          <p:nvPr/>
        </p:nvSpPr>
        <p:spPr>
          <a:xfrm>
            <a:off x="3246120" y="2926080"/>
            <a:ext cx="2651760" cy="1463040"/>
          </a:xfrm>
          <a:prstGeom prst="roundRect">
            <a:avLst>
              <a:gd name="adj" fmla="val 6250"/>
            </a:avLst>
          </a:prstGeom>
          <a:solidFill>
            <a:srgbClr val="14305A"/>
          </a:solidFill>
          <a:ln/>
        </p:spPr>
      </p:sp>
      <p:sp>
        <p:nvSpPr>
          <p:cNvPr id="26" name="ck5_290"/>
          <p:cNvSpPr/>
          <p:nvPr/>
        </p:nvSpPr>
        <p:spPr>
          <a:xfrm>
            <a:off x="3429000" y="3108960"/>
            <a:ext cx="457200" cy="457200"/>
          </a:xfrm>
          <a:prstGeom prst="ellipse">
            <a:avLst/>
          </a:prstGeom>
          <a:solidFill>
            <a:srgbClr val="38BDF8"/>
          </a:solidFill>
          <a:ln/>
        </p:spPr>
      </p:sp>
      <p:pic>
        <p:nvPicPr>
          <p:cNvPr id="27" name="ck5_291" descr="preencoded.png">    </p:cNvPr>
          <p:cNvPicPr>
            <a:picLocks noChangeAspect="1"/>
          </p:cNvPicPr>
          <p:nvPr/>
        </p:nvPicPr>
        <p:blipFill>
          <a:blip r:embed="rId5"/>
          <a:stretch>
            <a:fillRect/>
          </a:stretch>
        </p:blipFill>
        <p:spPr>
          <a:xfrm>
            <a:off x="3538728" y="3218688"/>
            <a:ext cx="237744" cy="237744"/>
          </a:xfrm>
          <a:prstGeom prst="rect">
            <a:avLst/>
          </a:prstGeom>
        </p:spPr>
      </p:pic>
      <p:sp>
        <p:nvSpPr>
          <p:cNvPr id="28" name="ck5_292"/>
          <p:cNvSpPr txBox="1"/>
          <p:nvPr/>
        </p:nvSpPr>
        <p:spPr>
          <a:xfrm>
            <a:off x="4023360" y="3108960"/>
            <a:ext cx="1783080" cy="457200"/>
          </a:xfrm>
          <a:prstGeom prst="rect">
            <a:avLst/>
          </a:prstGeom>
          <a:noFill/>
          <a:ln/>
        </p:spPr>
        <p:txBody>
          <a:bodyPr wrap="square" lIns="0" tIns="0" rIns="0" bIns="0" rtlCol="0" anchor="ctr"/>
          <a:lstStyle/>
          <a:p>
            <a:pPr indent="0" marL="0">
              <a:buNone/>
            </a:pPr>
            <a:r>
              <a:rPr lang="en-US" sz="1500" b="1" dirty="0">
                <a:solidFill>
                  <a:srgbClr val="FFFFFF"/>
                </a:solidFill>
              </a:rPr>
              <a:t>Software teams</a:t>
            </a:r>
            <a:endParaRPr lang="en-US" sz="1500" dirty="0"/>
          </a:p>
        </p:txBody>
      </p:sp>
      <p:sp>
        <p:nvSpPr>
          <p:cNvPr id="29" name="ck5_293"/>
          <p:cNvSpPr txBox="1"/>
          <p:nvPr/>
        </p:nvSpPr>
        <p:spPr>
          <a:xfrm>
            <a:off x="3429000" y="3703320"/>
            <a:ext cx="2331720" cy="640080"/>
          </a:xfrm>
          <a:prstGeom prst="rect">
            <a:avLst/>
          </a:prstGeom>
          <a:noFill/>
          <a:ln/>
        </p:spPr>
        <p:txBody>
          <a:bodyPr wrap="square" lIns="0" tIns="0" rIns="0" bIns="0" rtlCol="0" anchor="t"/>
          <a:lstStyle/>
          <a:p>
            <a:pPr indent="0" marL="0">
              <a:buNone/>
            </a:pPr>
            <a:r>
              <a:rPr lang="en-US" sz="1400" dirty="0">
                <a:solidFill>
                  <a:srgbClr val="B9C6DA"/>
                </a:solidFill>
              </a:rPr>
              <a:t>Code help, writing tests, code review</a:t>
            </a:r>
            <a:endParaRPr lang="en-US" sz="1400" dirty="0"/>
          </a:p>
        </p:txBody>
      </p:sp>
      <p:sp>
        <p:nvSpPr>
          <p:cNvPr id="30" name="ck6_294"/>
          <p:cNvSpPr/>
          <p:nvPr/>
        </p:nvSpPr>
        <p:spPr>
          <a:xfrm>
            <a:off x="6035040" y="2926080"/>
            <a:ext cx="2651760" cy="1463040"/>
          </a:xfrm>
          <a:prstGeom prst="roundRect">
            <a:avLst>
              <a:gd name="adj" fmla="val 6250"/>
            </a:avLst>
          </a:prstGeom>
          <a:solidFill>
            <a:srgbClr val="14305A"/>
          </a:solidFill>
          <a:ln/>
        </p:spPr>
      </p:sp>
      <p:sp>
        <p:nvSpPr>
          <p:cNvPr id="31" name="ck6_295"/>
          <p:cNvSpPr/>
          <p:nvPr/>
        </p:nvSpPr>
        <p:spPr>
          <a:xfrm>
            <a:off x="6217920" y="3108960"/>
            <a:ext cx="457200" cy="457200"/>
          </a:xfrm>
          <a:prstGeom prst="ellipse">
            <a:avLst/>
          </a:prstGeom>
          <a:solidFill>
            <a:srgbClr val="38BDF8"/>
          </a:solidFill>
          <a:ln/>
        </p:spPr>
      </p:sp>
      <p:pic>
        <p:nvPicPr>
          <p:cNvPr id="32" name="ck6_296" descr="preencoded.png">    </p:cNvPr>
          <p:cNvPicPr>
            <a:picLocks noChangeAspect="1"/>
          </p:cNvPicPr>
          <p:nvPr/>
        </p:nvPicPr>
        <p:blipFill>
          <a:blip r:embed="rId6"/>
          <a:stretch>
            <a:fillRect/>
          </a:stretch>
        </p:blipFill>
        <p:spPr>
          <a:xfrm>
            <a:off x="6327648" y="3218688"/>
            <a:ext cx="237744" cy="237744"/>
          </a:xfrm>
          <a:prstGeom prst="rect">
            <a:avLst/>
          </a:prstGeom>
        </p:spPr>
      </p:pic>
      <p:sp>
        <p:nvSpPr>
          <p:cNvPr id="33" name="ck6_297"/>
          <p:cNvSpPr txBox="1"/>
          <p:nvPr/>
        </p:nvSpPr>
        <p:spPr>
          <a:xfrm>
            <a:off x="6812280" y="3108960"/>
            <a:ext cx="1783080" cy="457200"/>
          </a:xfrm>
          <a:prstGeom prst="rect">
            <a:avLst/>
          </a:prstGeom>
          <a:noFill/>
          <a:ln/>
        </p:spPr>
        <p:txBody>
          <a:bodyPr wrap="square" lIns="0" tIns="0" rIns="0" bIns="0" rtlCol="0" anchor="ctr"/>
          <a:lstStyle/>
          <a:p>
            <a:pPr indent="0" marL="0">
              <a:buNone/>
            </a:pPr>
            <a:r>
              <a:rPr lang="en-US" sz="1500" b="1" dirty="0">
                <a:solidFill>
                  <a:srgbClr val="FFFFFF"/>
                </a:solidFill>
              </a:rPr>
              <a:t>Hiring</a:t>
            </a:r>
            <a:endParaRPr lang="en-US" sz="1500" dirty="0"/>
          </a:p>
        </p:txBody>
      </p:sp>
      <p:sp>
        <p:nvSpPr>
          <p:cNvPr id="34" name="ck6_298"/>
          <p:cNvSpPr txBox="1"/>
          <p:nvPr/>
        </p:nvSpPr>
        <p:spPr>
          <a:xfrm>
            <a:off x="6217920" y="3703320"/>
            <a:ext cx="2331720" cy="640080"/>
          </a:xfrm>
          <a:prstGeom prst="rect">
            <a:avLst/>
          </a:prstGeom>
          <a:noFill/>
          <a:ln/>
        </p:spPr>
        <p:txBody>
          <a:bodyPr wrap="square" lIns="0" tIns="0" rIns="0" bIns="0" rtlCol="0" anchor="t"/>
          <a:lstStyle/>
          <a:p>
            <a:pPr indent="0" marL="0">
              <a:buNone/>
            </a:pPr>
            <a:r>
              <a:rPr lang="en-US" sz="1400" dirty="0">
                <a:solidFill>
                  <a:srgbClr val="B9C6DA"/>
                </a:solidFill>
              </a:rPr>
              <a:t>Sorting resumes; a human makes the final call</a:t>
            </a:r>
            <a:endParaRPr lang="en-US" sz="1400" dirty="0"/>
          </a:p>
        </p:txBody>
      </p:sp>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B9C6DA"/>
                </a:solidFill>
              </a:defRPr>
            </a:lvl1pPr>
          </a:lstStyle>
          <a:p>
            <a:pPr algn="r"/>
            <a:fld id="{F7021451-1387-4CA6-816F-3879F97B5CBC}" type="slidenum">
              <a:rPr b="0" lang="en-US"/>
              <a:t>23</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par>
                                <p:cTn id="28" presetID="10" presetClass="entr" presetSubtype="0" fill="hold"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childTnLst>
                                </p:cTn>
                              </p:par>
                              <p:par>
                                <p:cTn id="45" presetID="10" presetClass="entr" presetSubtype="0" fill="hold"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5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5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500"/>
                                        <p:tgtEl>
                                          <p:spTgt spid="21"/>
                                        </p:tgtEl>
                                      </p:cBhvr>
                                    </p:animEffect>
                                  </p:childTnLst>
                                </p:cTn>
                              </p:par>
                              <p:par>
                                <p:cTn id="62" presetID="10" presetClass="entr" presetSubtype="0" fill="hold"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5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5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500"/>
                                        <p:tgtEl>
                                          <p:spTgt spid="24"/>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50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500"/>
                                        <p:tgtEl>
                                          <p:spTgt spid="26"/>
                                        </p:tgtEl>
                                      </p:cBhvr>
                                    </p:animEffect>
                                  </p:childTnLst>
                                </p:cTn>
                              </p:par>
                              <p:par>
                                <p:cTn id="79" presetID="10" presetClass="entr" presetSubtype="0" fill="hold" nodeType="with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500"/>
                                        <p:tgtEl>
                                          <p:spTgt spid="27"/>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500"/>
                                        <p:tgtEl>
                                          <p:spTgt spid="28"/>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500"/>
                                        <p:tgtEl>
                                          <p:spTgt spid="29"/>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30"/>
                                        </p:tgtEl>
                                        <p:attrNameLst>
                                          <p:attrName>style.visibility</p:attrName>
                                        </p:attrNameLst>
                                      </p:cBhvr>
                                      <p:to>
                                        <p:strVal val="visible"/>
                                      </p:to>
                                    </p:set>
                                    <p:animEffect transition="in" filter="fade">
                                      <p:cBhvr>
                                        <p:cTn id="92" dur="500"/>
                                        <p:tgtEl>
                                          <p:spTgt spid="30"/>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fade">
                                      <p:cBhvr>
                                        <p:cTn id="95" dur="500"/>
                                        <p:tgtEl>
                                          <p:spTgt spid="31"/>
                                        </p:tgtEl>
                                      </p:cBhvr>
                                    </p:animEffect>
                                  </p:childTnLst>
                                </p:cTn>
                              </p:par>
                              <p:par>
                                <p:cTn id="96" presetID="10" presetClass="entr" presetSubtype="0" fill="hold" nodeType="withEffect">
                                  <p:stCondLst>
                                    <p:cond delay="0"/>
                                  </p:stCondLst>
                                  <p:childTnLst>
                                    <p:set>
                                      <p:cBhvr>
                                        <p:cTn id="97" dur="1" fill="hold">
                                          <p:stCondLst>
                                            <p:cond delay="0"/>
                                          </p:stCondLst>
                                        </p:cTn>
                                        <p:tgtEl>
                                          <p:spTgt spid="32"/>
                                        </p:tgtEl>
                                        <p:attrNameLst>
                                          <p:attrName>style.visibility</p:attrName>
                                        </p:attrNameLst>
                                      </p:cBhvr>
                                      <p:to>
                                        <p:strVal val="visible"/>
                                      </p:to>
                                    </p:set>
                                    <p:animEffect transition="in" filter="fade">
                                      <p:cBhvr>
                                        <p:cTn id="98" dur="500"/>
                                        <p:tgtEl>
                                          <p:spTgt spid="32"/>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3"/>
                                        </p:tgtEl>
                                        <p:attrNameLst>
                                          <p:attrName>style.visibility</p:attrName>
                                        </p:attrNameLst>
                                      </p:cBhvr>
                                      <p:to>
                                        <p:strVal val="visible"/>
                                      </p:to>
                                    </p:set>
                                    <p:animEffect transition="in" filter="fade">
                                      <p:cBhvr>
                                        <p:cTn id="101" dur="500"/>
                                        <p:tgtEl>
                                          <p:spTgt spid="33"/>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4"/>
                                        </p:tgtEl>
                                        <p:attrNameLst>
                                          <p:attrName>style.visibility</p:attrName>
                                        </p:attrNameLst>
                                      </p:cBhvr>
                                      <p:to>
                                        <p:strVal val="visible"/>
                                      </p:to>
                                    </p:set>
                                    <p:animEffect transition="in" filter="fade">
                                      <p:cBhvr>
                                        <p:cTn id="104"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0" grpId="0" animBg="1"/>
      <p:bldP spid="11" grpId="0" animBg="1"/>
      <p:bldP spid="13" grpId="0" animBg="1"/>
      <p:bldP spid="14" grpId="0" animBg="1"/>
      <p:bldP spid="15" grpId="0" animBg="1"/>
      <p:bldP spid="16" grpId="0" animBg="1"/>
      <p:bldP spid="18" grpId="0" animBg="1"/>
      <p:bldP spid="19" grpId="0" animBg="1"/>
      <p:bldP spid="20" grpId="0" animBg="1"/>
      <p:bldP spid="21" grpId="0" animBg="1"/>
      <p:bldP spid="23" grpId="0" animBg="1"/>
      <p:bldP spid="24" grpId="0" animBg="1"/>
      <p:bldP spid="25" grpId="0" animBg="1"/>
      <p:bldP spid="26" grpId="0" animBg="1"/>
      <p:bldP spid="28" grpId="0" animBg="1"/>
      <p:bldP spid="29" grpId="0" animBg="1"/>
      <p:bldP spid="30" grpId="0" animBg="1"/>
      <p:bldP spid="31" grpId="0" animBg="1"/>
      <p:bldP spid="33" grpId="0" animBg="1"/>
      <p:bldP spid="3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457200" y="256032"/>
            <a:ext cx="6400800" cy="201168"/>
          </a:xfrm>
          <a:prstGeom prst="rect">
            <a:avLst/>
          </a:prstGeom>
          <a:noFill/>
          <a:ln/>
        </p:spPr>
        <p:txBody>
          <a:bodyPr wrap="square" lIns="0" tIns="0" rIns="0" bIns="0" rtlCol="0" anchor="t"/>
          <a:lstStyle/>
          <a:p>
            <a:pPr indent="0" marL="0">
              <a:buNone/>
            </a:pPr>
            <a:r>
              <a:rPr lang="en-US" sz="1100" b="1" spc="200" kern="0" dirty="0">
                <a:solidFill>
                  <a:srgbClr val="F2B134"/>
                </a:solidFill>
              </a:rPr>
              <a:t>OUR PRODUCT</a:t>
            </a:r>
            <a:endParaRPr lang="en-US" sz="1100" dirty="0"/>
          </a:p>
        </p:txBody>
      </p:sp>
      <p:sp>
        <p:nvSpPr>
          <p:cNvPr id="3" name="Text 2"/>
          <p:cNvSpPr/>
          <p:nvPr>
            <p:ph idx="103" type="title" hasCustomPrompt="1"/>
          </p:nvPr>
        </p:nvSpPr>
        <p:spPr>
          <a:xfrm>
            <a:off x="457200" y="457200"/>
            <a:ext cx="8229600" cy="685800"/>
          </a:xfrm>
          <a:prstGeom prst="rect">
            <a:avLst/>
          </a:prstGeom>
          <a:noFill/>
          <a:ln/>
        </p:spPr>
        <p:txBody>
          <a:bodyPr wrap="square" lIns="0" tIns="0" rIns="0" bIns="0" rtlCol="0" anchor="ctr"/>
          <a:lstStyle/>
          <a:p>
            <a:pPr algn="l" indent="0" marL="0">
              <a:buNone/>
            </a:pPr>
            <a:r>
              <a:rPr lang="en-US" sz="3000" b="1" dirty="0">
                <a:solidFill>
                  <a:srgbClr val="FFFFFF"/>
                </a:solidFill>
              </a:rPr>
              <a:t>A real product: Jyotish AI by Saavira</a:t>
            </a:r>
            <a:endParaRPr lang="en-US" sz="3000" dirty="0"/>
          </a:p>
        </p:txBody>
      </p:sp>
      <p:sp>
        <p:nvSpPr>
          <p:cNvPr id="5" name="ck1_299"/>
          <p:cNvSpPr/>
          <p:nvPr/>
        </p:nvSpPr>
        <p:spPr>
          <a:xfrm>
            <a:off x="457200" y="1325880"/>
            <a:ext cx="1874520" cy="1371600"/>
          </a:xfrm>
          <a:prstGeom prst="roundRect">
            <a:avLst>
              <a:gd name="adj" fmla="val 6667"/>
            </a:avLst>
          </a:prstGeom>
          <a:solidFill>
            <a:srgbClr val="14305A"/>
          </a:solidFill>
          <a:ln/>
        </p:spPr>
      </p:sp>
      <p:sp>
        <p:nvSpPr>
          <p:cNvPr id="6" name="ck1_300"/>
          <p:cNvSpPr txBox="1"/>
          <p:nvPr/>
        </p:nvSpPr>
        <p:spPr>
          <a:xfrm>
            <a:off x="594360" y="1463040"/>
            <a:ext cx="1645920" cy="365760"/>
          </a:xfrm>
          <a:prstGeom prst="rect">
            <a:avLst/>
          </a:prstGeom>
          <a:noFill/>
          <a:ln/>
        </p:spPr>
        <p:txBody>
          <a:bodyPr wrap="square" lIns="0" tIns="0" rIns="0" bIns="0" rtlCol="0" anchor="t"/>
          <a:lstStyle/>
          <a:p>
            <a:pPr indent="0" marL="0">
              <a:buNone/>
            </a:pPr>
            <a:r>
              <a:rPr lang="en-US" sz="1600" b="1" dirty="0">
                <a:solidFill>
                  <a:srgbClr val="FFFFFF"/>
                </a:solidFill>
              </a:rPr>
              <a:t>Birth details</a:t>
            </a:r>
            <a:endParaRPr lang="en-US" sz="1600" dirty="0"/>
          </a:p>
        </p:txBody>
      </p:sp>
      <p:sp>
        <p:nvSpPr>
          <p:cNvPr id="7" name="ck1_301"/>
          <p:cNvSpPr txBox="1"/>
          <p:nvPr/>
        </p:nvSpPr>
        <p:spPr>
          <a:xfrm>
            <a:off x="594360" y="1920240"/>
            <a:ext cx="1645920" cy="731520"/>
          </a:xfrm>
          <a:prstGeom prst="rect">
            <a:avLst/>
          </a:prstGeom>
          <a:noFill/>
          <a:ln/>
        </p:spPr>
        <p:txBody>
          <a:bodyPr wrap="square" lIns="0" tIns="0" rIns="0" bIns="0" rtlCol="0" anchor="t"/>
          <a:lstStyle/>
          <a:p>
            <a:pPr indent="0" marL="0">
              <a:buNone/>
            </a:pPr>
            <a:r>
              <a:rPr lang="en-US" sz="1300" dirty="0">
                <a:solidFill>
                  <a:srgbClr val="B9C6DA"/>
                </a:solidFill>
              </a:rPr>
              <a:t>You enter them</a:t>
            </a:r>
            <a:endParaRPr lang="en-US" sz="1300" dirty="0"/>
          </a:p>
        </p:txBody>
      </p:sp>
      <p:sp>
        <p:nvSpPr>
          <p:cNvPr id="8" name="ck2_302"/>
          <p:cNvSpPr/>
          <p:nvPr/>
        </p:nvSpPr>
        <p:spPr>
          <a:xfrm>
            <a:off x="2350008" y="2011680"/>
            <a:ext cx="182880" cy="0"/>
          </a:xfrm>
          <a:prstGeom prst="line">
            <a:avLst/>
          </a:prstGeom>
          <a:noFill/>
          <a:ln w="25400">
            <a:solidFill>
              <a:srgbClr val="B9C6DA"/>
            </a:solidFill>
            <a:prstDash val="solid"/>
            <a:tailEnd type="triangle"/>
          </a:ln>
        </p:spPr>
      </p:sp>
      <p:sp>
        <p:nvSpPr>
          <p:cNvPr id="9" name="ck2_303"/>
          <p:cNvSpPr/>
          <p:nvPr/>
        </p:nvSpPr>
        <p:spPr>
          <a:xfrm>
            <a:off x="2560320" y="1325880"/>
            <a:ext cx="1874520" cy="1371600"/>
          </a:xfrm>
          <a:prstGeom prst="roundRect">
            <a:avLst>
              <a:gd name="adj" fmla="val 6667"/>
            </a:avLst>
          </a:prstGeom>
          <a:solidFill>
            <a:srgbClr val="13A89E"/>
          </a:solidFill>
          <a:ln/>
        </p:spPr>
      </p:sp>
      <p:sp>
        <p:nvSpPr>
          <p:cNvPr id="10" name="ck2_304"/>
          <p:cNvSpPr txBox="1"/>
          <p:nvPr/>
        </p:nvSpPr>
        <p:spPr>
          <a:xfrm>
            <a:off x="2697480" y="1463040"/>
            <a:ext cx="1645920" cy="365760"/>
          </a:xfrm>
          <a:prstGeom prst="rect">
            <a:avLst/>
          </a:prstGeom>
          <a:noFill/>
          <a:ln/>
        </p:spPr>
        <p:txBody>
          <a:bodyPr wrap="square" lIns="0" tIns="0" rIns="0" bIns="0" rtlCol="0" anchor="t"/>
          <a:lstStyle/>
          <a:p>
            <a:pPr indent="0" marL="0">
              <a:buNone/>
            </a:pPr>
            <a:r>
              <a:rPr lang="en-US" sz="1600" b="1" dirty="0">
                <a:solidFill>
                  <a:srgbClr val="0B1F3A"/>
                </a:solidFill>
              </a:rPr>
              <a:t>Code calculates</a:t>
            </a:r>
            <a:endParaRPr lang="en-US" sz="1600" dirty="0"/>
          </a:p>
        </p:txBody>
      </p:sp>
      <p:sp>
        <p:nvSpPr>
          <p:cNvPr id="11" name="ck2_305"/>
          <p:cNvSpPr txBox="1"/>
          <p:nvPr/>
        </p:nvSpPr>
        <p:spPr>
          <a:xfrm>
            <a:off x="2697480" y="1920240"/>
            <a:ext cx="1645920" cy="731520"/>
          </a:xfrm>
          <a:prstGeom prst="rect">
            <a:avLst/>
          </a:prstGeom>
          <a:noFill/>
          <a:ln/>
        </p:spPr>
        <p:txBody>
          <a:bodyPr wrap="square" lIns="0" tIns="0" rIns="0" bIns="0" rtlCol="0" anchor="t"/>
          <a:lstStyle/>
          <a:p>
            <a:pPr indent="0" marL="0">
              <a:buNone/>
            </a:pPr>
            <a:r>
              <a:rPr lang="en-US" sz="1300" dirty="0">
                <a:solidFill>
                  <a:srgbClr val="0B1F3A"/>
                </a:solidFill>
              </a:rPr>
              <a:t>Fixed formulas</a:t>
            </a:r>
            <a:endParaRPr lang="en-US" sz="1300" dirty="0"/>
          </a:p>
        </p:txBody>
      </p:sp>
      <p:sp>
        <p:nvSpPr>
          <p:cNvPr id="12" name="ck3_306"/>
          <p:cNvSpPr/>
          <p:nvPr/>
        </p:nvSpPr>
        <p:spPr>
          <a:xfrm>
            <a:off x="4453128" y="2011680"/>
            <a:ext cx="182880" cy="0"/>
          </a:xfrm>
          <a:prstGeom prst="line">
            <a:avLst/>
          </a:prstGeom>
          <a:noFill/>
          <a:ln w="25400">
            <a:solidFill>
              <a:srgbClr val="B9C6DA"/>
            </a:solidFill>
            <a:prstDash val="solid"/>
            <a:tailEnd type="triangle"/>
          </a:ln>
        </p:spPr>
      </p:sp>
      <p:sp>
        <p:nvSpPr>
          <p:cNvPr id="13" name="ck3_307"/>
          <p:cNvSpPr/>
          <p:nvPr/>
        </p:nvSpPr>
        <p:spPr>
          <a:xfrm>
            <a:off x="4663440" y="1325880"/>
            <a:ext cx="1874520" cy="1371600"/>
          </a:xfrm>
          <a:prstGeom prst="roundRect">
            <a:avLst>
              <a:gd name="adj" fmla="val 6667"/>
            </a:avLst>
          </a:prstGeom>
          <a:solidFill>
            <a:srgbClr val="A78BFA"/>
          </a:solidFill>
          <a:ln/>
        </p:spPr>
      </p:sp>
      <p:sp>
        <p:nvSpPr>
          <p:cNvPr id="14" name="ck3_308"/>
          <p:cNvSpPr txBox="1"/>
          <p:nvPr/>
        </p:nvSpPr>
        <p:spPr>
          <a:xfrm>
            <a:off x="4800600" y="1463040"/>
            <a:ext cx="1645920" cy="365760"/>
          </a:xfrm>
          <a:prstGeom prst="rect">
            <a:avLst/>
          </a:prstGeom>
          <a:noFill/>
          <a:ln/>
        </p:spPr>
        <p:txBody>
          <a:bodyPr wrap="square" lIns="0" tIns="0" rIns="0" bIns="0" rtlCol="0" anchor="t"/>
          <a:lstStyle/>
          <a:p>
            <a:pPr indent="0" marL="0">
              <a:buNone/>
            </a:pPr>
            <a:r>
              <a:rPr lang="en-US" sz="1600" b="1" dirty="0">
                <a:solidFill>
                  <a:srgbClr val="0B1F3A"/>
                </a:solidFill>
              </a:rPr>
              <a:t>AI explains</a:t>
            </a:r>
            <a:endParaRPr lang="en-US" sz="1600" dirty="0"/>
          </a:p>
        </p:txBody>
      </p:sp>
      <p:sp>
        <p:nvSpPr>
          <p:cNvPr id="15" name="ck3_309"/>
          <p:cNvSpPr txBox="1"/>
          <p:nvPr/>
        </p:nvSpPr>
        <p:spPr>
          <a:xfrm>
            <a:off x="4800600" y="1920240"/>
            <a:ext cx="1645920" cy="731520"/>
          </a:xfrm>
          <a:prstGeom prst="rect">
            <a:avLst/>
          </a:prstGeom>
          <a:noFill/>
          <a:ln/>
        </p:spPr>
        <p:txBody>
          <a:bodyPr wrap="square" lIns="0" tIns="0" rIns="0" bIns="0" rtlCol="0" anchor="t"/>
          <a:lstStyle/>
          <a:p>
            <a:pPr indent="0" marL="0">
              <a:buNone/>
            </a:pPr>
            <a:r>
              <a:rPr lang="en-US" sz="1300" dirty="0">
                <a:solidFill>
                  <a:srgbClr val="0B1F3A"/>
                </a:solidFill>
              </a:rPr>
              <a:t>In simple words</a:t>
            </a:r>
            <a:endParaRPr lang="en-US" sz="1300" dirty="0"/>
          </a:p>
        </p:txBody>
      </p:sp>
      <p:sp>
        <p:nvSpPr>
          <p:cNvPr id="16" name="ck4_310"/>
          <p:cNvSpPr/>
          <p:nvPr/>
        </p:nvSpPr>
        <p:spPr>
          <a:xfrm>
            <a:off x="6556248" y="2011680"/>
            <a:ext cx="182880" cy="0"/>
          </a:xfrm>
          <a:prstGeom prst="line">
            <a:avLst/>
          </a:prstGeom>
          <a:noFill/>
          <a:ln w="25400">
            <a:solidFill>
              <a:srgbClr val="B9C6DA"/>
            </a:solidFill>
            <a:prstDash val="solid"/>
            <a:tailEnd type="triangle"/>
          </a:ln>
        </p:spPr>
      </p:sp>
      <p:sp>
        <p:nvSpPr>
          <p:cNvPr id="17" name="ck4_311"/>
          <p:cNvSpPr/>
          <p:nvPr/>
        </p:nvSpPr>
        <p:spPr>
          <a:xfrm>
            <a:off x="6766560" y="1325880"/>
            <a:ext cx="1874520" cy="1371600"/>
          </a:xfrm>
          <a:prstGeom prst="roundRect">
            <a:avLst>
              <a:gd name="adj" fmla="val 6667"/>
            </a:avLst>
          </a:prstGeom>
          <a:solidFill>
            <a:srgbClr val="14305A"/>
          </a:solidFill>
          <a:ln/>
        </p:spPr>
      </p:sp>
      <p:sp>
        <p:nvSpPr>
          <p:cNvPr id="18" name="ck4_312"/>
          <p:cNvSpPr txBox="1"/>
          <p:nvPr/>
        </p:nvSpPr>
        <p:spPr>
          <a:xfrm>
            <a:off x="6903720" y="1463040"/>
            <a:ext cx="1645920" cy="365760"/>
          </a:xfrm>
          <a:prstGeom prst="rect">
            <a:avLst/>
          </a:prstGeom>
          <a:noFill/>
          <a:ln/>
        </p:spPr>
        <p:txBody>
          <a:bodyPr wrap="square" lIns="0" tIns="0" rIns="0" bIns="0" rtlCol="0" anchor="t"/>
          <a:lstStyle/>
          <a:p>
            <a:pPr indent="0" marL="0">
              <a:buNone/>
            </a:pPr>
            <a:r>
              <a:rPr lang="en-US" sz="1600" b="1" dirty="0">
                <a:solidFill>
                  <a:srgbClr val="FFFFFF"/>
                </a:solidFill>
              </a:rPr>
              <a:t>You read</a:t>
            </a:r>
            <a:endParaRPr lang="en-US" sz="1600" dirty="0"/>
          </a:p>
        </p:txBody>
      </p:sp>
      <p:sp>
        <p:nvSpPr>
          <p:cNvPr id="19" name="ck4_313"/>
          <p:cNvSpPr txBox="1"/>
          <p:nvPr/>
        </p:nvSpPr>
        <p:spPr>
          <a:xfrm>
            <a:off x="6903720" y="1920240"/>
            <a:ext cx="1645920" cy="731520"/>
          </a:xfrm>
          <a:prstGeom prst="rect">
            <a:avLst/>
          </a:prstGeom>
          <a:noFill/>
          <a:ln/>
        </p:spPr>
        <p:txBody>
          <a:bodyPr wrap="square" lIns="0" tIns="0" rIns="0" bIns="0" rtlCol="0" anchor="t"/>
          <a:lstStyle/>
          <a:p>
            <a:pPr indent="0" marL="0">
              <a:buNone/>
            </a:pPr>
            <a:r>
              <a:rPr lang="en-US" sz="1300" dirty="0">
                <a:solidFill>
                  <a:srgbClr val="B9C6DA"/>
                </a:solidFill>
              </a:rPr>
              <a:t>A report you can trust</a:t>
            </a:r>
            <a:endParaRPr lang="en-US" sz="1300" dirty="0"/>
          </a:p>
        </p:txBody>
      </p:sp>
      <p:sp>
        <p:nvSpPr>
          <p:cNvPr id="20" name="ck5_314"/>
          <p:cNvSpPr/>
          <p:nvPr/>
        </p:nvSpPr>
        <p:spPr>
          <a:xfrm>
            <a:off x="457200" y="2926080"/>
            <a:ext cx="4023360" cy="1554480"/>
          </a:xfrm>
          <a:prstGeom prst="roundRect">
            <a:avLst>
              <a:gd name="adj" fmla="val 5882"/>
            </a:avLst>
          </a:prstGeom>
          <a:solidFill>
            <a:srgbClr val="14305A"/>
          </a:solidFill>
          <a:ln/>
        </p:spPr>
      </p:sp>
      <p:sp>
        <p:nvSpPr>
          <p:cNvPr id="21" name="ck5_315"/>
          <p:cNvSpPr/>
          <p:nvPr/>
        </p:nvSpPr>
        <p:spPr>
          <a:xfrm>
            <a:off x="4663440" y="2926080"/>
            <a:ext cx="4023360" cy="1554480"/>
          </a:xfrm>
          <a:prstGeom prst="roundRect">
            <a:avLst>
              <a:gd name="adj" fmla="val 5882"/>
            </a:avLst>
          </a:prstGeom>
          <a:solidFill>
            <a:srgbClr val="14305A"/>
          </a:solidFill>
          <a:ln/>
        </p:spPr>
      </p:sp>
      <p:sp>
        <p:nvSpPr>
          <p:cNvPr id="22" name="ck5_316"/>
          <p:cNvSpPr txBox="1"/>
          <p:nvPr/>
        </p:nvSpPr>
        <p:spPr>
          <a:xfrm>
            <a:off x="640080" y="3035808"/>
            <a:ext cx="3657600" cy="274320"/>
          </a:xfrm>
          <a:prstGeom prst="rect">
            <a:avLst/>
          </a:prstGeom>
          <a:noFill/>
          <a:ln/>
        </p:spPr>
        <p:txBody>
          <a:bodyPr wrap="square" lIns="0" tIns="0" rIns="0" bIns="0" rtlCol="0" anchor="t"/>
          <a:lstStyle/>
          <a:p>
            <a:pPr indent="0" marL="0">
              <a:buNone/>
            </a:pPr>
            <a:r>
              <a:rPr lang="en-US" sz="1600" b="1" dirty="0">
                <a:solidFill>
                  <a:srgbClr val="F2B134"/>
                </a:solidFill>
              </a:rPr>
              <a:t>What it is</a:t>
            </a:r>
            <a:endParaRPr lang="en-US" sz="1600" dirty="0"/>
          </a:p>
        </p:txBody>
      </p:sp>
      <p:sp>
        <p:nvSpPr>
          <p:cNvPr id="23" name="ck5_317"/>
          <p:cNvSpPr txBox="1"/>
          <p:nvPr/>
        </p:nvSpPr>
        <p:spPr>
          <a:xfrm>
            <a:off x="640080" y="3383280"/>
            <a:ext cx="3657600" cy="10058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rPr>
              <a:t>Kundali and Numeroscope</a:t>
            </a:r>
            <a:endParaRPr lang="en-US" sz="1400" dirty="0"/>
          </a:p>
          <a:p>
            <a:pPr marL="342900" indent="-342900">
              <a:spcAft>
                <a:spcPts val="600"/>
              </a:spcAft>
              <a:buSzPct val="100000"/>
              <a:buChar char="•"/>
            </a:pPr>
            <a:r>
              <a:rPr lang="en-US" sz="1400" dirty="0">
                <a:solidFill>
                  <a:srgbClr val="FFFFFF"/>
                </a:solidFill>
              </a:rPr>
              <a:t>An AI-ready chart export</a:t>
            </a:r>
            <a:endParaRPr lang="en-US" sz="1400" dirty="0"/>
          </a:p>
          <a:p>
            <a:pPr marL="342900" indent="-342900">
              <a:spcAft>
                <a:spcPts val="600"/>
              </a:spcAft>
              <a:buSzPct val="100000"/>
              <a:buChar char="•"/>
            </a:pPr>
            <a:r>
              <a:rPr lang="en-US" sz="1400" dirty="0">
                <a:solidFill>
                  <a:srgbClr val="FFFFFF"/>
                </a:solidFill>
              </a:rPr>
              <a:t>A Next.js web application</a:t>
            </a:r>
            <a:endParaRPr lang="en-US" sz="1400" dirty="0"/>
          </a:p>
        </p:txBody>
      </p:sp>
      <p:sp>
        <p:nvSpPr>
          <p:cNvPr id="24" name="ck5_318"/>
          <p:cNvSpPr txBox="1"/>
          <p:nvPr/>
        </p:nvSpPr>
        <p:spPr>
          <a:xfrm>
            <a:off x="4846320" y="3035808"/>
            <a:ext cx="3657600" cy="274320"/>
          </a:xfrm>
          <a:prstGeom prst="rect">
            <a:avLst/>
          </a:prstGeom>
          <a:noFill/>
          <a:ln/>
        </p:spPr>
        <p:txBody>
          <a:bodyPr wrap="square" lIns="0" tIns="0" rIns="0" bIns="0" rtlCol="0" anchor="t"/>
          <a:lstStyle/>
          <a:p>
            <a:pPr indent="0" marL="0">
              <a:buNone/>
            </a:pPr>
            <a:r>
              <a:rPr lang="en-US" sz="1600" b="1" dirty="0">
                <a:solidFill>
                  <a:srgbClr val="F2B134"/>
                </a:solidFill>
              </a:rPr>
              <a:t>Why this order</a:t>
            </a:r>
            <a:endParaRPr lang="en-US" sz="1600" dirty="0"/>
          </a:p>
        </p:txBody>
      </p:sp>
      <p:sp>
        <p:nvSpPr>
          <p:cNvPr id="25" name="ck5_319"/>
          <p:cNvSpPr txBox="1"/>
          <p:nvPr/>
        </p:nvSpPr>
        <p:spPr>
          <a:xfrm>
            <a:off x="4846320" y="3383280"/>
            <a:ext cx="3657600" cy="1005840"/>
          </a:xfrm>
          <a:prstGeom prst="rect">
            <a:avLst/>
          </a:prstGeom>
          <a:noFill/>
          <a:ln/>
        </p:spPr>
        <p:txBody>
          <a:bodyPr wrap="square" lIns="0" tIns="0" rIns="0" bIns="0" rtlCol="0" anchor="t"/>
          <a:lstStyle/>
          <a:p>
            <a:pPr indent="0" marL="0">
              <a:buNone/>
            </a:pPr>
            <a:r>
              <a:rPr lang="en-US" sz="1400" dirty="0">
                <a:solidFill>
                  <a:srgbClr val="FFFFFF"/>
                </a:solidFill>
              </a:rPr>
              <a:t>"Calculated first, explained after." AI is great at explaining, not at calculating, so it cannot invent the numbers.</a:t>
            </a:r>
            <a:endParaRPr lang="en-US" sz="1400" dirty="0"/>
          </a:p>
        </p:txBody>
      </p:sp>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B9C6DA"/>
                </a:solidFill>
              </a:defRPr>
            </a:lvl1pPr>
          </a:lstStyle>
          <a:p>
            <a:pPr algn="r"/>
            <a:fld id="{F7021451-1387-4CA6-816F-3879F97B5CBC}" type="slidenum">
              <a:rPr b="0" lang="en-US"/>
              <a:t>24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500"/>
                                        <p:tgtEl>
                                          <p:spTgt spid="2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5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500"/>
                                        <p:tgtEl>
                                          <p:spTgt spid="22"/>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500"/>
                                        <p:tgtEl>
                                          <p:spTgt spid="2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500"/>
                                        <p:tgtEl>
                                          <p:spTgt spid="24"/>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457200" y="256032"/>
            <a:ext cx="6400800" cy="201168"/>
          </a:xfrm>
          <a:prstGeom prst="rect">
            <a:avLst/>
          </a:prstGeom>
          <a:noFill/>
          <a:ln/>
        </p:spPr>
        <p:txBody>
          <a:bodyPr wrap="square" lIns="0" tIns="0" rIns="0" bIns="0" rtlCol="0" anchor="t"/>
          <a:lstStyle/>
          <a:p>
            <a:pPr indent="0" marL="0">
              <a:buNone/>
            </a:pPr>
            <a:r>
              <a:rPr lang="en-US" sz="1100" b="1" spc="200" kern="0" dirty="0">
                <a:solidFill>
                  <a:srgbClr val="F2B134"/>
                </a:solidFill>
              </a:rPr>
              <a:t>KEEP LEARNING</a:t>
            </a:r>
            <a:endParaRPr lang="en-US" sz="1100" dirty="0"/>
          </a:p>
        </p:txBody>
      </p:sp>
      <p:sp>
        <p:nvSpPr>
          <p:cNvPr id="3" name="Text 2"/>
          <p:cNvSpPr/>
          <p:nvPr>
            <p:ph idx="103" type="title" hasCustomPrompt="1"/>
          </p:nvPr>
        </p:nvSpPr>
        <p:spPr>
          <a:xfrm>
            <a:off x="457200" y="457200"/>
            <a:ext cx="8229600" cy="685800"/>
          </a:xfrm>
          <a:prstGeom prst="rect">
            <a:avLst/>
          </a:prstGeom>
          <a:noFill/>
          <a:ln/>
        </p:spPr>
        <p:txBody>
          <a:bodyPr wrap="square" lIns="0" tIns="0" rIns="0" bIns="0" rtlCol="0" anchor="ctr"/>
          <a:lstStyle/>
          <a:p>
            <a:pPr algn="l" indent="0" marL="0">
              <a:buNone/>
            </a:pPr>
            <a:r>
              <a:rPr lang="en-US" sz="3000" b="1" dirty="0">
                <a:solidFill>
                  <a:srgbClr val="FFFFFF"/>
                </a:solidFill>
              </a:rPr>
              <a:t>Where to explore next</a:t>
            </a:r>
            <a:endParaRPr lang="en-US" sz="3000" dirty="0"/>
          </a:p>
        </p:txBody>
      </p:sp>
      <p:sp>
        <p:nvSpPr>
          <p:cNvPr id="5" name="ck1_320"/>
          <p:cNvSpPr/>
          <p:nvPr/>
        </p:nvSpPr>
        <p:spPr>
          <a:xfrm>
            <a:off x="457200" y="1325880"/>
            <a:ext cx="2651760" cy="1463040"/>
          </a:xfrm>
          <a:prstGeom prst="roundRect">
            <a:avLst>
              <a:gd name="adj" fmla="val 6250"/>
            </a:avLst>
          </a:prstGeom>
          <a:solidFill>
            <a:srgbClr val="14305A"/>
          </a:solidFill>
          <a:ln/>
        </p:spPr>
      </p:sp>
      <p:sp>
        <p:nvSpPr>
          <p:cNvPr id="6" name="ck1_321"/>
          <p:cNvSpPr/>
          <p:nvPr/>
        </p:nvSpPr>
        <p:spPr>
          <a:xfrm>
            <a:off x="640080" y="1508760"/>
            <a:ext cx="457200" cy="457200"/>
          </a:xfrm>
          <a:prstGeom prst="ellipse">
            <a:avLst/>
          </a:prstGeom>
          <a:solidFill>
            <a:srgbClr val="F2B134"/>
          </a:solidFill>
          <a:ln/>
        </p:spPr>
      </p:sp>
      <p:pic>
        <p:nvPicPr>
          <p:cNvPr id="7" name="ck1_322" descr="preencoded.png">    </p:cNvPr>
          <p:cNvPicPr>
            <a:picLocks noChangeAspect="1"/>
          </p:cNvPicPr>
          <p:nvPr/>
        </p:nvPicPr>
        <p:blipFill>
          <a:blip r:embed="rId1"/>
          <a:stretch>
            <a:fillRect/>
          </a:stretch>
        </p:blipFill>
        <p:spPr>
          <a:xfrm>
            <a:off x="749808" y="1618488"/>
            <a:ext cx="237744" cy="237744"/>
          </a:xfrm>
          <a:prstGeom prst="rect">
            <a:avLst/>
          </a:prstGeom>
        </p:spPr>
      </p:pic>
      <p:sp>
        <p:nvSpPr>
          <p:cNvPr id="8" name="ck1_323"/>
          <p:cNvSpPr txBox="1"/>
          <p:nvPr/>
        </p:nvSpPr>
        <p:spPr>
          <a:xfrm>
            <a:off x="1234440" y="1508760"/>
            <a:ext cx="1783080" cy="457200"/>
          </a:xfrm>
          <a:prstGeom prst="rect">
            <a:avLst/>
          </a:prstGeom>
          <a:noFill/>
          <a:ln/>
        </p:spPr>
        <p:txBody>
          <a:bodyPr wrap="square" lIns="0" tIns="0" rIns="0" bIns="0" rtlCol="0" anchor="ctr"/>
          <a:lstStyle/>
          <a:p>
            <a:pPr indent="0" marL="0">
              <a:buNone/>
            </a:pPr>
            <a:r>
              <a:rPr lang="en-US" sz="1500" b="1" dirty="0">
                <a:solidFill>
                  <a:srgbClr val="FFFFFF"/>
                </a:solidFill>
              </a:rPr>
              <a:t>Learn the basics</a:t>
            </a:r>
            <a:endParaRPr lang="en-US" sz="1500" dirty="0"/>
          </a:p>
        </p:txBody>
      </p:sp>
      <p:sp>
        <p:nvSpPr>
          <p:cNvPr id="9" name="ck1_324"/>
          <p:cNvSpPr txBox="1"/>
          <p:nvPr/>
        </p:nvSpPr>
        <p:spPr>
          <a:xfrm>
            <a:off x="640080" y="2057400"/>
            <a:ext cx="2331720" cy="713232"/>
          </a:xfrm>
          <a:prstGeom prst="rect">
            <a:avLst/>
          </a:prstGeom>
          <a:noFill/>
          <a:ln/>
        </p:spPr>
        <p:txBody>
          <a:bodyPr wrap="square" lIns="0" tIns="0" rIns="0" bIns="0" rtlCol="0" anchor="t"/>
          <a:lstStyle/>
          <a:p>
            <a:pPr indent="0" marL="0">
              <a:buNone/>
            </a:pPr>
            <a:r>
              <a:rPr lang="en-US" sz="1300" dirty="0">
                <a:solidFill>
                  <a:srgbClr val="B9C6DA"/>
                </a:solidFill>
              </a:rPr>
              <a:t>Official guides and free short courses from the big AI companies</a:t>
            </a:r>
            <a:endParaRPr lang="en-US" sz="1300" dirty="0"/>
          </a:p>
        </p:txBody>
      </p:sp>
      <p:sp>
        <p:nvSpPr>
          <p:cNvPr id="10" name="ck1_325"/>
          <p:cNvSpPr/>
          <p:nvPr/>
        </p:nvSpPr>
        <p:spPr>
          <a:xfrm>
            <a:off x="3246120" y="1325880"/>
            <a:ext cx="2651760" cy="1463040"/>
          </a:xfrm>
          <a:prstGeom prst="roundRect">
            <a:avLst>
              <a:gd name="adj" fmla="val 6250"/>
            </a:avLst>
          </a:prstGeom>
          <a:solidFill>
            <a:srgbClr val="14305A"/>
          </a:solidFill>
          <a:ln/>
        </p:spPr>
      </p:sp>
      <p:sp>
        <p:nvSpPr>
          <p:cNvPr id="11" name="ck1_326"/>
          <p:cNvSpPr/>
          <p:nvPr/>
        </p:nvSpPr>
        <p:spPr>
          <a:xfrm>
            <a:off x="3429000" y="1508760"/>
            <a:ext cx="457200" cy="457200"/>
          </a:xfrm>
          <a:prstGeom prst="ellipse">
            <a:avLst/>
          </a:prstGeom>
          <a:solidFill>
            <a:srgbClr val="F2B134"/>
          </a:solidFill>
          <a:ln/>
        </p:spPr>
      </p:sp>
      <p:pic>
        <p:nvPicPr>
          <p:cNvPr id="12" name="ck1_327" descr="preencoded.png">    </p:cNvPr>
          <p:cNvPicPr>
            <a:picLocks noChangeAspect="1"/>
          </p:cNvPicPr>
          <p:nvPr/>
        </p:nvPicPr>
        <p:blipFill>
          <a:blip r:embed="rId2"/>
          <a:stretch>
            <a:fillRect/>
          </a:stretch>
        </p:blipFill>
        <p:spPr>
          <a:xfrm>
            <a:off x="3538728" y="1618488"/>
            <a:ext cx="237744" cy="237744"/>
          </a:xfrm>
          <a:prstGeom prst="rect">
            <a:avLst/>
          </a:prstGeom>
        </p:spPr>
      </p:pic>
      <p:sp>
        <p:nvSpPr>
          <p:cNvPr id="13" name="ck1_328"/>
          <p:cNvSpPr txBox="1"/>
          <p:nvPr/>
        </p:nvSpPr>
        <p:spPr>
          <a:xfrm>
            <a:off x="4023360" y="1508760"/>
            <a:ext cx="1783080" cy="457200"/>
          </a:xfrm>
          <a:prstGeom prst="rect">
            <a:avLst/>
          </a:prstGeom>
          <a:noFill/>
          <a:ln/>
        </p:spPr>
        <p:txBody>
          <a:bodyPr wrap="square" lIns="0" tIns="0" rIns="0" bIns="0" rtlCol="0" anchor="ctr"/>
          <a:lstStyle/>
          <a:p>
            <a:pPr indent="0" marL="0">
              <a:buNone/>
            </a:pPr>
            <a:r>
              <a:rPr lang="en-US" sz="1500" b="1" dirty="0">
                <a:solidFill>
                  <a:srgbClr val="FFFFFF"/>
                </a:solidFill>
              </a:rPr>
              <a:t>Build small</a:t>
            </a:r>
            <a:endParaRPr lang="en-US" sz="1500" dirty="0"/>
          </a:p>
        </p:txBody>
      </p:sp>
      <p:sp>
        <p:nvSpPr>
          <p:cNvPr id="14" name="ck1_329"/>
          <p:cNvSpPr txBox="1"/>
          <p:nvPr/>
        </p:nvSpPr>
        <p:spPr>
          <a:xfrm>
            <a:off x="3429000" y="2057400"/>
            <a:ext cx="2331720" cy="713232"/>
          </a:xfrm>
          <a:prstGeom prst="rect">
            <a:avLst/>
          </a:prstGeom>
          <a:noFill/>
          <a:ln/>
        </p:spPr>
        <p:txBody>
          <a:bodyPr wrap="square" lIns="0" tIns="0" rIns="0" bIns="0" rtlCol="0" anchor="t"/>
          <a:lstStyle/>
          <a:p>
            <a:pPr indent="0" marL="0">
              <a:buNone/>
            </a:pPr>
            <a:r>
              <a:rPr lang="en-US" sz="1300" dirty="0">
                <a:solidFill>
                  <a:srgbClr val="B9C6DA"/>
                </a:solidFill>
              </a:rPr>
              <a:t>Call an AI API from Java. Try Spring AI or LangChain4j</a:t>
            </a:r>
            <a:endParaRPr lang="en-US" sz="1300" dirty="0"/>
          </a:p>
        </p:txBody>
      </p:sp>
      <p:sp>
        <p:nvSpPr>
          <p:cNvPr id="15" name="ck1_330"/>
          <p:cNvSpPr/>
          <p:nvPr/>
        </p:nvSpPr>
        <p:spPr>
          <a:xfrm>
            <a:off x="6035040" y="1325880"/>
            <a:ext cx="2651760" cy="1463040"/>
          </a:xfrm>
          <a:prstGeom prst="roundRect">
            <a:avLst>
              <a:gd name="adj" fmla="val 6250"/>
            </a:avLst>
          </a:prstGeom>
          <a:solidFill>
            <a:srgbClr val="14305A"/>
          </a:solidFill>
          <a:ln/>
        </p:spPr>
      </p:sp>
      <p:sp>
        <p:nvSpPr>
          <p:cNvPr id="16" name="ck1_331"/>
          <p:cNvSpPr/>
          <p:nvPr/>
        </p:nvSpPr>
        <p:spPr>
          <a:xfrm>
            <a:off x="6217920" y="1508760"/>
            <a:ext cx="457200" cy="457200"/>
          </a:xfrm>
          <a:prstGeom prst="ellipse">
            <a:avLst/>
          </a:prstGeom>
          <a:solidFill>
            <a:srgbClr val="F2B134"/>
          </a:solidFill>
          <a:ln/>
        </p:spPr>
      </p:sp>
      <p:pic>
        <p:nvPicPr>
          <p:cNvPr id="17" name="ck1_332" descr="preencoded.png">    </p:cNvPr>
          <p:cNvPicPr>
            <a:picLocks noChangeAspect="1"/>
          </p:cNvPicPr>
          <p:nvPr/>
        </p:nvPicPr>
        <p:blipFill>
          <a:blip r:embed="rId3"/>
          <a:stretch>
            <a:fillRect/>
          </a:stretch>
        </p:blipFill>
        <p:spPr>
          <a:xfrm>
            <a:off x="6327648" y="1618488"/>
            <a:ext cx="237744" cy="237744"/>
          </a:xfrm>
          <a:prstGeom prst="rect">
            <a:avLst/>
          </a:prstGeom>
        </p:spPr>
      </p:pic>
      <p:sp>
        <p:nvSpPr>
          <p:cNvPr id="18" name="ck1_333"/>
          <p:cNvSpPr txBox="1"/>
          <p:nvPr/>
        </p:nvSpPr>
        <p:spPr>
          <a:xfrm>
            <a:off x="6812280" y="1508760"/>
            <a:ext cx="1783080" cy="457200"/>
          </a:xfrm>
          <a:prstGeom prst="rect">
            <a:avLst/>
          </a:prstGeom>
          <a:noFill/>
          <a:ln/>
        </p:spPr>
        <p:txBody>
          <a:bodyPr wrap="square" lIns="0" tIns="0" rIns="0" bIns="0" rtlCol="0" anchor="ctr"/>
          <a:lstStyle/>
          <a:p>
            <a:pPr indent="0" marL="0">
              <a:buNone/>
            </a:pPr>
            <a:r>
              <a:rPr lang="en-US" sz="1500" b="1" dirty="0">
                <a:solidFill>
                  <a:srgbClr val="FFFFFF"/>
                </a:solidFill>
              </a:rPr>
              <a:t>Open models</a:t>
            </a:r>
            <a:endParaRPr lang="en-US" sz="1500" dirty="0"/>
          </a:p>
        </p:txBody>
      </p:sp>
      <p:sp>
        <p:nvSpPr>
          <p:cNvPr id="19" name="ck1_334"/>
          <p:cNvSpPr txBox="1"/>
          <p:nvPr/>
        </p:nvSpPr>
        <p:spPr>
          <a:xfrm>
            <a:off x="6217920" y="2057400"/>
            <a:ext cx="2331720" cy="713232"/>
          </a:xfrm>
          <a:prstGeom prst="rect">
            <a:avLst/>
          </a:prstGeom>
          <a:noFill/>
          <a:ln/>
        </p:spPr>
        <p:txBody>
          <a:bodyPr wrap="square" lIns="0" tIns="0" rIns="0" bIns="0" rtlCol="0" anchor="t"/>
          <a:lstStyle/>
          <a:p>
            <a:pPr indent="0" marL="0">
              <a:buNone/>
            </a:pPr>
            <a:r>
              <a:rPr lang="en-US" sz="1300" dirty="0">
                <a:solidFill>
                  <a:srgbClr val="B9C6DA"/>
                </a:solidFill>
              </a:rPr>
              <a:t>Explore Hugging Face; run small models on your laptop</a:t>
            </a:r>
            <a:endParaRPr lang="en-US" sz="1300" dirty="0"/>
          </a:p>
        </p:txBody>
      </p:sp>
      <p:sp>
        <p:nvSpPr>
          <p:cNvPr id="20" name="ck2_335"/>
          <p:cNvSpPr/>
          <p:nvPr/>
        </p:nvSpPr>
        <p:spPr>
          <a:xfrm>
            <a:off x="457200" y="2926080"/>
            <a:ext cx="2651760" cy="1463040"/>
          </a:xfrm>
          <a:prstGeom prst="roundRect">
            <a:avLst>
              <a:gd name="adj" fmla="val 6250"/>
            </a:avLst>
          </a:prstGeom>
          <a:solidFill>
            <a:srgbClr val="14305A"/>
          </a:solidFill>
          <a:ln/>
        </p:spPr>
      </p:sp>
      <p:sp>
        <p:nvSpPr>
          <p:cNvPr id="21" name="ck2_336"/>
          <p:cNvSpPr/>
          <p:nvPr/>
        </p:nvSpPr>
        <p:spPr>
          <a:xfrm>
            <a:off x="640080" y="3108960"/>
            <a:ext cx="457200" cy="457200"/>
          </a:xfrm>
          <a:prstGeom prst="ellipse">
            <a:avLst/>
          </a:prstGeom>
          <a:solidFill>
            <a:srgbClr val="F2B134"/>
          </a:solidFill>
          <a:ln/>
        </p:spPr>
      </p:sp>
      <p:pic>
        <p:nvPicPr>
          <p:cNvPr id="22" name="ck2_337" descr="preencoded.png">    </p:cNvPr>
          <p:cNvPicPr>
            <a:picLocks noChangeAspect="1"/>
          </p:cNvPicPr>
          <p:nvPr/>
        </p:nvPicPr>
        <p:blipFill>
          <a:blip r:embed="rId4"/>
          <a:stretch>
            <a:fillRect/>
          </a:stretch>
        </p:blipFill>
        <p:spPr>
          <a:xfrm>
            <a:off x="749808" y="3218688"/>
            <a:ext cx="237744" cy="237744"/>
          </a:xfrm>
          <a:prstGeom prst="rect">
            <a:avLst/>
          </a:prstGeom>
        </p:spPr>
      </p:pic>
      <p:sp>
        <p:nvSpPr>
          <p:cNvPr id="23" name="ck2_338"/>
          <p:cNvSpPr txBox="1"/>
          <p:nvPr/>
        </p:nvSpPr>
        <p:spPr>
          <a:xfrm>
            <a:off x="1234440" y="3108960"/>
            <a:ext cx="1783080" cy="457200"/>
          </a:xfrm>
          <a:prstGeom prst="rect">
            <a:avLst/>
          </a:prstGeom>
          <a:noFill/>
          <a:ln/>
        </p:spPr>
        <p:txBody>
          <a:bodyPr wrap="square" lIns="0" tIns="0" rIns="0" bIns="0" rtlCol="0" anchor="ctr"/>
          <a:lstStyle/>
          <a:p>
            <a:pPr indent="0" marL="0">
              <a:buNone/>
            </a:pPr>
            <a:r>
              <a:rPr lang="en-US" sz="1500" b="1" dirty="0">
                <a:solidFill>
                  <a:srgbClr val="FFFFFF"/>
                </a:solidFill>
              </a:rPr>
              <a:t>Practise</a:t>
            </a:r>
            <a:endParaRPr lang="en-US" sz="1500" dirty="0"/>
          </a:p>
        </p:txBody>
      </p:sp>
      <p:sp>
        <p:nvSpPr>
          <p:cNvPr id="24" name="ck2_339"/>
          <p:cNvSpPr txBox="1"/>
          <p:nvPr/>
        </p:nvSpPr>
        <p:spPr>
          <a:xfrm>
            <a:off x="640080" y="3657600"/>
            <a:ext cx="2331720" cy="713232"/>
          </a:xfrm>
          <a:prstGeom prst="rect">
            <a:avLst/>
          </a:prstGeom>
          <a:noFill/>
          <a:ln/>
        </p:spPr>
        <p:txBody>
          <a:bodyPr wrap="square" lIns="0" tIns="0" rIns="0" bIns="0" rtlCol="0" anchor="t"/>
          <a:lstStyle/>
          <a:p>
            <a:pPr indent="0" marL="0">
              <a:buNone/>
            </a:pPr>
            <a:r>
              <a:rPr lang="en-US" sz="1300" dirty="0">
                <a:solidFill>
                  <a:srgbClr val="B9C6DA"/>
                </a:solidFill>
              </a:rPr>
              <a:t>Kaggle datasets and notebooks for hands-on work</a:t>
            </a:r>
            <a:endParaRPr lang="en-US" sz="1300" dirty="0"/>
          </a:p>
        </p:txBody>
      </p:sp>
      <p:sp>
        <p:nvSpPr>
          <p:cNvPr id="25" name="ck2_340"/>
          <p:cNvSpPr/>
          <p:nvPr/>
        </p:nvSpPr>
        <p:spPr>
          <a:xfrm>
            <a:off x="3246120" y="2926080"/>
            <a:ext cx="2651760" cy="1463040"/>
          </a:xfrm>
          <a:prstGeom prst="roundRect">
            <a:avLst>
              <a:gd name="adj" fmla="val 6250"/>
            </a:avLst>
          </a:prstGeom>
          <a:solidFill>
            <a:srgbClr val="14305A"/>
          </a:solidFill>
          <a:ln/>
        </p:spPr>
      </p:sp>
      <p:sp>
        <p:nvSpPr>
          <p:cNvPr id="26" name="ck2_341"/>
          <p:cNvSpPr/>
          <p:nvPr/>
        </p:nvSpPr>
        <p:spPr>
          <a:xfrm>
            <a:off x="3429000" y="3108960"/>
            <a:ext cx="457200" cy="457200"/>
          </a:xfrm>
          <a:prstGeom prst="ellipse">
            <a:avLst/>
          </a:prstGeom>
          <a:solidFill>
            <a:srgbClr val="F2B134"/>
          </a:solidFill>
          <a:ln/>
        </p:spPr>
      </p:sp>
      <p:pic>
        <p:nvPicPr>
          <p:cNvPr id="27" name="ck2_342" descr="preencoded.png">    </p:cNvPr>
          <p:cNvPicPr>
            <a:picLocks noChangeAspect="1"/>
          </p:cNvPicPr>
          <p:nvPr/>
        </p:nvPicPr>
        <p:blipFill>
          <a:blip r:embed="rId5"/>
          <a:stretch>
            <a:fillRect/>
          </a:stretch>
        </p:blipFill>
        <p:spPr>
          <a:xfrm>
            <a:off x="3538728" y="3218688"/>
            <a:ext cx="237744" cy="237744"/>
          </a:xfrm>
          <a:prstGeom prst="rect">
            <a:avLst/>
          </a:prstGeom>
        </p:spPr>
      </p:pic>
      <p:sp>
        <p:nvSpPr>
          <p:cNvPr id="28" name="ck2_343"/>
          <p:cNvSpPr txBox="1"/>
          <p:nvPr/>
        </p:nvSpPr>
        <p:spPr>
          <a:xfrm>
            <a:off x="4023360" y="3108960"/>
            <a:ext cx="1783080" cy="457200"/>
          </a:xfrm>
          <a:prstGeom prst="rect">
            <a:avLst/>
          </a:prstGeom>
          <a:noFill/>
          <a:ln/>
        </p:spPr>
        <p:txBody>
          <a:bodyPr wrap="square" lIns="0" tIns="0" rIns="0" bIns="0" rtlCol="0" anchor="ctr"/>
          <a:lstStyle/>
          <a:p>
            <a:pPr indent="0" marL="0">
              <a:buNone/>
            </a:pPr>
            <a:r>
              <a:rPr lang="en-US" sz="1500" b="1" dirty="0">
                <a:solidFill>
                  <a:srgbClr val="FFFFFF"/>
                </a:solidFill>
              </a:rPr>
              <a:t>Read real code</a:t>
            </a:r>
            <a:endParaRPr lang="en-US" sz="1500" dirty="0"/>
          </a:p>
        </p:txBody>
      </p:sp>
      <p:sp>
        <p:nvSpPr>
          <p:cNvPr id="29" name="ck2_344"/>
          <p:cNvSpPr txBox="1"/>
          <p:nvPr/>
        </p:nvSpPr>
        <p:spPr>
          <a:xfrm>
            <a:off x="3429000" y="3657600"/>
            <a:ext cx="2331720" cy="713232"/>
          </a:xfrm>
          <a:prstGeom prst="rect">
            <a:avLst/>
          </a:prstGeom>
          <a:noFill/>
          <a:ln/>
        </p:spPr>
        <p:txBody>
          <a:bodyPr wrap="square" lIns="0" tIns="0" rIns="0" bIns="0" rtlCol="0" anchor="t"/>
          <a:lstStyle/>
          <a:p>
            <a:pPr indent="0" marL="0">
              <a:buNone/>
            </a:pPr>
            <a:r>
              <a:rPr lang="en-US" sz="1300" dirty="0">
                <a:solidFill>
                  <a:srgbClr val="B9C6DA"/>
                </a:solidFill>
              </a:rPr>
              <a:t>This morning's Hibernate and Spring MVC repo</a:t>
            </a:r>
            <a:endParaRPr lang="en-US" sz="1300" dirty="0"/>
          </a:p>
        </p:txBody>
      </p:sp>
      <p:sp>
        <p:nvSpPr>
          <p:cNvPr id="30" name="ck2_345"/>
          <p:cNvSpPr/>
          <p:nvPr/>
        </p:nvSpPr>
        <p:spPr>
          <a:xfrm>
            <a:off x="6035040" y="2926080"/>
            <a:ext cx="2651760" cy="1463040"/>
          </a:xfrm>
          <a:prstGeom prst="roundRect">
            <a:avLst>
              <a:gd name="adj" fmla="val 6250"/>
            </a:avLst>
          </a:prstGeom>
          <a:solidFill>
            <a:srgbClr val="14305A"/>
          </a:solidFill>
          <a:ln/>
        </p:spPr>
      </p:sp>
      <p:sp>
        <p:nvSpPr>
          <p:cNvPr id="31" name="ck2_346"/>
          <p:cNvSpPr/>
          <p:nvPr/>
        </p:nvSpPr>
        <p:spPr>
          <a:xfrm>
            <a:off x="6217920" y="3108960"/>
            <a:ext cx="457200" cy="457200"/>
          </a:xfrm>
          <a:prstGeom prst="ellipse">
            <a:avLst/>
          </a:prstGeom>
          <a:solidFill>
            <a:srgbClr val="F2B134"/>
          </a:solidFill>
          <a:ln/>
        </p:spPr>
      </p:sp>
      <p:pic>
        <p:nvPicPr>
          <p:cNvPr id="32" name="ck2_347" descr="preencoded.png">    </p:cNvPr>
          <p:cNvPicPr>
            <a:picLocks noChangeAspect="1"/>
          </p:cNvPicPr>
          <p:nvPr/>
        </p:nvPicPr>
        <p:blipFill>
          <a:blip r:embed="rId6"/>
          <a:stretch>
            <a:fillRect/>
          </a:stretch>
        </p:blipFill>
        <p:spPr>
          <a:xfrm>
            <a:off x="6327648" y="3218688"/>
            <a:ext cx="237744" cy="237744"/>
          </a:xfrm>
          <a:prstGeom prst="rect">
            <a:avLst/>
          </a:prstGeom>
        </p:spPr>
      </p:pic>
      <p:sp>
        <p:nvSpPr>
          <p:cNvPr id="33" name="ck2_348"/>
          <p:cNvSpPr txBox="1"/>
          <p:nvPr/>
        </p:nvSpPr>
        <p:spPr>
          <a:xfrm>
            <a:off x="6812280" y="3108960"/>
            <a:ext cx="1783080" cy="457200"/>
          </a:xfrm>
          <a:prstGeom prst="rect">
            <a:avLst/>
          </a:prstGeom>
          <a:noFill/>
          <a:ln/>
        </p:spPr>
        <p:txBody>
          <a:bodyPr wrap="square" lIns="0" tIns="0" rIns="0" bIns="0" rtlCol="0" anchor="ctr"/>
          <a:lstStyle/>
          <a:p>
            <a:pPr indent="0" marL="0">
              <a:buNone/>
            </a:pPr>
            <a:r>
              <a:rPr lang="en-US" sz="1500" b="1" dirty="0">
                <a:solidFill>
                  <a:srgbClr val="FFFFFF"/>
                </a:solidFill>
              </a:rPr>
              <a:t>Stay current</a:t>
            </a:r>
            <a:endParaRPr lang="en-US" sz="1500" dirty="0"/>
          </a:p>
        </p:txBody>
      </p:sp>
      <p:sp>
        <p:nvSpPr>
          <p:cNvPr id="34" name="ck2_349"/>
          <p:cNvSpPr txBox="1"/>
          <p:nvPr/>
        </p:nvSpPr>
        <p:spPr>
          <a:xfrm>
            <a:off x="6217920" y="3657600"/>
            <a:ext cx="2331720" cy="713232"/>
          </a:xfrm>
          <a:prstGeom prst="rect">
            <a:avLst/>
          </a:prstGeom>
          <a:noFill/>
          <a:ln/>
        </p:spPr>
        <p:txBody>
          <a:bodyPr wrap="square" lIns="0" tIns="0" rIns="0" bIns="0" rtlCol="0" anchor="t"/>
          <a:lstStyle/>
          <a:p>
            <a:pPr indent="0" marL="0">
              <a:buNone/>
            </a:pPr>
            <a:r>
              <a:rPr lang="en-US" sz="1300" dirty="0">
                <a:solidFill>
                  <a:srgbClr val="B9C6DA"/>
                </a:solidFill>
              </a:rPr>
              <a:t>Follow release notes and one good newsletter</a:t>
            </a:r>
            <a:endParaRPr lang="en-US" sz="1300" dirty="0"/>
          </a:p>
        </p:txBody>
      </p:sp>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B9C6DA"/>
                </a:solidFill>
              </a:defRPr>
            </a:lvl1pPr>
          </a:lstStyle>
          <a:p>
            <a:pPr algn="r"/>
            <a:fld id="{F7021451-1387-4CA6-816F-3879F97B5CBC}" type="slidenum">
              <a:rPr b="0" lang="en-US"/>
              <a:t>25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500"/>
                                        <p:tgtEl>
                                          <p:spTgt spid="2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500"/>
                                        <p:tgtEl>
                                          <p:spTgt spid="21"/>
                                        </p:tgtEl>
                                      </p:cBhvr>
                                    </p:animEffect>
                                  </p:childTnLst>
                                </p:cTn>
                              </p:par>
                              <p:par>
                                <p:cTn id="58" presetID="10" presetClass="entr" presetSubtype="0" fill="hold" nodeType="with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500"/>
                                        <p:tgtEl>
                                          <p:spTgt spid="22"/>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500"/>
                                        <p:tgtEl>
                                          <p:spTgt spid="2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4"/>
                                        </p:tgtEl>
                                        <p:attrNameLst>
                                          <p:attrName>style.visibility</p:attrName>
                                        </p:attrNameLst>
                                      </p:cBhvr>
                                      <p:to>
                                        <p:strVal val="visible"/>
                                      </p:to>
                                    </p:set>
                                    <p:animEffect transition="in" filter="fade">
                                      <p:cBhvr>
                                        <p:cTn id="66" dur="500"/>
                                        <p:tgtEl>
                                          <p:spTgt spid="24"/>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5"/>
                                        </p:tgtEl>
                                        <p:attrNameLst>
                                          <p:attrName>style.visibility</p:attrName>
                                        </p:attrNameLst>
                                      </p:cBhvr>
                                      <p:to>
                                        <p:strVal val="visible"/>
                                      </p:to>
                                    </p:set>
                                    <p:animEffect transition="in" filter="fade">
                                      <p:cBhvr>
                                        <p:cTn id="69" dur="500"/>
                                        <p:tgtEl>
                                          <p:spTgt spid="25"/>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6"/>
                                        </p:tgtEl>
                                        <p:attrNameLst>
                                          <p:attrName>style.visibility</p:attrName>
                                        </p:attrNameLst>
                                      </p:cBhvr>
                                      <p:to>
                                        <p:strVal val="visible"/>
                                      </p:to>
                                    </p:set>
                                    <p:animEffect transition="in" filter="fade">
                                      <p:cBhvr>
                                        <p:cTn id="72" dur="500"/>
                                        <p:tgtEl>
                                          <p:spTgt spid="26"/>
                                        </p:tgtEl>
                                      </p:cBhvr>
                                    </p:animEffect>
                                  </p:childTnLst>
                                </p:cTn>
                              </p:par>
                              <p:par>
                                <p:cTn id="73" presetID="10" presetClass="entr" presetSubtype="0" fill="hold" nodeType="with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fade">
                                      <p:cBhvr>
                                        <p:cTn id="75" dur="500"/>
                                        <p:tgtEl>
                                          <p:spTgt spid="27"/>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8"/>
                                        </p:tgtEl>
                                        <p:attrNameLst>
                                          <p:attrName>style.visibility</p:attrName>
                                        </p:attrNameLst>
                                      </p:cBhvr>
                                      <p:to>
                                        <p:strVal val="visible"/>
                                      </p:to>
                                    </p:set>
                                    <p:animEffect transition="in" filter="fade">
                                      <p:cBhvr>
                                        <p:cTn id="78" dur="500"/>
                                        <p:tgtEl>
                                          <p:spTgt spid="28"/>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9"/>
                                        </p:tgtEl>
                                        <p:attrNameLst>
                                          <p:attrName>style.visibility</p:attrName>
                                        </p:attrNameLst>
                                      </p:cBhvr>
                                      <p:to>
                                        <p:strVal val="visible"/>
                                      </p:to>
                                    </p:set>
                                    <p:animEffect transition="in" filter="fade">
                                      <p:cBhvr>
                                        <p:cTn id="81" dur="500"/>
                                        <p:tgtEl>
                                          <p:spTgt spid="29"/>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0"/>
                                        </p:tgtEl>
                                        <p:attrNameLst>
                                          <p:attrName>style.visibility</p:attrName>
                                        </p:attrNameLst>
                                      </p:cBhvr>
                                      <p:to>
                                        <p:strVal val="visible"/>
                                      </p:to>
                                    </p:set>
                                    <p:animEffect transition="in" filter="fade">
                                      <p:cBhvr>
                                        <p:cTn id="84" dur="500"/>
                                        <p:tgtEl>
                                          <p:spTgt spid="30"/>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1"/>
                                        </p:tgtEl>
                                        <p:attrNameLst>
                                          <p:attrName>style.visibility</p:attrName>
                                        </p:attrNameLst>
                                      </p:cBhvr>
                                      <p:to>
                                        <p:strVal val="visible"/>
                                      </p:to>
                                    </p:set>
                                    <p:animEffect transition="in" filter="fade">
                                      <p:cBhvr>
                                        <p:cTn id="87" dur="500"/>
                                        <p:tgtEl>
                                          <p:spTgt spid="31"/>
                                        </p:tgtEl>
                                      </p:cBhvr>
                                    </p:animEffect>
                                  </p:childTnLst>
                                </p:cTn>
                              </p:par>
                              <p:par>
                                <p:cTn id="88" presetID="10" presetClass="entr" presetSubtype="0" fill="hold" nodeType="withEffect">
                                  <p:stCondLst>
                                    <p:cond delay="0"/>
                                  </p:stCondLst>
                                  <p:childTnLst>
                                    <p:set>
                                      <p:cBhvr>
                                        <p:cTn id="89" dur="1" fill="hold">
                                          <p:stCondLst>
                                            <p:cond delay="0"/>
                                          </p:stCondLst>
                                        </p:cTn>
                                        <p:tgtEl>
                                          <p:spTgt spid="32"/>
                                        </p:tgtEl>
                                        <p:attrNameLst>
                                          <p:attrName>style.visibility</p:attrName>
                                        </p:attrNameLst>
                                      </p:cBhvr>
                                      <p:to>
                                        <p:strVal val="visible"/>
                                      </p:to>
                                    </p:set>
                                    <p:animEffect transition="in" filter="fade">
                                      <p:cBhvr>
                                        <p:cTn id="90" dur="500"/>
                                        <p:tgtEl>
                                          <p:spTgt spid="32"/>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3"/>
                                        </p:tgtEl>
                                        <p:attrNameLst>
                                          <p:attrName>style.visibility</p:attrName>
                                        </p:attrNameLst>
                                      </p:cBhvr>
                                      <p:to>
                                        <p:strVal val="visible"/>
                                      </p:to>
                                    </p:set>
                                    <p:animEffect transition="in" filter="fade">
                                      <p:cBhvr>
                                        <p:cTn id="93" dur="500"/>
                                        <p:tgtEl>
                                          <p:spTgt spid="33"/>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4"/>
                                        </p:tgtEl>
                                        <p:attrNameLst>
                                          <p:attrName>style.visibility</p:attrName>
                                        </p:attrNameLst>
                                      </p:cBhvr>
                                      <p:to>
                                        <p:strVal val="visible"/>
                                      </p:to>
                                    </p:set>
                                    <p:animEffect transition="in" filter="fade">
                                      <p:cBhvr>
                                        <p:cTn id="96"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0" grpId="0" animBg="1"/>
      <p:bldP spid="11" grpId="0" animBg="1"/>
      <p:bldP spid="13" grpId="0" animBg="1"/>
      <p:bldP spid="14" grpId="0" animBg="1"/>
      <p:bldP spid="15" grpId="0" animBg="1"/>
      <p:bldP spid="16" grpId="0" animBg="1"/>
      <p:bldP spid="18" grpId="0" animBg="1"/>
      <p:bldP spid="19" grpId="0" animBg="1"/>
      <p:bldP spid="20" grpId="0" animBg="1"/>
      <p:bldP spid="21" grpId="0" animBg="1"/>
      <p:bldP spid="23" grpId="0" animBg="1"/>
      <p:bldP spid="24" grpId="0" animBg="1"/>
      <p:bldP spid="25" grpId="0" animBg="1"/>
      <p:bldP spid="26" grpId="0" animBg="1"/>
      <p:bldP spid="28" grpId="0" animBg="1"/>
      <p:bldP spid="29" grpId="0" animBg="1"/>
      <p:bldP spid="30" grpId="0" animBg="1"/>
      <p:bldP spid="31" grpId="0" animBg="1"/>
      <p:bldP spid="33" grpId="0" animBg="1"/>
      <p:bldP spid="3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457200" y="256032"/>
            <a:ext cx="6400800" cy="201168"/>
          </a:xfrm>
          <a:prstGeom prst="rect">
            <a:avLst/>
          </a:prstGeom>
          <a:noFill/>
          <a:ln/>
        </p:spPr>
        <p:txBody>
          <a:bodyPr wrap="square" lIns="0" tIns="0" rIns="0" bIns="0" rtlCol="0" anchor="t"/>
          <a:lstStyle/>
          <a:p>
            <a:pPr indent="0" marL="0">
              <a:buNone/>
            </a:pPr>
            <a:r>
              <a:rPr lang="en-US" sz="1100" b="1" spc="200" kern="0" dirty="0">
                <a:solidFill>
                  <a:srgbClr val="F2B134"/>
                </a:solidFill>
              </a:rPr>
              <a:t>QUIZ  |  HANDS UP FOR A OR B</a:t>
            </a:r>
            <a:endParaRPr lang="en-US" sz="1100" dirty="0"/>
          </a:p>
        </p:txBody>
      </p:sp>
      <p:sp>
        <p:nvSpPr>
          <p:cNvPr id="3" name="Text 2"/>
          <p:cNvSpPr/>
          <p:nvPr>
            <p:ph idx="103" type="title" hasCustomPrompt="1"/>
          </p:nvPr>
        </p:nvSpPr>
        <p:spPr>
          <a:xfrm>
            <a:off x="457200" y="457200"/>
            <a:ext cx="8229600" cy="685800"/>
          </a:xfrm>
          <a:prstGeom prst="rect">
            <a:avLst/>
          </a:prstGeom>
          <a:noFill/>
          <a:ln/>
        </p:spPr>
        <p:txBody>
          <a:bodyPr wrap="square" lIns="0" tIns="0" rIns="0" bIns="0" rtlCol="0" anchor="ctr"/>
          <a:lstStyle/>
          <a:p>
            <a:pPr algn="l" indent="0" marL="0">
              <a:buNone/>
            </a:pPr>
            <a:r>
              <a:rPr lang="en-US" sz="3000" b="1" dirty="0">
                <a:solidFill>
                  <a:srgbClr val="FFFFFF"/>
                </a:solidFill>
              </a:rPr>
              <a:t>Rapid-fire quiz</a:t>
            </a:r>
            <a:endParaRPr lang="en-US" sz="3000" dirty="0"/>
          </a:p>
        </p:txBody>
      </p:sp>
      <p:sp>
        <p:nvSpPr>
          <p:cNvPr id="5" name="Shape 2"/>
          <p:cNvSpPr/>
          <p:nvPr/>
        </p:nvSpPr>
        <p:spPr>
          <a:xfrm>
            <a:off x="457200" y="1280160"/>
            <a:ext cx="5760720" cy="548640"/>
          </a:xfrm>
          <a:prstGeom prst="roundRect">
            <a:avLst>
              <a:gd name="adj" fmla="val 16667"/>
            </a:avLst>
          </a:prstGeom>
          <a:solidFill>
            <a:srgbClr val="14305A"/>
          </a:solidFill>
          <a:ln/>
        </p:spPr>
      </p:sp>
      <p:sp>
        <p:nvSpPr>
          <p:cNvPr id="6" name="Text 3"/>
          <p:cNvSpPr txBox="1"/>
          <p:nvPr/>
        </p:nvSpPr>
        <p:spPr>
          <a:xfrm>
            <a:off x="548640" y="1353312"/>
            <a:ext cx="402336" cy="402336"/>
          </a:xfrm>
          <a:prstGeom prst="ellipse">
            <a:avLst/>
          </a:prstGeom>
          <a:solidFill>
            <a:srgbClr val="F2B134"/>
          </a:solidFill>
          <a:ln/>
        </p:spPr>
        <p:txBody>
          <a:bodyPr wrap="square" lIns="0" tIns="0" rIns="0" bIns="0" rtlCol="0" anchor="ctr"/>
          <a:lstStyle/>
          <a:p>
            <a:pPr algn="ctr" indent="0" marL="0">
              <a:buNone/>
            </a:pPr>
            <a:r>
              <a:rPr lang="en-US" sz="1400" b="1" dirty="0">
                <a:solidFill>
                  <a:srgbClr val="0B1F3A"/>
                </a:solidFill>
              </a:rPr>
              <a:t>1</a:t>
            </a:r>
            <a:endParaRPr lang="en-US" sz="1400" dirty="0"/>
          </a:p>
        </p:txBody>
      </p:sp>
      <p:sp>
        <p:nvSpPr>
          <p:cNvPr id="7" name="Text 4"/>
          <p:cNvSpPr txBox="1"/>
          <p:nvPr/>
        </p:nvSpPr>
        <p:spPr>
          <a:xfrm>
            <a:off x="1097280" y="1280160"/>
            <a:ext cx="5029200" cy="548640"/>
          </a:xfrm>
          <a:prstGeom prst="rect">
            <a:avLst/>
          </a:prstGeom>
          <a:noFill/>
          <a:ln/>
        </p:spPr>
        <p:txBody>
          <a:bodyPr wrap="square" lIns="0" tIns="0" rIns="0" bIns="0" rtlCol="0" anchor="ctr"/>
          <a:lstStyle/>
          <a:p>
            <a:pPr indent="0" marL="0">
              <a:buNone/>
            </a:pPr>
            <a:r>
              <a:rPr lang="en-US" sz="1300" dirty="0">
                <a:solidFill>
                  <a:srgbClr val="FFFFFF"/>
                </a:solidFill>
              </a:rPr>
              <a:t>LLM stands for...  A) Large Language Model   B) Little Learning Machine</a:t>
            </a:r>
            <a:endParaRPr lang="en-US" sz="1300" dirty="0"/>
          </a:p>
        </p:txBody>
      </p:sp>
      <p:sp>
        <p:nvSpPr>
          <p:cNvPr id="8" name="Text 5"/>
          <p:cNvSpPr txBox="1"/>
          <p:nvPr/>
        </p:nvSpPr>
        <p:spPr>
          <a:xfrm>
            <a:off x="6400800" y="1280160"/>
            <a:ext cx="2286000" cy="548640"/>
          </a:xfrm>
          <a:prstGeom prst="roundRect">
            <a:avLst>
              <a:gd name="adj" fmla="val 16667"/>
            </a:avLst>
          </a:prstGeom>
          <a:solidFill>
            <a:srgbClr val="14305A"/>
          </a:solidFill>
          <a:ln w="19050">
            <a:solidFill>
              <a:srgbClr val="F2B134"/>
            </a:solidFill>
            <a:prstDash val="dash"/>
          </a:ln>
        </p:spPr>
        <p:txBody>
          <a:bodyPr wrap="square" lIns="762" tIns="762" rIns="762" bIns="762" rtlCol="0" anchor="ctr"/>
          <a:lstStyle/>
          <a:p>
            <a:pPr algn="ctr" indent="0" marL="0">
              <a:buNone/>
            </a:pPr>
            <a:r>
              <a:rPr lang="en-US" sz="2000" b="1" dirty="0">
                <a:solidFill>
                  <a:srgbClr val="F2B134"/>
                </a:solidFill>
              </a:rPr>
              <a:t>?</a:t>
            </a:r>
            <a:endParaRPr lang="en-US" sz="2000" dirty="0"/>
          </a:p>
        </p:txBody>
      </p:sp>
      <p:sp>
        <p:nvSpPr>
          <p:cNvPr id="9" name="ck1_350"/>
          <p:cNvSpPr txBox="1"/>
          <p:nvPr/>
        </p:nvSpPr>
        <p:spPr>
          <a:xfrm>
            <a:off x="6400800" y="1280160"/>
            <a:ext cx="2286000" cy="548640"/>
          </a:xfrm>
          <a:prstGeom prst="roundRect">
            <a:avLst>
              <a:gd name="adj" fmla="val 16667"/>
            </a:avLst>
          </a:prstGeom>
          <a:solidFill>
            <a:srgbClr val="5DB85C"/>
          </a:solidFill>
          <a:ln/>
        </p:spPr>
        <p:txBody>
          <a:bodyPr wrap="square" lIns="762" tIns="762" rIns="762" bIns="762" rtlCol="0" anchor="ctr"/>
          <a:lstStyle/>
          <a:p>
            <a:pPr algn="ctr" indent="0" marL="0">
              <a:buNone/>
            </a:pPr>
            <a:r>
              <a:rPr lang="en-US" sz="1300" b="1" dirty="0">
                <a:solidFill>
                  <a:srgbClr val="0B1F3A"/>
                </a:solidFill>
              </a:rPr>
              <a:t>A  Large Language Model</a:t>
            </a:r>
            <a:endParaRPr lang="en-US" sz="1300" dirty="0"/>
          </a:p>
        </p:txBody>
      </p:sp>
      <p:sp>
        <p:nvSpPr>
          <p:cNvPr id="10" name="Shape 7"/>
          <p:cNvSpPr/>
          <p:nvPr/>
        </p:nvSpPr>
        <p:spPr>
          <a:xfrm>
            <a:off x="457200" y="1920240"/>
            <a:ext cx="5760720" cy="548640"/>
          </a:xfrm>
          <a:prstGeom prst="roundRect">
            <a:avLst>
              <a:gd name="adj" fmla="val 16667"/>
            </a:avLst>
          </a:prstGeom>
          <a:solidFill>
            <a:srgbClr val="14305A"/>
          </a:solidFill>
          <a:ln/>
        </p:spPr>
      </p:sp>
      <p:sp>
        <p:nvSpPr>
          <p:cNvPr id="11" name="Text 8"/>
          <p:cNvSpPr txBox="1"/>
          <p:nvPr/>
        </p:nvSpPr>
        <p:spPr>
          <a:xfrm>
            <a:off x="548640" y="1993392"/>
            <a:ext cx="402336" cy="402336"/>
          </a:xfrm>
          <a:prstGeom prst="ellipse">
            <a:avLst/>
          </a:prstGeom>
          <a:solidFill>
            <a:srgbClr val="F2B134"/>
          </a:solidFill>
          <a:ln/>
        </p:spPr>
        <p:txBody>
          <a:bodyPr wrap="square" lIns="0" tIns="0" rIns="0" bIns="0" rtlCol="0" anchor="ctr"/>
          <a:lstStyle/>
          <a:p>
            <a:pPr algn="ctr" indent="0" marL="0">
              <a:buNone/>
            </a:pPr>
            <a:r>
              <a:rPr lang="en-US" sz="1400" b="1" dirty="0">
                <a:solidFill>
                  <a:srgbClr val="0B1F3A"/>
                </a:solidFill>
              </a:rPr>
              <a:t>2</a:t>
            </a:r>
            <a:endParaRPr lang="en-US" sz="1400" dirty="0"/>
          </a:p>
        </p:txBody>
      </p:sp>
      <p:sp>
        <p:nvSpPr>
          <p:cNvPr id="12" name="Text 9"/>
          <p:cNvSpPr txBox="1"/>
          <p:nvPr/>
        </p:nvSpPr>
        <p:spPr>
          <a:xfrm>
            <a:off x="1097280" y="1920240"/>
            <a:ext cx="5029200" cy="548640"/>
          </a:xfrm>
          <a:prstGeom prst="rect">
            <a:avLst/>
          </a:prstGeom>
          <a:noFill/>
          <a:ln/>
        </p:spPr>
        <p:txBody>
          <a:bodyPr wrap="square" lIns="0" tIns="0" rIns="0" bIns="0" rtlCol="0" anchor="ctr"/>
          <a:lstStyle/>
          <a:p>
            <a:pPr indent="0" marL="0">
              <a:buNone/>
            </a:pPr>
            <a:r>
              <a:rPr lang="en-US" sz="1300" dirty="0">
                <a:solidFill>
                  <a:srgbClr val="FFFFFF"/>
                </a:solidFill>
              </a:rPr>
              <a:t>RAG helps the AI by...  A) giving it your documents   B) speeding up the PC</a:t>
            </a:r>
            <a:endParaRPr lang="en-US" sz="1300" dirty="0"/>
          </a:p>
        </p:txBody>
      </p:sp>
      <p:sp>
        <p:nvSpPr>
          <p:cNvPr id="13" name="Text 10"/>
          <p:cNvSpPr txBox="1"/>
          <p:nvPr/>
        </p:nvSpPr>
        <p:spPr>
          <a:xfrm>
            <a:off x="6400800" y="1920240"/>
            <a:ext cx="2286000" cy="548640"/>
          </a:xfrm>
          <a:prstGeom prst="roundRect">
            <a:avLst>
              <a:gd name="adj" fmla="val 16667"/>
            </a:avLst>
          </a:prstGeom>
          <a:solidFill>
            <a:srgbClr val="14305A"/>
          </a:solidFill>
          <a:ln w="19050">
            <a:solidFill>
              <a:srgbClr val="F2B134"/>
            </a:solidFill>
            <a:prstDash val="dash"/>
          </a:ln>
        </p:spPr>
        <p:txBody>
          <a:bodyPr wrap="square" lIns="762" tIns="762" rIns="762" bIns="762" rtlCol="0" anchor="ctr"/>
          <a:lstStyle/>
          <a:p>
            <a:pPr algn="ctr" indent="0" marL="0">
              <a:buNone/>
            </a:pPr>
            <a:r>
              <a:rPr lang="en-US" sz="2000" b="1" dirty="0">
                <a:solidFill>
                  <a:srgbClr val="F2B134"/>
                </a:solidFill>
              </a:rPr>
              <a:t>?</a:t>
            </a:r>
            <a:endParaRPr lang="en-US" sz="2000" dirty="0"/>
          </a:p>
        </p:txBody>
      </p:sp>
      <p:sp>
        <p:nvSpPr>
          <p:cNvPr id="14" name="ck2_351"/>
          <p:cNvSpPr txBox="1"/>
          <p:nvPr/>
        </p:nvSpPr>
        <p:spPr>
          <a:xfrm>
            <a:off x="6400800" y="1920240"/>
            <a:ext cx="2286000" cy="548640"/>
          </a:xfrm>
          <a:prstGeom prst="roundRect">
            <a:avLst>
              <a:gd name="adj" fmla="val 16667"/>
            </a:avLst>
          </a:prstGeom>
          <a:solidFill>
            <a:srgbClr val="5DB85C"/>
          </a:solidFill>
          <a:ln/>
        </p:spPr>
        <p:txBody>
          <a:bodyPr wrap="square" lIns="762" tIns="762" rIns="762" bIns="762" rtlCol="0" anchor="ctr"/>
          <a:lstStyle/>
          <a:p>
            <a:pPr algn="ctr" indent="0" marL="0">
              <a:buNone/>
            </a:pPr>
            <a:r>
              <a:rPr lang="en-US" sz="1300" b="1" dirty="0">
                <a:solidFill>
                  <a:srgbClr val="0B1F3A"/>
                </a:solidFill>
              </a:rPr>
              <a:t>A  your documents</a:t>
            </a:r>
            <a:endParaRPr lang="en-US" sz="1300" dirty="0"/>
          </a:p>
        </p:txBody>
      </p:sp>
      <p:sp>
        <p:nvSpPr>
          <p:cNvPr id="15" name="Shape 12"/>
          <p:cNvSpPr/>
          <p:nvPr/>
        </p:nvSpPr>
        <p:spPr>
          <a:xfrm>
            <a:off x="457200" y="2560320"/>
            <a:ext cx="5760720" cy="548640"/>
          </a:xfrm>
          <a:prstGeom prst="roundRect">
            <a:avLst>
              <a:gd name="adj" fmla="val 16667"/>
            </a:avLst>
          </a:prstGeom>
          <a:solidFill>
            <a:srgbClr val="14305A"/>
          </a:solidFill>
          <a:ln/>
        </p:spPr>
      </p:sp>
      <p:sp>
        <p:nvSpPr>
          <p:cNvPr id="16" name="Text 13"/>
          <p:cNvSpPr txBox="1"/>
          <p:nvPr/>
        </p:nvSpPr>
        <p:spPr>
          <a:xfrm>
            <a:off x="548640" y="2633472"/>
            <a:ext cx="402336" cy="402336"/>
          </a:xfrm>
          <a:prstGeom prst="ellipse">
            <a:avLst/>
          </a:prstGeom>
          <a:solidFill>
            <a:srgbClr val="F2B134"/>
          </a:solidFill>
          <a:ln/>
        </p:spPr>
        <p:txBody>
          <a:bodyPr wrap="square" lIns="0" tIns="0" rIns="0" bIns="0" rtlCol="0" anchor="ctr"/>
          <a:lstStyle/>
          <a:p>
            <a:pPr algn="ctr" indent="0" marL="0">
              <a:buNone/>
            </a:pPr>
            <a:r>
              <a:rPr lang="en-US" sz="1400" b="1" dirty="0">
                <a:solidFill>
                  <a:srgbClr val="0B1F3A"/>
                </a:solidFill>
              </a:rPr>
              <a:t>3</a:t>
            </a:r>
            <a:endParaRPr lang="en-US" sz="1400" dirty="0"/>
          </a:p>
        </p:txBody>
      </p:sp>
      <p:sp>
        <p:nvSpPr>
          <p:cNvPr id="17" name="Text 14"/>
          <p:cNvSpPr txBox="1"/>
          <p:nvPr/>
        </p:nvSpPr>
        <p:spPr>
          <a:xfrm>
            <a:off x="1097280" y="2560320"/>
            <a:ext cx="5029200" cy="548640"/>
          </a:xfrm>
          <a:prstGeom prst="rect">
            <a:avLst/>
          </a:prstGeom>
          <a:noFill/>
          <a:ln/>
        </p:spPr>
        <p:txBody>
          <a:bodyPr wrap="square" lIns="0" tIns="0" rIns="0" bIns="0" rtlCol="0" anchor="ctr"/>
          <a:lstStyle/>
          <a:p>
            <a:pPr indent="0" marL="0">
              <a:buNone/>
            </a:pPr>
            <a:r>
              <a:rPr lang="en-US" sz="1300" dirty="0">
                <a:solidFill>
                  <a:srgbClr val="FFFFFF"/>
                </a:solidFill>
              </a:rPr>
              <a:t>An AI agent can...  A) only chat   B) plan and use tools</a:t>
            </a:r>
            <a:endParaRPr lang="en-US" sz="1300" dirty="0"/>
          </a:p>
        </p:txBody>
      </p:sp>
      <p:sp>
        <p:nvSpPr>
          <p:cNvPr id="18" name="Text 15"/>
          <p:cNvSpPr txBox="1"/>
          <p:nvPr/>
        </p:nvSpPr>
        <p:spPr>
          <a:xfrm>
            <a:off x="6400800" y="2560320"/>
            <a:ext cx="2286000" cy="548640"/>
          </a:xfrm>
          <a:prstGeom prst="roundRect">
            <a:avLst>
              <a:gd name="adj" fmla="val 16667"/>
            </a:avLst>
          </a:prstGeom>
          <a:solidFill>
            <a:srgbClr val="14305A"/>
          </a:solidFill>
          <a:ln w="19050">
            <a:solidFill>
              <a:srgbClr val="F2B134"/>
            </a:solidFill>
            <a:prstDash val="dash"/>
          </a:ln>
        </p:spPr>
        <p:txBody>
          <a:bodyPr wrap="square" lIns="762" tIns="762" rIns="762" bIns="762" rtlCol="0" anchor="ctr"/>
          <a:lstStyle/>
          <a:p>
            <a:pPr algn="ctr" indent="0" marL="0">
              <a:buNone/>
            </a:pPr>
            <a:r>
              <a:rPr lang="en-US" sz="2000" b="1" dirty="0">
                <a:solidFill>
                  <a:srgbClr val="F2B134"/>
                </a:solidFill>
              </a:rPr>
              <a:t>?</a:t>
            </a:r>
            <a:endParaRPr lang="en-US" sz="2000" dirty="0"/>
          </a:p>
        </p:txBody>
      </p:sp>
      <p:sp>
        <p:nvSpPr>
          <p:cNvPr id="19" name="ck3_352"/>
          <p:cNvSpPr txBox="1"/>
          <p:nvPr/>
        </p:nvSpPr>
        <p:spPr>
          <a:xfrm>
            <a:off x="6400800" y="2560320"/>
            <a:ext cx="2286000" cy="548640"/>
          </a:xfrm>
          <a:prstGeom prst="roundRect">
            <a:avLst>
              <a:gd name="adj" fmla="val 16667"/>
            </a:avLst>
          </a:prstGeom>
          <a:solidFill>
            <a:srgbClr val="5DB85C"/>
          </a:solidFill>
          <a:ln/>
        </p:spPr>
        <p:txBody>
          <a:bodyPr wrap="square" lIns="762" tIns="762" rIns="762" bIns="762" rtlCol="0" anchor="ctr"/>
          <a:lstStyle/>
          <a:p>
            <a:pPr algn="ctr" indent="0" marL="0">
              <a:buNone/>
            </a:pPr>
            <a:r>
              <a:rPr lang="en-US" sz="1300" b="1" dirty="0">
                <a:solidFill>
                  <a:srgbClr val="0B1F3A"/>
                </a:solidFill>
              </a:rPr>
              <a:t>B  plan and use tools</a:t>
            </a:r>
            <a:endParaRPr lang="en-US" sz="1300" dirty="0"/>
          </a:p>
        </p:txBody>
      </p:sp>
      <p:sp>
        <p:nvSpPr>
          <p:cNvPr id="20" name="Shape 17"/>
          <p:cNvSpPr/>
          <p:nvPr/>
        </p:nvSpPr>
        <p:spPr>
          <a:xfrm>
            <a:off x="457200" y="3200400"/>
            <a:ext cx="5760720" cy="548640"/>
          </a:xfrm>
          <a:prstGeom prst="roundRect">
            <a:avLst>
              <a:gd name="adj" fmla="val 16667"/>
            </a:avLst>
          </a:prstGeom>
          <a:solidFill>
            <a:srgbClr val="14305A"/>
          </a:solidFill>
          <a:ln/>
        </p:spPr>
      </p:sp>
      <p:sp>
        <p:nvSpPr>
          <p:cNvPr id="21" name="Text 18"/>
          <p:cNvSpPr txBox="1"/>
          <p:nvPr/>
        </p:nvSpPr>
        <p:spPr>
          <a:xfrm>
            <a:off x="548640" y="3273552"/>
            <a:ext cx="402336" cy="402336"/>
          </a:xfrm>
          <a:prstGeom prst="ellipse">
            <a:avLst/>
          </a:prstGeom>
          <a:solidFill>
            <a:srgbClr val="F2B134"/>
          </a:solidFill>
          <a:ln/>
        </p:spPr>
        <p:txBody>
          <a:bodyPr wrap="square" lIns="0" tIns="0" rIns="0" bIns="0" rtlCol="0" anchor="ctr"/>
          <a:lstStyle/>
          <a:p>
            <a:pPr algn="ctr" indent="0" marL="0">
              <a:buNone/>
            </a:pPr>
            <a:r>
              <a:rPr lang="en-US" sz="1400" b="1" dirty="0">
                <a:solidFill>
                  <a:srgbClr val="0B1F3A"/>
                </a:solidFill>
              </a:rPr>
              <a:t>4</a:t>
            </a:r>
            <a:endParaRPr lang="en-US" sz="1400" dirty="0"/>
          </a:p>
        </p:txBody>
      </p:sp>
      <p:sp>
        <p:nvSpPr>
          <p:cNvPr id="22" name="Text 19"/>
          <p:cNvSpPr txBox="1"/>
          <p:nvPr/>
        </p:nvSpPr>
        <p:spPr>
          <a:xfrm>
            <a:off x="1097280" y="3200400"/>
            <a:ext cx="5029200" cy="548640"/>
          </a:xfrm>
          <a:prstGeom prst="rect">
            <a:avLst/>
          </a:prstGeom>
          <a:noFill/>
          <a:ln/>
        </p:spPr>
        <p:txBody>
          <a:bodyPr wrap="square" lIns="0" tIns="0" rIns="0" bIns="0" rtlCol="0" anchor="ctr"/>
          <a:lstStyle/>
          <a:p>
            <a:pPr indent="0" marL="0">
              <a:buNone/>
            </a:pPr>
            <a:r>
              <a:rPr lang="en-US" sz="1300" dirty="0">
                <a:solidFill>
                  <a:srgbClr val="FFFFFF"/>
                </a:solidFill>
              </a:rPr>
              <a:t>A confident wrong answer is called...  A) hallucination   B) compilation</a:t>
            </a:r>
            <a:endParaRPr lang="en-US" sz="1300" dirty="0"/>
          </a:p>
        </p:txBody>
      </p:sp>
      <p:sp>
        <p:nvSpPr>
          <p:cNvPr id="23" name="Text 20"/>
          <p:cNvSpPr txBox="1"/>
          <p:nvPr/>
        </p:nvSpPr>
        <p:spPr>
          <a:xfrm>
            <a:off x="6400800" y="3200400"/>
            <a:ext cx="2286000" cy="548640"/>
          </a:xfrm>
          <a:prstGeom prst="roundRect">
            <a:avLst>
              <a:gd name="adj" fmla="val 16667"/>
            </a:avLst>
          </a:prstGeom>
          <a:solidFill>
            <a:srgbClr val="14305A"/>
          </a:solidFill>
          <a:ln w="19050">
            <a:solidFill>
              <a:srgbClr val="F2B134"/>
            </a:solidFill>
            <a:prstDash val="dash"/>
          </a:ln>
        </p:spPr>
        <p:txBody>
          <a:bodyPr wrap="square" lIns="762" tIns="762" rIns="762" bIns="762" rtlCol="0" anchor="ctr"/>
          <a:lstStyle/>
          <a:p>
            <a:pPr algn="ctr" indent="0" marL="0">
              <a:buNone/>
            </a:pPr>
            <a:r>
              <a:rPr lang="en-US" sz="2000" b="1" dirty="0">
                <a:solidFill>
                  <a:srgbClr val="F2B134"/>
                </a:solidFill>
              </a:rPr>
              <a:t>?</a:t>
            </a:r>
            <a:endParaRPr lang="en-US" sz="2000" dirty="0"/>
          </a:p>
        </p:txBody>
      </p:sp>
      <p:sp>
        <p:nvSpPr>
          <p:cNvPr id="24" name="ck4_353"/>
          <p:cNvSpPr txBox="1"/>
          <p:nvPr/>
        </p:nvSpPr>
        <p:spPr>
          <a:xfrm>
            <a:off x="6400800" y="3200400"/>
            <a:ext cx="2286000" cy="548640"/>
          </a:xfrm>
          <a:prstGeom prst="roundRect">
            <a:avLst>
              <a:gd name="adj" fmla="val 16667"/>
            </a:avLst>
          </a:prstGeom>
          <a:solidFill>
            <a:srgbClr val="5DB85C"/>
          </a:solidFill>
          <a:ln/>
        </p:spPr>
        <p:txBody>
          <a:bodyPr wrap="square" lIns="762" tIns="762" rIns="762" bIns="762" rtlCol="0" anchor="ctr"/>
          <a:lstStyle/>
          <a:p>
            <a:pPr algn="ctr" indent="0" marL="0">
              <a:buNone/>
            </a:pPr>
            <a:r>
              <a:rPr lang="en-US" sz="1300" b="1" dirty="0">
                <a:solidFill>
                  <a:srgbClr val="0B1F3A"/>
                </a:solidFill>
              </a:rPr>
              <a:t>A  hallucination</a:t>
            </a:r>
            <a:endParaRPr lang="en-US" sz="1300" dirty="0"/>
          </a:p>
        </p:txBody>
      </p:sp>
      <p:sp>
        <p:nvSpPr>
          <p:cNvPr id="25" name="Shape 22"/>
          <p:cNvSpPr/>
          <p:nvPr/>
        </p:nvSpPr>
        <p:spPr>
          <a:xfrm>
            <a:off x="457200" y="3840480"/>
            <a:ext cx="5760720" cy="548640"/>
          </a:xfrm>
          <a:prstGeom prst="roundRect">
            <a:avLst>
              <a:gd name="adj" fmla="val 16667"/>
            </a:avLst>
          </a:prstGeom>
          <a:solidFill>
            <a:srgbClr val="14305A"/>
          </a:solidFill>
          <a:ln/>
        </p:spPr>
      </p:sp>
      <p:sp>
        <p:nvSpPr>
          <p:cNvPr id="26" name="Text 23"/>
          <p:cNvSpPr txBox="1"/>
          <p:nvPr/>
        </p:nvSpPr>
        <p:spPr>
          <a:xfrm>
            <a:off x="548640" y="3913632"/>
            <a:ext cx="402336" cy="402336"/>
          </a:xfrm>
          <a:prstGeom prst="ellipse">
            <a:avLst/>
          </a:prstGeom>
          <a:solidFill>
            <a:srgbClr val="F2B134"/>
          </a:solidFill>
          <a:ln/>
        </p:spPr>
        <p:txBody>
          <a:bodyPr wrap="square" lIns="0" tIns="0" rIns="0" bIns="0" rtlCol="0" anchor="ctr"/>
          <a:lstStyle/>
          <a:p>
            <a:pPr algn="ctr" indent="0" marL="0">
              <a:buNone/>
            </a:pPr>
            <a:r>
              <a:rPr lang="en-US" sz="1400" b="1" dirty="0">
                <a:solidFill>
                  <a:srgbClr val="0B1F3A"/>
                </a:solidFill>
              </a:rPr>
              <a:t>5</a:t>
            </a:r>
            <a:endParaRPr lang="en-US" sz="1400" dirty="0"/>
          </a:p>
        </p:txBody>
      </p:sp>
      <p:sp>
        <p:nvSpPr>
          <p:cNvPr id="27" name="Text 24"/>
          <p:cNvSpPr txBox="1"/>
          <p:nvPr/>
        </p:nvSpPr>
        <p:spPr>
          <a:xfrm>
            <a:off x="1097280" y="3840480"/>
            <a:ext cx="5029200" cy="548640"/>
          </a:xfrm>
          <a:prstGeom prst="rect">
            <a:avLst/>
          </a:prstGeom>
          <a:noFill/>
          <a:ln/>
        </p:spPr>
        <p:txBody>
          <a:bodyPr wrap="square" lIns="0" tIns="0" rIns="0" bIns="0" rtlCol="0" anchor="ctr"/>
          <a:lstStyle/>
          <a:p>
            <a:pPr indent="0" marL="0">
              <a:buNone/>
            </a:pPr>
            <a:r>
              <a:rPr lang="en-US" sz="1300" dirty="0">
                <a:solidFill>
                  <a:srgbClr val="FFFFFF"/>
                </a:solidFill>
              </a:rPr>
              <a:t>Who should check important AI answers?  A) nobody   B) you</a:t>
            </a:r>
            <a:endParaRPr lang="en-US" sz="1300" dirty="0"/>
          </a:p>
        </p:txBody>
      </p:sp>
      <p:sp>
        <p:nvSpPr>
          <p:cNvPr id="28" name="Text 25"/>
          <p:cNvSpPr txBox="1"/>
          <p:nvPr/>
        </p:nvSpPr>
        <p:spPr>
          <a:xfrm>
            <a:off x="6400800" y="3840480"/>
            <a:ext cx="2286000" cy="548640"/>
          </a:xfrm>
          <a:prstGeom prst="roundRect">
            <a:avLst>
              <a:gd name="adj" fmla="val 16667"/>
            </a:avLst>
          </a:prstGeom>
          <a:solidFill>
            <a:srgbClr val="14305A"/>
          </a:solidFill>
          <a:ln w="19050">
            <a:solidFill>
              <a:srgbClr val="F2B134"/>
            </a:solidFill>
            <a:prstDash val="dash"/>
          </a:ln>
        </p:spPr>
        <p:txBody>
          <a:bodyPr wrap="square" lIns="762" tIns="762" rIns="762" bIns="762" rtlCol="0" anchor="ctr"/>
          <a:lstStyle/>
          <a:p>
            <a:pPr algn="ctr" indent="0" marL="0">
              <a:buNone/>
            </a:pPr>
            <a:r>
              <a:rPr lang="en-US" sz="2000" b="1" dirty="0">
                <a:solidFill>
                  <a:srgbClr val="F2B134"/>
                </a:solidFill>
              </a:rPr>
              <a:t>?</a:t>
            </a:r>
            <a:endParaRPr lang="en-US" sz="2000" dirty="0"/>
          </a:p>
        </p:txBody>
      </p:sp>
      <p:sp>
        <p:nvSpPr>
          <p:cNvPr id="29" name="ck5_354"/>
          <p:cNvSpPr txBox="1"/>
          <p:nvPr/>
        </p:nvSpPr>
        <p:spPr>
          <a:xfrm>
            <a:off x="6400800" y="3840480"/>
            <a:ext cx="2286000" cy="548640"/>
          </a:xfrm>
          <a:prstGeom prst="roundRect">
            <a:avLst>
              <a:gd name="adj" fmla="val 16667"/>
            </a:avLst>
          </a:prstGeom>
          <a:solidFill>
            <a:srgbClr val="5DB85C"/>
          </a:solidFill>
          <a:ln/>
        </p:spPr>
        <p:txBody>
          <a:bodyPr wrap="square" lIns="762" tIns="762" rIns="762" bIns="762" rtlCol="0" anchor="ctr"/>
          <a:lstStyle/>
          <a:p>
            <a:pPr algn="ctr" indent="0" marL="0">
              <a:buNone/>
            </a:pPr>
            <a:r>
              <a:rPr lang="en-US" sz="1300" b="1" dirty="0">
                <a:solidFill>
                  <a:srgbClr val="0B1F3A"/>
                </a:solidFill>
              </a:rPr>
              <a:t>B  you</a:t>
            </a:r>
            <a:endParaRPr lang="en-US" sz="1300" dirty="0"/>
          </a:p>
        </p:txBody>
      </p:sp>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B9C6DA"/>
                </a:solidFill>
              </a:defRPr>
            </a:lvl1pPr>
          </a:lstStyle>
          <a:p>
            <a:pPr algn="r"/>
            <a:fld id="{F7021451-1387-4CA6-816F-3879F97B5CBC}" type="slidenum">
              <a:rPr b="0" lang="en-US"/>
              <a:t>26</a:t>
            </a:fld>
            <a:endParaRPr lang="en-US"/>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4" grpId="0" animBg="1"/>
      <p:bldP spid="19" grpId="0" animBg="1"/>
      <p:bldP spid="24" grpId="0" animBg="1"/>
      <p:bldP spid="2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457200" y="256032"/>
            <a:ext cx="6400800" cy="201168"/>
          </a:xfrm>
          <a:prstGeom prst="rect">
            <a:avLst/>
          </a:prstGeom>
          <a:noFill/>
          <a:ln/>
        </p:spPr>
        <p:txBody>
          <a:bodyPr wrap="square" lIns="0" tIns="0" rIns="0" bIns="0" rtlCol="0" anchor="t"/>
          <a:lstStyle/>
          <a:p>
            <a:pPr indent="0" marL="0">
              <a:buNone/>
            </a:pPr>
            <a:r>
              <a:rPr lang="en-US" sz="1100" b="1" spc="200" kern="0" dirty="0">
                <a:solidFill>
                  <a:srgbClr val="F2B134"/>
                </a:solidFill>
              </a:rPr>
              <a:t>TRY TONIGHT</a:t>
            </a:r>
            <a:endParaRPr lang="en-US" sz="1100" dirty="0"/>
          </a:p>
        </p:txBody>
      </p:sp>
      <p:sp>
        <p:nvSpPr>
          <p:cNvPr id="3" name="Text 2"/>
          <p:cNvSpPr/>
          <p:nvPr>
            <p:ph idx="103" type="title" hasCustomPrompt="1"/>
          </p:nvPr>
        </p:nvSpPr>
        <p:spPr>
          <a:xfrm>
            <a:off x="457200" y="457200"/>
            <a:ext cx="8229600" cy="685800"/>
          </a:xfrm>
          <a:prstGeom prst="rect">
            <a:avLst/>
          </a:prstGeom>
          <a:noFill/>
          <a:ln/>
        </p:spPr>
        <p:txBody>
          <a:bodyPr wrap="square" lIns="0" tIns="0" rIns="0" bIns="0" rtlCol="0" anchor="ctr"/>
          <a:lstStyle/>
          <a:p>
            <a:pPr algn="l" indent="0" marL="0">
              <a:buNone/>
            </a:pPr>
            <a:r>
              <a:rPr lang="en-US" sz="3000" b="1" dirty="0">
                <a:solidFill>
                  <a:srgbClr val="FFFFFF"/>
                </a:solidFill>
              </a:rPr>
              <a:t>Gen AI in daily life: try it tonight</a:t>
            </a:r>
            <a:endParaRPr lang="en-US" sz="3000" dirty="0"/>
          </a:p>
        </p:txBody>
      </p:sp>
      <p:sp>
        <p:nvSpPr>
          <p:cNvPr id="5" name="ck1_355"/>
          <p:cNvSpPr/>
          <p:nvPr/>
        </p:nvSpPr>
        <p:spPr>
          <a:xfrm>
            <a:off x="457200" y="1325880"/>
            <a:ext cx="2651760" cy="1463040"/>
          </a:xfrm>
          <a:prstGeom prst="roundRect">
            <a:avLst>
              <a:gd name="adj" fmla="val 6250"/>
            </a:avLst>
          </a:prstGeom>
          <a:solidFill>
            <a:srgbClr val="14305A"/>
          </a:solidFill>
          <a:ln/>
        </p:spPr>
      </p:sp>
      <p:sp>
        <p:nvSpPr>
          <p:cNvPr id="6" name="ck1_356"/>
          <p:cNvSpPr/>
          <p:nvPr/>
        </p:nvSpPr>
        <p:spPr>
          <a:xfrm>
            <a:off x="640080" y="1508760"/>
            <a:ext cx="457200" cy="457200"/>
          </a:xfrm>
          <a:prstGeom prst="ellipse">
            <a:avLst/>
          </a:prstGeom>
          <a:solidFill>
            <a:srgbClr val="F2B134"/>
          </a:solidFill>
          <a:ln/>
        </p:spPr>
      </p:sp>
      <p:pic>
        <p:nvPicPr>
          <p:cNvPr id="7" name="ck1_357" descr="preencoded.png">    </p:cNvPr>
          <p:cNvPicPr>
            <a:picLocks noChangeAspect="1"/>
          </p:cNvPicPr>
          <p:nvPr/>
        </p:nvPicPr>
        <p:blipFill>
          <a:blip r:embed="rId1"/>
          <a:stretch>
            <a:fillRect/>
          </a:stretch>
        </p:blipFill>
        <p:spPr>
          <a:xfrm>
            <a:off x="749808" y="1618488"/>
            <a:ext cx="237744" cy="237744"/>
          </a:xfrm>
          <a:prstGeom prst="rect">
            <a:avLst/>
          </a:prstGeom>
        </p:spPr>
      </p:pic>
      <p:sp>
        <p:nvSpPr>
          <p:cNvPr id="8" name="ck1_358"/>
          <p:cNvSpPr txBox="1"/>
          <p:nvPr/>
        </p:nvSpPr>
        <p:spPr>
          <a:xfrm>
            <a:off x="1234440" y="1508760"/>
            <a:ext cx="1783080" cy="457200"/>
          </a:xfrm>
          <a:prstGeom prst="rect">
            <a:avLst/>
          </a:prstGeom>
          <a:noFill/>
          <a:ln/>
        </p:spPr>
        <p:txBody>
          <a:bodyPr wrap="square" lIns="0" tIns="0" rIns="0" bIns="0" rtlCol="0" anchor="ctr"/>
          <a:lstStyle/>
          <a:p>
            <a:pPr indent="0" marL="0">
              <a:buNone/>
            </a:pPr>
            <a:r>
              <a:rPr lang="en-US" sz="1500" b="1" dirty="0">
                <a:solidFill>
                  <a:srgbClr val="FFFFFF"/>
                </a:solidFill>
              </a:rPr>
              <a:t>Understand a topic</a:t>
            </a:r>
            <a:endParaRPr lang="en-US" sz="1500" dirty="0"/>
          </a:p>
        </p:txBody>
      </p:sp>
      <p:sp>
        <p:nvSpPr>
          <p:cNvPr id="9" name="ck1_359"/>
          <p:cNvSpPr txBox="1"/>
          <p:nvPr/>
        </p:nvSpPr>
        <p:spPr>
          <a:xfrm>
            <a:off x="640080" y="2057400"/>
            <a:ext cx="2331720" cy="713232"/>
          </a:xfrm>
          <a:prstGeom prst="rect">
            <a:avLst/>
          </a:prstGeom>
          <a:noFill/>
          <a:ln/>
        </p:spPr>
        <p:txBody>
          <a:bodyPr wrap="square" lIns="0" tIns="0" rIns="0" bIns="0" rtlCol="0" anchor="t"/>
          <a:lstStyle/>
          <a:p>
            <a:pPr indent="0" marL="0">
              <a:buNone/>
            </a:pPr>
            <a:r>
              <a:rPr lang="en-US" sz="1300" dirty="0">
                <a:solidFill>
                  <a:srgbClr val="B9C6DA"/>
                </a:solidFill>
              </a:rPr>
              <a:t>"Explain transactions with a UPI example." Then check your notes.</a:t>
            </a:r>
            <a:endParaRPr lang="en-US" sz="1300" dirty="0"/>
          </a:p>
        </p:txBody>
      </p:sp>
      <p:sp>
        <p:nvSpPr>
          <p:cNvPr id="10" name="ck2_360"/>
          <p:cNvSpPr/>
          <p:nvPr/>
        </p:nvSpPr>
        <p:spPr>
          <a:xfrm>
            <a:off x="3246120" y="1325880"/>
            <a:ext cx="2651760" cy="1463040"/>
          </a:xfrm>
          <a:prstGeom prst="roundRect">
            <a:avLst>
              <a:gd name="adj" fmla="val 6250"/>
            </a:avLst>
          </a:prstGeom>
          <a:solidFill>
            <a:srgbClr val="14305A"/>
          </a:solidFill>
          <a:ln/>
        </p:spPr>
      </p:sp>
      <p:sp>
        <p:nvSpPr>
          <p:cNvPr id="11" name="ck2_361"/>
          <p:cNvSpPr/>
          <p:nvPr/>
        </p:nvSpPr>
        <p:spPr>
          <a:xfrm>
            <a:off x="3429000" y="1508760"/>
            <a:ext cx="457200" cy="457200"/>
          </a:xfrm>
          <a:prstGeom prst="ellipse">
            <a:avLst/>
          </a:prstGeom>
          <a:solidFill>
            <a:srgbClr val="F2B134"/>
          </a:solidFill>
          <a:ln/>
        </p:spPr>
      </p:sp>
      <p:pic>
        <p:nvPicPr>
          <p:cNvPr id="12" name="ck2_362" descr="preencoded.png">    </p:cNvPr>
          <p:cNvPicPr>
            <a:picLocks noChangeAspect="1"/>
          </p:cNvPicPr>
          <p:nvPr/>
        </p:nvPicPr>
        <p:blipFill>
          <a:blip r:embed="rId2"/>
          <a:stretch>
            <a:fillRect/>
          </a:stretch>
        </p:blipFill>
        <p:spPr>
          <a:xfrm>
            <a:off x="3538728" y="1618488"/>
            <a:ext cx="237744" cy="237744"/>
          </a:xfrm>
          <a:prstGeom prst="rect">
            <a:avLst/>
          </a:prstGeom>
        </p:spPr>
      </p:pic>
      <p:sp>
        <p:nvSpPr>
          <p:cNvPr id="13" name="ck2_363"/>
          <p:cNvSpPr txBox="1"/>
          <p:nvPr/>
        </p:nvSpPr>
        <p:spPr>
          <a:xfrm>
            <a:off x="4023360" y="1508760"/>
            <a:ext cx="1783080" cy="457200"/>
          </a:xfrm>
          <a:prstGeom prst="rect">
            <a:avLst/>
          </a:prstGeom>
          <a:noFill/>
          <a:ln/>
        </p:spPr>
        <p:txBody>
          <a:bodyPr wrap="square" lIns="0" tIns="0" rIns="0" bIns="0" rtlCol="0" anchor="ctr"/>
          <a:lstStyle/>
          <a:p>
            <a:pPr indent="0" marL="0">
              <a:buNone/>
            </a:pPr>
            <a:r>
              <a:rPr lang="en-US" sz="1500" b="1" dirty="0">
                <a:solidFill>
                  <a:srgbClr val="FFFFFF"/>
                </a:solidFill>
              </a:rPr>
              <a:t>Revise your notes</a:t>
            </a:r>
            <a:endParaRPr lang="en-US" sz="1500" dirty="0"/>
          </a:p>
        </p:txBody>
      </p:sp>
      <p:sp>
        <p:nvSpPr>
          <p:cNvPr id="14" name="ck2_364"/>
          <p:cNvSpPr txBox="1"/>
          <p:nvPr/>
        </p:nvSpPr>
        <p:spPr>
          <a:xfrm>
            <a:off x="3429000" y="2057400"/>
            <a:ext cx="2331720" cy="713232"/>
          </a:xfrm>
          <a:prstGeom prst="rect">
            <a:avLst/>
          </a:prstGeom>
          <a:noFill/>
          <a:ln/>
        </p:spPr>
        <p:txBody>
          <a:bodyPr wrap="square" lIns="0" tIns="0" rIns="0" bIns="0" rtlCol="0" anchor="t"/>
          <a:lstStyle/>
          <a:p>
            <a:pPr indent="0" marL="0">
              <a:buNone/>
            </a:pPr>
            <a:r>
              <a:rPr lang="en-US" sz="1300" dirty="0">
                <a:solidFill>
                  <a:srgbClr val="B9C6DA"/>
                </a:solidFill>
              </a:rPr>
              <a:t>Ask for revision cards. Never paste private data.</a:t>
            </a:r>
            <a:endParaRPr lang="en-US" sz="1300" dirty="0"/>
          </a:p>
        </p:txBody>
      </p:sp>
      <p:sp>
        <p:nvSpPr>
          <p:cNvPr id="15" name="ck3_365"/>
          <p:cNvSpPr/>
          <p:nvPr/>
        </p:nvSpPr>
        <p:spPr>
          <a:xfrm>
            <a:off x="6035040" y="1325880"/>
            <a:ext cx="2651760" cy="1463040"/>
          </a:xfrm>
          <a:prstGeom prst="roundRect">
            <a:avLst>
              <a:gd name="adj" fmla="val 6250"/>
            </a:avLst>
          </a:prstGeom>
          <a:solidFill>
            <a:srgbClr val="14305A"/>
          </a:solidFill>
          <a:ln/>
        </p:spPr>
      </p:sp>
      <p:sp>
        <p:nvSpPr>
          <p:cNvPr id="16" name="ck3_366"/>
          <p:cNvSpPr/>
          <p:nvPr/>
        </p:nvSpPr>
        <p:spPr>
          <a:xfrm>
            <a:off x="6217920" y="1508760"/>
            <a:ext cx="457200" cy="457200"/>
          </a:xfrm>
          <a:prstGeom prst="ellipse">
            <a:avLst/>
          </a:prstGeom>
          <a:solidFill>
            <a:srgbClr val="F2B134"/>
          </a:solidFill>
          <a:ln/>
        </p:spPr>
      </p:sp>
      <p:pic>
        <p:nvPicPr>
          <p:cNvPr id="17" name="ck3_367" descr="preencoded.png">    </p:cNvPr>
          <p:cNvPicPr>
            <a:picLocks noChangeAspect="1"/>
          </p:cNvPicPr>
          <p:nvPr/>
        </p:nvPicPr>
        <p:blipFill>
          <a:blip r:embed="rId3"/>
          <a:stretch>
            <a:fillRect/>
          </a:stretch>
        </p:blipFill>
        <p:spPr>
          <a:xfrm>
            <a:off x="6327648" y="1618488"/>
            <a:ext cx="237744" cy="237744"/>
          </a:xfrm>
          <a:prstGeom prst="rect">
            <a:avLst/>
          </a:prstGeom>
        </p:spPr>
      </p:pic>
      <p:sp>
        <p:nvSpPr>
          <p:cNvPr id="18" name="ck3_368"/>
          <p:cNvSpPr txBox="1"/>
          <p:nvPr/>
        </p:nvSpPr>
        <p:spPr>
          <a:xfrm>
            <a:off x="6812280" y="1508760"/>
            <a:ext cx="1783080" cy="457200"/>
          </a:xfrm>
          <a:prstGeom prst="rect">
            <a:avLst/>
          </a:prstGeom>
          <a:noFill/>
          <a:ln/>
        </p:spPr>
        <p:txBody>
          <a:bodyPr wrap="square" lIns="0" tIns="0" rIns="0" bIns="0" rtlCol="0" anchor="ctr"/>
          <a:lstStyle/>
          <a:p>
            <a:pPr indent="0" marL="0">
              <a:buNone/>
            </a:pPr>
            <a:r>
              <a:rPr lang="en-US" sz="1500" b="1" dirty="0">
                <a:solidFill>
                  <a:srgbClr val="FFFFFF"/>
                </a:solidFill>
              </a:rPr>
              <a:t>Debug an error</a:t>
            </a:r>
            <a:endParaRPr lang="en-US" sz="1500" dirty="0"/>
          </a:p>
        </p:txBody>
      </p:sp>
      <p:sp>
        <p:nvSpPr>
          <p:cNvPr id="19" name="ck3_369"/>
          <p:cNvSpPr txBox="1"/>
          <p:nvPr/>
        </p:nvSpPr>
        <p:spPr>
          <a:xfrm>
            <a:off x="6217920" y="2057400"/>
            <a:ext cx="2331720" cy="713232"/>
          </a:xfrm>
          <a:prstGeom prst="rect">
            <a:avLst/>
          </a:prstGeom>
          <a:noFill/>
          <a:ln/>
        </p:spPr>
        <p:txBody>
          <a:bodyPr wrap="square" lIns="0" tIns="0" rIns="0" bIns="0" rtlCol="0" anchor="t"/>
          <a:lstStyle/>
          <a:p>
            <a:pPr indent="0" marL="0">
              <a:buNone/>
            </a:pPr>
            <a:r>
              <a:rPr lang="en-US" sz="1300" dirty="0">
                <a:solidFill>
                  <a:srgbClr val="B9C6DA"/>
                </a:solidFill>
              </a:rPr>
              <a:t>Paste the error and 10 lines. Read the fix before you run it.</a:t>
            </a:r>
            <a:endParaRPr lang="en-US" sz="1300" dirty="0"/>
          </a:p>
        </p:txBody>
      </p:sp>
      <p:sp>
        <p:nvSpPr>
          <p:cNvPr id="20" name="ck4_370"/>
          <p:cNvSpPr/>
          <p:nvPr/>
        </p:nvSpPr>
        <p:spPr>
          <a:xfrm>
            <a:off x="457200" y="2926080"/>
            <a:ext cx="2651760" cy="1463040"/>
          </a:xfrm>
          <a:prstGeom prst="roundRect">
            <a:avLst>
              <a:gd name="adj" fmla="val 6250"/>
            </a:avLst>
          </a:prstGeom>
          <a:solidFill>
            <a:srgbClr val="14305A"/>
          </a:solidFill>
          <a:ln/>
        </p:spPr>
      </p:sp>
      <p:sp>
        <p:nvSpPr>
          <p:cNvPr id="21" name="ck4_371"/>
          <p:cNvSpPr/>
          <p:nvPr/>
        </p:nvSpPr>
        <p:spPr>
          <a:xfrm>
            <a:off x="640080" y="3108960"/>
            <a:ext cx="457200" cy="457200"/>
          </a:xfrm>
          <a:prstGeom prst="ellipse">
            <a:avLst/>
          </a:prstGeom>
          <a:solidFill>
            <a:srgbClr val="F2B134"/>
          </a:solidFill>
          <a:ln/>
        </p:spPr>
      </p:sp>
      <p:pic>
        <p:nvPicPr>
          <p:cNvPr id="22" name="ck4_372" descr="preencoded.png">    </p:cNvPr>
          <p:cNvPicPr>
            <a:picLocks noChangeAspect="1"/>
          </p:cNvPicPr>
          <p:nvPr/>
        </p:nvPicPr>
        <p:blipFill>
          <a:blip r:embed="rId4"/>
          <a:stretch>
            <a:fillRect/>
          </a:stretch>
        </p:blipFill>
        <p:spPr>
          <a:xfrm>
            <a:off x="749808" y="3218688"/>
            <a:ext cx="237744" cy="237744"/>
          </a:xfrm>
          <a:prstGeom prst="rect">
            <a:avLst/>
          </a:prstGeom>
        </p:spPr>
      </p:pic>
      <p:sp>
        <p:nvSpPr>
          <p:cNvPr id="23" name="ck4_373"/>
          <p:cNvSpPr txBox="1"/>
          <p:nvPr/>
        </p:nvSpPr>
        <p:spPr>
          <a:xfrm>
            <a:off x="1234440" y="3108960"/>
            <a:ext cx="1783080" cy="457200"/>
          </a:xfrm>
          <a:prstGeom prst="rect">
            <a:avLst/>
          </a:prstGeom>
          <a:noFill/>
          <a:ln/>
        </p:spPr>
        <p:txBody>
          <a:bodyPr wrap="square" lIns="0" tIns="0" rIns="0" bIns="0" rtlCol="0" anchor="ctr"/>
          <a:lstStyle/>
          <a:p>
            <a:pPr indent="0" marL="0">
              <a:buNone/>
            </a:pPr>
            <a:r>
              <a:rPr lang="en-US" sz="1500" b="1" dirty="0">
                <a:solidFill>
                  <a:srgbClr val="FFFFFF"/>
                </a:solidFill>
              </a:rPr>
              <a:t>Interview practice</a:t>
            </a:r>
            <a:endParaRPr lang="en-US" sz="1500" dirty="0"/>
          </a:p>
        </p:txBody>
      </p:sp>
      <p:sp>
        <p:nvSpPr>
          <p:cNvPr id="24" name="ck4_374"/>
          <p:cNvSpPr txBox="1"/>
          <p:nvPr/>
        </p:nvSpPr>
        <p:spPr>
          <a:xfrm>
            <a:off x="640080" y="3657600"/>
            <a:ext cx="2331720" cy="713232"/>
          </a:xfrm>
          <a:prstGeom prst="rect">
            <a:avLst/>
          </a:prstGeom>
          <a:noFill/>
          <a:ln/>
        </p:spPr>
        <p:txBody>
          <a:bodyPr wrap="square" lIns="0" tIns="0" rIns="0" bIns="0" rtlCol="0" anchor="t"/>
          <a:lstStyle/>
          <a:p>
            <a:pPr indent="0" marL="0">
              <a:buNone/>
            </a:pPr>
            <a:r>
              <a:rPr lang="en-US" sz="1300" dirty="0">
                <a:solidFill>
                  <a:srgbClr val="B9C6DA"/>
                </a:solidFill>
              </a:rPr>
              <a:t>Use the interviewer prompt we just built.</a:t>
            </a:r>
            <a:endParaRPr lang="en-US" sz="1300" dirty="0"/>
          </a:p>
        </p:txBody>
      </p:sp>
      <p:sp>
        <p:nvSpPr>
          <p:cNvPr id="25" name="ck5_375"/>
          <p:cNvSpPr/>
          <p:nvPr/>
        </p:nvSpPr>
        <p:spPr>
          <a:xfrm>
            <a:off x="3246120" y="2926080"/>
            <a:ext cx="2651760" cy="1463040"/>
          </a:xfrm>
          <a:prstGeom prst="roundRect">
            <a:avLst>
              <a:gd name="adj" fmla="val 6250"/>
            </a:avLst>
          </a:prstGeom>
          <a:solidFill>
            <a:srgbClr val="14305A"/>
          </a:solidFill>
          <a:ln/>
        </p:spPr>
      </p:sp>
      <p:sp>
        <p:nvSpPr>
          <p:cNvPr id="26" name="ck5_376"/>
          <p:cNvSpPr/>
          <p:nvPr/>
        </p:nvSpPr>
        <p:spPr>
          <a:xfrm>
            <a:off x="3429000" y="3108960"/>
            <a:ext cx="457200" cy="457200"/>
          </a:xfrm>
          <a:prstGeom prst="ellipse">
            <a:avLst/>
          </a:prstGeom>
          <a:solidFill>
            <a:srgbClr val="F2B134"/>
          </a:solidFill>
          <a:ln/>
        </p:spPr>
      </p:sp>
      <p:pic>
        <p:nvPicPr>
          <p:cNvPr id="27" name="ck5_377" descr="preencoded.png">    </p:cNvPr>
          <p:cNvPicPr>
            <a:picLocks noChangeAspect="1"/>
          </p:cNvPicPr>
          <p:nvPr/>
        </p:nvPicPr>
        <p:blipFill>
          <a:blip r:embed="rId5"/>
          <a:stretch>
            <a:fillRect/>
          </a:stretch>
        </p:blipFill>
        <p:spPr>
          <a:xfrm>
            <a:off x="3538728" y="3218688"/>
            <a:ext cx="237744" cy="237744"/>
          </a:xfrm>
          <a:prstGeom prst="rect">
            <a:avLst/>
          </a:prstGeom>
        </p:spPr>
      </p:pic>
      <p:sp>
        <p:nvSpPr>
          <p:cNvPr id="28" name="ck5_378"/>
          <p:cNvSpPr txBox="1"/>
          <p:nvPr/>
        </p:nvSpPr>
        <p:spPr>
          <a:xfrm>
            <a:off x="4023360" y="3108960"/>
            <a:ext cx="1783080" cy="457200"/>
          </a:xfrm>
          <a:prstGeom prst="rect">
            <a:avLst/>
          </a:prstGeom>
          <a:noFill/>
          <a:ln/>
        </p:spPr>
        <p:txBody>
          <a:bodyPr wrap="square" lIns="0" tIns="0" rIns="0" bIns="0" rtlCol="0" anchor="ctr"/>
          <a:lstStyle/>
          <a:p>
            <a:pPr indent="0" marL="0">
              <a:buNone/>
            </a:pPr>
            <a:r>
              <a:rPr lang="en-US" sz="1500" b="1" dirty="0">
                <a:solidFill>
                  <a:srgbClr val="FFFFFF"/>
                </a:solidFill>
              </a:rPr>
              <a:t>Polish a resume line</a:t>
            </a:r>
            <a:endParaRPr lang="en-US" sz="1500" dirty="0"/>
          </a:p>
        </p:txBody>
      </p:sp>
      <p:sp>
        <p:nvSpPr>
          <p:cNvPr id="29" name="ck5_379"/>
          <p:cNvSpPr txBox="1"/>
          <p:nvPr/>
        </p:nvSpPr>
        <p:spPr>
          <a:xfrm>
            <a:off x="3429000" y="3657600"/>
            <a:ext cx="2331720" cy="713232"/>
          </a:xfrm>
          <a:prstGeom prst="rect">
            <a:avLst/>
          </a:prstGeom>
          <a:noFill/>
          <a:ln/>
        </p:spPr>
        <p:txBody>
          <a:bodyPr wrap="square" lIns="0" tIns="0" rIns="0" bIns="0" rtlCol="0" anchor="t"/>
          <a:lstStyle/>
          <a:p>
            <a:pPr indent="0" marL="0">
              <a:buNone/>
            </a:pPr>
            <a:r>
              <a:rPr lang="en-US" sz="1300" dirty="0">
                <a:solidFill>
                  <a:srgbClr val="B9C6DA"/>
                </a:solidFill>
              </a:rPr>
              <a:t>Ask for two rewrites. Keep your voice and true facts.</a:t>
            </a:r>
            <a:endParaRPr lang="en-US" sz="1300" dirty="0"/>
          </a:p>
        </p:txBody>
      </p:sp>
      <p:sp>
        <p:nvSpPr>
          <p:cNvPr id="30" name="ck6_380"/>
          <p:cNvSpPr/>
          <p:nvPr/>
        </p:nvSpPr>
        <p:spPr>
          <a:xfrm>
            <a:off x="6035040" y="2926080"/>
            <a:ext cx="2651760" cy="1463040"/>
          </a:xfrm>
          <a:prstGeom prst="roundRect">
            <a:avLst>
              <a:gd name="adj" fmla="val 6250"/>
            </a:avLst>
          </a:prstGeom>
          <a:solidFill>
            <a:srgbClr val="14305A"/>
          </a:solidFill>
          <a:ln/>
        </p:spPr>
      </p:sp>
      <p:sp>
        <p:nvSpPr>
          <p:cNvPr id="31" name="ck6_381"/>
          <p:cNvSpPr/>
          <p:nvPr/>
        </p:nvSpPr>
        <p:spPr>
          <a:xfrm>
            <a:off x="6217920" y="3108960"/>
            <a:ext cx="457200" cy="457200"/>
          </a:xfrm>
          <a:prstGeom prst="ellipse">
            <a:avLst/>
          </a:prstGeom>
          <a:solidFill>
            <a:srgbClr val="F2B134"/>
          </a:solidFill>
          <a:ln/>
        </p:spPr>
      </p:sp>
      <p:pic>
        <p:nvPicPr>
          <p:cNvPr id="32" name="ck6_382" descr="preencoded.png">    </p:cNvPr>
          <p:cNvPicPr>
            <a:picLocks noChangeAspect="1"/>
          </p:cNvPicPr>
          <p:nvPr/>
        </p:nvPicPr>
        <p:blipFill>
          <a:blip r:embed="rId6"/>
          <a:stretch>
            <a:fillRect/>
          </a:stretch>
        </p:blipFill>
        <p:spPr>
          <a:xfrm>
            <a:off x="6327648" y="3218688"/>
            <a:ext cx="237744" cy="237744"/>
          </a:xfrm>
          <a:prstGeom prst="rect">
            <a:avLst/>
          </a:prstGeom>
        </p:spPr>
      </p:pic>
      <p:sp>
        <p:nvSpPr>
          <p:cNvPr id="33" name="ck6_383"/>
          <p:cNvSpPr txBox="1"/>
          <p:nvPr/>
        </p:nvSpPr>
        <p:spPr>
          <a:xfrm>
            <a:off x="6812280" y="3108960"/>
            <a:ext cx="1783080" cy="457200"/>
          </a:xfrm>
          <a:prstGeom prst="rect">
            <a:avLst/>
          </a:prstGeom>
          <a:noFill/>
          <a:ln/>
        </p:spPr>
        <p:txBody>
          <a:bodyPr wrap="square" lIns="0" tIns="0" rIns="0" bIns="0" rtlCol="0" anchor="ctr"/>
          <a:lstStyle/>
          <a:p>
            <a:pPr indent="0" marL="0">
              <a:buNone/>
            </a:pPr>
            <a:r>
              <a:rPr lang="en-US" sz="1500" b="1" dirty="0">
                <a:solidFill>
                  <a:srgbClr val="FFFFFF"/>
                </a:solidFill>
              </a:rPr>
              <a:t>Plan study time</a:t>
            </a:r>
            <a:endParaRPr lang="en-US" sz="1500" dirty="0"/>
          </a:p>
        </p:txBody>
      </p:sp>
      <p:sp>
        <p:nvSpPr>
          <p:cNvPr id="34" name="ck6_384"/>
          <p:cNvSpPr txBox="1"/>
          <p:nvPr/>
        </p:nvSpPr>
        <p:spPr>
          <a:xfrm>
            <a:off x="6217920" y="3657600"/>
            <a:ext cx="2331720" cy="713232"/>
          </a:xfrm>
          <a:prstGeom prst="rect">
            <a:avLst/>
          </a:prstGeom>
          <a:noFill/>
          <a:ln/>
        </p:spPr>
        <p:txBody>
          <a:bodyPr wrap="square" lIns="0" tIns="0" rIns="0" bIns="0" rtlCol="0" anchor="t"/>
          <a:lstStyle/>
          <a:p>
            <a:pPr indent="0" marL="0">
              <a:buNone/>
            </a:pPr>
            <a:r>
              <a:rPr lang="en-US" sz="1300" dirty="0">
                <a:solidFill>
                  <a:srgbClr val="B9C6DA"/>
                </a:solidFill>
              </a:rPr>
              <a:t>Give subjects and hours. Then follow the plan.</a:t>
            </a:r>
            <a:endParaRPr lang="en-US" sz="1300" dirty="0"/>
          </a:p>
        </p:txBody>
      </p:sp>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B9C6DA"/>
                </a:solidFill>
              </a:defRPr>
            </a:lvl1pPr>
          </a:lstStyle>
          <a:p>
            <a:pPr algn="r"/>
            <a:fld id="{F7021451-1387-4CA6-816F-3879F97B5CBC}" type="slidenum">
              <a:rPr b="0" lang="en-US"/>
              <a:t>27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par>
                                <p:cTn id="28" presetID="10" presetClass="entr" presetSubtype="0" fill="hold"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childTnLst>
                                </p:cTn>
                              </p:par>
                              <p:par>
                                <p:cTn id="45" presetID="10" presetClass="entr" presetSubtype="0" fill="hold"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5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5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500"/>
                                        <p:tgtEl>
                                          <p:spTgt spid="21"/>
                                        </p:tgtEl>
                                      </p:cBhvr>
                                    </p:animEffect>
                                  </p:childTnLst>
                                </p:cTn>
                              </p:par>
                              <p:par>
                                <p:cTn id="62" presetID="10" presetClass="entr" presetSubtype="0" fill="hold"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5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5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500"/>
                                        <p:tgtEl>
                                          <p:spTgt spid="24"/>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50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500"/>
                                        <p:tgtEl>
                                          <p:spTgt spid="26"/>
                                        </p:tgtEl>
                                      </p:cBhvr>
                                    </p:animEffect>
                                  </p:childTnLst>
                                </p:cTn>
                              </p:par>
                              <p:par>
                                <p:cTn id="79" presetID="10" presetClass="entr" presetSubtype="0" fill="hold" nodeType="with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500"/>
                                        <p:tgtEl>
                                          <p:spTgt spid="27"/>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500"/>
                                        <p:tgtEl>
                                          <p:spTgt spid="28"/>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500"/>
                                        <p:tgtEl>
                                          <p:spTgt spid="29"/>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30"/>
                                        </p:tgtEl>
                                        <p:attrNameLst>
                                          <p:attrName>style.visibility</p:attrName>
                                        </p:attrNameLst>
                                      </p:cBhvr>
                                      <p:to>
                                        <p:strVal val="visible"/>
                                      </p:to>
                                    </p:set>
                                    <p:animEffect transition="in" filter="fade">
                                      <p:cBhvr>
                                        <p:cTn id="92" dur="500"/>
                                        <p:tgtEl>
                                          <p:spTgt spid="30"/>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fade">
                                      <p:cBhvr>
                                        <p:cTn id="95" dur="500"/>
                                        <p:tgtEl>
                                          <p:spTgt spid="31"/>
                                        </p:tgtEl>
                                      </p:cBhvr>
                                    </p:animEffect>
                                  </p:childTnLst>
                                </p:cTn>
                              </p:par>
                              <p:par>
                                <p:cTn id="96" presetID="10" presetClass="entr" presetSubtype="0" fill="hold" nodeType="withEffect">
                                  <p:stCondLst>
                                    <p:cond delay="0"/>
                                  </p:stCondLst>
                                  <p:childTnLst>
                                    <p:set>
                                      <p:cBhvr>
                                        <p:cTn id="97" dur="1" fill="hold">
                                          <p:stCondLst>
                                            <p:cond delay="0"/>
                                          </p:stCondLst>
                                        </p:cTn>
                                        <p:tgtEl>
                                          <p:spTgt spid="32"/>
                                        </p:tgtEl>
                                        <p:attrNameLst>
                                          <p:attrName>style.visibility</p:attrName>
                                        </p:attrNameLst>
                                      </p:cBhvr>
                                      <p:to>
                                        <p:strVal val="visible"/>
                                      </p:to>
                                    </p:set>
                                    <p:animEffect transition="in" filter="fade">
                                      <p:cBhvr>
                                        <p:cTn id="98" dur="500"/>
                                        <p:tgtEl>
                                          <p:spTgt spid="32"/>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3"/>
                                        </p:tgtEl>
                                        <p:attrNameLst>
                                          <p:attrName>style.visibility</p:attrName>
                                        </p:attrNameLst>
                                      </p:cBhvr>
                                      <p:to>
                                        <p:strVal val="visible"/>
                                      </p:to>
                                    </p:set>
                                    <p:animEffect transition="in" filter="fade">
                                      <p:cBhvr>
                                        <p:cTn id="101" dur="500"/>
                                        <p:tgtEl>
                                          <p:spTgt spid="33"/>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4"/>
                                        </p:tgtEl>
                                        <p:attrNameLst>
                                          <p:attrName>style.visibility</p:attrName>
                                        </p:attrNameLst>
                                      </p:cBhvr>
                                      <p:to>
                                        <p:strVal val="visible"/>
                                      </p:to>
                                    </p:set>
                                    <p:animEffect transition="in" filter="fade">
                                      <p:cBhvr>
                                        <p:cTn id="104"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0" grpId="0" animBg="1"/>
      <p:bldP spid="11" grpId="0" animBg="1"/>
      <p:bldP spid="13" grpId="0" animBg="1"/>
      <p:bldP spid="14" grpId="0" animBg="1"/>
      <p:bldP spid="15" grpId="0" animBg="1"/>
      <p:bldP spid="16" grpId="0" animBg="1"/>
      <p:bldP spid="18" grpId="0" animBg="1"/>
      <p:bldP spid="19" grpId="0" animBg="1"/>
      <p:bldP spid="20" grpId="0" animBg="1"/>
      <p:bldP spid="21" grpId="0" animBg="1"/>
      <p:bldP spid="23" grpId="0" animBg="1"/>
      <p:bldP spid="24" grpId="0" animBg="1"/>
      <p:bldP spid="25" grpId="0" animBg="1"/>
      <p:bldP spid="26" grpId="0" animBg="1"/>
      <p:bldP spid="28" grpId="0" animBg="1"/>
      <p:bldP spid="29" grpId="0" animBg="1"/>
      <p:bldP spid="30" grpId="0" animBg="1"/>
      <p:bldP spid="31" grpId="0" animBg="1"/>
      <p:bldP spid="33" grpId="0" animBg="1"/>
      <p:bldP spid="3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457200" y="256032"/>
            <a:ext cx="6400800" cy="201168"/>
          </a:xfrm>
          <a:prstGeom prst="rect">
            <a:avLst/>
          </a:prstGeom>
          <a:noFill/>
          <a:ln/>
        </p:spPr>
        <p:txBody>
          <a:bodyPr wrap="square" lIns="0" tIns="0" rIns="0" bIns="0" rtlCol="0" anchor="t"/>
          <a:lstStyle/>
          <a:p>
            <a:pPr indent="0" marL="0">
              <a:buNone/>
            </a:pPr>
            <a:r>
              <a:rPr lang="en-US" sz="1100" b="1" spc="200" kern="0" dirty="0">
                <a:solidFill>
                  <a:srgbClr val="F2B134"/>
                </a:solidFill>
              </a:rPr>
              <a:t>KEEP LEARNING</a:t>
            </a:r>
            <a:endParaRPr lang="en-US" sz="1100" dirty="0"/>
          </a:p>
        </p:txBody>
      </p:sp>
      <p:sp>
        <p:nvSpPr>
          <p:cNvPr id="3" name="Text 2"/>
          <p:cNvSpPr/>
          <p:nvPr>
            <p:ph idx="103" type="title" hasCustomPrompt="1"/>
          </p:nvPr>
        </p:nvSpPr>
        <p:spPr>
          <a:xfrm>
            <a:off x="457200" y="457200"/>
            <a:ext cx="8229600" cy="685800"/>
          </a:xfrm>
          <a:prstGeom prst="rect">
            <a:avLst/>
          </a:prstGeom>
          <a:noFill/>
          <a:ln/>
        </p:spPr>
        <p:txBody>
          <a:bodyPr wrap="square" lIns="0" tIns="0" rIns="0" bIns="0" rtlCol="0" anchor="ctr"/>
          <a:lstStyle/>
          <a:p>
            <a:pPr algn="l" indent="0" marL="0">
              <a:buNone/>
            </a:pPr>
            <a:r>
              <a:rPr lang="en-US" sz="3000" b="1" dirty="0">
                <a:solidFill>
                  <a:srgbClr val="FFFFFF"/>
                </a:solidFill>
              </a:rPr>
              <a:t>A six-month roadmap</a:t>
            </a:r>
            <a:endParaRPr lang="en-US" sz="3000" dirty="0"/>
          </a:p>
        </p:txBody>
      </p:sp>
      <p:sp>
        <p:nvSpPr>
          <p:cNvPr id="5" name="ck1_385"/>
          <p:cNvSpPr/>
          <p:nvPr/>
        </p:nvSpPr>
        <p:spPr>
          <a:xfrm>
            <a:off x="457200" y="1325880"/>
            <a:ext cx="2651760" cy="2331720"/>
          </a:xfrm>
          <a:prstGeom prst="roundRect">
            <a:avLst>
              <a:gd name="adj" fmla="val 3922"/>
            </a:avLst>
          </a:prstGeom>
          <a:solidFill>
            <a:srgbClr val="14305A"/>
          </a:solidFill>
          <a:ln/>
        </p:spPr>
      </p:sp>
      <p:sp>
        <p:nvSpPr>
          <p:cNvPr id="6" name="ck1_386"/>
          <p:cNvSpPr txBox="1"/>
          <p:nvPr/>
        </p:nvSpPr>
        <p:spPr>
          <a:xfrm>
            <a:off x="640080" y="1417320"/>
            <a:ext cx="2286000" cy="731520"/>
          </a:xfrm>
          <a:prstGeom prst="rect">
            <a:avLst/>
          </a:prstGeom>
          <a:noFill/>
          <a:ln/>
        </p:spPr>
        <p:txBody>
          <a:bodyPr wrap="square" lIns="0" tIns="0" rIns="0" bIns="0" rtlCol="0" anchor="t"/>
          <a:lstStyle/>
          <a:p>
            <a:pPr indent="0" marL="0">
              <a:buNone/>
            </a:pPr>
            <a:r>
              <a:rPr lang="en-US" sz="4400" b="1" dirty="0">
                <a:solidFill>
                  <a:srgbClr val="13A89E"/>
                </a:solidFill>
              </a:rPr>
              <a:t>1-2</a:t>
            </a:r>
            <a:endParaRPr lang="en-US" sz="4400" dirty="0"/>
          </a:p>
        </p:txBody>
      </p:sp>
      <p:sp>
        <p:nvSpPr>
          <p:cNvPr id="7" name="ck1_387"/>
          <p:cNvSpPr txBox="1"/>
          <p:nvPr/>
        </p:nvSpPr>
        <p:spPr>
          <a:xfrm>
            <a:off x="640080" y="2194560"/>
            <a:ext cx="2286000" cy="274320"/>
          </a:xfrm>
          <a:prstGeom prst="rect">
            <a:avLst/>
          </a:prstGeom>
          <a:noFill/>
          <a:ln/>
        </p:spPr>
        <p:txBody>
          <a:bodyPr wrap="square" lIns="0" tIns="0" rIns="0" bIns="0" rtlCol="0" anchor="t"/>
          <a:lstStyle/>
          <a:p>
            <a:pPr indent="0" marL="0">
              <a:buNone/>
            </a:pPr>
            <a:r>
              <a:rPr lang="en-US" sz="1500" b="1" dirty="0">
                <a:solidFill>
                  <a:srgbClr val="FFFFFF"/>
                </a:solidFill>
              </a:rPr>
              <a:t>Months 1 and 2</a:t>
            </a:r>
            <a:endParaRPr lang="en-US" sz="1500" dirty="0"/>
          </a:p>
        </p:txBody>
      </p:sp>
      <p:sp>
        <p:nvSpPr>
          <p:cNvPr id="8" name="ck1_388"/>
          <p:cNvSpPr txBox="1"/>
          <p:nvPr/>
        </p:nvSpPr>
        <p:spPr>
          <a:xfrm>
            <a:off x="640080" y="2560320"/>
            <a:ext cx="2286000" cy="1005840"/>
          </a:xfrm>
          <a:prstGeom prst="rect">
            <a:avLst/>
          </a:prstGeom>
          <a:noFill/>
          <a:ln/>
        </p:spPr>
        <p:txBody>
          <a:bodyPr wrap="square" lIns="0" tIns="0" rIns="0" bIns="0" rtlCol="0" anchor="t"/>
          <a:lstStyle/>
          <a:p>
            <a:pPr indent="0" marL="0">
              <a:buNone/>
            </a:pPr>
            <a:r>
              <a:rPr lang="en-US" sz="1400" dirty="0">
                <a:solidFill>
                  <a:srgbClr val="B9C6DA"/>
                </a:solidFill>
              </a:rPr>
              <a:t>Core Java, SQL, Git. Rebuild this morning's repo yourself.</a:t>
            </a:r>
            <a:endParaRPr lang="en-US" sz="1400" dirty="0"/>
          </a:p>
        </p:txBody>
      </p:sp>
      <p:sp>
        <p:nvSpPr>
          <p:cNvPr id="9" name="ck2_389"/>
          <p:cNvSpPr/>
          <p:nvPr/>
        </p:nvSpPr>
        <p:spPr>
          <a:xfrm>
            <a:off x="3246120" y="1325880"/>
            <a:ext cx="2651760" cy="2331720"/>
          </a:xfrm>
          <a:prstGeom prst="roundRect">
            <a:avLst>
              <a:gd name="adj" fmla="val 3922"/>
            </a:avLst>
          </a:prstGeom>
          <a:solidFill>
            <a:srgbClr val="14305A"/>
          </a:solidFill>
          <a:ln/>
        </p:spPr>
      </p:sp>
      <p:sp>
        <p:nvSpPr>
          <p:cNvPr id="10" name="ck2_390"/>
          <p:cNvSpPr txBox="1"/>
          <p:nvPr/>
        </p:nvSpPr>
        <p:spPr>
          <a:xfrm>
            <a:off x="3429000" y="1417320"/>
            <a:ext cx="2286000" cy="731520"/>
          </a:xfrm>
          <a:prstGeom prst="rect">
            <a:avLst/>
          </a:prstGeom>
          <a:noFill/>
          <a:ln/>
        </p:spPr>
        <p:txBody>
          <a:bodyPr wrap="square" lIns="0" tIns="0" rIns="0" bIns="0" rtlCol="0" anchor="t"/>
          <a:lstStyle/>
          <a:p>
            <a:pPr indent="0" marL="0">
              <a:buNone/>
            </a:pPr>
            <a:r>
              <a:rPr lang="en-US" sz="4400" b="1" dirty="0">
                <a:solidFill>
                  <a:srgbClr val="A78BFA"/>
                </a:solidFill>
              </a:rPr>
              <a:t>3-4</a:t>
            </a:r>
            <a:endParaRPr lang="en-US" sz="4400" dirty="0"/>
          </a:p>
        </p:txBody>
      </p:sp>
      <p:sp>
        <p:nvSpPr>
          <p:cNvPr id="11" name="ck2_391"/>
          <p:cNvSpPr txBox="1"/>
          <p:nvPr/>
        </p:nvSpPr>
        <p:spPr>
          <a:xfrm>
            <a:off x="3429000" y="2194560"/>
            <a:ext cx="2286000" cy="274320"/>
          </a:xfrm>
          <a:prstGeom prst="rect">
            <a:avLst/>
          </a:prstGeom>
          <a:noFill/>
          <a:ln/>
        </p:spPr>
        <p:txBody>
          <a:bodyPr wrap="square" lIns="0" tIns="0" rIns="0" bIns="0" rtlCol="0" anchor="t"/>
          <a:lstStyle/>
          <a:p>
            <a:pPr indent="0" marL="0">
              <a:buNone/>
            </a:pPr>
            <a:r>
              <a:rPr lang="en-US" sz="1500" b="1" dirty="0">
                <a:solidFill>
                  <a:srgbClr val="FFFFFF"/>
                </a:solidFill>
              </a:rPr>
              <a:t>Months 3 and 4</a:t>
            </a:r>
            <a:endParaRPr lang="en-US" sz="1500" dirty="0"/>
          </a:p>
        </p:txBody>
      </p:sp>
      <p:sp>
        <p:nvSpPr>
          <p:cNvPr id="12" name="ck2_392"/>
          <p:cNvSpPr txBox="1"/>
          <p:nvPr/>
        </p:nvSpPr>
        <p:spPr>
          <a:xfrm>
            <a:off x="3429000" y="2560320"/>
            <a:ext cx="2286000" cy="1005840"/>
          </a:xfrm>
          <a:prstGeom prst="rect">
            <a:avLst/>
          </a:prstGeom>
          <a:noFill/>
          <a:ln/>
        </p:spPr>
        <p:txBody>
          <a:bodyPr wrap="square" lIns="0" tIns="0" rIns="0" bIns="0" rtlCol="0" anchor="t"/>
          <a:lstStyle/>
          <a:p>
            <a:pPr indent="0" marL="0">
              <a:buNone/>
            </a:pPr>
            <a:r>
              <a:rPr lang="en-US" sz="1400" dirty="0">
                <a:solidFill>
                  <a:srgbClr val="B9C6DA"/>
                </a:solidFill>
              </a:rPr>
              <a:t>REST APIs, security, Docker.</a:t>
            </a:r>
            <a:endParaRPr lang="en-US" sz="1400" dirty="0"/>
          </a:p>
        </p:txBody>
      </p:sp>
      <p:sp>
        <p:nvSpPr>
          <p:cNvPr id="13" name="ck3_393"/>
          <p:cNvSpPr/>
          <p:nvPr/>
        </p:nvSpPr>
        <p:spPr>
          <a:xfrm>
            <a:off x="6035040" y="1325880"/>
            <a:ext cx="2651760" cy="2331720"/>
          </a:xfrm>
          <a:prstGeom prst="roundRect">
            <a:avLst>
              <a:gd name="adj" fmla="val 3922"/>
            </a:avLst>
          </a:prstGeom>
          <a:solidFill>
            <a:srgbClr val="14305A"/>
          </a:solidFill>
          <a:ln/>
        </p:spPr>
      </p:sp>
      <p:sp>
        <p:nvSpPr>
          <p:cNvPr id="14" name="ck3_394"/>
          <p:cNvSpPr txBox="1"/>
          <p:nvPr/>
        </p:nvSpPr>
        <p:spPr>
          <a:xfrm>
            <a:off x="6217920" y="1417320"/>
            <a:ext cx="2286000" cy="731520"/>
          </a:xfrm>
          <a:prstGeom prst="rect">
            <a:avLst/>
          </a:prstGeom>
          <a:noFill/>
          <a:ln/>
        </p:spPr>
        <p:txBody>
          <a:bodyPr wrap="square" lIns="0" tIns="0" rIns="0" bIns="0" rtlCol="0" anchor="t"/>
          <a:lstStyle/>
          <a:p>
            <a:pPr indent="0" marL="0">
              <a:buNone/>
            </a:pPr>
            <a:r>
              <a:rPr lang="en-US" sz="4400" b="1" dirty="0">
                <a:solidFill>
                  <a:srgbClr val="F2B134"/>
                </a:solidFill>
              </a:rPr>
              <a:t>5-6</a:t>
            </a:r>
            <a:endParaRPr lang="en-US" sz="4400" dirty="0"/>
          </a:p>
        </p:txBody>
      </p:sp>
      <p:sp>
        <p:nvSpPr>
          <p:cNvPr id="15" name="ck3_395"/>
          <p:cNvSpPr txBox="1"/>
          <p:nvPr/>
        </p:nvSpPr>
        <p:spPr>
          <a:xfrm>
            <a:off x="6217920" y="2194560"/>
            <a:ext cx="2286000" cy="274320"/>
          </a:xfrm>
          <a:prstGeom prst="rect">
            <a:avLst/>
          </a:prstGeom>
          <a:noFill/>
          <a:ln/>
        </p:spPr>
        <p:txBody>
          <a:bodyPr wrap="square" lIns="0" tIns="0" rIns="0" bIns="0" rtlCol="0" anchor="t"/>
          <a:lstStyle/>
          <a:p>
            <a:pPr indent="0" marL="0">
              <a:buNone/>
            </a:pPr>
            <a:r>
              <a:rPr lang="en-US" sz="1500" b="1" dirty="0">
                <a:solidFill>
                  <a:srgbClr val="FFFFFF"/>
                </a:solidFill>
              </a:rPr>
              <a:t>Months 5 and 6</a:t>
            </a:r>
            <a:endParaRPr lang="en-US" sz="1500" dirty="0"/>
          </a:p>
        </p:txBody>
      </p:sp>
      <p:sp>
        <p:nvSpPr>
          <p:cNvPr id="16" name="ck3_396"/>
          <p:cNvSpPr txBox="1"/>
          <p:nvPr/>
        </p:nvSpPr>
        <p:spPr>
          <a:xfrm>
            <a:off x="6217920" y="2560320"/>
            <a:ext cx="2286000" cy="1005840"/>
          </a:xfrm>
          <a:prstGeom prst="rect">
            <a:avLst/>
          </a:prstGeom>
          <a:noFill/>
          <a:ln/>
        </p:spPr>
        <p:txBody>
          <a:bodyPr wrap="square" lIns="0" tIns="0" rIns="0" bIns="0" rtlCol="0" anchor="t"/>
          <a:lstStyle/>
          <a:p>
            <a:pPr indent="0" marL="0">
              <a:buNone/>
            </a:pPr>
            <a:r>
              <a:rPr lang="en-US" sz="1400" dirty="0">
                <a:solidFill>
                  <a:srgbClr val="B9C6DA"/>
                </a:solidFill>
              </a:rPr>
              <a:t>One real project with a small AI feature, on GitHub, with a README.</a:t>
            </a:r>
            <a:endParaRPr lang="en-US" sz="1400" dirty="0"/>
          </a:p>
        </p:txBody>
      </p:sp>
      <p:sp>
        <p:nvSpPr>
          <p:cNvPr id="17" name="ck4_397"/>
          <p:cNvSpPr txBox="1"/>
          <p:nvPr/>
        </p:nvSpPr>
        <p:spPr>
          <a:xfrm>
            <a:off x="457200" y="3840480"/>
            <a:ext cx="8229600" cy="640080"/>
          </a:xfrm>
          <a:prstGeom prst="roundRect">
            <a:avLst>
              <a:gd name="adj" fmla="val 14286"/>
            </a:avLst>
          </a:prstGeom>
          <a:solidFill>
            <a:srgbClr val="F2B134"/>
          </a:solidFill>
          <a:ln/>
        </p:spPr>
        <p:txBody>
          <a:bodyPr wrap="square" lIns="762" tIns="762" rIns="762" bIns="762" rtlCol="0" anchor="ctr"/>
          <a:lstStyle/>
          <a:p>
            <a:pPr algn="ctr" indent="0" marL="0">
              <a:buNone/>
            </a:pPr>
            <a:r>
              <a:rPr lang="en-US" sz="1800" b="1" dirty="0">
                <a:solidFill>
                  <a:srgbClr val="0B1F3A"/>
                </a:solidFill>
              </a:rPr>
              <a:t>One finished project beats ten half-finished tutorials. Interviewers read GitHub.</a:t>
            </a:r>
            <a:endParaRPr lang="en-US" sz="1800" dirty="0"/>
          </a:p>
        </p:txBody>
      </p:sp>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B9C6DA"/>
                </a:solidFill>
              </a:defRPr>
            </a:lvl1pPr>
          </a:lstStyle>
          <a:p>
            <a:pPr algn="r"/>
            <a:fld id="{F7021451-1387-4CA6-816F-3879F97B5CBC}" type="slidenum">
              <a:rPr b="0" lang="en-US"/>
              <a:t>28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3" name="Shape 0"/>
          <p:cNvSpPr/>
          <p:nvPr/>
        </p:nvSpPr>
        <p:spPr>
          <a:xfrm>
            <a:off x="548640" y="320040"/>
            <a:ext cx="3017520" cy="790288"/>
          </a:xfrm>
          <a:prstGeom prst="rect">
            <a:avLst/>
          </a:prstGeom>
          <a:solidFill>
            <a:srgbClr val="FFFFFF"/>
          </a:solidFill>
          <a:ln/>
        </p:spPr>
      </p:sp>
      <p:pic>
        <p:nvPicPr>
          <p:cNvPr id="4" name="Image 0" descr="/home/claude/deck4/ppsu_logo.png">    </p:cNvPr>
          <p:cNvPicPr>
            <a:picLocks noChangeAspect="1"/>
          </p:cNvPicPr>
          <p:nvPr/>
        </p:nvPicPr>
        <p:blipFill>
          <a:blip r:embed="rId1"/>
          <a:stretch>
            <a:fillRect/>
          </a:stretch>
        </p:blipFill>
        <p:spPr>
          <a:xfrm>
            <a:off x="612648" y="374904"/>
            <a:ext cx="2889504" cy="636847"/>
          </a:xfrm>
          <a:prstGeom prst="rect">
            <a:avLst/>
          </a:prstGeom>
        </p:spPr>
      </p:pic>
      <p:sp>
        <p:nvSpPr>
          <p:cNvPr id="5" name="Text 1"/>
          <p:cNvSpPr txBox="1"/>
          <p:nvPr/>
        </p:nvSpPr>
        <p:spPr>
          <a:xfrm>
            <a:off x="548640" y="1463040"/>
            <a:ext cx="3657600" cy="274320"/>
          </a:xfrm>
          <a:prstGeom prst="rect">
            <a:avLst/>
          </a:prstGeom>
          <a:noFill/>
          <a:ln/>
        </p:spPr>
        <p:txBody>
          <a:bodyPr wrap="square" lIns="0" tIns="0" rIns="0" bIns="0" rtlCol="0" anchor="t"/>
          <a:lstStyle/>
          <a:p>
            <a:pPr indent="0" marL="0">
              <a:buNone/>
            </a:pPr>
            <a:r>
              <a:rPr lang="en-US" sz="1300" b="1" spc="300" kern="0" dirty="0">
                <a:solidFill>
                  <a:srgbClr val="F2B134"/>
                </a:solidFill>
              </a:rPr>
              <a:t>Q&amp;A</a:t>
            </a:r>
            <a:endParaRPr lang="en-US" sz="1300" dirty="0"/>
          </a:p>
        </p:txBody>
      </p:sp>
      <p:sp>
        <p:nvSpPr>
          <p:cNvPr id="6" name="Text 2"/>
          <p:cNvSpPr txBox="1"/>
          <p:nvPr/>
        </p:nvSpPr>
        <p:spPr>
          <a:xfrm>
            <a:off x="548640" y="1828800"/>
            <a:ext cx="5486400" cy="1280160"/>
          </a:xfrm>
          <a:prstGeom prst="rect">
            <a:avLst/>
          </a:prstGeom>
          <a:noFill/>
          <a:ln/>
        </p:spPr>
        <p:txBody>
          <a:bodyPr wrap="square" lIns="0" tIns="0" rIns="0" bIns="0" rtlCol="0" anchor="t"/>
          <a:lstStyle/>
          <a:p>
            <a:pPr indent="0" marL="0">
              <a:buNone/>
            </a:pPr>
            <a:r>
              <a:rPr lang="en-US" sz="4000" b="1" dirty="0">
                <a:solidFill>
                  <a:srgbClr val="FFFFFF"/>
                </a:solidFill>
              </a:rPr>
              <a:t>Your questions.</a:t>
            </a:r>
            <a:endParaRPr lang="en-US" sz="4000" dirty="0"/>
          </a:p>
          <a:p>
            <a:pPr indent="0" marL="0">
              <a:buNone/>
            </a:pPr>
            <a:r>
              <a:rPr lang="en-US" sz="4000" b="1" dirty="0">
                <a:solidFill>
                  <a:srgbClr val="FFFFFF"/>
                </a:solidFill>
              </a:rPr>
              <a:t>Ask anything.</a:t>
            </a:r>
            <a:endParaRPr lang="en-US" sz="4000" dirty="0"/>
          </a:p>
        </p:txBody>
      </p:sp>
      <p:sp>
        <p:nvSpPr>
          <p:cNvPr id="7" name="Text 3"/>
          <p:cNvSpPr txBox="1"/>
          <p:nvPr/>
        </p:nvSpPr>
        <p:spPr>
          <a:xfrm>
            <a:off x="548640" y="3383280"/>
            <a:ext cx="1783080" cy="457200"/>
          </a:xfrm>
          <a:prstGeom prst="roundRect">
            <a:avLst>
              <a:gd name="adj" fmla="val 20000"/>
            </a:avLst>
          </a:prstGeom>
          <a:solidFill>
            <a:srgbClr val="13A89E"/>
          </a:solidFill>
          <a:ln/>
        </p:spPr>
        <p:txBody>
          <a:bodyPr wrap="square" lIns="762" tIns="762" rIns="762" bIns="762" rtlCol="0" anchor="ctr"/>
          <a:lstStyle/>
          <a:p>
            <a:pPr algn="ctr" indent="0" marL="0">
              <a:buNone/>
            </a:pPr>
            <a:r>
              <a:rPr lang="en-US" sz="1400" b="1" dirty="0">
                <a:solidFill>
                  <a:srgbClr val="0B1F3A"/>
                </a:solidFill>
              </a:rPr>
              <a:t>Java and Hibernate</a:t>
            </a:r>
            <a:endParaRPr lang="en-US" sz="1400" dirty="0"/>
          </a:p>
        </p:txBody>
      </p:sp>
      <p:sp>
        <p:nvSpPr>
          <p:cNvPr id="8" name="Text 4"/>
          <p:cNvSpPr txBox="1"/>
          <p:nvPr/>
        </p:nvSpPr>
        <p:spPr>
          <a:xfrm>
            <a:off x="2468880" y="3383280"/>
            <a:ext cx="1783080" cy="457200"/>
          </a:xfrm>
          <a:prstGeom prst="roundRect">
            <a:avLst>
              <a:gd name="adj" fmla="val 20000"/>
            </a:avLst>
          </a:prstGeom>
          <a:solidFill>
            <a:srgbClr val="A78BFA"/>
          </a:solidFill>
          <a:ln/>
        </p:spPr>
        <p:txBody>
          <a:bodyPr wrap="square" lIns="762" tIns="762" rIns="762" bIns="762" rtlCol="0" anchor="ctr"/>
          <a:lstStyle/>
          <a:p>
            <a:pPr algn="ctr" indent="0" marL="0">
              <a:buNone/>
            </a:pPr>
            <a:r>
              <a:rPr lang="en-US" sz="1400" b="1" dirty="0">
                <a:solidFill>
                  <a:srgbClr val="0B1F3A"/>
                </a:solidFill>
              </a:rPr>
              <a:t>Gen AI</a:t>
            </a:r>
            <a:endParaRPr lang="en-US" sz="1400" dirty="0"/>
          </a:p>
        </p:txBody>
      </p:sp>
      <p:sp>
        <p:nvSpPr>
          <p:cNvPr id="9" name="Text 5"/>
          <p:cNvSpPr txBox="1"/>
          <p:nvPr/>
        </p:nvSpPr>
        <p:spPr>
          <a:xfrm>
            <a:off x="4389120" y="3383280"/>
            <a:ext cx="1783080" cy="457200"/>
          </a:xfrm>
          <a:prstGeom prst="roundRect">
            <a:avLst>
              <a:gd name="adj" fmla="val 20000"/>
            </a:avLst>
          </a:prstGeom>
          <a:solidFill>
            <a:srgbClr val="F2B134"/>
          </a:solidFill>
          <a:ln/>
        </p:spPr>
        <p:txBody>
          <a:bodyPr wrap="square" lIns="762" tIns="762" rIns="762" bIns="762" rtlCol="0" anchor="ctr"/>
          <a:lstStyle/>
          <a:p>
            <a:pPr algn="ctr" indent="0" marL="0">
              <a:buNone/>
            </a:pPr>
            <a:r>
              <a:rPr lang="en-US" sz="1400" b="1" dirty="0">
                <a:solidFill>
                  <a:srgbClr val="0B1F3A"/>
                </a:solidFill>
              </a:rPr>
              <a:t>Careers</a:t>
            </a:r>
            <a:endParaRPr lang="en-US" sz="1400" dirty="0"/>
          </a:p>
        </p:txBody>
      </p:sp>
      <p:sp>
        <p:nvSpPr>
          <p:cNvPr id="10" name="Text 6"/>
          <p:cNvSpPr txBox="1"/>
          <p:nvPr/>
        </p:nvSpPr>
        <p:spPr>
          <a:xfrm>
            <a:off x="548640" y="4114800"/>
            <a:ext cx="7315200" cy="274320"/>
          </a:xfrm>
          <a:prstGeom prst="rect">
            <a:avLst/>
          </a:prstGeom>
          <a:noFill/>
          <a:ln/>
        </p:spPr>
        <p:txBody>
          <a:bodyPr wrap="square" lIns="0" tIns="0" rIns="0" bIns="0" rtlCol="0" anchor="t"/>
          <a:lstStyle/>
          <a:p>
            <a:pPr indent="0" marL="0">
              <a:buNone/>
            </a:pPr>
            <a:r>
              <a:rPr lang="en-US" sz="1400" dirty="0">
                <a:solidFill>
                  <a:srgbClr val="B9C6DA"/>
                </a:solidFill>
              </a:rPr>
              <a:t>No question is too basic. The basic ones help the most people.</a:t>
            </a:r>
            <a:endParaRPr lang="en-US" sz="1400" dirty="0"/>
          </a:p>
        </p:txBody>
      </p:sp>
      <p:sp>
        <p:nvSpPr>
          <p:cNvPr id="11" name="Text 7"/>
          <p:cNvSpPr txBox="1"/>
          <p:nvPr/>
        </p:nvSpPr>
        <p:spPr>
          <a:xfrm>
            <a:off x="6309360" y="1920240"/>
            <a:ext cx="2377440" cy="274320"/>
          </a:xfrm>
          <a:prstGeom prst="rect">
            <a:avLst/>
          </a:prstGeom>
          <a:noFill/>
          <a:ln/>
        </p:spPr>
        <p:txBody>
          <a:bodyPr wrap="square" lIns="0" tIns="0" rIns="0" bIns="0" rtlCol="0" anchor="t"/>
          <a:lstStyle/>
          <a:p>
            <a:pPr algn="r" indent="0" marL="0">
              <a:buNone/>
            </a:pPr>
            <a:r>
              <a:rPr lang="en-US" sz="1200" b="1" spc="300" kern="0" dirty="0">
                <a:solidFill>
                  <a:srgbClr val="F2B134"/>
                </a:solidFill>
              </a:rPr>
              <a:t>RAISE YOUR HAND</a:t>
            </a:r>
            <a:endParaRPr lang="en-US" sz="1200" dirty="0"/>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3" name="ck1_398"/>
          <p:cNvSpPr txBox="1"/>
          <p:nvPr/>
        </p:nvSpPr>
        <p:spPr>
          <a:xfrm>
            <a:off x="548640" y="731520"/>
            <a:ext cx="5394960" cy="685800"/>
          </a:xfrm>
          <a:prstGeom prst="rect">
            <a:avLst/>
          </a:prstGeom>
          <a:noFill/>
          <a:ln/>
        </p:spPr>
        <p:txBody>
          <a:bodyPr wrap="square" lIns="0" tIns="0" rIns="0" bIns="0" rtlCol="0" anchor="t"/>
          <a:lstStyle/>
          <a:p>
            <a:pPr indent="0" marL="0">
              <a:buNone/>
            </a:pPr>
            <a:r>
              <a:rPr lang="en-US" sz="3800" b="1" dirty="0">
                <a:solidFill>
                  <a:srgbClr val="13A89E"/>
                </a:solidFill>
              </a:rPr>
              <a:t>Learn the basics.</a:t>
            </a:r>
            <a:endParaRPr lang="en-US" sz="3800" dirty="0"/>
          </a:p>
        </p:txBody>
      </p:sp>
      <p:sp>
        <p:nvSpPr>
          <p:cNvPr id="4" name="ck2_399"/>
          <p:cNvSpPr txBox="1"/>
          <p:nvPr/>
        </p:nvSpPr>
        <p:spPr>
          <a:xfrm>
            <a:off x="548640" y="1508760"/>
            <a:ext cx="5394960" cy="685800"/>
          </a:xfrm>
          <a:prstGeom prst="rect">
            <a:avLst/>
          </a:prstGeom>
          <a:noFill/>
          <a:ln/>
        </p:spPr>
        <p:txBody>
          <a:bodyPr wrap="square" lIns="0" tIns="0" rIns="0" bIns="0" rtlCol="0" anchor="t"/>
          <a:lstStyle/>
          <a:p>
            <a:pPr indent="0" marL="0">
              <a:buNone/>
            </a:pPr>
            <a:r>
              <a:rPr lang="en-US" sz="3800" b="1" dirty="0">
                <a:solidFill>
                  <a:srgbClr val="F28C28"/>
                </a:solidFill>
              </a:rPr>
              <a:t>Ask it clearly.</a:t>
            </a:r>
            <a:endParaRPr lang="en-US" sz="3800" dirty="0"/>
          </a:p>
        </p:txBody>
      </p:sp>
      <p:sp>
        <p:nvSpPr>
          <p:cNvPr id="5" name="ck3_400"/>
          <p:cNvSpPr txBox="1"/>
          <p:nvPr/>
        </p:nvSpPr>
        <p:spPr>
          <a:xfrm>
            <a:off x="548640" y="2286000"/>
            <a:ext cx="5394960" cy="685800"/>
          </a:xfrm>
          <a:prstGeom prst="rect">
            <a:avLst/>
          </a:prstGeom>
          <a:noFill/>
          <a:ln/>
        </p:spPr>
        <p:txBody>
          <a:bodyPr wrap="square" lIns="0" tIns="0" rIns="0" bIns="0" rtlCol="0" anchor="t"/>
          <a:lstStyle/>
          <a:p>
            <a:pPr indent="0" marL="0">
              <a:buNone/>
            </a:pPr>
            <a:r>
              <a:rPr lang="en-US" sz="3800" b="1" dirty="0">
                <a:solidFill>
                  <a:srgbClr val="F2B134"/>
                </a:solidFill>
              </a:rPr>
              <a:t>Check its answers.</a:t>
            </a:r>
            <a:endParaRPr lang="en-US" sz="3800" dirty="0"/>
          </a:p>
        </p:txBody>
      </p:sp>
      <p:sp>
        <p:nvSpPr>
          <p:cNvPr id="6" name="ck4_401"/>
          <p:cNvSpPr txBox="1"/>
          <p:nvPr/>
        </p:nvSpPr>
        <p:spPr>
          <a:xfrm>
            <a:off x="548640" y="3063240"/>
            <a:ext cx="5394960" cy="685800"/>
          </a:xfrm>
          <a:prstGeom prst="rect">
            <a:avLst/>
          </a:prstGeom>
          <a:noFill/>
          <a:ln/>
        </p:spPr>
        <p:txBody>
          <a:bodyPr wrap="square" lIns="0" tIns="0" rIns="0" bIns="0" rtlCol="0" anchor="t"/>
          <a:lstStyle/>
          <a:p>
            <a:pPr indent="0" marL="0">
              <a:buNone/>
            </a:pPr>
            <a:r>
              <a:rPr lang="en-US" sz="3800" b="1" dirty="0">
                <a:solidFill>
                  <a:srgbClr val="5DB85C"/>
                </a:solidFill>
              </a:rPr>
              <a:t>Build something small.</a:t>
            </a:r>
            <a:endParaRPr lang="en-US" sz="3800" dirty="0"/>
          </a:p>
        </p:txBody>
      </p:sp>
      <p:sp>
        <p:nvSpPr>
          <p:cNvPr id="7" name="Text 4"/>
          <p:cNvSpPr txBox="1"/>
          <p:nvPr/>
        </p:nvSpPr>
        <p:spPr>
          <a:xfrm>
            <a:off x="548640" y="3977640"/>
            <a:ext cx="5029200" cy="365760"/>
          </a:xfrm>
          <a:prstGeom prst="rect">
            <a:avLst/>
          </a:prstGeom>
          <a:noFill/>
          <a:ln/>
        </p:spPr>
        <p:txBody>
          <a:bodyPr wrap="square" lIns="0" tIns="0" rIns="0" bIns="0" rtlCol="0" anchor="t"/>
          <a:lstStyle/>
          <a:p>
            <a:pPr indent="0" marL="0">
              <a:buNone/>
            </a:pPr>
            <a:r>
              <a:rPr lang="en-US" sz="2200" b="1" dirty="0">
                <a:solidFill>
                  <a:srgbClr val="FFFFFF"/>
                </a:solidFill>
              </a:rPr>
              <a:t>Thank you, PPSU.</a:t>
            </a:r>
            <a:endParaRPr lang="en-US" sz="2200" dirty="0"/>
          </a:p>
        </p:txBody>
      </p:sp>
      <p:sp>
        <p:nvSpPr>
          <p:cNvPr id="8" name="Text 5"/>
          <p:cNvSpPr txBox="1"/>
          <p:nvPr/>
        </p:nvSpPr>
        <p:spPr>
          <a:xfrm>
            <a:off x="548640" y="4389120"/>
            <a:ext cx="5486400" cy="274320"/>
          </a:xfrm>
          <a:prstGeom prst="rect">
            <a:avLst/>
          </a:prstGeom>
          <a:noFill/>
          <a:ln/>
        </p:spPr>
        <p:txBody>
          <a:bodyPr wrap="square" lIns="0" tIns="0" rIns="0" bIns="0" rtlCol="0" anchor="t"/>
          <a:lstStyle/>
          <a:p>
            <a:pPr indent="0" marL="0">
              <a:buNone/>
            </a:pPr>
            <a:r>
              <a:rPr lang="en-US" sz="1300" dirty="0">
                <a:solidFill>
                  <a:srgbClr val="B9C6DA"/>
                </a:solidFill>
              </a:rPr>
              <a:t>Ravikumar Bhalsod   |   Sr. System Analyst, Cybage</a:t>
            </a:r>
            <a:endParaRPr lang="en-US" sz="1300" dirty="0"/>
          </a:p>
        </p:txBody>
      </p:sp>
      <p:sp>
        <p:nvSpPr>
          <p:cNvPr id="9" name="Shape 6"/>
          <p:cNvSpPr/>
          <p:nvPr/>
        </p:nvSpPr>
        <p:spPr>
          <a:xfrm>
            <a:off x="6172200" y="411480"/>
            <a:ext cx="2514600" cy="658574"/>
          </a:xfrm>
          <a:prstGeom prst="rect">
            <a:avLst/>
          </a:prstGeom>
          <a:solidFill>
            <a:srgbClr val="FFFFFF"/>
          </a:solidFill>
          <a:ln/>
        </p:spPr>
      </p:sp>
      <p:pic>
        <p:nvPicPr>
          <p:cNvPr id="10" name="Image 0" descr="/home/claude/deck4/ppsu_logo.png">    </p:cNvPr>
          <p:cNvPicPr>
            <a:picLocks noChangeAspect="1"/>
          </p:cNvPicPr>
          <p:nvPr/>
        </p:nvPicPr>
        <p:blipFill>
          <a:blip r:embed="rId1"/>
          <a:stretch>
            <a:fillRect/>
          </a:stretch>
        </p:blipFill>
        <p:spPr>
          <a:xfrm>
            <a:off x="6236208" y="466344"/>
            <a:ext cx="2386584" cy="526003"/>
          </a:xfrm>
          <a:prstGeom prst="rect">
            <a:avLst/>
          </a:prstGeom>
        </p:spPr>
      </p:pic>
      <p:sp>
        <p:nvSpPr>
          <p:cNvPr id="11" name="Shape 7"/>
          <p:cNvSpPr/>
          <p:nvPr/>
        </p:nvSpPr>
        <p:spPr>
          <a:xfrm>
            <a:off x="6172200" y="1463040"/>
            <a:ext cx="2514600" cy="777240"/>
          </a:xfrm>
          <a:prstGeom prst="roundRect">
            <a:avLst>
              <a:gd name="adj" fmla="val 11765"/>
            </a:avLst>
          </a:prstGeom>
          <a:solidFill>
            <a:srgbClr val="A78BFA"/>
          </a:solidFill>
          <a:ln/>
        </p:spPr>
      </p:sp>
      <p:sp>
        <p:nvSpPr>
          <p:cNvPr id="12" name="Text 8"/>
          <p:cNvSpPr txBox="1"/>
          <p:nvPr/>
        </p:nvSpPr>
        <p:spPr>
          <a:xfrm>
            <a:off x="6355080" y="1579626"/>
            <a:ext cx="2194560" cy="201168"/>
          </a:xfrm>
          <a:prstGeom prst="rect">
            <a:avLst/>
          </a:prstGeom>
          <a:noFill/>
          <a:ln/>
        </p:spPr>
        <p:txBody>
          <a:bodyPr wrap="square" lIns="0" tIns="0" rIns="0" bIns="0" rtlCol="0" anchor="t"/>
          <a:lstStyle/>
          <a:p>
            <a:pPr indent="0" marL="0">
              <a:buNone/>
            </a:pPr>
            <a:r>
              <a:rPr lang="en-US" sz="1000" b="1" spc="200" kern="0" dirty="0">
                <a:solidFill>
                  <a:srgbClr val="0B1F3A"/>
                </a:solidFill>
              </a:rPr>
              <a:t>INTELLIGENCE</a:t>
            </a:r>
            <a:endParaRPr lang="en-US" sz="1000" dirty="0"/>
          </a:p>
        </p:txBody>
      </p:sp>
      <p:sp>
        <p:nvSpPr>
          <p:cNvPr id="13" name="Text 9"/>
          <p:cNvSpPr txBox="1"/>
          <p:nvPr/>
        </p:nvSpPr>
        <p:spPr>
          <a:xfrm>
            <a:off x="6355080" y="1773936"/>
            <a:ext cx="2194560" cy="365760"/>
          </a:xfrm>
          <a:prstGeom prst="rect">
            <a:avLst/>
          </a:prstGeom>
          <a:noFill/>
          <a:ln/>
        </p:spPr>
        <p:txBody>
          <a:bodyPr wrap="square" lIns="0" tIns="0" rIns="0" bIns="0" rtlCol="0" anchor="t"/>
          <a:lstStyle/>
          <a:p>
            <a:pPr indent="0" marL="0">
              <a:buNone/>
            </a:pPr>
            <a:r>
              <a:rPr lang="en-US" sz="2000" b="1" dirty="0">
                <a:solidFill>
                  <a:srgbClr val="0B1F3A"/>
                </a:solidFill>
              </a:rPr>
              <a:t>Gen AI</a:t>
            </a:r>
            <a:endParaRPr lang="en-US" sz="2000" dirty="0"/>
          </a:p>
        </p:txBody>
      </p:sp>
      <p:sp>
        <p:nvSpPr>
          <p:cNvPr id="14" name="Shape 10"/>
          <p:cNvSpPr/>
          <p:nvPr/>
        </p:nvSpPr>
        <p:spPr>
          <a:xfrm>
            <a:off x="6172200" y="2423160"/>
            <a:ext cx="2514600" cy="777240"/>
          </a:xfrm>
          <a:prstGeom prst="roundRect">
            <a:avLst>
              <a:gd name="adj" fmla="val 11765"/>
            </a:avLst>
          </a:prstGeom>
          <a:solidFill>
            <a:srgbClr val="14305A"/>
          </a:solidFill>
          <a:ln/>
        </p:spPr>
      </p:sp>
      <p:sp>
        <p:nvSpPr>
          <p:cNvPr id="15" name="Text 11"/>
          <p:cNvSpPr txBox="1"/>
          <p:nvPr/>
        </p:nvSpPr>
        <p:spPr>
          <a:xfrm>
            <a:off x="6355080" y="2539746"/>
            <a:ext cx="2194560" cy="201168"/>
          </a:xfrm>
          <a:prstGeom prst="rect">
            <a:avLst/>
          </a:prstGeom>
          <a:noFill/>
          <a:ln/>
        </p:spPr>
        <p:txBody>
          <a:bodyPr wrap="square" lIns="0" tIns="0" rIns="0" bIns="0" rtlCol="0" anchor="t"/>
          <a:lstStyle/>
          <a:p>
            <a:pPr indent="0" marL="0">
              <a:buNone/>
            </a:pPr>
            <a:r>
              <a:rPr lang="en-US" sz="1000" b="1" spc="200" kern="0" dirty="0">
                <a:solidFill>
                  <a:srgbClr val="F2B134"/>
                </a:solidFill>
              </a:rPr>
              <a:t>WEB</a:t>
            </a:r>
            <a:endParaRPr lang="en-US" sz="1000" dirty="0"/>
          </a:p>
        </p:txBody>
      </p:sp>
      <p:sp>
        <p:nvSpPr>
          <p:cNvPr id="16" name="Text 12"/>
          <p:cNvSpPr txBox="1"/>
          <p:nvPr/>
        </p:nvSpPr>
        <p:spPr>
          <a:xfrm>
            <a:off x="6355080" y="2734056"/>
            <a:ext cx="2194560" cy="365760"/>
          </a:xfrm>
          <a:prstGeom prst="rect">
            <a:avLst/>
          </a:prstGeom>
          <a:noFill/>
          <a:ln/>
        </p:spPr>
        <p:txBody>
          <a:bodyPr wrap="square" lIns="0" tIns="0" rIns="0" bIns="0" rtlCol="0" anchor="t"/>
          <a:lstStyle/>
          <a:p>
            <a:pPr indent="0" marL="0">
              <a:buNone/>
            </a:pPr>
            <a:r>
              <a:rPr lang="en-US" sz="2000" b="1" dirty="0">
                <a:solidFill>
                  <a:srgbClr val="FFFFFF"/>
                </a:solidFill>
              </a:rPr>
              <a:t>Spring MVC</a:t>
            </a:r>
            <a:endParaRPr lang="en-US" sz="2000" dirty="0"/>
          </a:p>
        </p:txBody>
      </p:sp>
      <p:sp>
        <p:nvSpPr>
          <p:cNvPr id="17" name="Shape 13"/>
          <p:cNvSpPr/>
          <p:nvPr/>
        </p:nvSpPr>
        <p:spPr>
          <a:xfrm>
            <a:off x="6172200" y="3383280"/>
            <a:ext cx="2514600" cy="777240"/>
          </a:xfrm>
          <a:prstGeom prst="roundRect">
            <a:avLst>
              <a:gd name="adj" fmla="val 11765"/>
            </a:avLst>
          </a:prstGeom>
          <a:solidFill>
            <a:srgbClr val="14305A"/>
          </a:solidFill>
          <a:ln/>
        </p:spPr>
      </p:sp>
      <p:sp>
        <p:nvSpPr>
          <p:cNvPr id="18" name="Text 14"/>
          <p:cNvSpPr txBox="1"/>
          <p:nvPr/>
        </p:nvSpPr>
        <p:spPr>
          <a:xfrm>
            <a:off x="6355080" y="3499866"/>
            <a:ext cx="2194560" cy="201168"/>
          </a:xfrm>
          <a:prstGeom prst="rect">
            <a:avLst/>
          </a:prstGeom>
          <a:noFill/>
          <a:ln/>
        </p:spPr>
        <p:txBody>
          <a:bodyPr wrap="square" lIns="0" tIns="0" rIns="0" bIns="0" rtlCol="0" anchor="t"/>
          <a:lstStyle/>
          <a:p>
            <a:pPr indent="0" marL="0">
              <a:buNone/>
            </a:pPr>
            <a:r>
              <a:rPr lang="en-US" sz="1000" b="1" spc="200" kern="0" dirty="0">
                <a:solidFill>
                  <a:srgbClr val="F2B134"/>
                </a:solidFill>
              </a:rPr>
              <a:t>DATA</a:t>
            </a:r>
            <a:endParaRPr lang="en-US" sz="1000" dirty="0"/>
          </a:p>
        </p:txBody>
      </p:sp>
      <p:sp>
        <p:nvSpPr>
          <p:cNvPr id="19" name="Text 15"/>
          <p:cNvSpPr txBox="1"/>
          <p:nvPr/>
        </p:nvSpPr>
        <p:spPr>
          <a:xfrm>
            <a:off x="6355080" y="3694176"/>
            <a:ext cx="2194560" cy="365760"/>
          </a:xfrm>
          <a:prstGeom prst="rect">
            <a:avLst/>
          </a:prstGeom>
          <a:noFill/>
          <a:ln/>
        </p:spPr>
        <p:txBody>
          <a:bodyPr wrap="square" lIns="0" tIns="0" rIns="0" bIns="0" rtlCol="0" anchor="t"/>
          <a:lstStyle/>
          <a:p>
            <a:pPr indent="0" marL="0">
              <a:buNone/>
            </a:pPr>
            <a:r>
              <a:rPr lang="en-US" sz="2000" b="1" dirty="0">
                <a:solidFill>
                  <a:srgbClr val="FFFFFF"/>
                </a:solidFill>
              </a:rPr>
              <a:t>Hibernate</a:t>
            </a:r>
            <a:endParaRPr lang="en-US" sz="20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31.xml><?xml version="1.0" encoding="utf-8"?>
<p:sld xmlns:a="http://schemas.openxmlformats.org/drawingml/2006/main" xmlns:r="http://schemas.openxmlformats.org/officeDocument/2006/relationships" xmlns:p="http://schemas.openxmlformats.org/presentationml/2006/main" show="0">
  <p:cSld name="Slide 31">
    <p:spTree>
      <p:nvGrpSpPr>
        <p:cNvPr id="1" name=""/>
        <p:cNvGrpSpPr/>
        <p:nvPr/>
      </p:nvGrpSpPr>
      <p:grpSpPr>
        <a:xfrm>
          <a:off x="0" y="0"/>
          <a:ext cx="0" cy="0"/>
          <a:chOff x="0" y="0"/>
          <a:chExt cx="0" cy="0"/>
        </a:xfrm>
      </p:grpSpPr>
      <p:sp>
        <p:nvSpPr>
          <p:cNvPr id="2" name="Text 0"/>
          <p:cNvSpPr txBox="1"/>
          <p:nvPr/>
        </p:nvSpPr>
        <p:spPr>
          <a:xfrm>
            <a:off x="457200" y="256032"/>
            <a:ext cx="6400800" cy="201168"/>
          </a:xfrm>
          <a:prstGeom prst="rect">
            <a:avLst/>
          </a:prstGeom>
          <a:noFill/>
          <a:ln/>
        </p:spPr>
        <p:txBody>
          <a:bodyPr wrap="square" lIns="0" tIns="0" rIns="0" bIns="0" rtlCol="0" anchor="t"/>
          <a:lstStyle/>
          <a:p>
            <a:pPr indent="0" marL="0">
              <a:buNone/>
            </a:pPr>
            <a:r>
              <a:rPr lang="en-US" sz="1100" b="1" spc="200" kern="0" dirty="0">
                <a:solidFill>
                  <a:srgbClr val="F26B6B"/>
                </a:solidFill>
              </a:rPr>
              <a:t>BACKUP (HIDDEN)</a:t>
            </a:r>
            <a:endParaRPr lang="en-US" sz="1100" dirty="0"/>
          </a:p>
        </p:txBody>
      </p:sp>
      <p:sp>
        <p:nvSpPr>
          <p:cNvPr id="3" name="Text 2"/>
          <p:cNvSpPr/>
          <p:nvPr>
            <p:ph idx="103" type="title" hasCustomPrompt="1"/>
          </p:nvPr>
        </p:nvSpPr>
        <p:spPr>
          <a:xfrm>
            <a:off x="457200" y="457200"/>
            <a:ext cx="8229600" cy="685800"/>
          </a:xfrm>
          <a:prstGeom prst="rect">
            <a:avLst/>
          </a:prstGeom>
          <a:noFill/>
          <a:ln/>
        </p:spPr>
        <p:txBody>
          <a:bodyPr wrap="square" lIns="0" tIns="0" rIns="0" bIns="0" rtlCol="0" anchor="ctr"/>
          <a:lstStyle/>
          <a:p>
            <a:pPr algn="l" indent="0" marL="0">
              <a:buNone/>
            </a:pPr>
            <a:r>
              <a:rPr lang="en-US" sz="3000" b="1" dirty="0">
                <a:solidFill>
                  <a:srgbClr val="FFFFFF"/>
                </a:solidFill>
              </a:rPr>
              <a:t>B1  |  Live demo does not work</a:t>
            </a:r>
            <a:endParaRPr lang="en-US" sz="3000" dirty="0"/>
          </a:p>
        </p:txBody>
      </p:sp>
      <p:sp>
        <p:nvSpPr>
          <p:cNvPr id="5" name="Shape 2"/>
          <p:cNvSpPr/>
          <p:nvPr/>
        </p:nvSpPr>
        <p:spPr>
          <a:xfrm>
            <a:off x="457200" y="1325880"/>
            <a:ext cx="8229600" cy="1417320"/>
          </a:xfrm>
          <a:prstGeom prst="roundRect">
            <a:avLst>
              <a:gd name="adj" fmla="val 6452"/>
            </a:avLst>
          </a:prstGeom>
          <a:solidFill>
            <a:srgbClr val="14305A"/>
          </a:solidFill>
          <a:ln/>
        </p:spPr>
      </p:sp>
      <p:sp>
        <p:nvSpPr>
          <p:cNvPr id="6" name="Shape 3"/>
          <p:cNvSpPr/>
          <p:nvPr/>
        </p:nvSpPr>
        <p:spPr>
          <a:xfrm>
            <a:off x="457200" y="2926080"/>
            <a:ext cx="8229600" cy="1417320"/>
          </a:xfrm>
          <a:prstGeom prst="roundRect">
            <a:avLst>
              <a:gd name="adj" fmla="val 6452"/>
            </a:avLst>
          </a:prstGeom>
          <a:solidFill>
            <a:srgbClr val="14305A"/>
          </a:solidFill>
          <a:ln/>
        </p:spPr>
      </p:sp>
      <p:sp>
        <p:nvSpPr>
          <p:cNvPr id="7" name="Text 4"/>
          <p:cNvSpPr txBox="1"/>
          <p:nvPr/>
        </p:nvSpPr>
        <p:spPr>
          <a:xfrm>
            <a:off x="640080" y="1463040"/>
            <a:ext cx="1371600" cy="237744"/>
          </a:xfrm>
          <a:prstGeom prst="roundRect">
            <a:avLst>
              <a:gd name="adj" fmla="val 38462"/>
            </a:avLst>
          </a:prstGeom>
          <a:solidFill>
            <a:srgbClr val="F2B134"/>
          </a:solidFill>
          <a:ln/>
        </p:spPr>
        <p:txBody>
          <a:bodyPr wrap="square" lIns="254" tIns="254" rIns="254" bIns="254" rtlCol="0" anchor="ctr"/>
          <a:lstStyle/>
          <a:p>
            <a:pPr algn="ctr" indent="0" marL="0">
              <a:buNone/>
            </a:pPr>
            <a:r>
              <a:rPr lang="en-US" sz="1100" b="1" dirty="0">
                <a:solidFill>
                  <a:srgbClr val="0B1F3A"/>
                </a:solidFill>
              </a:rPr>
              <a:t>PASTE OR SHOW</a:t>
            </a:r>
            <a:endParaRPr lang="en-US" sz="1100" dirty="0"/>
          </a:p>
        </p:txBody>
      </p:sp>
      <p:sp>
        <p:nvSpPr>
          <p:cNvPr id="8" name="Text 5"/>
          <p:cNvSpPr txBox="1"/>
          <p:nvPr/>
        </p:nvSpPr>
        <p:spPr>
          <a:xfrm>
            <a:off x="640080" y="1828800"/>
            <a:ext cx="7863840" cy="868680"/>
          </a:xfrm>
          <a:prstGeom prst="rect">
            <a:avLst/>
          </a:prstGeom>
          <a:noFill/>
          <a:ln/>
        </p:spPr>
        <p:txBody>
          <a:bodyPr wrap="square" lIns="0" tIns="0" rIns="0" bIns="0" rtlCol="0" anchor="t"/>
          <a:lstStyle/>
          <a:p>
            <a:pPr indent="0" marL="0">
              <a:buNone/>
            </a:pPr>
            <a:r>
              <a:rPr lang="en-US" sz="1500" dirty="0">
                <a:solidFill>
                  <a:srgbClr val="FFFFFF"/>
                </a:solidFill>
              </a:rPr>
              <a:t>A saved screenshot of the chatbot answering a question about today's news, confidently and without a source.</a:t>
            </a:r>
            <a:endParaRPr lang="en-US" sz="1500" dirty="0"/>
          </a:p>
        </p:txBody>
      </p:sp>
      <p:sp>
        <p:nvSpPr>
          <p:cNvPr id="9" name="Text 6"/>
          <p:cNvSpPr txBox="1"/>
          <p:nvPr/>
        </p:nvSpPr>
        <p:spPr>
          <a:xfrm>
            <a:off x="640080" y="3063240"/>
            <a:ext cx="548640" cy="237744"/>
          </a:xfrm>
          <a:prstGeom prst="roundRect">
            <a:avLst>
              <a:gd name="adj" fmla="val 38462"/>
            </a:avLst>
          </a:prstGeom>
          <a:solidFill>
            <a:srgbClr val="13A89E"/>
          </a:solidFill>
          <a:ln/>
        </p:spPr>
        <p:txBody>
          <a:bodyPr wrap="square" lIns="254" tIns="254" rIns="254" bIns="254" rtlCol="0" anchor="ctr"/>
          <a:lstStyle/>
          <a:p>
            <a:pPr algn="ctr" indent="0" marL="0">
              <a:buNone/>
            </a:pPr>
            <a:r>
              <a:rPr lang="en-US" sz="1100" b="1" dirty="0">
                <a:solidFill>
                  <a:srgbClr val="0B1F3A"/>
                </a:solidFill>
              </a:rPr>
              <a:t>SAY</a:t>
            </a:r>
            <a:endParaRPr lang="en-US" sz="1100" dirty="0"/>
          </a:p>
        </p:txBody>
      </p:sp>
      <p:sp>
        <p:nvSpPr>
          <p:cNvPr id="10" name="Text 7"/>
          <p:cNvSpPr txBox="1"/>
          <p:nvPr/>
        </p:nvSpPr>
        <p:spPr>
          <a:xfrm>
            <a:off x="640080" y="3429000"/>
            <a:ext cx="7863840" cy="868680"/>
          </a:xfrm>
          <a:prstGeom prst="rect">
            <a:avLst/>
          </a:prstGeom>
          <a:noFill/>
          <a:ln/>
        </p:spPr>
        <p:txBody>
          <a:bodyPr wrap="square" lIns="0" tIns="0" rIns="0" bIns="0" rtlCol="0" anchor="t"/>
          <a:lstStyle/>
          <a:p>
            <a:pPr indent="0" marL="0">
              <a:buNone/>
            </a:pPr>
            <a:r>
              <a:rPr lang="en-US" sz="1600" i="1" dirty="0">
                <a:solidFill>
                  <a:srgbClr val="FFFFFF"/>
                </a:solidFill>
              </a:rPr>
              <a:t>"Same question, recorded this morning."</a:t>
            </a:r>
            <a:endParaRPr lang="en-US" sz="1600" dirty="0"/>
          </a:p>
        </p:txBody>
      </p:sp>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B9C6DA"/>
                </a:solidFill>
              </a:defRPr>
            </a:lvl1pPr>
          </a:lstStyle>
          <a:p>
            <a:pPr algn="r"/>
            <a:fld id="{F7021451-1387-4CA6-816F-3879F97B5CBC}" type="slidenum">
              <a:rPr b="0" lang="en-US"/>
              <a:t>31</a:t>
            </a:fld>
            <a:endParaRPr lang="en-US"/>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show="0">
  <p:cSld name="Slide 32">
    <p:spTree>
      <p:nvGrpSpPr>
        <p:cNvPr id="1" name=""/>
        <p:cNvGrpSpPr/>
        <p:nvPr/>
      </p:nvGrpSpPr>
      <p:grpSpPr>
        <a:xfrm>
          <a:off x="0" y="0"/>
          <a:ext cx="0" cy="0"/>
          <a:chOff x="0" y="0"/>
          <a:chExt cx="0" cy="0"/>
        </a:xfrm>
      </p:grpSpPr>
      <p:sp>
        <p:nvSpPr>
          <p:cNvPr id="2" name="Text 0"/>
          <p:cNvSpPr txBox="1"/>
          <p:nvPr/>
        </p:nvSpPr>
        <p:spPr>
          <a:xfrm>
            <a:off x="457200" y="256032"/>
            <a:ext cx="6400800" cy="201168"/>
          </a:xfrm>
          <a:prstGeom prst="rect">
            <a:avLst/>
          </a:prstGeom>
          <a:noFill/>
          <a:ln/>
        </p:spPr>
        <p:txBody>
          <a:bodyPr wrap="square" lIns="0" tIns="0" rIns="0" bIns="0" rtlCol="0" anchor="t"/>
          <a:lstStyle/>
          <a:p>
            <a:pPr indent="0" marL="0">
              <a:buNone/>
            </a:pPr>
            <a:r>
              <a:rPr lang="en-US" sz="1100" b="1" spc="200" kern="0" dirty="0">
                <a:solidFill>
                  <a:srgbClr val="F26B6B"/>
                </a:solidFill>
              </a:rPr>
              <a:t>BACKUP (HIDDEN)</a:t>
            </a:r>
            <a:endParaRPr lang="en-US" sz="1100" dirty="0"/>
          </a:p>
        </p:txBody>
      </p:sp>
      <p:sp>
        <p:nvSpPr>
          <p:cNvPr id="3" name="Text 2"/>
          <p:cNvSpPr/>
          <p:nvPr>
            <p:ph idx="103" type="title" hasCustomPrompt="1"/>
          </p:nvPr>
        </p:nvSpPr>
        <p:spPr>
          <a:xfrm>
            <a:off x="457200" y="457200"/>
            <a:ext cx="8229600" cy="685800"/>
          </a:xfrm>
          <a:prstGeom prst="rect">
            <a:avLst/>
          </a:prstGeom>
          <a:noFill/>
          <a:ln/>
        </p:spPr>
        <p:txBody>
          <a:bodyPr wrap="square" lIns="0" tIns="0" rIns="0" bIns="0" rtlCol="0" anchor="ctr"/>
          <a:lstStyle/>
          <a:p>
            <a:pPr algn="l" indent="0" marL="0">
              <a:buNone/>
            </a:pPr>
            <a:r>
              <a:rPr lang="en-US" sz="3000" b="1" dirty="0">
                <a:solidFill>
                  <a:srgbClr val="FFFFFF"/>
                </a:solidFill>
              </a:rPr>
              <a:t>B2  |  Projector or adapter failure</a:t>
            </a:r>
            <a:endParaRPr lang="en-US" sz="3000" dirty="0"/>
          </a:p>
        </p:txBody>
      </p:sp>
      <p:sp>
        <p:nvSpPr>
          <p:cNvPr id="5" name="Shape 2"/>
          <p:cNvSpPr/>
          <p:nvPr/>
        </p:nvSpPr>
        <p:spPr>
          <a:xfrm>
            <a:off x="457200" y="1325880"/>
            <a:ext cx="8229600" cy="1417320"/>
          </a:xfrm>
          <a:prstGeom prst="roundRect">
            <a:avLst>
              <a:gd name="adj" fmla="val 6452"/>
            </a:avLst>
          </a:prstGeom>
          <a:solidFill>
            <a:srgbClr val="14305A"/>
          </a:solidFill>
          <a:ln/>
        </p:spPr>
      </p:sp>
      <p:sp>
        <p:nvSpPr>
          <p:cNvPr id="6" name="Shape 3"/>
          <p:cNvSpPr/>
          <p:nvPr/>
        </p:nvSpPr>
        <p:spPr>
          <a:xfrm>
            <a:off x="457200" y="2926080"/>
            <a:ext cx="8229600" cy="1417320"/>
          </a:xfrm>
          <a:prstGeom prst="roundRect">
            <a:avLst>
              <a:gd name="adj" fmla="val 6452"/>
            </a:avLst>
          </a:prstGeom>
          <a:solidFill>
            <a:srgbClr val="14305A"/>
          </a:solidFill>
          <a:ln/>
        </p:spPr>
      </p:sp>
      <p:sp>
        <p:nvSpPr>
          <p:cNvPr id="7" name="Text 4"/>
          <p:cNvSpPr txBox="1"/>
          <p:nvPr/>
        </p:nvSpPr>
        <p:spPr>
          <a:xfrm>
            <a:off x="640080" y="1463040"/>
            <a:ext cx="1371600" cy="237744"/>
          </a:xfrm>
          <a:prstGeom prst="roundRect">
            <a:avLst>
              <a:gd name="adj" fmla="val 38462"/>
            </a:avLst>
          </a:prstGeom>
          <a:solidFill>
            <a:srgbClr val="F2B134"/>
          </a:solidFill>
          <a:ln/>
        </p:spPr>
        <p:txBody>
          <a:bodyPr wrap="square" lIns="254" tIns="254" rIns="254" bIns="254" rtlCol="0" anchor="ctr"/>
          <a:lstStyle/>
          <a:p>
            <a:pPr algn="ctr" indent="0" marL="0">
              <a:buNone/>
            </a:pPr>
            <a:r>
              <a:rPr lang="en-US" sz="1100" b="1" dirty="0">
                <a:solidFill>
                  <a:srgbClr val="0B1F3A"/>
                </a:solidFill>
              </a:rPr>
              <a:t>PASTE OR SHOW</a:t>
            </a:r>
            <a:endParaRPr lang="en-US" sz="1100" dirty="0"/>
          </a:p>
        </p:txBody>
      </p:sp>
      <p:sp>
        <p:nvSpPr>
          <p:cNvPr id="8" name="Text 5"/>
          <p:cNvSpPr txBox="1"/>
          <p:nvPr/>
        </p:nvSpPr>
        <p:spPr>
          <a:xfrm>
            <a:off x="640080" y="1828800"/>
            <a:ext cx="7863840" cy="868680"/>
          </a:xfrm>
          <a:prstGeom prst="rect">
            <a:avLst/>
          </a:prstGeom>
          <a:noFill/>
          <a:ln/>
        </p:spPr>
        <p:txBody>
          <a:bodyPr wrap="square" lIns="0" tIns="0" rIns="0" bIns="0" rtlCol="0" anchor="t"/>
          <a:lstStyle/>
          <a:p>
            <a:pPr indent="0" marL="0">
              <a:buNone/>
            </a:pPr>
            <a:r>
              <a:rPr lang="en-US" sz="1500" dirty="0">
                <a:solidFill>
                  <a:srgbClr val="FFFFFF"/>
                </a:solidFill>
              </a:rPr>
              <a:t>The printed agenda. On the board, draw four boxes: LLM, RAG, Agent, Agentic AI, with one line under each.</a:t>
            </a:r>
            <a:endParaRPr lang="en-US" sz="1500" dirty="0"/>
          </a:p>
        </p:txBody>
      </p:sp>
      <p:sp>
        <p:nvSpPr>
          <p:cNvPr id="9" name="Text 6"/>
          <p:cNvSpPr txBox="1"/>
          <p:nvPr/>
        </p:nvSpPr>
        <p:spPr>
          <a:xfrm>
            <a:off x="640080" y="3063240"/>
            <a:ext cx="548640" cy="237744"/>
          </a:xfrm>
          <a:prstGeom prst="roundRect">
            <a:avLst>
              <a:gd name="adj" fmla="val 38462"/>
            </a:avLst>
          </a:prstGeom>
          <a:solidFill>
            <a:srgbClr val="13A89E"/>
          </a:solidFill>
          <a:ln/>
        </p:spPr>
        <p:txBody>
          <a:bodyPr wrap="square" lIns="254" tIns="254" rIns="254" bIns="254" rtlCol="0" anchor="ctr"/>
          <a:lstStyle/>
          <a:p>
            <a:pPr algn="ctr" indent="0" marL="0">
              <a:buNone/>
            </a:pPr>
            <a:r>
              <a:rPr lang="en-US" sz="1100" b="1" dirty="0">
                <a:solidFill>
                  <a:srgbClr val="0B1F3A"/>
                </a:solidFill>
              </a:rPr>
              <a:t>SAY</a:t>
            </a:r>
            <a:endParaRPr lang="en-US" sz="1100" dirty="0"/>
          </a:p>
        </p:txBody>
      </p:sp>
      <p:sp>
        <p:nvSpPr>
          <p:cNvPr id="10" name="Text 7"/>
          <p:cNvSpPr txBox="1"/>
          <p:nvPr/>
        </p:nvSpPr>
        <p:spPr>
          <a:xfrm>
            <a:off x="640080" y="3429000"/>
            <a:ext cx="7863840" cy="868680"/>
          </a:xfrm>
          <a:prstGeom prst="rect">
            <a:avLst/>
          </a:prstGeom>
          <a:noFill/>
          <a:ln/>
        </p:spPr>
        <p:txBody>
          <a:bodyPr wrap="square" lIns="0" tIns="0" rIns="0" bIns="0" rtlCol="0" anchor="t"/>
          <a:lstStyle/>
          <a:p>
            <a:pPr indent="0" marL="0">
              <a:buNone/>
            </a:pPr>
            <a:r>
              <a:rPr lang="en-US" sz="1600" i="1" dirty="0">
                <a:solidFill>
                  <a:srgbClr val="FFFFFF"/>
                </a:solidFill>
              </a:rPr>
              <a:t>Walk to the board and draw it with the class.</a:t>
            </a:r>
            <a:endParaRPr lang="en-US" sz="1600" dirty="0"/>
          </a:p>
        </p:txBody>
      </p:sp>
      <p:sp>
        <p:nvSpPr>
          <p:cNvPr id="25" name="Slide Number Placeholder 0"/>
          <p:cNvSpPr>
            <a:spLocks noGrp="1"/>
          </p:cNvSpPr>
          <p:nvPr>
            <p:ph type="sldNum" sz="quarter" idx="4294967295"/>
          </p:nvPr>
        </p:nvSpPr>
        <p:spPr>
          <a:xfrm>
            <a:off x="8229600" y="47274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B9C6DA"/>
                </a:solidFill>
              </a:defRPr>
            </a:lvl1pPr>
          </a:lstStyle>
          <a:p>
            <a:pPr algn="r"/>
            <a:fld id="{F7021451-1387-4CA6-816F-3879F97B5CBC}" type="slidenum">
              <a:rPr b="0" lang="en-US"/>
              <a:t>32</a:t>
            </a:fld>
            <a:endParaRPr lang="en-US"/>
          </a:p>
        </p:txBody>
      </p:sp>
    </p:spTree>
  </p:cSld>
  <p:clrMapOvr>
    <a:masterClrMapping/>
  </p:clrMapOvr>
  <p:transition spd="med">
    <p:fade/>
  </p:transition>
</p:sld>
</file>

<file path=ppt/theme/theme1.xml><?xml version="1.0" encoding="utf-8"?>
<a:theme xmlns:a="http://schemas.openxmlformats.org/drawingml/2006/main" name="PPSU GenAI">
  <a:themeElements>
    <a:clrScheme name="PPSU GenAI">
      <a:dk1>
        <a:srgbClr val="0B1F3A"/>
      </a:dk1>
      <a:lt1>
        <a:srgbClr val="FFFFFF"/>
      </a:lt1>
      <a:dk2>
        <a:srgbClr val="14305A"/>
      </a:dk2>
      <a:lt2>
        <a:srgbClr val="B9C6DA"/>
      </a:lt2>
      <a:accent1>
        <a:srgbClr val="13A89E"/>
      </a:accent1>
      <a:accent2>
        <a:srgbClr val="A78BFA"/>
      </a:accent2>
      <a:accent3>
        <a:srgbClr val="F2B134"/>
      </a:accent3>
      <a:accent4>
        <a:srgbClr val="F26B6B"/>
      </a:accent4>
      <a:accent5>
        <a:srgbClr val="5DB85C"/>
      </a:accent5>
      <a:accent6>
        <a:srgbClr val="F28C28"/>
      </a:accent6>
      <a:hlink>
        <a:srgbClr val="13A89E"/>
      </a:hlink>
      <a:folHlink>
        <a:srgbClr val="A78BFA"/>
      </a:folHlink>
    </a:clrScheme>
    <a:fontScheme name="PPSU GenAI">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 AI: from basics to agents (Part 2)</dc:title>
  <dc:subject>PptxGenJS Presentation</dc:subject>
  <dc:creator>Ravikumar Bhalsod</dc:creator>
  <cp:lastModifiedBy>Ravikumar Bhalsod</cp:lastModifiedBy>
  <cp:revision>1</cp:revision>
  <dcterms:created xsi:type="dcterms:W3CDTF">2026-10-03T21:42:10Z</dcterms:created>
  <dcterms:modified xsi:type="dcterms:W3CDTF">2026-10-03T21:42:10Z</dcterms:modified>
</cp:coreProperties>
</file>