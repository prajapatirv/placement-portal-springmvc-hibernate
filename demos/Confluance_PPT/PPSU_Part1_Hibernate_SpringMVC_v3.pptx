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2211ADD-2378-97A7-54E6-7E3D812BA091}">
          <p14:sldIdLst>
            <p14:sldId id="256"/>
            <p14:sldId id="257"/>
            <p14:sldId id="258"/>
            <p14:sldId id="259"/>
            <p14:sldId id="260"/>
          </p14:sldIdLst>
        </p14:section>
        <p14:section name="Industry view" id="{0F58597C-C154-989C-10C9-6AF55B056469}">
          <p14:sldIdLst>
            <p14:sldId id="261"/>
            <p14:sldId id="262"/>
            <p14:sldId id="263"/>
            <p14:sldId id="264"/>
            <p14:sldId id="265"/>
          </p14:sldIdLst>
        </p14:section>
        <p14:section name="Our question for today" id="{0AEC4D53-0948-D37D-F224-27EF7811475D}">
          <p14:sldIdLst>
            <p14:sldId id="266"/>
          </p14:sldIdLst>
        </p14:section>
        <p14:section name="Hibernate (Data)" id="{98AA8F6F-C13D-7939-CBE0-4AD1464B88C0}">
          <p14:sldIdLst>
            <p14:sldId id="267"/>
            <p14:sldId id="268"/>
            <p14:sldId id="269"/>
            <p14:sldId id="270"/>
            <p14:sldId id="271"/>
            <p14:sldId id="272"/>
            <p14:sldId id="273"/>
            <p14:sldId id="274"/>
            <p14:sldId id="275"/>
            <p14:sldId id="276"/>
            <p14:sldId id="277"/>
            <p14:sldId id="278"/>
            <p14:sldId id="279"/>
            <p14:sldId id="280"/>
            <p14:sldId id="281"/>
          </p14:sldIdLst>
        </p14:section>
        <p14:section name="Spring MVC (Web)" id="{F6F639E6-F9A3-95F9-2F81-B699D5C6A8F5}">
          <p14:sldIdLst>
            <p14:sldId id="282"/>
            <p14:sldId id="283"/>
            <p14:sldId id="284"/>
            <p14:sldId id="285"/>
            <p14:sldId id="286"/>
            <p14:sldId id="287"/>
            <p14:sldId id="288"/>
            <p14:sldId id="289"/>
            <p14:sldId id="290"/>
            <p14:sldId id="291"/>
          </p14:sldIdLst>
        </p14:section>
        <p14:section name="Campus Placement Portal" id="{B6C325D8-388D-E3B2-4DD0-A6EC123E7724}">
          <p14:sldIdLst>
            <p14:sldId id="292"/>
            <p14:sldId id="293"/>
            <p14:sldId id="294"/>
            <p14:sldId id="295"/>
            <p14:sldId id="296"/>
            <p14:sldId id="297"/>
          </p14:sldIdLst>
        </p14:section>
        <p14:section name="Backup (hidden)" id="{D9B6F760-4A69-AAB8-54C1-BD9E77ACD310}">
          <p14:sldIdLst>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48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600" b="0" i="0" u="none" strike="noStrike">
                <a:solidFill>
                  <a:srgbClr val="0B1F3A"/>
                </a:solidFill>
                <a:latin typeface="+mn-lt"/>
              </a:defRPr>
            </a:pPr>
            <a:r>
              <a:rPr sz="1600" b="0" i="0" u="none" strike="noStrike">
                <a:solidFill>
                  <a:srgbClr val="0B1F3A"/>
                </a:solidFill>
                <a:latin typeface="+mn-lt"/>
              </a:rPr>
              <a:t>SQL statements to list 20 applications</a:t>
            </a:r>
          </a:p>
        </c:rich>
      </c:tx>
      <c:overlay val="0"/>
    </c:title>
    <c:autoTitleDeleted val="0"/>
    <c:plotArea>
      <c:layout/>
      <c:barChart>
        <c:barDir val="col"/>
        <c:grouping val="clustered"/>
        <c:varyColors val="0"/>
        <c:ser>
          <c:idx val="0"/>
          <c:order val="0"/>
          <c:tx>
            <c:strRef>
              <c:f>Sheet1!$B$1</c:f>
              <c:strCache>
                <c:ptCount val="1"/>
                <c:pt idx="0">
                  <c:v>SQL statements</c:v>
                </c:pt>
              </c:strCache>
            </c:strRef>
          </c:tx>
          <c:spPr>
            <a:solidFill>
              <a:srgbClr val="E8590C"/>
            </a:solidFill>
            <a:effectLst/>
          </c:spPr>
          <c:invertIfNegative val="0"/>
          <c:dPt>
            <c:idx val="0"/>
            <c:invertIfNegative val="0"/>
            <c:bubble3D val="0"/>
          </c:dPt>
          <c:dPt>
            <c:idx val="1"/>
            <c:invertIfNegative val="0"/>
            <c:bubble3D val="0"/>
            <c:spPr>
              <a:solidFill>
                <a:srgbClr val="F59F00"/>
              </a:solidFill>
              <a:effectLst/>
            </c:spPr>
          </c:dPt>
          <c:dPt>
            <c:idx val="2"/>
            <c:invertIfNegative val="0"/>
            <c:bubble3D val="0"/>
            <c:spPr>
              <a:solidFill>
                <a:srgbClr val="0E7C7B"/>
              </a:solidFill>
              <a:effectLst/>
            </c:spPr>
          </c:dPt>
          <c:dLbls>
            <c:numFmt formatCode="#,##0" sourceLinked="0"/>
            <c:spPr>
              <a:noFill/>
              <a:ln>
                <a:noFill/>
              </a:ln>
              <a:effectLst/>
            </c:spPr>
            <c:txPr>
              <a:bodyPr/>
              <a:lstStyle/>
              <a:p>
                <a:pPr>
                  <a:defRPr sz="1800" b="1"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LAZY loop</c:v>
                </c:pt>
                <c:pt idx="1">
                  <c:v>Batch fetch size 20</c:v>
                </c:pt>
                <c:pt idx="2">
                  <c:v>JOIN FETCH</c:v>
                </c:pt>
              </c:strCache>
            </c:strRef>
          </c:cat>
          <c:val>
            <c:numRef>
              <c:f>Sheet1!$B$2:$B$4</c:f>
              <c:numCache>
                <c:formatCode>General</c:formatCode>
                <c:ptCount val="3"/>
                <c:pt idx="0">
                  <c:v>26</c:v>
                </c:pt>
                <c:pt idx="1">
                  <c:v>4</c:v>
                </c:pt>
                <c:pt idx="2">
                  <c:v>1</c:v>
                </c:pt>
              </c:numCache>
            </c:numRef>
          </c:val>
        </c:ser>
        <c:dLbls>
          <c:showLegendKey val="0"/>
          <c:showVal val="1"/>
          <c:showCatName val="0"/>
          <c:showSerName val="0"/>
          <c:showPercent val="0"/>
          <c:showBubbleSize val="0"/>
        </c:dLbls>
        <c:gapWidth val="60"/>
        <c:axId val="1606914272"/>
        <c:axId val="1606915360"/>
      </c:barChart>
      <c:catAx>
        <c:axId val="160691427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733"/>
                </a:solidFill>
                <a:latin typeface="+mn-lt"/>
              </a:defRPr>
            </a:pPr>
            <a:endParaRPr lang="en-US"/>
          </a:p>
        </c:txPr>
        <c:crossAx val="1606915360"/>
        <c:crosses val="autoZero"/>
        <c:auto val="1"/>
        <c:lblAlgn val="ctr"/>
        <c:lblOffset val="100"/>
        <c:noMultiLvlLbl val="1"/>
      </c:catAx>
      <c:valAx>
        <c:axId val="1606915360"/>
        <c:scaling>
          <c:orientation val="minMax"/>
        </c:scaling>
        <c:delete val="1"/>
        <c:axPos val="l"/>
        <c:numFmt formatCode="General" sourceLinked="0"/>
        <c:majorTickMark val="out"/>
        <c:minorTickMark val="none"/>
        <c:tickLblPos val="nextTo"/>
        <c:crossAx val="1606914272"/>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7445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Today is not a slide-reading day. We follow one click from the browser to the database and back, and then we add intelligence on top.
THE STACK ON THE RIGHT is our map for the whole day: Data (Hibernate), Web (Spring MVC), Intelligence (Gen AI). Come back to it whenever the room feels lost.
TIME: 1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for inviting me. Before we start, thank you to the people who made today possible: the Provost, the Dean of the School of Engineering, and the faculty coordinators from the CE-IT department.
WHO IS IN THE ROOM: Sem-5 students from B.Tech (CE, CS, IT, ITE) and Diploma (CE, IT). You have already studied Core Java, databases and the web basics. Today we connect those pieces into one working application and add AI on top.
THE POSTER: this is the official invitation. The topic is Advance Java Concepts with Gen AI. Our route for the day is on the next slides.
CHECK BEFORE SHOWING: names and titles are copied from the invitation poster. Confirm spelling and whether the faculty want to be named on screen. If not, delete the four cards and keep the poster.
TIME: 1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will not read my resume. Three facts. One: 12 years building Java and Python systems in production. Two: five employers across five industries, so I have seen five different engineering cultures. Three: more than four years leading teams, so I have also seen what managers look for when they hire.
THE PATH: I started in 2014 as a Java developer. The first years were Spring MVC and Hibernate web apps: a theatre-ticketing system, a hotel-booking system and a timesheet tool. Then Grails products, a Spring Batch filing system and ERP finance modules. In 2019 I moved to a cloud ERP used by more than 30 companies, where I was a feature developer and support lead. Since 2021 I have been at Cybage: Spring Boot services, Python and AWS data pipelines, and for the last years the role has moved from writing code to design, reviews, mentoring and talking to clients.
THE MESSAGE: I learned the basics first and went deeper every year. Now AI tools are part of the job. The tools changed a lot, the way of building logic did not. I moved from learner to expert by never skipping the basics.
OPTIONAL: if the room prefers, I can explain any slide in Gujarati, Hindi or English. Say so once, early.
DO NOT NAME CLIENTS. Say "an event-management platform" and "data pipelines on AWS".
TIME: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Seven stops. Watch the route build itself. The colours are the three layers: teal is Data, blue is Web, orange is Intelligence. The industry view comes first because it explains why the next hours matter for your career. Then we build the data layer, the web layer, put them together in one real application, add intelligence on top, see it live on a real product, and finish with your questions.
NO CLOCK TIMES on this slide on purpose. Announce breaks in the room once the university confirms them.
TRANSITION NOTE: the stops appear one after another by themselves. Nothing to click.
TIME: 1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Order a pizza on your phone. The menu you see is the Web layer. The app remembering your last order and address is the Data layer. "Order your usual again?" is the Intelligence layer. One tap touches all three.
WATCH THE BUILD: the slide builds from the bottom, the way we build today. First Data, then Web, then Intelligence on top.
CANTEEN VERSION (if the room likes it): the storeroom is the data, the counter is the web, and a very smart new intern is the intelligence.
MAP FOR THE DAY: Data is Hibernate, Web is Spring MVC, Intelligence is Gen AI. The Placement Portal we build today has the first two. The live demo later today adds the third on a real product.
TIME: 2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here says college is wrong. College gives the foundation. Industry adds scale, time and people.
EXAMPLE: Your lab program runs once, for one teacher. A placement portal like today's runs for thousands of students on result day, and someone must keep it running for years.
LEARNING TRANSFER: Everything you learn in DBMS, OS and networks is used daily. A slow query is a DBMS problem. A stuck thread is an OS problem. A timeout is a network problem.
TIME: 2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Neither is better. They teach different things in your first three years.
SERVICE: you build software for clients. Examples: TCS, Infosys, Cybage. You see many domains, many technologies, many teams. I have worked mostly on client products: travel and events, finance, ERP, data pipelines.
PRODUCT: you build one product for many users. Examples: Zoho, Freshworks, Atlassian, Google. You go deep: one codebase for years, long-term thinking.
ADVICE: In your first job choose the place where you will learn the most, not the logo. Many companies are a mix of both.
Do not claim details about any company's hiring process. Say "usually".
TIME: 2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(left): Why do companies come to universities? Four reasons. The degree shows you can finish something hard for three or four years. It shows you have the fundamentals: DBMS, OS, networks, data structures. Campuses give a filtered, trainable pool, and that is exactly the problem our Placement Portal models: companies post jobs, students apply. And companies can teach tools quickly, but fundamentals take years.
MY EXAMPLE: The degrees opened the door: BCA, an A-Level diploma, M.Sc. IT in 2014, and my first Java job the same year. The Oracle Java certificate came in 2016, after two years of work, and it supported my skills, it did not replace them.
SAY (right): Industry-ready means five habits. Code a little every day. Use SQL and Git every day. Put one real project on GitHub with a README. Take one beginner certification. Practise explaining your project in two minutes.
CERTIFICATES: some exams are paid (Oracle, AWS, Microsoft). Many learning badges are free. The full list is in docs/09-resources.md in our repo.
TIME: 3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Gen AI is a power tool. A power tool in trained hands builds faster. In untrained hands it cuts fingers.
AT WORK: We use AI assistants for code suggestions and reviews. A human still owns every decision and every line that ships. Using these tools is now part of the job.
STUDENT RULES: (1) Understand before you accept. (2) Verify with tests. (3) Keep your fundamentals sharp, because interviews test your thinking, not your tool. (4) Never paste private data into a public chatbot.
HURDLES: Every failed interview, bug or exam is feedback. Read the error, form a guess, test it. That is the same loop an engineer uses.
TIME: 3 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Salary is the result, not the plan. In the first three years choose the project, the mentor and the team where you will learn the most. Four habits, each with a meaning and an example.
1 LEARNING OVER LOGO: a famous name with no mentor teaches you little. A team that reviews your code teaches you a lot.
2 IDEAS OUTLIVE VERSIONS: Hibernate 3 is old and Hibernate 6 is new, but both map objects to rows. JDBC, Hibernate and Spring Data JPA are three generations of the same idea. Someone who learned the idea once kept earning from it. Someone who only memorised steps had to start again. The same will be true for AI tools.
3 RELIABLE AND VISIBLE: finish what you start. Bad news early is a small problem. Bad news late is a big one.
4 SETBACKS ARE BUGS: this is the loop engineers use every day. Read the log: what exactly failed? Guess one cause. Test it by changing one thing. Repeat. Today's example is the 26 queries we will see in the Hibernate part. The same loop works after a failed interview: what question stopped me, what do I think I missed, study it for a week, try again.
FREE LEARNING: do not read a list of websites aloud. Say: all free resources are in docs/09-resources.md in the project repo, plain links, no QR codes.
TIME: 3 min.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(click to build): Imagine a job-search page. 100 jobs on the screen, each with its company name. The programmer wrote a simple loop. The page works, the screen looks right. But behind it the database was asked 101 times: one query to get the 100 jobs, then one more query per job to get its company. 1 + 100 = 101.
IS THE DATABASE SLOW? No. The code asks too often. On your laptop with 5 rows nobody notices. On result day with 10,000 users it becomes a crisis.
OUR OWN APP: We have a smaller version. 20 applications on one page produce 26 queries (1 + 8 students + 12 jobs + 5 companies). Later today we fix it to 1.
THE BRIDGE: Hibernate decides how often we ask the database. Spring MVC decides what the user sees. Today you learn to control both.
WHY HERE: this question frames the whole technical part. The answer comes in the Hibernate section (LAZY and N+1).
TIME: 3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save one student with plain JDBC, count the work: open a connection, write the SQL, set each parameter, run it, handle the result, close everything in finally. About 60 lines for one insert, and the same plumbing again for update, delete and every table.
WITH HIBERNATE and Spring Data: one line. The framework writes the SQL and does the plumbing. We still see the SQL in the log, so nothing is hidden.
REAL LIFE: Any application that keeps business objects in tables uses this idea: booking systems, ERP, banking portals, hospital records. I used Hibernate in a theatre-ticketing system, a hotel-booking system, a timesheet tool and a paper-filing system.
TIME: 3 min.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Java thinks in objects. A Student has a list of Applications. The database thinks in tables. The application table has a student_id column, a foreign key.
TRANSLATOR: Hibernate is the translator between two languages. Without it, you translate by hand, and those 60 lines are exactly that hand translation.
FIVE MISMATCHES (do not explain all, pick two): Inheritance (objects extend, tables do not), Identity (== versus primary key), Associations (a list versus a foreign key), Types (Java types versus SQL types), Navigation (student.getApplications() versus a join).
TIME: 2 min.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JPA is a specification, a set of rules and annotations. Hibernate is the implementation that follows the rules. Spring Data JPA sits on top and writes the boring repository methods for us.
INTERVIEW TRAP: New projects import jakarta.persistence, not javax.persistence. The package name changed when Java EE moved to Jakarta EE. Spring Boot 3 requires jakarta.
TIME: 2 min.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Annotations are sticky notes on the class. @Entity says "this is a table". @Id says "this is the primary key". @Column adds the rules. Hibernate reads these notes while the program runs.
LIVE CODE (type, do not paste): the annotations on Company. Then show db/migration/V1__init.sql: the same shape in SQL.
KEY POINT: Flyway builds the database from SQL files in Git. Hibernate only validates: ddl-auto=validate. If an entity and a table disagree, the app refuses to start. Mapping and schema cannot drift.
OPTIONAL: if time allows, show demos/Demo1Annotations.java: the reflection loop that proves "annotations are just labels".
TIME: 4 min.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Look at this repository. It is an interface with two methods and no implementation. Spring builds the code at startup. save, findById, findAll and delete come free. findByEmail is built from the method name.
LIVE: open /students. Add a student, edit, delete. After every click, point at the console: "insert into student ...", "update ...", "delete ...". Rule of the day: every click in the browser is answered by a line in the console.
DELETE GUARD: try deleting a student who has applications. It is blocked by a rule in the service, not in the controller.
TIME: 4 min.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food-delivery app is the same shape. One restaurant has many dishes. Many customers order many dishes. The order is its own thing: it carries a status and a time.
HERE: Company has many JobPostings (one to many). Students and JobPostings are many to many, but not directly. We make Application its own entity because the relationship carries data: status, date, version. That is the pattern whenever a link has its own data.
SHOW: Supabase Table Editor, schema "app": four tables, counts 5 / 12 / 8 / 20 (companies, jobs, students, applications).
TIME: 3 min.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foreign key column company_id lives in the job_posting table, so JobPosting is the owning side. Company just says "mappedBy company": I do not own this, look at the field called company over there.
RULE: The side with the foreign key owns the relationship. This is the most common Hibernate interview question.
POINT AT: fetch = LAZY on the owning side, on purpose. No EAGER anywhere in this project.
TIME: 3 min.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levels, from easiest to most control. One: a derived query, built from the method name. Two: JPQL, written with @Query, using class and field names instead of table and column names. Three: a projection, when you only need two columns, not the whole object.
LIVE: open /jobs?city=Surat. In the console there is exactly one select with a join: the company comes with the job. This is also the student challenge later: city filter, one query, no extras.
NATIVE SQL exists too, with nativeQuery = true. We do not need it today. Mention it, move on.
PAGING (one line): never load a million rows to show ten. The manage page uses Pageable.
TIME: 4 min.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LAZY is like the menu list in a food-delivery app: names now, the full dish page only when you tap. EAGER is the app downloading every dish photo, review and detail at startup, whether you look or not.
RULE: Default to LAZY and fetch what you need on purpose. Switching to EAGER to "fix" a problem creates bigger ones.
IN THE APP: every @ManyToOne is LAZY. There is no EAGER anywhere in the code base.
TIME: 2 min.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101 from the start, in our own code. 20 applications, one page. Read the code: it loops over applications and touches student, job and company. Vote: 1, 5, 26 or 100? Hands up for each. Count them.
DO NOT reveal yet. Next slide shows the answer, then we run it live.
TIME: 2 min.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26 = 1 query for the list + 8 queries for students + 12 for jobs + 5 for companies. Nothing is broken. LAZY loading did exactly what it was told, once per row. That is N+1: one query for the list, plus N for the rows.
SAME BUG AS 101: with 100 rows it would be 1 + 100.
LIVE: (1) open /applications?slow=true and count the select lines aloud: 26. (2) open /applications: 1 select with join fetch. (3) optional: start.cmd demo prints both Session Metrics blocks; profile "batch" gives 4.
BONUS: remove @Transactional from listSlow and run: LazyInitializationException. That links back to the proxy idea: Spring wraps the method, Hibernate needs an open session.
FIX ORDER: measure first, then pick the lightest fix. Never fix N+1 by switching to EAGER.
TIME: 6 min.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entity object is always in one of four states. Think of the attendance register: pencil, ink, left the room, struck off. Watch it build from left to right.
TRANSIENT: new Student(). Hibernate does not know it yet. PERSISTENT: inside a session, Hibernate is watching it. DETACHED: the session closed, Hibernate no longer watches. REMOVED: scheduled for DELETE at commit.
WHY IT MATTERS: only persistent objects are tracked. That is exactly why the next slide works without save().
TIME: 2 min.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the method. We load an application, change its status, and the method ends. There is no save(). Will the row change? Vote.
(Cover the green YES strip with your hand or a sheet until the vote is done.) ANSWER: Yes. Inside a transaction the object is persistent. Hibernate keeps a snapshot of what it loaded. At commit it compares the object with the snapshot and writes the difference. This is dirty checking.
LIVE: open /applications, click Shortlist on a row. Console: update application set status=?, version=? where id=? and version=?.
ASK: "Which line saved it?" None.
TIME: 3 min.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(left): A bank transfer must debit and credit together, or not at all. Same with bulk shortlist. Ids 1 and 2 exist, id 9999 does not. The loop updates 1 and 2, then fails on 9999. The transaction rolls back, so no UPDATE reaches the database.
LIVE (optional): curl -X POST localhost:8080/applications/bulk-shortlist -d "ids=1&amp;ids=2&amp;ids=9999" returns 404 and rows 1 and 2 are unchanged.
SAY (right): Two admins open the same Change status form in two tabs. Tab A saves, version goes 0 to 1. Tab B saves stale data and gets 409. The @Version column made the second UPDATE match zero rows.
SUMMARY: transactions protect consistency inside one request. Versions protect it between two humans.
TIME: 4 min (skip the live part if short).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rules. One: look at the SQL, you cannot fix what you cannot see. Two: default to LAZY and fetch what you need on purpose. Three: keep transactions short, at the service layer.
PAIR EXERCISE (2 min): Turn to your neighbour and explain N+1 using the waiter and the tray. A waiter who carries one dish per trip makes 26 trips for what one tray could do.
INTERVIEW LIST (leave visible on the next-to-last slide, not here): get() vs load(), merge() vs persist(), what is mappedBy, first-level vs second-level cache.
TIME: 3 min.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Data is stored. The web is how people reach it. Every portal page, every booking site, every net-banking screen does the same three things: receive a request, run the logic, return a page or data.
WITHOUT A FRAMEWORK: a servlet. You set the content type, get a writer, and print HTML line by line, about 40 lines for one page. With Spring MVC one annotated method does it.
REAL LIFE: I built theatre-ticketing and paper-filing applications with Spring MVC and Hibernate, and worked on a Spring Boot cloud ERP used by 30+ companies. Same pattern each time: controller, service, repository.
ASK: Who has written a servlet? (hands)
TIME: 3 min.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Without dependency injection the cook goes shopping: the controller creates the service, which creates the repository, which creates the data source. Everything is glued together and impossible to test.
WITH DI the canteen manager does the shopping and hands the cook what they need. In a test, hand the cook fake vegetables, a fake repository.
RULE: constructor injection. Field injection with @Autowired on a field is a trap.
SHOW: JobController has a constructor taking JobService. No new keyword anywhere.
TIME: 2 min.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browser talks to the DispatcherServlet, the front desk. It asks HandlerMapping "who handles /jobs?", calls your controller, which calls the service and repository, gets data back, and a view renders the page. Every request uses the same front desk, so security and logging live in one place. The path builds one step at a time. Talk along with it.
LIVE: open /jobs?city=Surat. Console shows ONE select with a join. Optional: breakpoint in JobController.list and step over: JobService.listOpenJobs, then JobRepository.findOpenByCity.
FLOW EXPLORER: open docs/flow-explorer.html in a second tab and click through flow 1 (read).
TIME: 5 min.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annotations cover most of the basic web layer. @GetMapping picks the URL. @RequestParam reads the query string, like ?city=Surat. @PathVariable reads a piece of the path, like the 7 in /jobs/7. The method returns a view name.
LIVE CODE (type, do not paste): the list method and the detail method of JobController.
TRY: /jobs, /jobs?city=Surat, /jobs/7.
TIME: 4 min.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controller puts data in the Model under a name, here "jobs", and returns the view name "jobs/list". Thymeleaf finds templates/jobs/list.html. th:each loops over the jobs, th:text prints a value, th:href builds a link. The result is plain HTML sent to the browser.
POINT AT: the template only receives DTOs (JobView), never entities. That is why open-in-view is off: no lazy loading inside the page.
TIME: 3 min.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Never trust the form. The user can be careless or hostile. The guard at the gate checks the ID card so the database never sees bad data.
READ THE CODE: ApplyForm is a record with @NotBlank and @Email. In the controller, @Valid triggers the checks and BindingResult holds the errors. If errors exist we return the same form with messages.
PREDICT: What does the user see? The form again with "Email is required". HTTP 200 for a page, 400 for an API.
LIVE: /jobs, pick Data Analyst Intern, Apply, submit with empty email. Then submit yash@ppsu.example: redirect to /applications with a flash message and one insert. Press F5: nothing is re-submitted (Post-Redirect-Get).
TIME: 5 min.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menu card is for the customer. An order slip is for the kitchen. Same dish. @Controller returns a view name, so a person gets an HTML page. @RestController returns data, so a program (a mobile app, another service) gets JSON. Both call the same JobService and run the same SQL.
LIVE: open /jobs next to /api/jobs. Then /jobs/9999 (friendly 404 page) and /api/jobs/9999 (JSON problem, 404). Same exception, two renderings.
TIME: 3 min.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Without a global handler, an unexpected error shows the user a stack trace: that is the kitchen fire in the dining room. @ControllerAdvice catches exceptions from every controller and turns them into readable responses.
IN THE APP: NotFoundException gives 404, ConflictException (duplicate application, closed job) gives 409, validation failures give 400. HTML pages for browsers (GlobalExceptionHandler), JSON for APIs (ApiExceptionHandler).
LIVE: /jobs/9999 shows a friendly 404 page, no stack trace. Apply twice with the same email: 409 "already applied".
TIME: 3 min.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layers with one job each. The controller is the counter: takes the request. The service is the cook: rules and transactions. The repository is the storeroom keeper. The database is the store.
DTO RULE: Serve a plated dish, not the kitchen container. Return a DTO (JobView, ApplicationRow), never a raw entity. Forms are records too, separate from entities, so nobody can bind or expose an entity by accident.
PACKAGE BY FEATURE: our code is in folders by feature (company, job, student, application), not by layer. Everything about jobs is in one folder.
TIME: 3 min.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Today we build the skeleton. At a company you will see this skeleton plus extras: security (login and roles), tests, monitoring, profiles for dev/test/prod, and secrets management.
ALREADY IN OUR APP: 38 automated tests (run ./mvnw verify, no secrets needed), profiles (local, batch), Actuator health at /actuator/health, and secrets kept out of Git (config/supabase.properties is git-ignored).
HONEST SLIDE: Spring Security, Docker, messaging and CI/CD are next steps. A good first one after today: Spring Security.
TIME: 2 min.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we discussed lives in one application. This table is your map: the topic, the file where it lives, and the page where you can see it.
HOW TO USE IT: during the lab, pick any row, open the file, find the line, open the page, then find the SQL in the console.
TIME: 2 min.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Open the project in the IDE as you explain. Package by feature: everything about jobs is in the job folder. If you change how jobs work, you touch one folder. The alternative, package by layer, scatters one feature across three folders.
OTHER FOLDERS: db/migration holds Flyway SQL (V1 schema, V2 seed data, V3 index). templates holds Thymeleaf pages. docs holds design notes and the animated flow explorer. database holds Supabase scripts: create schema, verify, reset. config holds the git-ignored Supabase password file.
TIME: 3 min.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Run the app and click through. Rule of the day: every click in the browser must be answered by a line in the console. Say the click, point at the SQL.
LIVE ORDER: /jobs, apply, /applications?slow=true, then /applications, then Supabase Table Editor.
FALLBACK: if Supabase is unreachable, start.cmd local and say "same code, local database".
TIME: 8 min.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traps that cost people an hour. Session pooler: the direct connection needs IPv6, the pooler works on every network, and use the Session pooler, not the Transaction pooler (prepared statements fail). sslmode=require: never leave it on the default. Schema app: our tables live in app, not public. No password in Git: not in a file, a screenshot or a commit message. config/supabase.properties is git-ignored. Reset the password after a public session.
TIME: 2 min.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repo has checkpoints. If your code breaks, check out the tag for the step you are on and continue from there.
CHALLENGE (7 min): Add a city filter to the job list with exactly one query. Hint: look at how the other join fetch queries are written. Success check: one select per request in the console.
PREPARATION NOTE: the tags and the challenge starting point must be cut in the repo before the session (see the review notes). The README already describes them.
TIME: 3 min, then 7 min challenge.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sentences to remember. Hibernate: look at the SQL, default to LAZY, keep transactions short. Spring MVC: request in, response out, one front door.
NEXT: clone the repo now and check out step-2-repositories, so you are ready for the lab. We continue with the third layer, Intelligence.
INTERVIEW LIST: get() vs load(); what is N+1; merge() vs persist(); why mappedBy; first-level vs second-level cache; why open-in-view=false; @Controller vs @RestController; where does @Transactional belong.
Q AND A: 5 minutes. Raise your hand. No question is too basic.
TIME: 5 min.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only if the live demo fails.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only if the live demo fails.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only if the live demo fails.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only if the live demo fails.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only if the live demo fails.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9966960" cy="914400"/>
          </a:xfrm>
          <a:prstGeom prst="rect">
            <a:avLst/>
          </a:prstGeom>
          <a:noFill/>
          <a:ln/>
        </p:spPr>
        <p:txBody>
          <a:bodyPr wrap="square" rtlCol="0"/>
          <a:lstStyle>
            <a:lvl1pPr marL="0" indent="0" algn="l">
              <a:buNone/>
              <a:defRPr lang="en-US" sz="34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400" dirty="0"/>
          </a:p>
        </p:txBody>
      </p:sp>
      <p:pic>
        <p:nvPicPr>
          <p:cNvPr id="3" name="Image 0" descr="/tmp/work/img/ppsu-emblem.png"/>
          <p:cNvPicPr>
            <a:picLocks noChangeAspect="1"/>
          </p:cNvPicPr>
          <p:nvPr/>
        </p:nvPicPr>
        <p:blipFill>
          <a:blip r:embed="rId2"/>
          <a:stretch>
            <a:fillRect/>
          </a:stretch>
        </p:blipFill>
        <p:spPr>
          <a:xfrm>
            <a:off x="548640" y="6364224"/>
            <a:ext cx="347472" cy="320040"/>
          </a:xfrm>
          <a:prstGeom prst="rect">
            <a:avLst/>
          </a:prstGeom>
        </p:spPr>
      </p:pic>
      <p:sp>
        <p:nvSpPr>
          <p:cNvPr id="4" name="Text 0"/>
          <p:cNvSpPr/>
          <p:nvPr/>
        </p:nvSpPr>
        <p:spPr>
          <a:xfrm>
            <a:off x="1005840" y="6419088"/>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Ravikumar Bhalsod   |   PPSU   |   5 October 2026</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 P Savani University, NAAC A+ accredited"/>
          <p:cNvPicPr>
            <a:picLocks noChangeAspect="1"/>
          </p:cNvPicPr>
          <p:nvPr/>
        </p:nvPicPr>
        <p:blipFill>
          <a:blip r:embed="rId3"/>
          <a:stretch>
            <a:fillRect/>
          </a:stretch>
        </p:blipFill>
        <p:spPr>
          <a:xfrm>
            <a:off x="640080" y="365760"/>
            <a:ext cx="3566160" cy="1371600"/>
          </a:xfrm>
          <a:prstGeom prst="rect">
            <a:avLst/>
          </a:prstGeom>
        </p:spPr>
      </p:pic>
      <p:sp>
        <p:nvSpPr>
          <p:cNvPr id="3" name="Text 0"/>
          <p:cNvSpPr txBox="1"/>
          <p:nvPr/>
        </p:nvSpPr>
        <p:spPr>
          <a:xfrm>
            <a:off x="640080" y="2011680"/>
            <a:ext cx="6400800" cy="365760"/>
          </a:xfrm>
          <a:prstGeom prst="rect">
            <a:avLst/>
          </a:prstGeom>
          <a:noFill/>
          <a:ln/>
        </p:spPr>
        <p:txBody>
          <a:bodyPr wrap="square" lIns="0" tIns="0" rIns="0" bIns="0" rtlCol="0" anchor="ctr"/>
          <a:lstStyle/>
          <a:p>
            <a:pPr marL="0" indent="0">
              <a:buNone/>
            </a:pPr>
            <a:r>
              <a:rPr lang="en-US" sz="1400" b="1" kern="0" spc="400" dirty="0">
                <a:solidFill>
                  <a:schemeClr val="accent4"/>
                </a:solidFill>
              </a:rPr>
              <a:t>INDUSTRY EXPERT SERIES</a:t>
            </a:r>
            <a:endParaRPr lang="en-US" sz="1400" dirty="0"/>
          </a:p>
        </p:txBody>
      </p:sp>
      <p:sp>
        <p:nvSpPr>
          <p:cNvPr id="4" name="Text 1"/>
          <p:cNvSpPr txBox="1"/>
          <p:nvPr/>
        </p:nvSpPr>
        <p:spPr>
          <a:xfrm>
            <a:off x="640080" y="2423160"/>
            <a:ext cx="6583680" cy="1554480"/>
          </a:xfrm>
          <a:prstGeom prst="rect">
            <a:avLst/>
          </a:prstGeom>
          <a:noFill/>
          <a:ln/>
        </p:spPr>
        <p:txBody>
          <a:bodyPr wrap="square" lIns="0" tIns="0" rIns="0" bIns="0" rtlCol="0" anchor="t"/>
          <a:lstStyle/>
          <a:p>
            <a:pPr marL="0" indent="0">
              <a:buNone/>
            </a:pPr>
            <a:r>
              <a:rPr lang="en-US" sz="4200" b="1" dirty="0">
                <a:solidFill>
                  <a:schemeClr val="bg1"/>
                </a:solidFill>
                <a:latin typeface="Cambria" pitchFamily="34" charset="0"/>
                <a:ea typeface="Cambria" pitchFamily="34" charset="-122"/>
                <a:cs typeface="Cambria" pitchFamily="34" charset="-120"/>
              </a:rPr>
              <a:t>Advance Java Concepts with Gen AI</a:t>
            </a:r>
            <a:endParaRPr lang="en-US" sz="4200" dirty="0"/>
          </a:p>
        </p:txBody>
      </p:sp>
      <p:sp>
        <p:nvSpPr>
          <p:cNvPr id="5" name="Text 2"/>
          <p:cNvSpPr txBox="1"/>
          <p:nvPr/>
        </p:nvSpPr>
        <p:spPr>
          <a:xfrm>
            <a:off x="640080" y="4023360"/>
            <a:ext cx="6400800" cy="457200"/>
          </a:xfrm>
          <a:prstGeom prst="rect">
            <a:avLst/>
          </a:prstGeom>
          <a:noFill/>
          <a:ln/>
        </p:spPr>
        <p:txBody>
          <a:bodyPr wrap="square" lIns="0" tIns="0" rIns="0" bIns="0" rtlCol="0" anchor="ctr"/>
          <a:lstStyle/>
          <a:p>
            <a:pPr marL="0" indent="0">
              <a:buNone/>
            </a:pPr>
            <a:r>
              <a:rPr lang="en-US" sz="2200" dirty="0">
                <a:solidFill>
                  <a:schemeClr val="bg1"/>
                </a:solidFill>
              </a:rPr>
              <a:t>Part 1  |  Hibernate and Spring MVC</a:t>
            </a:r>
            <a:endParaRPr lang="en-US" sz="2200" dirty="0"/>
          </a:p>
        </p:txBody>
      </p:sp>
      <p:sp>
        <p:nvSpPr>
          <p:cNvPr id="6" name="Text 3"/>
          <p:cNvSpPr txBox="1"/>
          <p:nvPr/>
        </p:nvSpPr>
        <p:spPr>
          <a:xfrm>
            <a:off x="640080" y="4526280"/>
            <a:ext cx="6400800" cy="365760"/>
          </a:xfrm>
          <a:prstGeom prst="rect">
            <a:avLst/>
          </a:prstGeom>
          <a:noFill/>
          <a:ln/>
        </p:spPr>
        <p:txBody>
          <a:bodyPr wrap="square" lIns="0" tIns="0" rIns="0" bIns="0" rtlCol="0" anchor="ctr"/>
          <a:lstStyle/>
          <a:p>
            <a:pPr marL="0" indent="0">
              <a:buNone/>
            </a:pPr>
            <a:r>
              <a:rPr lang="en-US" sz="1600" dirty="0">
                <a:solidFill>
                  <a:schemeClr val="accent4"/>
                </a:solidFill>
              </a:rPr>
              <a:t>P P Savani University  |  5 October 2026</a:t>
            </a:r>
            <a:endParaRPr lang="en-US" sz="1600" dirty="0"/>
          </a:p>
        </p:txBody>
      </p:sp>
      <p:sp>
        <p:nvSpPr>
          <p:cNvPr id="7" name="Text 4"/>
          <p:cNvSpPr txBox="1"/>
          <p:nvPr/>
        </p:nvSpPr>
        <p:spPr>
          <a:xfrm>
            <a:off x="640080" y="5303520"/>
            <a:ext cx="6400800" cy="365760"/>
          </a:xfrm>
          <a:prstGeom prst="rect">
            <a:avLst/>
          </a:prstGeom>
          <a:noFill/>
          <a:ln/>
        </p:spPr>
        <p:txBody>
          <a:bodyPr wrap="square" lIns="0" tIns="0" rIns="0" bIns="0" rtlCol="0" anchor="ctr"/>
          <a:lstStyle/>
          <a:p>
            <a:pPr marL="0" indent="0">
              <a:buNone/>
            </a:pPr>
            <a:r>
              <a:rPr lang="en-US" sz="2000" b="1" dirty="0">
                <a:solidFill>
                  <a:schemeClr val="bg1"/>
                </a:solidFill>
              </a:rPr>
              <a:t>Ravikumar Bhalsod</a:t>
            </a:r>
            <a:endParaRPr lang="en-US" sz="2000" dirty="0"/>
          </a:p>
        </p:txBody>
      </p:sp>
      <p:sp>
        <p:nvSpPr>
          <p:cNvPr id="8" name="Text 5"/>
          <p:cNvSpPr txBox="1"/>
          <p:nvPr/>
        </p:nvSpPr>
        <p:spPr>
          <a:xfrm>
            <a:off x="640080" y="5669280"/>
            <a:ext cx="6400800" cy="365760"/>
          </a:xfrm>
          <a:prstGeom prst="rect">
            <a:avLst/>
          </a:prstGeom>
          <a:noFill/>
          <a:ln/>
        </p:spPr>
        <p:txBody>
          <a:bodyPr wrap="square" lIns="0" tIns="0" rIns="0" bIns="0" rtlCol="0" anchor="ctr"/>
          <a:lstStyle/>
          <a:p>
            <a:pPr marL="0" indent="0">
              <a:buNone/>
            </a:pPr>
            <a:r>
              <a:rPr lang="en-US" sz="1600" dirty="0">
                <a:solidFill>
                  <a:schemeClr val="bg1"/>
                </a:solidFill>
              </a:rPr>
              <a:t>Sr. System Analyst, Cybage</a:t>
            </a:r>
            <a:endParaRPr lang="en-US" sz="1600" dirty="0"/>
          </a:p>
        </p:txBody>
      </p:sp>
      <p:sp>
        <p:nvSpPr>
          <p:cNvPr id="9" name="layer-Intelligence"/>
          <p:cNvSpPr/>
          <p:nvPr/>
        </p:nvSpPr>
        <p:spPr>
          <a:xfrm>
            <a:off x="7680960" y="1234440"/>
            <a:ext cx="3931920" cy="1234440"/>
          </a:xfrm>
          <a:prstGeom prst="roundRect">
            <a:avLst>
              <a:gd name="adj" fmla="val 7407"/>
            </a:avLst>
          </a:prstGeom>
          <a:solidFill>
            <a:schemeClr val="accent3"/>
          </a:solidFill>
          <a:ln w="12700">
            <a:solidFill>
              <a:schemeClr val="accent3"/>
            </a:solidFill>
            <a:prstDash val="solid"/>
          </a:ln>
        </p:spPr>
      </p:sp>
      <p:sp>
        <p:nvSpPr>
          <p:cNvPr id="10" name="Text 7"/>
          <p:cNvSpPr txBox="1"/>
          <p:nvPr/>
        </p:nvSpPr>
        <p:spPr>
          <a:xfrm>
            <a:off x="7955280" y="1234440"/>
            <a:ext cx="3474720" cy="12344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Intelligence</a:t>
            </a:r>
            <a:endParaRPr lang="en-US" sz="2800" dirty="0"/>
          </a:p>
          <a:p>
            <a:pPr marL="0" indent="0">
              <a:buNone/>
            </a:pPr>
            <a:r>
              <a:rPr lang="en-US" sz="1600" dirty="0">
                <a:solidFill>
                  <a:schemeClr val="bg1"/>
                </a:solidFill>
              </a:rPr>
              <a:t>Gen AI</a:t>
            </a:r>
            <a:endParaRPr lang="en-US" sz="2800" dirty="0"/>
          </a:p>
        </p:txBody>
      </p:sp>
      <p:sp>
        <p:nvSpPr>
          <p:cNvPr id="11" name="layer-Web"/>
          <p:cNvSpPr/>
          <p:nvPr/>
        </p:nvSpPr>
        <p:spPr>
          <a:xfrm>
            <a:off x="7680960" y="2697480"/>
            <a:ext cx="3931920" cy="1234440"/>
          </a:xfrm>
          <a:prstGeom prst="roundRect">
            <a:avLst>
              <a:gd name="adj" fmla="val 7407"/>
            </a:avLst>
          </a:prstGeom>
          <a:solidFill>
            <a:schemeClr val="accent2"/>
          </a:solidFill>
          <a:ln w="12700">
            <a:solidFill>
              <a:schemeClr val="accent2"/>
            </a:solidFill>
            <a:prstDash val="solid"/>
          </a:ln>
        </p:spPr>
      </p:sp>
      <p:sp>
        <p:nvSpPr>
          <p:cNvPr id="12" name="Text 9"/>
          <p:cNvSpPr txBox="1"/>
          <p:nvPr/>
        </p:nvSpPr>
        <p:spPr>
          <a:xfrm>
            <a:off x="7955280" y="2697480"/>
            <a:ext cx="3474720" cy="12344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Web</a:t>
            </a:r>
            <a:endParaRPr lang="en-US" sz="2800" dirty="0"/>
          </a:p>
          <a:p>
            <a:pPr marL="0" indent="0">
              <a:buNone/>
            </a:pPr>
            <a:r>
              <a:rPr lang="en-US" sz="1600" dirty="0">
                <a:solidFill>
                  <a:schemeClr val="bg1"/>
                </a:solidFill>
              </a:rPr>
              <a:t>Spring MVC</a:t>
            </a:r>
            <a:endParaRPr lang="en-US" sz="2800" dirty="0"/>
          </a:p>
        </p:txBody>
      </p:sp>
      <p:sp>
        <p:nvSpPr>
          <p:cNvPr id="13" name="layer-Data"/>
          <p:cNvSpPr/>
          <p:nvPr/>
        </p:nvSpPr>
        <p:spPr>
          <a:xfrm>
            <a:off x="7680960" y="4160520"/>
            <a:ext cx="3931920" cy="1234440"/>
          </a:xfrm>
          <a:prstGeom prst="roundRect">
            <a:avLst>
              <a:gd name="adj" fmla="val 7407"/>
            </a:avLst>
          </a:prstGeom>
          <a:solidFill>
            <a:schemeClr val="accent1"/>
          </a:solidFill>
          <a:ln w="12700">
            <a:solidFill>
              <a:schemeClr val="accent1"/>
            </a:solidFill>
            <a:prstDash val="solid"/>
          </a:ln>
        </p:spPr>
      </p:sp>
      <p:sp>
        <p:nvSpPr>
          <p:cNvPr id="14" name="Text 11"/>
          <p:cNvSpPr txBox="1"/>
          <p:nvPr/>
        </p:nvSpPr>
        <p:spPr>
          <a:xfrm>
            <a:off x="7955280" y="4160520"/>
            <a:ext cx="3474720" cy="12344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Data</a:t>
            </a:r>
            <a:endParaRPr lang="en-US" sz="2800" dirty="0"/>
          </a:p>
          <a:p>
            <a:pPr marL="0" indent="0">
              <a:buNone/>
            </a:pPr>
            <a:r>
              <a:rPr lang="en-US" sz="1600" dirty="0">
                <a:solidFill>
                  <a:schemeClr val="bg1"/>
                </a:solidFill>
              </a:rPr>
              <a:t>Hibernate</a:t>
            </a:r>
            <a:endParaRPr lang="en-US" sz="2800" dirty="0"/>
          </a:p>
        </p:txBody>
      </p:sp>
      <p:sp>
        <p:nvSpPr>
          <p:cNvPr id="15" name="Text 12"/>
          <p:cNvSpPr txBox="1"/>
          <p:nvPr/>
        </p:nvSpPr>
        <p:spPr>
          <a:xfrm>
            <a:off x="7680960" y="5669280"/>
            <a:ext cx="3931920" cy="365760"/>
          </a:xfrm>
          <a:prstGeom prst="rect">
            <a:avLst/>
          </a:prstGeom>
          <a:noFill/>
          <a:ln/>
        </p:spPr>
        <p:txBody>
          <a:bodyPr wrap="square" lIns="0" tIns="0" rIns="0" bIns="0" rtlCol="0" anchor="ctr"/>
          <a:lstStyle/>
          <a:p>
            <a:pPr marL="0" indent="0">
              <a:buNone/>
            </a:pPr>
            <a:r>
              <a:rPr lang="en-US" sz="1400" dirty="0">
                <a:solidFill>
                  <a:schemeClr val="bg1"/>
                </a:solidFill>
              </a:rPr>
              <a:t>Data   |   Web   |   Intelligence</a:t>
            </a:r>
            <a:endParaRPr lang="en-US" sz="1400" dirty="0"/>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OPENING</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Welcome, and thank you</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pic>
        <p:nvPicPr>
          <p:cNvPr id="8" name="Image 0" descr="Official PPSU invitation poster for Advance Java Concepts with Gen AI, Industry Expert Series, 5 October 2026"/>
          <p:cNvPicPr>
            <a:picLocks noChangeAspect="1"/>
          </p:cNvPicPr>
          <p:nvPr/>
        </p:nvPicPr>
        <p:blipFill>
          <a:blip r:embed="rId3"/>
          <a:stretch>
            <a:fillRect/>
          </a:stretch>
        </p:blipFill>
        <p:spPr>
          <a:xfrm>
            <a:off x="548640" y="1417320"/>
            <a:ext cx="3200400" cy="4800600"/>
          </a:xfrm>
          <a:prstGeom prst="rect">
            <a:avLst/>
          </a:prstGeom>
        </p:spPr>
      </p:pic>
      <p:sp>
        <p:nvSpPr>
          <p:cNvPr id="9" name="card"/>
          <p:cNvSpPr/>
          <p:nvPr/>
        </p:nvSpPr>
        <p:spPr>
          <a:xfrm>
            <a:off x="4069080" y="1554480"/>
            <a:ext cx="3657600" cy="1508760"/>
          </a:xfrm>
          <a:prstGeom prst="roundRect">
            <a:avLst>
              <a:gd name="adj" fmla="val 4848"/>
            </a:avLst>
          </a:prstGeom>
          <a:solidFill>
            <a:schemeClr val="bg2"/>
          </a:solidFill>
          <a:ln w="12700">
            <a:solidFill>
              <a:schemeClr val="bg2"/>
            </a:solidFill>
            <a:prstDash val="solid"/>
          </a:ln>
        </p:spPr>
      </p:sp>
      <p:sp>
        <p:nvSpPr>
          <p:cNvPr id="10" name="Text 6"/>
          <p:cNvSpPr txBox="1"/>
          <p:nvPr/>
        </p:nvSpPr>
        <p:spPr>
          <a:xfrm>
            <a:off x="4270248" y="1664208"/>
            <a:ext cx="329184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CHIEF PATRON</a:t>
            </a:r>
            <a:endParaRPr lang="en-US" sz="1200" dirty="0"/>
          </a:p>
        </p:txBody>
      </p:sp>
      <p:sp>
        <p:nvSpPr>
          <p:cNvPr id="11" name="Text 7"/>
          <p:cNvSpPr txBox="1"/>
          <p:nvPr/>
        </p:nvSpPr>
        <p:spPr>
          <a:xfrm>
            <a:off x="4270248" y="1965960"/>
            <a:ext cx="3291840" cy="100584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Dr. Parag Sanghani</a:t>
            </a:r>
            <a:endParaRPr lang="en-US" sz="1700" dirty="0"/>
          </a:p>
          <a:p>
            <a:pPr marL="0" indent="0">
              <a:spcAft>
                <a:spcPts val="400"/>
              </a:spcAft>
              <a:buNone/>
            </a:pPr>
            <a:r>
              <a:rPr lang="en-US" sz="1400" dirty="0">
                <a:solidFill>
                  <a:schemeClr val="accent5"/>
                </a:solidFill>
              </a:rPr>
              <a:t>Provost, P P Savani University</a:t>
            </a:r>
            <a:endParaRPr lang="en-US" sz="1700" dirty="0"/>
          </a:p>
        </p:txBody>
      </p:sp>
      <p:sp>
        <p:nvSpPr>
          <p:cNvPr id="12" name="card"/>
          <p:cNvSpPr/>
          <p:nvPr/>
        </p:nvSpPr>
        <p:spPr>
          <a:xfrm>
            <a:off x="7909560" y="1554480"/>
            <a:ext cx="3657600" cy="1508760"/>
          </a:xfrm>
          <a:prstGeom prst="roundRect">
            <a:avLst>
              <a:gd name="adj" fmla="val 4848"/>
            </a:avLst>
          </a:prstGeom>
          <a:solidFill>
            <a:schemeClr val="bg2"/>
          </a:solidFill>
          <a:ln w="12700">
            <a:solidFill>
              <a:schemeClr val="bg2"/>
            </a:solidFill>
            <a:prstDash val="solid"/>
          </a:ln>
        </p:spPr>
      </p:sp>
      <p:sp>
        <p:nvSpPr>
          <p:cNvPr id="13" name="Text 9"/>
          <p:cNvSpPr txBox="1"/>
          <p:nvPr/>
        </p:nvSpPr>
        <p:spPr>
          <a:xfrm>
            <a:off x="8110728" y="1664208"/>
            <a:ext cx="329184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PATRON</a:t>
            </a:r>
            <a:endParaRPr lang="en-US" sz="1200" dirty="0"/>
          </a:p>
        </p:txBody>
      </p:sp>
      <p:sp>
        <p:nvSpPr>
          <p:cNvPr id="14" name="Text 10"/>
          <p:cNvSpPr txBox="1"/>
          <p:nvPr/>
        </p:nvSpPr>
        <p:spPr>
          <a:xfrm>
            <a:off x="8110728" y="1965960"/>
            <a:ext cx="3291840" cy="100584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Dr. Niraj Shah</a:t>
            </a:r>
            <a:endParaRPr lang="en-US" sz="1700" dirty="0"/>
          </a:p>
          <a:p>
            <a:pPr marL="0" indent="0">
              <a:spcAft>
                <a:spcPts val="400"/>
              </a:spcAft>
              <a:buNone/>
            </a:pPr>
            <a:r>
              <a:rPr lang="en-US" sz="1400" dirty="0">
                <a:solidFill>
                  <a:schemeClr val="accent5"/>
                </a:solidFill>
              </a:rPr>
              <a:t>Dean, School of Engineering</a:t>
            </a:r>
            <a:endParaRPr lang="en-US" sz="1700" dirty="0"/>
          </a:p>
        </p:txBody>
      </p:sp>
      <p:sp>
        <p:nvSpPr>
          <p:cNvPr id="15" name="card"/>
          <p:cNvSpPr/>
          <p:nvPr/>
        </p:nvSpPr>
        <p:spPr>
          <a:xfrm>
            <a:off x="4069080" y="3200400"/>
            <a:ext cx="3657600" cy="1508760"/>
          </a:xfrm>
          <a:prstGeom prst="roundRect">
            <a:avLst>
              <a:gd name="adj" fmla="val 4848"/>
            </a:avLst>
          </a:prstGeom>
          <a:solidFill>
            <a:schemeClr val="bg2"/>
          </a:solidFill>
          <a:ln w="12700">
            <a:solidFill>
              <a:schemeClr val="bg2"/>
            </a:solidFill>
            <a:prstDash val="solid"/>
          </a:ln>
        </p:spPr>
      </p:sp>
      <p:sp>
        <p:nvSpPr>
          <p:cNvPr id="16" name="Text 12"/>
          <p:cNvSpPr txBox="1"/>
          <p:nvPr/>
        </p:nvSpPr>
        <p:spPr>
          <a:xfrm>
            <a:off x="4270248" y="3310128"/>
            <a:ext cx="329184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COURSE CO-ORDINATOR</a:t>
            </a:r>
            <a:endParaRPr lang="en-US" sz="1200" dirty="0"/>
          </a:p>
        </p:txBody>
      </p:sp>
      <p:sp>
        <p:nvSpPr>
          <p:cNvPr id="17" name="Text 13"/>
          <p:cNvSpPr txBox="1"/>
          <p:nvPr/>
        </p:nvSpPr>
        <p:spPr>
          <a:xfrm>
            <a:off x="4270248" y="3611880"/>
            <a:ext cx="3291840" cy="100584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Mr. Sadik Lakhani</a:t>
            </a:r>
            <a:endParaRPr lang="en-US" sz="1700" dirty="0"/>
          </a:p>
          <a:p>
            <a:pPr marL="0" indent="0">
              <a:spcAft>
                <a:spcPts val="400"/>
              </a:spcAft>
              <a:buNone/>
            </a:pPr>
            <a:r>
              <a:rPr lang="en-US" sz="1400" dirty="0">
                <a:solidFill>
                  <a:schemeClr val="accent5"/>
                </a:solidFill>
              </a:rPr>
              <a:t>Assistant Professor, CE-IT Department</a:t>
            </a:r>
            <a:endParaRPr lang="en-US" sz="1700" dirty="0"/>
          </a:p>
        </p:txBody>
      </p:sp>
      <p:sp>
        <p:nvSpPr>
          <p:cNvPr id="18" name="card"/>
          <p:cNvSpPr/>
          <p:nvPr/>
        </p:nvSpPr>
        <p:spPr>
          <a:xfrm>
            <a:off x="7909560" y="3200400"/>
            <a:ext cx="3657600" cy="1508760"/>
          </a:xfrm>
          <a:prstGeom prst="roundRect">
            <a:avLst>
              <a:gd name="adj" fmla="val 4848"/>
            </a:avLst>
          </a:prstGeom>
          <a:solidFill>
            <a:schemeClr val="bg2"/>
          </a:solidFill>
          <a:ln w="12700">
            <a:solidFill>
              <a:schemeClr val="bg2"/>
            </a:solidFill>
            <a:prstDash val="solid"/>
          </a:ln>
        </p:spPr>
      </p:sp>
      <p:sp>
        <p:nvSpPr>
          <p:cNvPr id="19" name="Text 15"/>
          <p:cNvSpPr txBox="1"/>
          <p:nvPr/>
        </p:nvSpPr>
        <p:spPr>
          <a:xfrm>
            <a:off x="8110728" y="3310128"/>
            <a:ext cx="329184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ACADEMIC CO-ORDINATORS</a:t>
            </a:r>
            <a:endParaRPr lang="en-US" sz="1200" dirty="0"/>
          </a:p>
        </p:txBody>
      </p:sp>
      <p:sp>
        <p:nvSpPr>
          <p:cNvPr id="20" name="Text 16"/>
          <p:cNvSpPr txBox="1"/>
          <p:nvPr/>
        </p:nvSpPr>
        <p:spPr>
          <a:xfrm>
            <a:off x="8110728" y="3611880"/>
            <a:ext cx="3291840" cy="1005840"/>
          </a:xfrm>
          <a:prstGeom prst="rect">
            <a:avLst/>
          </a:prstGeom>
          <a:noFill/>
          <a:ln/>
        </p:spPr>
        <p:txBody>
          <a:bodyPr wrap="square" lIns="0" tIns="0" rIns="0" bIns="0" rtlCol="0" anchor="t"/>
          <a:lstStyle/>
          <a:p>
            <a:pPr marL="0" indent="0">
              <a:spcAft>
                <a:spcPts val="400"/>
              </a:spcAft>
              <a:buNone/>
            </a:pPr>
            <a:r>
              <a:rPr lang="en-US" sz="1700" b="1" dirty="0">
                <a:solidFill>
                  <a:schemeClr val="tx2"/>
                </a:solidFill>
              </a:rPr>
              <a:t>Mr. Mitul Raj, Ms. Neha Shah, Ms. Hemangni Mehta</a:t>
            </a:r>
            <a:endParaRPr lang="en-US" sz="1700" dirty="0"/>
          </a:p>
          <a:p>
            <a:pPr marL="0" indent="0">
              <a:spcAft>
                <a:spcPts val="400"/>
              </a:spcAft>
              <a:buNone/>
            </a:pPr>
            <a:r>
              <a:rPr lang="en-US" sz="1400" dirty="0">
                <a:solidFill>
                  <a:schemeClr val="accent5"/>
                </a:solidFill>
              </a:rPr>
              <a:t>Assistant Professors, CE-IT Department</a:t>
            </a:r>
            <a:endParaRPr lang="en-US" sz="1700" dirty="0"/>
          </a:p>
        </p:txBody>
      </p:sp>
      <p:sp>
        <p:nvSpPr>
          <p:cNvPr id="21" name="card"/>
          <p:cNvSpPr/>
          <p:nvPr/>
        </p:nvSpPr>
        <p:spPr>
          <a:xfrm>
            <a:off x="4069080" y="4892040"/>
            <a:ext cx="7498080" cy="1234440"/>
          </a:xfrm>
          <a:prstGeom prst="roundRect">
            <a:avLst>
              <a:gd name="adj" fmla="val 5926"/>
            </a:avLst>
          </a:prstGeom>
          <a:solidFill>
            <a:schemeClr val="tx2"/>
          </a:solidFill>
          <a:ln w="12700">
            <a:solidFill>
              <a:schemeClr val="tx2"/>
            </a:solidFill>
            <a:prstDash val="solid"/>
          </a:ln>
        </p:spPr>
      </p:sp>
      <p:sp>
        <p:nvSpPr>
          <p:cNvPr id="22" name="Text 18"/>
          <p:cNvSpPr txBox="1"/>
          <p:nvPr/>
        </p:nvSpPr>
        <p:spPr>
          <a:xfrm>
            <a:off x="4297680" y="4892040"/>
            <a:ext cx="7132320" cy="1234440"/>
          </a:xfrm>
          <a:prstGeom prst="rect">
            <a:avLst/>
          </a:prstGeom>
          <a:noFill/>
          <a:ln/>
        </p:spPr>
        <p:txBody>
          <a:bodyPr wrap="square" lIns="0" tIns="0" rIns="0" bIns="0" rtlCol="0" anchor="ctr"/>
          <a:lstStyle/>
          <a:p>
            <a:pPr marL="0" indent="0">
              <a:spcAft>
                <a:spcPts val="600"/>
              </a:spcAft>
              <a:buNone/>
            </a:pPr>
            <a:r>
              <a:rPr lang="en-US" sz="1200" b="1" kern="0" spc="100" dirty="0">
                <a:solidFill>
                  <a:schemeClr val="accent4"/>
                </a:solidFill>
              </a:rPr>
              <a:t>WHO IS IN THE ROOM</a:t>
            </a:r>
            <a:endParaRPr lang="en-US" sz="1200" dirty="0"/>
          </a:p>
          <a:p>
            <a:pPr>
              <a:spcAft>
                <a:spcPts val="600"/>
              </a:spcAft>
            </a:pPr>
            <a:r>
              <a:rPr lang="en-US" sz="1400" dirty="0">
                <a:solidFill>
                  <a:schemeClr val="bg1"/>
                </a:solidFill>
                <a:latin typeface="+mj-lt"/>
              </a:rPr>
              <a:t>Semester 5 — Engineering &amp; Diploma Participants</a:t>
            </a:r>
          </a:p>
          <a:p>
            <a:pPr>
              <a:spcAft>
                <a:spcPts val="600"/>
              </a:spcAft>
            </a:pPr>
            <a:r>
              <a:rPr lang="en-US" sz="1400" dirty="0">
                <a:solidFill>
                  <a:schemeClr val="bg1"/>
                </a:solidFill>
                <a:latin typeface="+mj-lt"/>
              </a:rPr>
              <a:t>🎓 </a:t>
            </a:r>
            <a:r>
              <a:rPr lang="en-US" sz="1400" dirty="0" err="1">
                <a:solidFill>
                  <a:schemeClr val="bg1"/>
                </a:solidFill>
                <a:latin typeface="+mj-lt"/>
              </a:rPr>
              <a:t>B.Tech</a:t>
            </a:r>
            <a:r>
              <a:rPr lang="en-US" sz="1400" dirty="0">
                <a:solidFill>
                  <a:schemeClr val="bg1"/>
                </a:solidFill>
                <a:latin typeface="+mj-lt"/>
              </a:rPr>
              <a:t>: CE • CS • IT • ITE</a:t>
            </a:r>
          </a:p>
          <a:p>
            <a:pPr>
              <a:spcAft>
                <a:spcPts val="600"/>
              </a:spcAft>
            </a:pPr>
            <a:r>
              <a:rPr lang="en-US" sz="1400" dirty="0">
                <a:solidFill>
                  <a:schemeClr val="bg1"/>
                </a:solidFill>
                <a:latin typeface="+mj-lt"/>
              </a:rPr>
              <a:t>🎓 Diploma: CE • IT</a:t>
            </a:r>
            <a:endParaRPr lang="en-US" sz="1050" dirty="0">
              <a:latin typeface="+mj-lt"/>
            </a:endParaRPr>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OPENING</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About me: the tools changed, the basics did not</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508760"/>
            <a:ext cx="11064240" cy="411480"/>
          </a:xfrm>
          <a:prstGeom prst="rect">
            <a:avLst/>
          </a:prstGeom>
          <a:noFill/>
          <a:ln/>
        </p:spPr>
        <p:txBody>
          <a:bodyPr wrap="square" lIns="0" tIns="0" rIns="0" bIns="0" rtlCol="0" anchor="ctr"/>
          <a:lstStyle/>
          <a:p>
            <a:pPr marL="0" indent="0">
              <a:buNone/>
            </a:pPr>
            <a:r>
              <a:rPr lang="en-US" sz="1800" b="1" dirty="0">
                <a:solidFill>
                  <a:schemeClr val="accent3"/>
                </a:solidFill>
              </a:rPr>
              <a:t>12+ years</a:t>
            </a:r>
            <a:r>
              <a:rPr lang="en-US" sz="1800" dirty="0">
                <a:solidFill>
                  <a:schemeClr val="tx1"/>
                </a:solidFill>
              </a:rPr>
              <a:t> in production Java + Python      </a:t>
            </a:r>
            <a:r>
              <a:rPr lang="en-US" sz="1800" b="1" dirty="0">
                <a:solidFill>
                  <a:schemeClr val="accent3"/>
                </a:solidFill>
              </a:rPr>
              <a:t>5 employers</a:t>
            </a:r>
            <a:r>
              <a:rPr lang="en-US" sz="1800" dirty="0">
                <a:solidFill>
                  <a:schemeClr val="tx1"/>
                </a:solidFill>
              </a:rPr>
              <a:t> across 5 industries      </a:t>
            </a:r>
            <a:r>
              <a:rPr lang="en-US" sz="1800" b="1" dirty="0">
                <a:solidFill>
                  <a:schemeClr val="accent3"/>
                </a:solidFill>
              </a:rPr>
              <a:t>4+ years</a:t>
            </a:r>
            <a:r>
              <a:rPr lang="en-US" sz="1800" dirty="0">
                <a:solidFill>
                  <a:schemeClr val="tx1"/>
                </a:solidFill>
              </a:rPr>
              <a:t> leading teams</a:t>
            </a:r>
            <a:endParaRPr lang="en-US" sz="1800" dirty="0"/>
          </a:p>
        </p:txBody>
      </p:sp>
      <p:sp>
        <p:nvSpPr>
          <p:cNvPr id="9" name="timeline"/>
          <p:cNvSpPr/>
          <p:nvPr/>
        </p:nvSpPr>
        <p:spPr>
          <a:xfrm>
            <a:off x="1645920" y="2697480"/>
            <a:ext cx="8869680" cy="0"/>
          </a:xfrm>
          <a:prstGeom prst="line">
            <a:avLst/>
          </a:prstGeom>
          <a:noFill/>
          <a:ln w="25400">
            <a:solidFill>
              <a:schemeClr val="accent5"/>
            </a:solidFill>
            <a:prstDash val="solid"/>
          </a:ln>
        </p:spPr>
      </p:sp>
      <p:sp>
        <p:nvSpPr>
          <p:cNvPr id="10" name="Text 7"/>
          <p:cNvSpPr txBox="1"/>
          <p:nvPr/>
        </p:nvSpPr>
        <p:spPr>
          <a:xfrm>
            <a:off x="914400" y="2148840"/>
            <a:ext cx="1463040" cy="365760"/>
          </a:xfrm>
          <a:prstGeom prst="rect">
            <a:avLst/>
          </a:prstGeom>
          <a:noFill/>
          <a:ln/>
        </p:spPr>
        <p:txBody>
          <a:bodyPr wrap="square" lIns="0" tIns="0" rIns="0" bIns="0" rtlCol="0" anchor="ctr"/>
          <a:lstStyle/>
          <a:p>
            <a:pPr marL="0" indent="0" algn="ctr">
              <a:buNone/>
            </a:pPr>
            <a:r>
              <a:rPr lang="en-US" sz="2200" b="1" dirty="0">
                <a:solidFill>
                  <a:schemeClr val="tx2"/>
                </a:solidFill>
                <a:latin typeface="Cambria" pitchFamily="34" charset="0"/>
                <a:ea typeface="Cambria" pitchFamily="34" charset="-122"/>
                <a:cs typeface="Cambria" pitchFamily="34" charset="-120"/>
              </a:rPr>
              <a:t>2014</a:t>
            </a:r>
            <a:endParaRPr lang="en-US" sz="2200" dirty="0"/>
          </a:p>
        </p:txBody>
      </p:sp>
      <p:sp>
        <p:nvSpPr>
          <p:cNvPr id="11" name="node-2014"/>
          <p:cNvSpPr/>
          <p:nvPr/>
        </p:nvSpPr>
        <p:spPr>
          <a:xfrm>
            <a:off x="1527048" y="2578608"/>
            <a:ext cx="237744" cy="237744"/>
          </a:xfrm>
          <a:prstGeom prst="ellipse">
            <a:avLst/>
          </a:prstGeom>
          <a:solidFill>
            <a:schemeClr val="accent2"/>
          </a:solidFill>
          <a:ln w="25400">
            <a:solidFill>
              <a:schemeClr val="bg1"/>
            </a:solidFill>
            <a:prstDash val="solid"/>
          </a:ln>
        </p:spPr>
      </p:sp>
      <p:sp>
        <p:nvSpPr>
          <p:cNvPr id="12" name="Text 9"/>
          <p:cNvSpPr txBox="1"/>
          <p:nvPr/>
        </p:nvSpPr>
        <p:spPr>
          <a:xfrm>
            <a:off x="594360" y="2971800"/>
            <a:ext cx="2103120" cy="1143000"/>
          </a:xfrm>
          <a:prstGeom prst="rect">
            <a:avLst/>
          </a:prstGeom>
          <a:noFill/>
          <a:ln/>
        </p:spPr>
        <p:txBody>
          <a:bodyPr wrap="square" lIns="0" tIns="0" rIns="0" bIns="0" rtlCol="0" anchor="t"/>
          <a:lstStyle/>
          <a:p>
            <a:pPr marL="0" indent="0" algn="ctr">
              <a:spcAft>
                <a:spcPts val="300"/>
              </a:spcAft>
              <a:buNone/>
            </a:pPr>
            <a:r>
              <a:rPr lang="en-US" sz="1400" b="1" dirty="0">
                <a:solidFill>
                  <a:schemeClr val="tx2"/>
                </a:solidFill>
              </a:rPr>
              <a:t>Java Developer</a:t>
            </a:r>
            <a:endParaRPr lang="en-US" sz="1400" dirty="0"/>
          </a:p>
          <a:p>
            <a:pPr marL="0" indent="0" algn="ctr">
              <a:spcAft>
                <a:spcPts val="300"/>
              </a:spcAft>
              <a:buNone/>
            </a:pPr>
            <a:r>
              <a:rPr lang="en-US" sz="1400" dirty="0">
                <a:solidFill>
                  <a:schemeClr val="tx1"/>
                </a:solidFill>
              </a:rPr>
              <a:t>Spring MVC and Hibernate apps</a:t>
            </a:r>
            <a:endParaRPr lang="en-US" sz="1400" dirty="0"/>
          </a:p>
        </p:txBody>
      </p:sp>
      <p:sp>
        <p:nvSpPr>
          <p:cNvPr id="13" name="Text 10"/>
          <p:cNvSpPr txBox="1"/>
          <p:nvPr/>
        </p:nvSpPr>
        <p:spPr>
          <a:xfrm>
            <a:off x="3131820" y="2148840"/>
            <a:ext cx="1463040" cy="365760"/>
          </a:xfrm>
          <a:prstGeom prst="rect">
            <a:avLst/>
          </a:prstGeom>
          <a:noFill/>
          <a:ln/>
        </p:spPr>
        <p:txBody>
          <a:bodyPr wrap="square" lIns="0" tIns="0" rIns="0" bIns="0" rtlCol="0" anchor="ctr"/>
          <a:lstStyle/>
          <a:p>
            <a:pPr marL="0" indent="0" algn="ctr">
              <a:buNone/>
            </a:pPr>
            <a:r>
              <a:rPr lang="en-US" sz="2200" b="1" dirty="0">
                <a:solidFill>
                  <a:schemeClr val="tx2"/>
                </a:solidFill>
                <a:latin typeface="Cambria" pitchFamily="34" charset="0"/>
                <a:ea typeface="Cambria" pitchFamily="34" charset="-122"/>
                <a:cs typeface="Cambria" pitchFamily="34" charset="-120"/>
              </a:rPr>
              <a:t>2015</a:t>
            </a:r>
            <a:endParaRPr lang="en-US" sz="2200" dirty="0"/>
          </a:p>
        </p:txBody>
      </p:sp>
      <p:sp>
        <p:nvSpPr>
          <p:cNvPr id="14" name="node-2015"/>
          <p:cNvSpPr/>
          <p:nvPr/>
        </p:nvSpPr>
        <p:spPr>
          <a:xfrm>
            <a:off x="3744468" y="2578608"/>
            <a:ext cx="237744" cy="237744"/>
          </a:xfrm>
          <a:prstGeom prst="ellipse">
            <a:avLst/>
          </a:prstGeom>
          <a:solidFill>
            <a:schemeClr val="accent2"/>
          </a:solidFill>
          <a:ln w="25400">
            <a:solidFill>
              <a:schemeClr val="bg1"/>
            </a:solidFill>
            <a:prstDash val="solid"/>
          </a:ln>
        </p:spPr>
      </p:sp>
      <p:sp>
        <p:nvSpPr>
          <p:cNvPr id="15" name="Text 12"/>
          <p:cNvSpPr txBox="1"/>
          <p:nvPr/>
        </p:nvSpPr>
        <p:spPr>
          <a:xfrm>
            <a:off x="2811780" y="2971800"/>
            <a:ext cx="2103120" cy="1143000"/>
          </a:xfrm>
          <a:prstGeom prst="rect">
            <a:avLst/>
          </a:prstGeom>
          <a:noFill/>
          <a:ln/>
        </p:spPr>
        <p:txBody>
          <a:bodyPr wrap="square" lIns="0" tIns="0" rIns="0" bIns="0" rtlCol="0" anchor="t"/>
          <a:lstStyle/>
          <a:p>
            <a:pPr marL="0" indent="0" algn="ctr">
              <a:spcAft>
                <a:spcPts val="300"/>
              </a:spcAft>
              <a:buNone/>
            </a:pPr>
            <a:r>
              <a:rPr lang="en-US" sz="1400" b="1" dirty="0">
                <a:solidFill>
                  <a:schemeClr val="tx2"/>
                </a:solidFill>
              </a:rPr>
              <a:t>Software Engineer</a:t>
            </a:r>
            <a:endParaRPr lang="en-US" sz="1400" dirty="0"/>
          </a:p>
          <a:p>
            <a:pPr marL="0" indent="0" algn="ctr">
              <a:spcAft>
                <a:spcPts val="300"/>
              </a:spcAft>
              <a:buNone/>
            </a:pPr>
            <a:r>
              <a:rPr lang="en-US" sz="1400" dirty="0">
                <a:solidFill>
                  <a:schemeClr val="tx1"/>
                </a:solidFill>
              </a:rPr>
              <a:t>Grails products, Spring Batch, ERP modules</a:t>
            </a:r>
            <a:endParaRPr lang="en-US" sz="1400" dirty="0"/>
          </a:p>
        </p:txBody>
      </p:sp>
      <p:sp>
        <p:nvSpPr>
          <p:cNvPr id="16" name="Text 13"/>
          <p:cNvSpPr txBox="1"/>
          <p:nvPr/>
        </p:nvSpPr>
        <p:spPr>
          <a:xfrm>
            <a:off x="5349240" y="2148840"/>
            <a:ext cx="1463040" cy="365760"/>
          </a:xfrm>
          <a:prstGeom prst="rect">
            <a:avLst/>
          </a:prstGeom>
          <a:noFill/>
          <a:ln/>
        </p:spPr>
        <p:txBody>
          <a:bodyPr wrap="square" lIns="0" tIns="0" rIns="0" bIns="0" rtlCol="0" anchor="ctr"/>
          <a:lstStyle/>
          <a:p>
            <a:pPr marL="0" indent="0" algn="ctr">
              <a:buNone/>
            </a:pPr>
            <a:r>
              <a:rPr lang="en-US" sz="2200" b="1" dirty="0">
                <a:solidFill>
                  <a:schemeClr val="tx2"/>
                </a:solidFill>
                <a:latin typeface="Cambria" pitchFamily="34" charset="0"/>
                <a:ea typeface="Cambria" pitchFamily="34" charset="-122"/>
                <a:cs typeface="Cambria" pitchFamily="34" charset="-120"/>
              </a:rPr>
              <a:t>2019</a:t>
            </a:r>
            <a:endParaRPr lang="en-US" sz="2200" dirty="0"/>
          </a:p>
        </p:txBody>
      </p:sp>
      <p:sp>
        <p:nvSpPr>
          <p:cNvPr id="17" name="node-2019"/>
          <p:cNvSpPr/>
          <p:nvPr/>
        </p:nvSpPr>
        <p:spPr>
          <a:xfrm>
            <a:off x="5961888" y="2578608"/>
            <a:ext cx="237744" cy="237744"/>
          </a:xfrm>
          <a:prstGeom prst="ellipse">
            <a:avLst/>
          </a:prstGeom>
          <a:solidFill>
            <a:schemeClr val="accent2"/>
          </a:solidFill>
          <a:ln w="25400">
            <a:solidFill>
              <a:schemeClr val="bg1"/>
            </a:solidFill>
            <a:prstDash val="solid"/>
          </a:ln>
        </p:spPr>
      </p:sp>
      <p:sp>
        <p:nvSpPr>
          <p:cNvPr id="18" name="Text 15"/>
          <p:cNvSpPr txBox="1"/>
          <p:nvPr/>
        </p:nvSpPr>
        <p:spPr>
          <a:xfrm>
            <a:off x="5029200" y="2971800"/>
            <a:ext cx="2103120" cy="1143000"/>
          </a:xfrm>
          <a:prstGeom prst="rect">
            <a:avLst/>
          </a:prstGeom>
          <a:noFill/>
          <a:ln/>
        </p:spPr>
        <p:txBody>
          <a:bodyPr wrap="square" lIns="0" tIns="0" rIns="0" bIns="0" rtlCol="0" anchor="t"/>
          <a:lstStyle/>
          <a:p>
            <a:pPr marL="0" indent="0" algn="ctr">
              <a:spcAft>
                <a:spcPts val="300"/>
              </a:spcAft>
              <a:buNone/>
            </a:pPr>
            <a:r>
              <a:rPr lang="en-US" sz="1400" b="1" dirty="0">
                <a:solidFill>
                  <a:schemeClr val="tx2"/>
                </a:solidFill>
              </a:rPr>
              <a:t>Senior Software Engineer</a:t>
            </a:r>
            <a:endParaRPr lang="en-US" sz="1400" dirty="0"/>
          </a:p>
          <a:p>
            <a:pPr marL="0" indent="0" algn="ctr">
              <a:spcAft>
                <a:spcPts val="300"/>
              </a:spcAft>
              <a:buNone/>
            </a:pPr>
            <a:r>
              <a:rPr lang="en-US" sz="1400" dirty="0">
                <a:solidFill>
                  <a:schemeClr val="tx1"/>
                </a:solidFill>
              </a:rPr>
              <a:t>Cloud ERP for 30+ companies</a:t>
            </a:r>
            <a:endParaRPr lang="en-US" sz="1400" dirty="0"/>
          </a:p>
        </p:txBody>
      </p:sp>
      <p:sp>
        <p:nvSpPr>
          <p:cNvPr id="19" name="Text 16"/>
          <p:cNvSpPr txBox="1"/>
          <p:nvPr/>
        </p:nvSpPr>
        <p:spPr>
          <a:xfrm>
            <a:off x="7566660" y="2148840"/>
            <a:ext cx="1463040" cy="365760"/>
          </a:xfrm>
          <a:prstGeom prst="rect">
            <a:avLst/>
          </a:prstGeom>
          <a:noFill/>
          <a:ln/>
        </p:spPr>
        <p:txBody>
          <a:bodyPr wrap="square" lIns="0" tIns="0" rIns="0" bIns="0" rtlCol="0" anchor="ctr"/>
          <a:lstStyle/>
          <a:p>
            <a:pPr marL="0" indent="0" algn="ctr">
              <a:buNone/>
            </a:pPr>
            <a:r>
              <a:rPr lang="en-US" sz="2200" b="1" dirty="0">
                <a:solidFill>
                  <a:schemeClr val="tx2"/>
                </a:solidFill>
                <a:latin typeface="Cambria" pitchFamily="34" charset="0"/>
                <a:ea typeface="Cambria" pitchFamily="34" charset="-122"/>
                <a:cs typeface="Cambria" pitchFamily="34" charset="-120"/>
              </a:rPr>
              <a:t>2021</a:t>
            </a:r>
            <a:endParaRPr lang="en-US" sz="2200" dirty="0"/>
          </a:p>
        </p:txBody>
      </p:sp>
      <p:sp>
        <p:nvSpPr>
          <p:cNvPr id="20" name="node-2021"/>
          <p:cNvSpPr/>
          <p:nvPr/>
        </p:nvSpPr>
        <p:spPr>
          <a:xfrm>
            <a:off x="8179308" y="2578608"/>
            <a:ext cx="237744" cy="237744"/>
          </a:xfrm>
          <a:prstGeom prst="ellipse">
            <a:avLst/>
          </a:prstGeom>
          <a:solidFill>
            <a:schemeClr val="accent2"/>
          </a:solidFill>
          <a:ln w="25400">
            <a:solidFill>
              <a:schemeClr val="bg1"/>
            </a:solidFill>
            <a:prstDash val="solid"/>
          </a:ln>
        </p:spPr>
      </p:sp>
      <p:sp>
        <p:nvSpPr>
          <p:cNvPr id="21" name="Text 18"/>
          <p:cNvSpPr txBox="1"/>
          <p:nvPr/>
        </p:nvSpPr>
        <p:spPr>
          <a:xfrm>
            <a:off x="7246620" y="2971800"/>
            <a:ext cx="2103120" cy="1143000"/>
          </a:xfrm>
          <a:prstGeom prst="rect">
            <a:avLst/>
          </a:prstGeom>
          <a:noFill/>
          <a:ln/>
        </p:spPr>
        <p:txBody>
          <a:bodyPr wrap="square" lIns="0" tIns="0" rIns="0" bIns="0" rtlCol="0" anchor="t"/>
          <a:lstStyle/>
          <a:p>
            <a:pPr marL="0" indent="0" algn="ctr">
              <a:spcAft>
                <a:spcPts val="300"/>
              </a:spcAft>
              <a:buNone/>
            </a:pPr>
            <a:r>
              <a:rPr lang="en-US" sz="1400" b="1" dirty="0">
                <a:solidFill>
                  <a:schemeClr val="tx2"/>
                </a:solidFill>
              </a:rPr>
              <a:t>Cybage, Senior Software Engineer</a:t>
            </a:r>
            <a:endParaRPr lang="en-US" sz="1400" dirty="0"/>
          </a:p>
          <a:p>
            <a:pPr marL="0" indent="0" algn="ctr">
              <a:spcAft>
                <a:spcPts val="300"/>
              </a:spcAft>
              <a:buNone/>
            </a:pPr>
            <a:r>
              <a:rPr lang="en-US" sz="1400" dirty="0">
                <a:solidFill>
                  <a:schemeClr val="tx1"/>
                </a:solidFill>
              </a:rPr>
              <a:t>Spring Boot, Python, AWS pipelines</a:t>
            </a:r>
            <a:endParaRPr lang="en-US" sz="1400" dirty="0"/>
          </a:p>
        </p:txBody>
      </p:sp>
      <p:sp>
        <p:nvSpPr>
          <p:cNvPr id="22" name="Text 19"/>
          <p:cNvSpPr txBox="1"/>
          <p:nvPr/>
        </p:nvSpPr>
        <p:spPr>
          <a:xfrm>
            <a:off x="9784080" y="2148840"/>
            <a:ext cx="1463040" cy="365760"/>
          </a:xfrm>
          <a:prstGeom prst="rect">
            <a:avLst/>
          </a:prstGeom>
          <a:noFill/>
          <a:ln/>
        </p:spPr>
        <p:txBody>
          <a:bodyPr wrap="square" lIns="0" tIns="0" rIns="0" bIns="0" rtlCol="0" anchor="ctr"/>
          <a:lstStyle/>
          <a:p>
            <a:pPr marL="0" indent="0" algn="ctr">
              <a:buNone/>
            </a:pPr>
            <a:r>
              <a:rPr lang="en-US" sz="2200" b="1" dirty="0">
                <a:solidFill>
                  <a:schemeClr val="tx2"/>
                </a:solidFill>
                <a:latin typeface="Cambria" pitchFamily="34" charset="0"/>
                <a:ea typeface="Cambria" pitchFamily="34" charset="-122"/>
                <a:cs typeface="Cambria" pitchFamily="34" charset="-120"/>
              </a:rPr>
              <a:t>2023</a:t>
            </a:r>
            <a:endParaRPr lang="en-US" sz="2200" dirty="0"/>
          </a:p>
        </p:txBody>
      </p:sp>
      <p:sp>
        <p:nvSpPr>
          <p:cNvPr id="23" name="node-2023"/>
          <p:cNvSpPr/>
          <p:nvPr/>
        </p:nvSpPr>
        <p:spPr>
          <a:xfrm>
            <a:off x="10396728" y="2578608"/>
            <a:ext cx="237744" cy="237744"/>
          </a:xfrm>
          <a:prstGeom prst="ellipse">
            <a:avLst/>
          </a:prstGeom>
          <a:solidFill>
            <a:schemeClr val="accent3"/>
          </a:solidFill>
          <a:ln w="25400">
            <a:solidFill>
              <a:schemeClr val="bg1"/>
            </a:solidFill>
            <a:prstDash val="solid"/>
          </a:ln>
        </p:spPr>
      </p:sp>
      <p:sp>
        <p:nvSpPr>
          <p:cNvPr id="24" name="Text 21"/>
          <p:cNvSpPr txBox="1"/>
          <p:nvPr/>
        </p:nvSpPr>
        <p:spPr>
          <a:xfrm>
            <a:off x="9464040" y="2971800"/>
            <a:ext cx="2103120" cy="1143000"/>
          </a:xfrm>
          <a:prstGeom prst="rect">
            <a:avLst/>
          </a:prstGeom>
          <a:noFill/>
          <a:ln/>
        </p:spPr>
        <p:txBody>
          <a:bodyPr wrap="square" lIns="0" tIns="0" rIns="0" bIns="0" rtlCol="0" anchor="t"/>
          <a:lstStyle/>
          <a:p>
            <a:pPr marL="0" indent="0" algn="ctr">
              <a:spcAft>
                <a:spcPts val="300"/>
              </a:spcAft>
              <a:buNone/>
            </a:pPr>
            <a:r>
              <a:rPr lang="en-US" sz="1400" b="1" dirty="0">
                <a:solidFill>
                  <a:schemeClr val="tx2"/>
                </a:solidFill>
              </a:rPr>
              <a:t>System Analyst, now Senior</a:t>
            </a:r>
            <a:endParaRPr lang="en-US" sz="1400" dirty="0"/>
          </a:p>
          <a:p>
            <a:pPr marL="0" indent="0" algn="ctr">
              <a:spcAft>
                <a:spcPts val="300"/>
              </a:spcAft>
              <a:buNone/>
            </a:pPr>
            <a:r>
              <a:rPr lang="en-US" sz="1400" dirty="0">
                <a:solidFill>
                  <a:schemeClr val="tx1"/>
                </a:solidFill>
              </a:rPr>
              <a:t>Design, reviews, mentoring, clients</a:t>
            </a:r>
            <a:endParaRPr lang="en-US" sz="1400" dirty="0"/>
          </a:p>
        </p:txBody>
      </p:sp>
      <p:sp>
        <p:nvSpPr>
          <p:cNvPr id="25" name="card"/>
          <p:cNvSpPr/>
          <p:nvPr/>
        </p:nvSpPr>
        <p:spPr>
          <a:xfrm>
            <a:off x="548640" y="4297680"/>
            <a:ext cx="5440680" cy="1783080"/>
          </a:xfrm>
          <a:prstGeom prst="roundRect">
            <a:avLst>
              <a:gd name="adj" fmla="val 4103"/>
            </a:avLst>
          </a:prstGeom>
          <a:solidFill>
            <a:schemeClr val="bg2"/>
          </a:solidFill>
          <a:ln w="12700">
            <a:solidFill>
              <a:schemeClr val="bg2"/>
            </a:solidFill>
            <a:prstDash val="solid"/>
          </a:ln>
        </p:spPr>
      </p:sp>
      <p:sp>
        <p:nvSpPr>
          <p:cNvPr id="26" name="Text 23"/>
          <p:cNvSpPr txBox="1"/>
          <p:nvPr/>
        </p:nvSpPr>
        <p:spPr>
          <a:xfrm>
            <a:off x="777240" y="4416552"/>
            <a:ext cx="457200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WHAT CHANGED</a:t>
            </a:r>
            <a:endParaRPr lang="en-US" sz="1200" dirty="0"/>
          </a:p>
        </p:txBody>
      </p:sp>
      <p:sp>
        <p:nvSpPr>
          <p:cNvPr id="27" name="Text 24"/>
          <p:cNvSpPr txBox="1"/>
          <p:nvPr/>
        </p:nvSpPr>
        <p:spPr>
          <a:xfrm>
            <a:off x="777240" y="4727448"/>
            <a:ext cx="5029200" cy="1234440"/>
          </a:xfrm>
          <a:prstGeom prst="rect">
            <a:avLst/>
          </a:prstGeom>
          <a:noFill/>
          <a:ln/>
        </p:spPr>
        <p:txBody>
          <a:bodyPr wrap="square" lIns="0" tIns="0" rIns="0" bIns="0" rtlCol="0" anchor="t"/>
          <a:lstStyle/>
          <a:p>
            <a:pPr marL="0" indent="0">
              <a:buNone/>
            </a:pPr>
            <a:r>
              <a:rPr lang="en-US" sz="1800" dirty="0">
                <a:solidFill>
                  <a:schemeClr val="tx1"/>
                </a:solidFill>
              </a:rPr>
              <a:t>From Spring MVC 3 and Hibernate 3 apps (ticketing, hotel booking, timesheets) to Spring Boot services and AWS data pipelines.</a:t>
            </a:r>
            <a:endParaRPr lang="en-US" sz="1800" dirty="0"/>
          </a:p>
        </p:txBody>
      </p:sp>
      <p:sp>
        <p:nvSpPr>
          <p:cNvPr id="28" name="card"/>
          <p:cNvSpPr/>
          <p:nvPr/>
        </p:nvSpPr>
        <p:spPr>
          <a:xfrm>
            <a:off x="6199632" y="4297680"/>
            <a:ext cx="5440680" cy="1783080"/>
          </a:xfrm>
          <a:prstGeom prst="roundRect">
            <a:avLst>
              <a:gd name="adj" fmla="val 4103"/>
            </a:avLst>
          </a:prstGeom>
          <a:solidFill>
            <a:schemeClr val="bg2"/>
          </a:solidFill>
          <a:ln w="12700">
            <a:solidFill>
              <a:schemeClr val="bg2"/>
            </a:solidFill>
            <a:prstDash val="solid"/>
          </a:ln>
        </p:spPr>
      </p:sp>
      <p:sp>
        <p:nvSpPr>
          <p:cNvPr id="29" name="Text 26"/>
          <p:cNvSpPr txBox="1"/>
          <p:nvPr/>
        </p:nvSpPr>
        <p:spPr>
          <a:xfrm>
            <a:off x="6428232" y="4416552"/>
            <a:ext cx="45720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WHAT STAYED</a:t>
            </a:r>
            <a:endParaRPr lang="en-US" sz="1200" dirty="0"/>
          </a:p>
        </p:txBody>
      </p:sp>
      <p:sp>
        <p:nvSpPr>
          <p:cNvPr id="30" name="Text 27"/>
          <p:cNvSpPr txBox="1"/>
          <p:nvPr/>
        </p:nvSpPr>
        <p:spPr>
          <a:xfrm>
            <a:off x="6428232" y="4727448"/>
            <a:ext cx="5029200" cy="1234440"/>
          </a:xfrm>
          <a:prstGeom prst="rect">
            <a:avLst/>
          </a:prstGeom>
          <a:noFill/>
          <a:ln/>
        </p:spPr>
        <p:txBody>
          <a:bodyPr wrap="square" lIns="0" tIns="0" rIns="0" bIns="0" rtlCol="0" anchor="t"/>
          <a:lstStyle/>
          <a:p>
            <a:pPr marL="0" indent="0">
              <a:buNone/>
            </a:pPr>
            <a:r>
              <a:rPr lang="en-US" sz="1800" dirty="0">
                <a:solidFill>
                  <a:schemeClr val="tx1"/>
                </a:solidFill>
              </a:rPr>
              <a:t>Logic building: from the basics to the advanced, now including AI. Over the years I moved from learner to expert.</a:t>
            </a:r>
            <a:endParaRPr lang="en-US" sz="18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OPENING</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Today's route</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road"/>
          <p:cNvSpPr/>
          <p:nvPr/>
        </p:nvSpPr>
        <p:spPr>
          <a:xfrm>
            <a:off x="822960" y="3429000"/>
            <a:ext cx="10515600" cy="0"/>
          </a:xfrm>
          <a:prstGeom prst="line">
            <a:avLst/>
          </a:prstGeom>
          <a:noFill/>
          <a:ln w="76200">
            <a:solidFill>
              <a:srgbClr val="D5DCE5"/>
            </a:solidFill>
            <a:prstDash val="solid"/>
          </a:ln>
        </p:spPr>
      </p:sp>
      <p:sp>
        <p:nvSpPr>
          <p:cNvPr id="9" name="anim-0-0"/>
          <p:cNvSpPr/>
          <p:nvPr/>
        </p:nvSpPr>
        <p:spPr>
          <a:xfrm>
            <a:off x="1207008" y="3035808"/>
            <a:ext cx="786384" cy="786384"/>
          </a:xfrm>
          <a:prstGeom prst="ellipse">
            <a:avLst/>
          </a:prstGeom>
          <a:solidFill>
            <a:schemeClr val="tx2"/>
          </a:solidFill>
          <a:ln w="38100">
            <a:solidFill>
              <a:schemeClr val="bg1"/>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10" name="anim-0-1"/>
          <p:cNvSpPr txBox="1"/>
          <p:nvPr/>
        </p:nvSpPr>
        <p:spPr>
          <a:xfrm>
            <a:off x="502920" y="1554480"/>
            <a:ext cx="2194560" cy="1325880"/>
          </a:xfrm>
          <a:prstGeom prst="rect">
            <a:avLst/>
          </a:prstGeom>
          <a:noFill/>
          <a:ln/>
        </p:spPr>
        <p:txBody>
          <a:bodyPr wrap="square" lIns="0" tIns="0" rIns="0" bIns="0" rtlCol="0" anchor="b"/>
          <a:lstStyle/>
          <a:p>
            <a:pPr marL="0" indent="0" algn="ctr">
              <a:spcAft>
                <a:spcPts val="400"/>
              </a:spcAft>
              <a:buNone/>
            </a:pPr>
            <a:r>
              <a:rPr lang="en-US" sz="2200" b="1" dirty="0">
                <a:solidFill>
                  <a:schemeClr val="tx2"/>
                </a:solidFill>
              </a:rPr>
              <a:t>Industry view</a:t>
            </a:r>
            <a:endParaRPr lang="en-US" sz="2200" dirty="0"/>
          </a:p>
          <a:p>
            <a:pPr marL="0" indent="0" algn="ctr">
              <a:spcAft>
                <a:spcPts val="400"/>
              </a:spcAft>
              <a:buNone/>
            </a:pPr>
            <a:r>
              <a:rPr lang="en-US" sz="1500" dirty="0">
                <a:solidFill>
                  <a:schemeClr val="accent5"/>
                </a:solidFill>
              </a:rPr>
              <a:t>Why this matters</a:t>
            </a:r>
            <a:endParaRPr lang="en-US" sz="2200" dirty="0"/>
          </a:p>
        </p:txBody>
      </p:sp>
      <p:sp>
        <p:nvSpPr>
          <p:cNvPr id="11" name="anim-1-2"/>
          <p:cNvSpPr/>
          <p:nvPr/>
        </p:nvSpPr>
        <p:spPr>
          <a:xfrm>
            <a:off x="2670048" y="3035808"/>
            <a:ext cx="786384" cy="786384"/>
          </a:xfrm>
          <a:prstGeom prst="ellipse">
            <a:avLst/>
          </a:prstGeom>
          <a:solidFill>
            <a:schemeClr val="accent1"/>
          </a:solidFill>
          <a:ln w="38100">
            <a:solidFill>
              <a:schemeClr val="bg1"/>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2" name="anim-1-3"/>
          <p:cNvSpPr txBox="1"/>
          <p:nvPr/>
        </p:nvSpPr>
        <p:spPr>
          <a:xfrm>
            <a:off x="1965960" y="4023360"/>
            <a:ext cx="2194560" cy="1325880"/>
          </a:xfrm>
          <a:prstGeom prst="rect">
            <a:avLst/>
          </a:prstGeom>
          <a:noFill/>
          <a:ln/>
        </p:spPr>
        <p:txBody>
          <a:bodyPr wrap="square" lIns="0" tIns="0" rIns="0" bIns="0" rtlCol="0" anchor="t"/>
          <a:lstStyle/>
          <a:p>
            <a:pPr marL="0" indent="0" algn="ctr">
              <a:spcAft>
                <a:spcPts val="400"/>
              </a:spcAft>
              <a:buNone/>
            </a:pPr>
            <a:r>
              <a:rPr lang="en-US" sz="2200" b="1" dirty="0">
                <a:solidFill>
                  <a:schemeClr val="tx2"/>
                </a:solidFill>
              </a:rPr>
              <a:t>Hibernate</a:t>
            </a:r>
            <a:endParaRPr lang="en-US" sz="2200" dirty="0"/>
          </a:p>
          <a:p>
            <a:pPr marL="0" indent="0" algn="ctr">
              <a:spcAft>
                <a:spcPts val="400"/>
              </a:spcAft>
              <a:buNone/>
            </a:pPr>
            <a:r>
              <a:rPr lang="en-US" sz="1500" dirty="0">
                <a:solidFill>
                  <a:schemeClr val="accent5"/>
                </a:solidFill>
              </a:rPr>
              <a:t>The data layer</a:t>
            </a:r>
            <a:endParaRPr lang="en-US" sz="2200" dirty="0"/>
          </a:p>
        </p:txBody>
      </p:sp>
      <p:sp>
        <p:nvSpPr>
          <p:cNvPr id="13" name="anim-2-4"/>
          <p:cNvSpPr/>
          <p:nvPr/>
        </p:nvSpPr>
        <p:spPr>
          <a:xfrm>
            <a:off x="4133088" y="3035808"/>
            <a:ext cx="786384" cy="786384"/>
          </a:xfrm>
          <a:prstGeom prst="ellipse">
            <a:avLst/>
          </a:prstGeom>
          <a:solidFill>
            <a:schemeClr val="accent2"/>
          </a:solidFill>
          <a:ln w="38100">
            <a:solidFill>
              <a:schemeClr val="bg1"/>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4" name="anim-2-5"/>
          <p:cNvSpPr txBox="1"/>
          <p:nvPr/>
        </p:nvSpPr>
        <p:spPr>
          <a:xfrm>
            <a:off x="3429000" y="1554480"/>
            <a:ext cx="2194560" cy="1325880"/>
          </a:xfrm>
          <a:prstGeom prst="rect">
            <a:avLst/>
          </a:prstGeom>
          <a:noFill/>
          <a:ln/>
        </p:spPr>
        <p:txBody>
          <a:bodyPr wrap="square" lIns="0" tIns="0" rIns="0" bIns="0" rtlCol="0" anchor="b"/>
          <a:lstStyle/>
          <a:p>
            <a:pPr marL="0" indent="0" algn="ctr">
              <a:spcAft>
                <a:spcPts val="400"/>
              </a:spcAft>
              <a:buNone/>
            </a:pPr>
            <a:r>
              <a:rPr lang="en-US" sz="2200" b="1" dirty="0">
                <a:solidFill>
                  <a:schemeClr val="tx2"/>
                </a:solidFill>
              </a:rPr>
              <a:t>Spring MVC</a:t>
            </a:r>
            <a:endParaRPr lang="en-US" sz="2200" dirty="0"/>
          </a:p>
          <a:p>
            <a:pPr marL="0" indent="0" algn="ctr">
              <a:spcAft>
                <a:spcPts val="400"/>
              </a:spcAft>
              <a:buNone/>
            </a:pPr>
            <a:r>
              <a:rPr lang="en-US" sz="1500" dirty="0">
                <a:solidFill>
                  <a:schemeClr val="accent5"/>
                </a:solidFill>
              </a:rPr>
              <a:t>The web layer</a:t>
            </a:r>
            <a:endParaRPr lang="en-US" sz="2200" dirty="0"/>
          </a:p>
        </p:txBody>
      </p:sp>
      <p:sp>
        <p:nvSpPr>
          <p:cNvPr id="15" name="anim-3-6"/>
          <p:cNvSpPr/>
          <p:nvPr/>
        </p:nvSpPr>
        <p:spPr>
          <a:xfrm>
            <a:off x="5596128" y="3035808"/>
            <a:ext cx="786384" cy="786384"/>
          </a:xfrm>
          <a:prstGeom prst="ellipse">
            <a:avLst/>
          </a:prstGeom>
          <a:solidFill>
            <a:schemeClr val="accent2"/>
          </a:solidFill>
          <a:ln w="38100">
            <a:solidFill>
              <a:schemeClr val="bg1"/>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16" name="anim-3-7"/>
          <p:cNvSpPr txBox="1"/>
          <p:nvPr/>
        </p:nvSpPr>
        <p:spPr>
          <a:xfrm>
            <a:off x="4892040" y="4023360"/>
            <a:ext cx="2194560" cy="1325880"/>
          </a:xfrm>
          <a:prstGeom prst="rect">
            <a:avLst/>
          </a:prstGeom>
          <a:noFill/>
          <a:ln/>
        </p:spPr>
        <p:txBody>
          <a:bodyPr wrap="square" lIns="0" tIns="0" rIns="0" bIns="0" rtlCol="0" anchor="t"/>
          <a:lstStyle/>
          <a:p>
            <a:pPr marL="0" indent="0" algn="ctr">
              <a:spcAft>
                <a:spcPts val="400"/>
              </a:spcAft>
              <a:buNone/>
            </a:pPr>
            <a:r>
              <a:rPr lang="en-US" sz="2200" b="1" dirty="0">
                <a:solidFill>
                  <a:schemeClr val="tx2"/>
                </a:solidFill>
              </a:rPr>
              <a:t>Build</a:t>
            </a:r>
            <a:endParaRPr lang="en-US" sz="2200" dirty="0"/>
          </a:p>
          <a:p>
            <a:pPr marL="0" indent="0" algn="ctr">
              <a:spcAft>
                <a:spcPts val="400"/>
              </a:spcAft>
              <a:buNone/>
            </a:pPr>
            <a:r>
              <a:rPr lang="en-US" sz="1500" dirty="0">
                <a:solidFill>
                  <a:schemeClr val="accent5"/>
                </a:solidFill>
              </a:rPr>
              <a:t>The Placement Portal</a:t>
            </a:r>
            <a:endParaRPr lang="en-US" sz="2200" dirty="0"/>
          </a:p>
        </p:txBody>
      </p:sp>
      <p:sp>
        <p:nvSpPr>
          <p:cNvPr id="17" name="anim-4-8"/>
          <p:cNvSpPr/>
          <p:nvPr/>
        </p:nvSpPr>
        <p:spPr>
          <a:xfrm>
            <a:off x="7059168" y="3035808"/>
            <a:ext cx="786384" cy="786384"/>
          </a:xfrm>
          <a:prstGeom prst="ellipse">
            <a:avLst/>
          </a:prstGeom>
          <a:solidFill>
            <a:schemeClr val="accent3"/>
          </a:solidFill>
          <a:ln w="38100">
            <a:solidFill>
              <a:schemeClr val="bg1"/>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5</a:t>
            </a:r>
            <a:endParaRPr lang="en-US" sz="2600" dirty="0"/>
          </a:p>
        </p:txBody>
      </p:sp>
      <p:sp>
        <p:nvSpPr>
          <p:cNvPr id="18" name="anim-4-9"/>
          <p:cNvSpPr txBox="1"/>
          <p:nvPr/>
        </p:nvSpPr>
        <p:spPr>
          <a:xfrm>
            <a:off x="6355080" y="1554480"/>
            <a:ext cx="2194560" cy="1325880"/>
          </a:xfrm>
          <a:prstGeom prst="rect">
            <a:avLst/>
          </a:prstGeom>
          <a:noFill/>
          <a:ln/>
        </p:spPr>
        <p:txBody>
          <a:bodyPr wrap="square" lIns="0" tIns="0" rIns="0" bIns="0" rtlCol="0" anchor="b"/>
          <a:lstStyle/>
          <a:p>
            <a:pPr marL="0" indent="0" algn="ctr">
              <a:spcAft>
                <a:spcPts val="400"/>
              </a:spcAft>
              <a:buNone/>
            </a:pPr>
            <a:r>
              <a:rPr lang="en-US" sz="2200" b="1" dirty="0">
                <a:solidFill>
                  <a:schemeClr val="tx2"/>
                </a:solidFill>
              </a:rPr>
              <a:t>Gen AI</a:t>
            </a:r>
            <a:endParaRPr lang="en-US" sz="2200" dirty="0"/>
          </a:p>
          <a:p>
            <a:pPr marL="0" indent="0" algn="ctr">
              <a:spcAft>
                <a:spcPts val="400"/>
              </a:spcAft>
              <a:buNone/>
            </a:pPr>
            <a:r>
              <a:rPr lang="en-US" sz="1500" dirty="0">
                <a:solidFill>
                  <a:schemeClr val="accent5"/>
                </a:solidFill>
              </a:rPr>
              <a:t>The intelligence layer</a:t>
            </a:r>
            <a:endParaRPr lang="en-US" sz="2200" dirty="0"/>
          </a:p>
        </p:txBody>
      </p:sp>
      <p:sp>
        <p:nvSpPr>
          <p:cNvPr id="19" name="anim-5-10"/>
          <p:cNvSpPr/>
          <p:nvPr/>
        </p:nvSpPr>
        <p:spPr>
          <a:xfrm>
            <a:off x="8522208" y="3035808"/>
            <a:ext cx="786384" cy="786384"/>
          </a:xfrm>
          <a:prstGeom prst="ellipse">
            <a:avLst/>
          </a:prstGeom>
          <a:solidFill>
            <a:schemeClr val="accent3"/>
          </a:solidFill>
          <a:ln w="38100">
            <a:solidFill>
              <a:schemeClr val="bg1"/>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6</a:t>
            </a:r>
            <a:endParaRPr lang="en-US" sz="2600" dirty="0"/>
          </a:p>
        </p:txBody>
      </p:sp>
      <p:sp>
        <p:nvSpPr>
          <p:cNvPr id="20" name="anim-5-11"/>
          <p:cNvSpPr txBox="1"/>
          <p:nvPr/>
        </p:nvSpPr>
        <p:spPr>
          <a:xfrm>
            <a:off x="7818120" y="4023360"/>
            <a:ext cx="2194560" cy="1325880"/>
          </a:xfrm>
          <a:prstGeom prst="rect">
            <a:avLst/>
          </a:prstGeom>
          <a:noFill/>
          <a:ln/>
        </p:spPr>
        <p:txBody>
          <a:bodyPr wrap="square" lIns="0" tIns="0" rIns="0" bIns="0" rtlCol="0" anchor="t"/>
          <a:lstStyle/>
          <a:p>
            <a:pPr marL="0" indent="0" algn="ctr">
              <a:spcAft>
                <a:spcPts val="400"/>
              </a:spcAft>
              <a:buNone/>
            </a:pPr>
            <a:r>
              <a:rPr lang="en-US" sz="2200" b="1" dirty="0">
                <a:solidFill>
                  <a:schemeClr val="tx2"/>
                </a:solidFill>
              </a:rPr>
              <a:t>Live demo</a:t>
            </a:r>
            <a:endParaRPr lang="en-US" sz="2200" dirty="0"/>
          </a:p>
          <a:p>
            <a:pPr marL="0" indent="0" algn="ctr">
              <a:spcAft>
                <a:spcPts val="400"/>
              </a:spcAft>
              <a:buNone/>
            </a:pPr>
            <a:r>
              <a:rPr lang="en-US" sz="1500" dirty="0">
                <a:solidFill>
                  <a:schemeClr val="accent5"/>
                </a:solidFill>
              </a:rPr>
              <a:t>On a real product</a:t>
            </a:r>
            <a:endParaRPr lang="en-US" sz="2200" dirty="0"/>
          </a:p>
        </p:txBody>
      </p:sp>
      <p:sp>
        <p:nvSpPr>
          <p:cNvPr id="21" name="anim-6-12"/>
          <p:cNvSpPr/>
          <p:nvPr/>
        </p:nvSpPr>
        <p:spPr>
          <a:xfrm>
            <a:off x="9985248" y="3035808"/>
            <a:ext cx="786384" cy="786384"/>
          </a:xfrm>
          <a:prstGeom prst="ellipse">
            <a:avLst/>
          </a:prstGeom>
          <a:solidFill>
            <a:schemeClr val="tx2"/>
          </a:solidFill>
          <a:ln w="38100">
            <a:solidFill>
              <a:schemeClr val="bg1"/>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7</a:t>
            </a:r>
            <a:endParaRPr lang="en-US" sz="2600" dirty="0"/>
          </a:p>
        </p:txBody>
      </p:sp>
      <p:sp>
        <p:nvSpPr>
          <p:cNvPr id="22" name="anim-6-13"/>
          <p:cNvSpPr txBox="1"/>
          <p:nvPr/>
        </p:nvSpPr>
        <p:spPr>
          <a:xfrm>
            <a:off x="9281160" y="1554480"/>
            <a:ext cx="2194560" cy="1325880"/>
          </a:xfrm>
          <a:prstGeom prst="rect">
            <a:avLst/>
          </a:prstGeom>
          <a:noFill/>
          <a:ln/>
        </p:spPr>
        <p:txBody>
          <a:bodyPr wrap="square" lIns="0" tIns="0" rIns="0" bIns="0" rtlCol="0" anchor="b"/>
          <a:lstStyle/>
          <a:p>
            <a:pPr marL="0" indent="0" algn="ctr">
              <a:spcAft>
                <a:spcPts val="400"/>
              </a:spcAft>
              <a:buNone/>
            </a:pPr>
            <a:r>
              <a:rPr lang="en-US" sz="2200" b="1" dirty="0">
                <a:solidFill>
                  <a:schemeClr val="tx2"/>
                </a:solidFill>
              </a:rPr>
              <a:t>Q and A</a:t>
            </a:r>
            <a:endParaRPr lang="en-US" sz="2200" dirty="0"/>
          </a:p>
          <a:p>
            <a:pPr marL="0" indent="0" algn="ctr">
              <a:spcAft>
                <a:spcPts val="400"/>
              </a:spcAft>
              <a:buNone/>
            </a:pPr>
            <a:r>
              <a:rPr lang="en-US" sz="1500" dirty="0">
                <a:solidFill>
                  <a:schemeClr val="accent5"/>
                </a:solidFill>
              </a:rPr>
              <a:t>Raise your hand</a:t>
            </a:r>
            <a:endParaRPr lang="en-US" sz="2200" dirty="0"/>
          </a:p>
        </p:txBody>
      </p:sp>
      <p:sp>
        <p:nvSpPr>
          <p:cNvPr id="23" name="legend-dot-Data"/>
          <p:cNvSpPr/>
          <p:nvPr/>
        </p:nvSpPr>
        <p:spPr>
          <a:xfrm>
            <a:off x="548640" y="5760720"/>
            <a:ext cx="237744" cy="237744"/>
          </a:xfrm>
          <a:prstGeom prst="ellipse">
            <a:avLst/>
          </a:prstGeom>
          <a:solidFill>
            <a:schemeClr val="accent1"/>
          </a:solidFill>
          <a:ln w="12700">
            <a:solidFill>
              <a:schemeClr val="accent1"/>
            </a:solidFill>
            <a:prstDash val="solid"/>
          </a:ln>
        </p:spPr>
      </p:sp>
      <p:sp>
        <p:nvSpPr>
          <p:cNvPr id="24" name="Text 21"/>
          <p:cNvSpPr txBox="1"/>
          <p:nvPr/>
        </p:nvSpPr>
        <p:spPr>
          <a:xfrm>
            <a:off x="896112" y="5715000"/>
            <a:ext cx="1828800" cy="329184"/>
          </a:xfrm>
          <a:prstGeom prst="rect">
            <a:avLst/>
          </a:prstGeom>
          <a:noFill/>
          <a:ln/>
        </p:spPr>
        <p:txBody>
          <a:bodyPr wrap="square" lIns="0" tIns="0" rIns="0" bIns="0" rtlCol="0" anchor="ctr"/>
          <a:lstStyle/>
          <a:p>
            <a:pPr marL="0" indent="0">
              <a:buNone/>
            </a:pPr>
            <a:r>
              <a:rPr lang="en-US" sz="1600" dirty="0">
                <a:solidFill>
                  <a:schemeClr val="tx1"/>
                </a:solidFill>
              </a:rPr>
              <a:t>Data</a:t>
            </a:r>
            <a:endParaRPr lang="en-US" sz="1600" dirty="0"/>
          </a:p>
        </p:txBody>
      </p:sp>
      <p:sp>
        <p:nvSpPr>
          <p:cNvPr id="25" name="legend-dot-Web"/>
          <p:cNvSpPr/>
          <p:nvPr/>
        </p:nvSpPr>
        <p:spPr>
          <a:xfrm>
            <a:off x="2834640" y="5760720"/>
            <a:ext cx="237744" cy="237744"/>
          </a:xfrm>
          <a:prstGeom prst="ellipse">
            <a:avLst/>
          </a:prstGeom>
          <a:solidFill>
            <a:schemeClr val="accent2"/>
          </a:solidFill>
          <a:ln w="12700">
            <a:solidFill>
              <a:schemeClr val="accent2"/>
            </a:solidFill>
            <a:prstDash val="solid"/>
          </a:ln>
        </p:spPr>
      </p:sp>
      <p:sp>
        <p:nvSpPr>
          <p:cNvPr id="26" name="Text 23"/>
          <p:cNvSpPr txBox="1"/>
          <p:nvPr/>
        </p:nvSpPr>
        <p:spPr>
          <a:xfrm>
            <a:off x="3182112" y="5715000"/>
            <a:ext cx="1828800" cy="329184"/>
          </a:xfrm>
          <a:prstGeom prst="rect">
            <a:avLst/>
          </a:prstGeom>
          <a:noFill/>
          <a:ln/>
        </p:spPr>
        <p:txBody>
          <a:bodyPr wrap="square" lIns="0" tIns="0" rIns="0" bIns="0" rtlCol="0" anchor="ctr"/>
          <a:lstStyle/>
          <a:p>
            <a:pPr marL="0" indent="0">
              <a:buNone/>
            </a:pPr>
            <a:r>
              <a:rPr lang="en-US" sz="1600" dirty="0">
                <a:solidFill>
                  <a:schemeClr val="tx1"/>
                </a:solidFill>
              </a:rPr>
              <a:t>Web</a:t>
            </a:r>
            <a:endParaRPr lang="en-US" sz="1600" dirty="0"/>
          </a:p>
        </p:txBody>
      </p:sp>
      <p:sp>
        <p:nvSpPr>
          <p:cNvPr id="27" name="legend-dot-Intelligence"/>
          <p:cNvSpPr/>
          <p:nvPr/>
        </p:nvSpPr>
        <p:spPr>
          <a:xfrm>
            <a:off x="5120640" y="5760720"/>
            <a:ext cx="237744" cy="237744"/>
          </a:xfrm>
          <a:prstGeom prst="ellipse">
            <a:avLst/>
          </a:prstGeom>
          <a:solidFill>
            <a:schemeClr val="accent3"/>
          </a:solidFill>
          <a:ln w="12700">
            <a:solidFill>
              <a:schemeClr val="accent3"/>
            </a:solidFill>
            <a:prstDash val="solid"/>
          </a:ln>
        </p:spPr>
      </p:sp>
      <p:sp>
        <p:nvSpPr>
          <p:cNvPr id="28" name="Text 25"/>
          <p:cNvSpPr txBox="1"/>
          <p:nvPr/>
        </p:nvSpPr>
        <p:spPr>
          <a:xfrm>
            <a:off x="5468112" y="5715000"/>
            <a:ext cx="1828800" cy="329184"/>
          </a:xfrm>
          <a:prstGeom prst="rect">
            <a:avLst/>
          </a:prstGeom>
          <a:noFill/>
          <a:ln/>
        </p:spPr>
        <p:txBody>
          <a:bodyPr wrap="square" lIns="0" tIns="0" rIns="0" bIns="0" rtlCol="0" anchor="ctr"/>
          <a:lstStyle/>
          <a:p>
            <a:pPr marL="0" indent="0">
              <a:buNone/>
            </a:pPr>
            <a:r>
              <a:rPr lang="en-US" sz="1600" dirty="0">
                <a:solidFill>
                  <a:schemeClr val="tx1"/>
                </a:solidFill>
              </a:rPr>
              <a:t>Intelligence</a:t>
            </a:r>
            <a:endParaRPr lang="en-US" sz="16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childTnLst>
                          </p:cTn>
                        </p:par>
                        <p:par>
                          <p:cTn id="39" fill="hold">
                            <p:stCondLst>
                              <p:cond delay="2500"/>
                            </p:stCondLst>
                            <p:childTnLst>
                              <p:par>
                                <p:cTn id="40" presetID="10" presetClass="entr" presetSubtype="0" fill="hold" nodeType="after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par>
                          <p:cTn id="46" fill="hold">
                            <p:stCondLst>
                              <p:cond delay="3000"/>
                            </p:stCondLst>
                            <p:childTnLst>
                              <p:par>
                                <p:cTn id="47" presetID="10" presetClass="entr" presetSubtype="0" fill="hold"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OPENING</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Every real application has three layers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anim-2-14"/>
          <p:cNvSpPr/>
          <p:nvPr/>
        </p:nvSpPr>
        <p:spPr>
          <a:xfrm>
            <a:off x="548640" y="1600200"/>
            <a:ext cx="3749040" cy="1371600"/>
          </a:xfrm>
          <a:prstGeom prst="roundRect">
            <a:avLst>
              <a:gd name="adj" fmla="val 5333"/>
            </a:avLst>
          </a:prstGeom>
          <a:solidFill>
            <a:schemeClr val="accent3"/>
          </a:solidFill>
          <a:ln>
            <a:solidFill>
              <a:schemeClr val="accent3"/>
            </a:solidFill>
          </a:ln>
        </p:spPr>
        <p:txBody>
          <a:bodyPr wrap="square" lIns="203200" tIns="203200" rIns="203200" bIns="203200" rtlCol="0" anchor="ctr"/>
          <a:lstStyle/>
          <a:p>
            <a:pPr marL="0" indent="0">
              <a:buNone/>
            </a:pPr>
            <a:r>
              <a:rPr lang="en-US" sz="1400" b="1" kern="0" spc="200" dirty="0">
                <a:solidFill>
                  <a:schemeClr val="bg1"/>
                </a:solidFill>
              </a:rPr>
              <a:t>INTELLIGENCE</a:t>
            </a:r>
            <a:endParaRPr lang="en-US" sz="1400" dirty="0"/>
          </a:p>
          <a:p>
            <a:pPr marL="0" indent="0">
              <a:buNone/>
            </a:pPr>
            <a:r>
              <a:rPr lang="en-US" sz="2200" b="1" dirty="0">
                <a:solidFill>
                  <a:schemeClr val="bg1"/>
                </a:solidFill>
                <a:latin typeface="Cambria" pitchFamily="34" charset="0"/>
                <a:ea typeface="Cambria" pitchFamily="34" charset="-122"/>
                <a:cs typeface="Cambria" pitchFamily="34" charset="-120"/>
              </a:rPr>
              <a:t>Gen AI</a:t>
            </a:r>
            <a:endParaRPr lang="en-US" sz="1400" dirty="0"/>
          </a:p>
        </p:txBody>
      </p:sp>
      <p:sp>
        <p:nvSpPr>
          <p:cNvPr id="9" name="anim-2-15"/>
          <p:cNvSpPr/>
          <p:nvPr/>
        </p:nvSpPr>
        <p:spPr>
          <a:xfrm>
            <a:off x="4434840" y="1600200"/>
            <a:ext cx="7205472" cy="1371600"/>
          </a:xfrm>
          <a:prstGeom prst="roundRect">
            <a:avLst>
              <a:gd name="adj" fmla="val 5333"/>
            </a:avLst>
          </a:prstGeom>
          <a:solidFill>
            <a:schemeClr val="bg2"/>
          </a:solidFill>
          <a:ln>
            <a:solidFill>
              <a:schemeClr val="bg2"/>
            </a:solidFill>
          </a:ln>
        </p:spPr>
        <p:txBody>
          <a:bodyPr wrap="square" lIns="203200" tIns="203200" rIns="203200" bIns="203200" rtlCol="0" anchor="ctr"/>
          <a:lstStyle/>
          <a:p>
            <a:pPr marL="0" indent="0">
              <a:spcAft>
                <a:spcPts val="600"/>
              </a:spcAft>
              <a:buNone/>
            </a:pPr>
            <a:r>
              <a:rPr lang="en-US" sz="2000" b="1" dirty="0">
                <a:solidFill>
                  <a:schemeClr val="tx2"/>
                </a:solidFill>
              </a:rPr>
              <a:t>Understands, drafts, suggests</a:t>
            </a:r>
            <a:endParaRPr lang="en-US" sz="2000" dirty="0"/>
          </a:p>
          <a:p>
            <a:pPr marL="0" indent="0">
              <a:spcAft>
                <a:spcPts val="600"/>
              </a:spcAft>
              <a:buNone/>
            </a:pPr>
            <a:r>
              <a:rPr lang="en-US" sz="1700" dirty="0">
                <a:solidFill>
                  <a:schemeClr val="tx1"/>
                </a:solidFill>
              </a:rPr>
              <a:t>Reads an email and drafts the reply. A person approves.</a:t>
            </a:r>
            <a:endParaRPr lang="en-US" sz="2000" dirty="0"/>
          </a:p>
        </p:txBody>
      </p:sp>
      <p:sp>
        <p:nvSpPr>
          <p:cNvPr id="10" name="anim-1-16"/>
          <p:cNvSpPr/>
          <p:nvPr/>
        </p:nvSpPr>
        <p:spPr>
          <a:xfrm>
            <a:off x="548640" y="3154680"/>
            <a:ext cx="3749040" cy="1371600"/>
          </a:xfrm>
          <a:prstGeom prst="roundRect">
            <a:avLst>
              <a:gd name="adj" fmla="val 5333"/>
            </a:avLst>
          </a:prstGeom>
          <a:solidFill>
            <a:schemeClr val="accent2"/>
          </a:solidFill>
          <a:ln>
            <a:solidFill>
              <a:schemeClr val="accent2"/>
            </a:solidFill>
          </a:ln>
        </p:spPr>
        <p:txBody>
          <a:bodyPr wrap="square" lIns="203200" tIns="203200" rIns="203200" bIns="203200" rtlCol="0" anchor="ctr"/>
          <a:lstStyle/>
          <a:p>
            <a:pPr marL="0" indent="0">
              <a:buNone/>
            </a:pPr>
            <a:r>
              <a:rPr lang="en-US" sz="1400" b="1" kern="0" spc="200" dirty="0">
                <a:solidFill>
                  <a:schemeClr val="bg1"/>
                </a:solidFill>
              </a:rPr>
              <a:t>WEB</a:t>
            </a:r>
            <a:endParaRPr lang="en-US" sz="1400" dirty="0"/>
          </a:p>
          <a:p>
            <a:pPr marL="0" indent="0">
              <a:buNone/>
            </a:pPr>
            <a:r>
              <a:rPr lang="en-US" sz="2200" b="1" dirty="0">
                <a:solidFill>
                  <a:schemeClr val="bg1"/>
                </a:solidFill>
                <a:latin typeface="Cambria" pitchFamily="34" charset="0"/>
                <a:ea typeface="Cambria" pitchFamily="34" charset="-122"/>
                <a:cs typeface="Cambria" pitchFamily="34" charset="-120"/>
              </a:rPr>
              <a:t>Spring MVC</a:t>
            </a:r>
            <a:endParaRPr lang="en-US" sz="1400" dirty="0"/>
          </a:p>
        </p:txBody>
      </p:sp>
      <p:sp>
        <p:nvSpPr>
          <p:cNvPr id="11" name="anim-1-17"/>
          <p:cNvSpPr/>
          <p:nvPr/>
        </p:nvSpPr>
        <p:spPr>
          <a:xfrm>
            <a:off x="4434840" y="3154680"/>
            <a:ext cx="7205472" cy="1371600"/>
          </a:xfrm>
          <a:prstGeom prst="roundRect">
            <a:avLst>
              <a:gd name="adj" fmla="val 5333"/>
            </a:avLst>
          </a:prstGeom>
          <a:solidFill>
            <a:schemeClr val="bg2"/>
          </a:solidFill>
          <a:ln>
            <a:solidFill>
              <a:schemeClr val="bg2"/>
            </a:solidFill>
          </a:ln>
        </p:spPr>
        <p:txBody>
          <a:bodyPr wrap="square" lIns="203200" tIns="203200" rIns="203200" bIns="203200" rtlCol="0" anchor="ctr"/>
          <a:lstStyle/>
          <a:p>
            <a:pPr marL="0" indent="0">
              <a:spcAft>
                <a:spcPts val="600"/>
              </a:spcAft>
              <a:buNone/>
            </a:pPr>
            <a:r>
              <a:rPr lang="en-US" sz="2000" b="1" dirty="0">
                <a:solidFill>
                  <a:schemeClr val="tx2"/>
                </a:solidFill>
              </a:rPr>
              <a:t>Lets people and apps reach the data</a:t>
            </a:r>
            <a:endParaRPr lang="en-US" sz="2000" dirty="0"/>
          </a:p>
          <a:p>
            <a:pPr marL="0" indent="0">
              <a:spcAft>
                <a:spcPts val="600"/>
              </a:spcAft>
              <a:buNone/>
            </a:pPr>
            <a:r>
              <a:rPr lang="en-US" sz="1700" dirty="0">
                <a:solidFill>
                  <a:schemeClr val="tx1"/>
                </a:solidFill>
              </a:rPr>
              <a:t>The portal page you open. The same data as JSON for a mobile app.</a:t>
            </a:r>
            <a:endParaRPr lang="en-US" sz="2000" dirty="0"/>
          </a:p>
        </p:txBody>
      </p:sp>
      <p:sp>
        <p:nvSpPr>
          <p:cNvPr id="12" name="anim-0-18"/>
          <p:cNvSpPr/>
          <p:nvPr/>
        </p:nvSpPr>
        <p:spPr>
          <a:xfrm>
            <a:off x="548640" y="4709160"/>
            <a:ext cx="3749040" cy="1371600"/>
          </a:xfrm>
          <a:prstGeom prst="roundRect">
            <a:avLst>
              <a:gd name="adj" fmla="val 5333"/>
            </a:avLst>
          </a:prstGeom>
          <a:solidFill>
            <a:schemeClr val="accent1"/>
          </a:solidFill>
          <a:ln>
            <a:solidFill>
              <a:schemeClr val="accent1"/>
            </a:solidFill>
          </a:ln>
        </p:spPr>
        <p:txBody>
          <a:bodyPr wrap="square" lIns="203200" tIns="203200" rIns="203200" bIns="203200" rtlCol="0" anchor="ctr"/>
          <a:lstStyle/>
          <a:p>
            <a:pPr marL="0" indent="0">
              <a:buNone/>
            </a:pPr>
            <a:r>
              <a:rPr lang="en-US" sz="1400" b="1" kern="0" spc="200" dirty="0">
                <a:solidFill>
                  <a:schemeClr val="bg1"/>
                </a:solidFill>
              </a:rPr>
              <a:t>DATA</a:t>
            </a:r>
            <a:endParaRPr lang="en-US" sz="1400" dirty="0"/>
          </a:p>
          <a:p>
            <a:pPr marL="0" indent="0">
              <a:buNone/>
            </a:pPr>
            <a:r>
              <a:rPr lang="en-US" sz="2200" b="1" dirty="0">
                <a:solidFill>
                  <a:schemeClr val="bg1"/>
                </a:solidFill>
                <a:latin typeface="Cambria" pitchFamily="34" charset="0"/>
                <a:ea typeface="Cambria" pitchFamily="34" charset="-122"/>
                <a:cs typeface="Cambria" pitchFamily="34" charset="-120"/>
              </a:rPr>
              <a:t>Hibernate + PostgreSQL</a:t>
            </a:r>
            <a:endParaRPr lang="en-US" sz="1400" dirty="0"/>
          </a:p>
        </p:txBody>
      </p:sp>
      <p:sp>
        <p:nvSpPr>
          <p:cNvPr id="13" name="anim-0-19"/>
          <p:cNvSpPr/>
          <p:nvPr/>
        </p:nvSpPr>
        <p:spPr>
          <a:xfrm>
            <a:off x="4434840" y="4709160"/>
            <a:ext cx="7205472" cy="1371600"/>
          </a:xfrm>
          <a:prstGeom prst="roundRect">
            <a:avLst>
              <a:gd name="adj" fmla="val 5333"/>
            </a:avLst>
          </a:prstGeom>
          <a:solidFill>
            <a:schemeClr val="bg2"/>
          </a:solidFill>
          <a:ln>
            <a:solidFill>
              <a:schemeClr val="bg2"/>
            </a:solidFill>
          </a:ln>
        </p:spPr>
        <p:txBody>
          <a:bodyPr wrap="square" lIns="203200" tIns="203200" rIns="203200" bIns="203200" rtlCol="0" anchor="ctr"/>
          <a:lstStyle/>
          <a:p>
            <a:pPr marL="0" indent="0">
              <a:spcAft>
                <a:spcPts val="600"/>
              </a:spcAft>
              <a:buNone/>
            </a:pPr>
            <a:r>
              <a:rPr lang="en-US" sz="2000" b="1" dirty="0">
                <a:solidFill>
                  <a:schemeClr val="tx2"/>
                </a:solidFill>
              </a:rPr>
              <a:t>Remembers everything, safely</a:t>
            </a:r>
            <a:endParaRPr lang="en-US" sz="2000" dirty="0"/>
          </a:p>
          <a:p>
            <a:pPr marL="0" indent="0">
              <a:spcAft>
                <a:spcPts val="600"/>
              </a:spcAft>
              <a:buNone/>
            </a:pPr>
            <a:r>
              <a:rPr lang="en-US" sz="1700" dirty="0">
                <a:solidFill>
                  <a:schemeClr val="tx1"/>
                </a:solidFill>
              </a:rPr>
              <a:t>Your placement record, your UPI history, your food orders.</a:t>
            </a:r>
            <a:endParaRPr lang="en-US" sz="2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INDUSTRY VIEW</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College vs company: same skills, different game</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011680"/>
                <a:gridCol w="4480560"/>
                <a:gridCol w="4599432"/>
              </a:tblGrid>
              <a:tr h="502920">
                <a:tc>
                  <a:txBody>
                    <a:bodyPr/>
                    <a:lstStyle/>
                    <a:p>
                      <a:pPr marL="0" indent="0">
                        <a:buNone/>
                      </a:pPr>
                      <a:endParaRPr lang="en-US" sz="16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600" b="1" dirty="0">
                          <a:solidFill>
                            <a:srgbClr val="FFFFFF"/>
                          </a:solidFill>
                        </a:rPr>
                        <a:t>In the academy</a:t>
                      </a:r>
                      <a:endParaRPr lang="en-US" sz="16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600" b="1" dirty="0">
                          <a:solidFill>
                            <a:srgbClr val="FFFFFF"/>
                          </a:solidFill>
                        </a:rPr>
                        <a:t>In industry</a:t>
                      </a:r>
                      <a:endParaRPr lang="en-US" sz="16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r>
              <a:tr h="502920">
                <a:tc>
                  <a:txBody>
                    <a:bodyPr/>
                    <a:lstStyle/>
                    <a:p>
                      <a:pPr marL="0" indent="0">
                        <a:buNone/>
                      </a:pPr>
                      <a:r>
                        <a:rPr lang="en-US" sz="1500" b="1" dirty="0">
                          <a:solidFill>
                            <a:srgbClr val="0B1F3A"/>
                          </a:solidFill>
                        </a:rPr>
                        <a:t>The problem</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Clear, given, one right answer</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Vague, changing, many trade-offs</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The result</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A program that runs once</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A product that must keep running</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The time</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One semester</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Years of change requests and fixes</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The people</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You and your marks</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A team, code reviews, a client</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The check</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Exam at the end</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Every day: reviews, tests, production</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9" name="icon-circle"/>
          <p:cNvSpPr/>
          <p:nvPr/>
        </p:nvSpPr>
        <p:spPr>
          <a:xfrm>
            <a:off x="548640" y="4892040"/>
            <a:ext cx="640080" cy="640080"/>
          </a:xfrm>
          <a:prstGeom prst="ellipse">
            <a:avLst/>
          </a:prstGeom>
          <a:solidFill>
            <a:schemeClr val="accent2"/>
          </a:solidFill>
          <a:ln w="12700">
            <a:solidFill>
              <a:schemeClr val="accent2"/>
            </a:solidFill>
            <a:prstDash val="solid"/>
          </a:ln>
        </p:spPr>
      </p:sp>
      <p:pic>
        <p:nvPicPr>
          <p:cNvPr id="10" name="Image 0" descr="users"/>
          <p:cNvPicPr>
            <a:picLocks noChangeAspect="1"/>
          </p:cNvPicPr>
          <p:nvPr/>
        </p:nvPicPr>
        <p:blipFill>
          <a:blip r:embed="rId3"/>
          <a:stretch>
            <a:fillRect/>
          </a:stretch>
        </p:blipFill>
        <p:spPr>
          <a:xfrm>
            <a:off x="702259" y="5045659"/>
            <a:ext cx="332842" cy="332842"/>
          </a:xfrm>
          <a:prstGeom prst="rect">
            <a:avLst/>
          </a:prstGeom>
        </p:spPr>
      </p:pic>
      <p:sp>
        <p:nvSpPr>
          <p:cNvPr id="11" name="Text 6"/>
          <p:cNvSpPr txBox="1"/>
          <p:nvPr/>
        </p:nvSpPr>
        <p:spPr>
          <a:xfrm>
            <a:off x="1371600" y="4846320"/>
            <a:ext cx="10241280" cy="731520"/>
          </a:xfrm>
          <a:prstGeom prst="rect">
            <a:avLst/>
          </a:prstGeom>
          <a:noFill/>
          <a:ln/>
        </p:spPr>
        <p:txBody>
          <a:bodyPr wrap="square" lIns="0" tIns="0" rIns="0" bIns="0" rtlCol="0" anchor="ctr"/>
          <a:lstStyle/>
          <a:p>
            <a:pPr marL="0" indent="0">
              <a:buNone/>
            </a:pPr>
            <a:r>
              <a:rPr lang="en-US" sz="1700" dirty="0">
                <a:solidFill>
                  <a:schemeClr val="tx1"/>
                </a:solidFill>
              </a:rPr>
              <a:t>Your lab program runs once, for one teacher. Our portal today is small, but a real one serves thousands of students on result day.</a:t>
            </a:r>
            <a:endParaRPr lang="en-US" sz="17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INDUSTRY VIEW</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Service company or product company?</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011680"/>
                <a:gridCol w="4480560"/>
                <a:gridCol w="4599432"/>
              </a:tblGrid>
              <a:tr h="502920">
                <a:tc>
                  <a:txBody>
                    <a:bodyPr/>
                    <a:lstStyle/>
                    <a:p>
                      <a:pPr marL="0" indent="0">
                        <a:buNone/>
                      </a:pPr>
                      <a:endParaRPr lang="en-US" sz="16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600" b="1" dirty="0">
                          <a:solidFill>
                            <a:srgbClr val="FFFFFF"/>
                          </a:solidFill>
                        </a:rPr>
                        <a:t>Service-based</a:t>
                      </a:r>
                      <a:endParaRPr lang="en-US" sz="16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600" b="1" dirty="0">
                          <a:solidFill>
                            <a:srgbClr val="FFFFFF"/>
                          </a:solidFill>
                        </a:rPr>
                        <a:t>Product-based</a:t>
                      </a:r>
                      <a:endParaRPr lang="en-US" sz="16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r>
              <a:tr h="502920">
                <a:tc>
                  <a:txBody>
                    <a:bodyPr/>
                    <a:lstStyle/>
                    <a:p>
                      <a:pPr marL="0" indent="0">
                        <a:buNone/>
                      </a:pPr>
                      <a:r>
                        <a:rPr lang="en-US" sz="1500" b="1" dirty="0">
                          <a:solidFill>
                            <a:srgbClr val="0B1F3A"/>
                          </a:solidFill>
                        </a:rPr>
                        <a:t>Examples</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TCS, Infosys, Cybage</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Zoho, Freshworks, Atlassian, Google</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You build</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Software for a client's need</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Your own product for many users</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Day to day</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Varied projects, client calls, deadlines</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One product, deep ownership, long life</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You learn fast</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Breadth: many domains and tools</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Depth: design, scale, quality</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502920">
                <a:tc>
                  <a:txBody>
                    <a:bodyPr/>
                    <a:lstStyle/>
                    <a:p>
                      <a:pPr marL="0" indent="0">
                        <a:buNone/>
                      </a:pPr>
                      <a:r>
                        <a:rPr lang="en-US" sz="1500" b="1" dirty="0">
                          <a:solidFill>
                            <a:srgbClr val="0B1F3A"/>
                          </a:solidFill>
                        </a:rPr>
                        <a:t>Hiring (usually)</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2F5F9"/>
                    </a:solidFill>
                  </a:tcPr>
                </a:tc>
                <a:tc>
                  <a:txBody>
                    <a:bodyPr/>
                    <a:lstStyle/>
                    <a:p>
                      <a:pPr marL="0" indent="0">
                        <a:buNone/>
                      </a:pPr>
                      <a:r>
                        <a:rPr lang="en-US" sz="1500" dirty="0">
                          <a:solidFill>
                            <a:srgbClr val="1B2733"/>
                          </a:solidFill>
                        </a:rPr>
                        <a:t>Campus drives, then training</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500" dirty="0">
                          <a:solidFill>
                            <a:srgbClr val="1B2733"/>
                          </a:solidFill>
                        </a:rPr>
                        <a:t>Fewer seats, harder problem solving</a:t>
                      </a:r>
                      <a:endParaRPr lang="en-US" sz="1500" dirty="0"/>
                    </a:p>
                  </a:txBody>
                  <a:tcPr marL="109728" marR="109728"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9" name="card"/>
          <p:cNvSpPr/>
          <p:nvPr/>
        </p:nvSpPr>
        <p:spPr>
          <a:xfrm>
            <a:off x="548640" y="4892040"/>
            <a:ext cx="11091672" cy="777240"/>
          </a:xfrm>
          <a:prstGeom prst="roundRect">
            <a:avLst>
              <a:gd name="adj" fmla="val 9412"/>
            </a:avLst>
          </a:prstGeom>
          <a:solidFill>
            <a:schemeClr val="accent4">
              <a:alpha val="22000"/>
            </a:schemeClr>
          </a:solidFill>
          <a:ln w="12700">
            <a:solidFill>
              <a:schemeClr val="accent4">
                <a:alpha val="0"/>
              </a:schemeClr>
            </a:solidFill>
            <a:prstDash val="solid"/>
          </a:ln>
        </p:spPr>
      </p:sp>
      <p:sp>
        <p:nvSpPr>
          <p:cNvPr id="10" name="Text 6"/>
          <p:cNvSpPr txBox="1"/>
          <p:nvPr/>
        </p:nvSpPr>
        <p:spPr>
          <a:xfrm>
            <a:off x="777240" y="4892040"/>
            <a:ext cx="10698480" cy="777240"/>
          </a:xfrm>
          <a:prstGeom prst="rect">
            <a:avLst/>
          </a:prstGeom>
          <a:noFill/>
          <a:ln/>
        </p:spPr>
        <p:txBody>
          <a:bodyPr wrap="square" lIns="0" tIns="0" rIns="0" bIns="0" rtlCol="0" anchor="ctr"/>
          <a:lstStyle/>
          <a:p>
            <a:pPr marL="0" indent="0">
              <a:buNone/>
            </a:pPr>
            <a:r>
              <a:rPr lang="en-US" sz="1800" b="1" dirty="0">
                <a:solidFill>
                  <a:schemeClr val="tx2"/>
                </a:solidFill>
              </a:rPr>
              <a:t>For the first job, choose where you will learn the most, not the logo. Many companies do both.</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INDUSTRY VIEW</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Why your degree counts, and what to do now</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45920"/>
            <a:ext cx="5440680" cy="3977640"/>
          </a:xfrm>
          <a:prstGeom prst="roundRect">
            <a:avLst>
              <a:gd name="adj" fmla="val 1839"/>
            </a:avLst>
          </a:prstGeom>
          <a:solidFill>
            <a:schemeClr val="bg2"/>
          </a:solidFill>
          <a:ln w="12700">
            <a:solidFill>
              <a:schemeClr val="bg2"/>
            </a:solidFill>
            <a:prstDash val="solid"/>
          </a:ln>
        </p:spPr>
      </p:sp>
      <p:sp>
        <p:nvSpPr>
          <p:cNvPr id="9" name="icon-circle"/>
          <p:cNvSpPr/>
          <p:nvPr/>
        </p:nvSpPr>
        <p:spPr>
          <a:xfrm>
            <a:off x="777240" y="1810512"/>
            <a:ext cx="548640" cy="548640"/>
          </a:xfrm>
          <a:prstGeom prst="ellipse">
            <a:avLst/>
          </a:prstGeom>
          <a:solidFill>
            <a:schemeClr val="accent2"/>
          </a:solidFill>
          <a:ln w="12700">
            <a:solidFill>
              <a:schemeClr val="accent2"/>
            </a:solidFill>
            <a:prstDash val="solid"/>
          </a:ln>
        </p:spPr>
      </p:sp>
      <p:pic>
        <p:nvPicPr>
          <p:cNvPr id="10" name="Image 0" descr="uni"/>
          <p:cNvPicPr>
            <a:picLocks noChangeAspect="1"/>
          </p:cNvPicPr>
          <p:nvPr/>
        </p:nvPicPr>
        <p:blipFill>
          <a:blip r:embed="rId3"/>
          <a:stretch>
            <a:fillRect/>
          </a:stretch>
        </p:blipFill>
        <p:spPr>
          <a:xfrm>
            <a:off x="908914" y="1942186"/>
            <a:ext cx="285293" cy="285293"/>
          </a:xfrm>
          <a:prstGeom prst="rect">
            <a:avLst/>
          </a:prstGeom>
        </p:spPr>
      </p:pic>
      <p:sp>
        <p:nvSpPr>
          <p:cNvPr id="11" name="Text 7"/>
          <p:cNvSpPr txBox="1"/>
          <p:nvPr/>
        </p:nvSpPr>
        <p:spPr>
          <a:xfrm>
            <a:off x="1463040" y="1810512"/>
            <a:ext cx="4389120" cy="548640"/>
          </a:xfrm>
          <a:prstGeom prst="rect">
            <a:avLst/>
          </a:prstGeom>
          <a:noFill/>
          <a:ln/>
        </p:spPr>
        <p:txBody>
          <a:bodyPr wrap="square" lIns="0" tIns="0" rIns="0" bIns="0" rtlCol="0" anchor="ctr"/>
          <a:lstStyle/>
          <a:p>
            <a:pPr marL="0" indent="0">
              <a:buNone/>
            </a:pPr>
            <a:r>
              <a:rPr lang="en-US" sz="1800" b="1" dirty="0">
                <a:solidFill>
                  <a:schemeClr val="tx2"/>
                </a:solidFill>
              </a:rPr>
              <a:t>Why industry hires from universities</a:t>
            </a:r>
            <a:endParaRPr lang="en-US" sz="1800" dirty="0"/>
          </a:p>
        </p:txBody>
      </p:sp>
      <p:sp>
        <p:nvSpPr>
          <p:cNvPr id="12" name="Text 8"/>
          <p:cNvSpPr txBox="1"/>
          <p:nvPr/>
        </p:nvSpPr>
        <p:spPr>
          <a:xfrm>
            <a:off x="777240" y="2560320"/>
            <a:ext cx="502920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Proof you finish hard things over years</a:t>
            </a:r>
            <a:endParaRPr lang="en-US" sz="1600" dirty="0"/>
          </a:p>
          <a:p>
            <a:pPr marL="342900" indent="-342900">
              <a:spcAft>
                <a:spcPts val="800"/>
              </a:spcAft>
              <a:buSzPct val="100000"/>
              <a:buChar char="•"/>
            </a:pPr>
            <a:r>
              <a:rPr lang="en-US" sz="1600" dirty="0">
                <a:solidFill>
                  <a:schemeClr val="tx1"/>
                </a:solidFill>
              </a:rPr>
              <a:t>Fundamentals: DBMS, OS, networks, DSA</a:t>
            </a:r>
            <a:endParaRPr lang="en-US" sz="1600" dirty="0"/>
          </a:p>
          <a:p>
            <a:pPr marL="342900" indent="-342900">
              <a:spcAft>
                <a:spcPts val="800"/>
              </a:spcAft>
              <a:buSzPct val="100000"/>
              <a:buChar char="•"/>
            </a:pPr>
            <a:r>
              <a:rPr lang="en-US" sz="1600" dirty="0">
                <a:solidFill>
                  <a:schemeClr val="tx1"/>
                </a:solidFill>
              </a:rPr>
              <a:t>A trainable pool, hired at scale</a:t>
            </a:r>
            <a:endParaRPr lang="en-US" sz="1600" dirty="0"/>
          </a:p>
          <a:p>
            <a:pPr marL="342900" indent="-342900">
              <a:spcAft>
                <a:spcPts val="800"/>
              </a:spcAft>
              <a:buSzPct val="100000"/>
              <a:buChar char="•"/>
            </a:pPr>
            <a:r>
              <a:rPr lang="en-US" sz="1600" dirty="0">
                <a:solidFill>
                  <a:schemeClr val="tx1"/>
                </a:solidFill>
              </a:rPr>
              <a:t>Tools take weeks to teach; fundamentals take years</a:t>
            </a:r>
            <a:endParaRPr lang="en-US" sz="1600" dirty="0"/>
          </a:p>
        </p:txBody>
      </p:sp>
      <p:sp>
        <p:nvSpPr>
          <p:cNvPr id="13" name="Text 9"/>
          <p:cNvSpPr txBox="1"/>
          <p:nvPr/>
        </p:nvSpPr>
        <p:spPr>
          <a:xfrm>
            <a:off x="777240" y="4526280"/>
            <a:ext cx="5029200" cy="1005840"/>
          </a:xfrm>
          <a:prstGeom prst="rect">
            <a:avLst/>
          </a:prstGeom>
          <a:noFill/>
          <a:ln/>
        </p:spPr>
        <p:txBody>
          <a:bodyPr wrap="square" lIns="0" tIns="0" rIns="0" bIns="0" rtlCol="0" anchor="t"/>
          <a:lstStyle/>
          <a:p>
            <a:pPr marL="0" indent="0">
              <a:buNone/>
            </a:pPr>
            <a:r>
              <a:rPr lang="en-US" sz="1400" i="1" dirty="0">
                <a:solidFill>
                  <a:schemeClr val="accent5"/>
                </a:solidFill>
              </a:rPr>
              <a:t>My path: BCA, an A-Level diploma, then M.Sc. IT in 2014, and my first Java job the same year. The Oracle Java certificate came in 2016, two years into the job.</a:t>
            </a:r>
            <a:endParaRPr lang="en-US" sz="1400" dirty="0"/>
          </a:p>
        </p:txBody>
      </p:sp>
      <p:sp>
        <p:nvSpPr>
          <p:cNvPr id="14" name="card"/>
          <p:cNvSpPr/>
          <p:nvPr/>
        </p:nvSpPr>
        <p:spPr>
          <a:xfrm>
            <a:off x="6199632" y="1645920"/>
            <a:ext cx="5440680" cy="3977640"/>
          </a:xfrm>
          <a:prstGeom prst="roundRect">
            <a:avLst>
              <a:gd name="adj" fmla="val 1839"/>
            </a:avLst>
          </a:prstGeom>
          <a:solidFill>
            <a:schemeClr val="bg2"/>
          </a:solidFill>
          <a:ln w="12700">
            <a:solidFill>
              <a:schemeClr val="bg2"/>
            </a:solidFill>
            <a:prstDash val="solid"/>
          </a:ln>
        </p:spPr>
      </p:sp>
      <p:sp>
        <p:nvSpPr>
          <p:cNvPr id="15" name="icon-circle"/>
          <p:cNvSpPr/>
          <p:nvPr/>
        </p:nvSpPr>
        <p:spPr>
          <a:xfrm>
            <a:off x="6428232" y="1810512"/>
            <a:ext cx="548640" cy="548640"/>
          </a:xfrm>
          <a:prstGeom prst="ellipse">
            <a:avLst/>
          </a:prstGeom>
          <a:solidFill>
            <a:schemeClr val="accent1"/>
          </a:solidFill>
          <a:ln w="12700">
            <a:solidFill>
              <a:schemeClr val="accent1"/>
            </a:solidFill>
            <a:prstDash val="solid"/>
          </a:ln>
        </p:spPr>
      </p:sp>
      <p:pic>
        <p:nvPicPr>
          <p:cNvPr id="16" name="Image 1" descr="laptop"/>
          <p:cNvPicPr>
            <a:picLocks noChangeAspect="1"/>
          </p:cNvPicPr>
          <p:nvPr/>
        </p:nvPicPr>
        <p:blipFill>
          <a:blip r:embed="rId4"/>
          <a:stretch>
            <a:fillRect/>
          </a:stretch>
        </p:blipFill>
        <p:spPr>
          <a:xfrm>
            <a:off x="6559906" y="1942186"/>
            <a:ext cx="285293" cy="285293"/>
          </a:xfrm>
          <a:prstGeom prst="rect">
            <a:avLst/>
          </a:prstGeom>
        </p:spPr>
      </p:pic>
      <p:sp>
        <p:nvSpPr>
          <p:cNvPr id="17" name="Text 12"/>
          <p:cNvSpPr txBox="1"/>
          <p:nvPr/>
        </p:nvSpPr>
        <p:spPr>
          <a:xfrm>
            <a:off x="7114032" y="1810512"/>
            <a:ext cx="4389120" cy="548640"/>
          </a:xfrm>
          <a:prstGeom prst="rect">
            <a:avLst/>
          </a:prstGeom>
          <a:noFill/>
          <a:ln/>
        </p:spPr>
        <p:txBody>
          <a:bodyPr wrap="square" lIns="0" tIns="0" rIns="0" bIns="0" rtlCol="0" anchor="ctr"/>
          <a:lstStyle/>
          <a:p>
            <a:pPr marL="0" indent="0">
              <a:buNone/>
            </a:pPr>
            <a:r>
              <a:rPr lang="en-US" sz="1800" b="1" dirty="0">
                <a:solidFill>
                  <a:schemeClr val="tx2"/>
                </a:solidFill>
              </a:rPr>
              <a:t>Be industry-ready: five habits</a:t>
            </a:r>
            <a:endParaRPr lang="en-US" sz="1800" dirty="0"/>
          </a:p>
        </p:txBody>
      </p:sp>
      <p:sp>
        <p:nvSpPr>
          <p:cNvPr id="18" name="Text 13"/>
          <p:cNvSpPr txBox="1"/>
          <p:nvPr/>
        </p:nvSpPr>
        <p:spPr>
          <a:xfrm>
            <a:off x="6428232" y="2560320"/>
            <a:ext cx="5029200" cy="2926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Code a little, every day</a:t>
            </a:r>
            <a:endParaRPr lang="en-US" sz="1600" dirty="0"/>
          </a:p>
          <a:p>
            <a:pPr marL="342900" indent="-342900">
              <a:spcAft>
                <a:spcPts val="800"/>
              </a:spcAft>
              <a:buSzPct val="100000"/>
              <a:buChar char="•"/>
            </a:pPr>
            <a:r>
              <a:rPr lang="en-US" sz="1600" dirty="0">
                <a:solidFill>
                  <a:schemeClr val="tx1"/>
                </a:solidFill>
              </a:rPr>
              <a:t>SQL and Git, every day</a:t>
            </a:r>
            <a:endParaRPr lang="en-US" sz="1600" dirty="0"/>
          </a:p>
          <a:p>
            <a:pPr marL="342900" indent="-342900">
              <a:spcAft>
                <a:spcPts val="800"/>
              </a:spcAft>
              <a:buSzPct val="100000"/>
              <a:buChar char="•"/>
            </a:pPr>
            <a:r>
              <a:rPr lang="en-US" sz="1600" dirty="0">
                <a:solidFill>
                  <a:schemeClr val="tx1"/>
                </a:solidFill>
              </a:rPr>
              <a:t>One real project on GitHub, with a README</a:t>
            </a:r>
            <a:endParaRPr lang="en-US" sz="1600" dirty="0"/>
          </a:p>
          <a:p>
            <a:pPr marL="342900" indent="-342900">
              <a:spcAft>
                <a:spcPts val="800"/>
              </a:spcAft>
              <a:buSzPct val="100000"/>
              <a:buChar char="•"/>
            </a:pPr>
            <a:r>
              <a:rPr lang="en-US" sz="1600" dirty="0">
                <a:solidFill>
                  <a:schemeClr val="tx1"/>
                </a:solidFill>
              </a:rPr>
              <a:t>One beginner certification</a:t>
            </a:r>
            <a:endParaRPr lang="en-US" sz="1600" dirty="0"/>
          </a:p>
          <a:p>
            <a:pPr marL="342900" indent="-342900">
              <a:spcAft>
                <a:spcPts val="800"/>
              </a:spcAft>
              <a:buSzPct val="100000"/>
              <a:buChar char="•"/>
            </a:pPr>
            <a:r>
              <a:rPr lang="en-US" sz="1600" dirty="0">
                <a:solidFill>
                  <a:schemeClr val="tx1"/>
                </a:solidFill>
              </a:rPr>
              <a:t>Explain your project in two minutes</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INDUSTRY VIEW</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Gen AI: good or bad? It depends on how you use it</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accent3"/>
          </a:solidFill>
          <a:ln w="19050">
            <a:solidFill>
              <a:schemeClr val="accent3"/>
            </a:solidFill>
            <a:prstDash val="solid"/>
          </a:ln>
        </p:spPr>
      </p:sp>
      <p:sp>
        <p:nvSpPr>
          <p:cNvPr id="8" name="card"/>
          <p:cNvSpPr/>
          <p:nvPr/>
        </p:nvSpPr>
        <p:spPr>
          <a:xfrm>
            <a:off x="548640" y="1645920"/>
            <a:ext cx="5440680" cy="2514600"/>
          </a:xfrm>
          <a:prstGeom prst="roundRect">
            <a:avLst>
              <a:gd name="adj" fmla="val 2909"/>
            </a:avLst>
          </a:prstGeom>
          <a:solidFill>
            <a:schemeClr val="bg2"/>
          </a:solidFill>
          <a:ln w="12700">
            <a:solidFill>
              <a:schemeClr val="bg2"/>
            </a:solidFill>
            <a:prstDash val="solid"/>
          </a:ln>
        </p:spPr>
      </p:sp>
      <p:sp>
        <p:nvSpPr>
          <p:cNvPr id="9" name="icon-circle"/>
          <p:cNvSpPr/>
          <p:nvPr/>
        </p:nvSpPr>
        <p:spPr>
          <a:xfrm>
            <a:off x="777240" y="1783080"/>
            <a:ext cx="502920" cy="502920"/>
          </a:xfrm>
          <a:prstGeom prst="ellipse">
            <a:avLst/>
          </a:prstGeom>
          <a:solidFill>
            <a:schemeClr val="accent1"/>
          </a:solidFill>
          <a:ln w="12700">
            <a:solidFill>
              <a:schemeClr val="accent1"/>
            </a:solidFill>
            <a:prstDash val="solid"/>
          </a:ln>
        </p:spPr>
      </p:sp>
      <p:pic>
        <p:nvPicPr>
          <p:cNvPr id="10" name="Image 0" descr="check"/>
          <p:cNvPicPr>
            <a:picLocks noChangeAspect="1"/>
          </p:cNvPicPr>
          <p:nvPr/>
        </p:nvPicPr>
        <p:blipFill>
          <a:blip r:embed="rId3"/>
          <a:stretch>
            <a:fillRect/>
          </a:stretch>
        </p:blipFill>
        <p:spPr>
          <a:xfrm>
            <a:off x="897941" y="1903781"/>
            <a:ext cx="261518" cy="261518"/>
          </a:xfrm>
          <a:prstGeom prst="rect">
            <a:avLst/>
          </a:prstGeom>
        </p:spPr>
      </p:pic>
      <p:sp>
        <p:nvSpPr>
          <p:cNvPr id="11" name="Text 7"/>
          <p:cNvSpPr txBox="1"/>
          <p:nvPr/>
        </p:nvSpPr>
        <p:spPr>
          <a:xfrm>
            <a:off x="1417320" y="1783080"/>
            <a:ext cx="4389120" cy="502920"/>
          </a:xfrm>
          <a:prstGeom prst="rect">
            <a:avLst/>
          </a:prstGeom>
          <a:noFill/>
          <a:ln/>
        </p:spPr>
        <p:txBody>
          <a:bodyPr wrap="square" lIns="0" tIns="0" rIns="0" bIns="0" rtlCol="0" anchor="ctr"/>
          <a:lstStyle/>
          <a:p>
            <a:pPr marL="0" indent="0">
              <a:buNone/>
            </a:pPr>
            <a:r>
              <a:rPr lang="en-US" sz="1800" b="1" dirty="0">
                <a:solidFill>
                  <a:schemeClr val="tx2"/>
                </a:solidFill>
              </a:rPr>
              <a:t>It helps you when you</a:t>
            </a:r>
            <a:endParaRPr lang="en-US" sz="1800" dirty="0"/>
          </a:p>
        </p:txBody>
      </p:sp>
      <p:sp>
        <p:nvSpPr>
          <p:cNvPr id="12" name="Text 8"/>
          <p:cNvSpPr txBox="1"/>
          <p:nvPr/>
        </p:nvSpPr>
        <p:spPr>
          <a:xfrm>
            <a:off x="777240" y="242316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Ask it to explain an error</a:t>
            </a:r>
            <a:endParaRPr lang="en-US" sz="1600" dirty="0"/>
          </a:p>
          <a:p>
            <a:pPr marL="342900" indent="-342900">
              <a:spcAft>
                <a:spcPts val="600"/>
              </a:spcAft>
              <a:buSzPct val="100000"/>
              <a:buChar char="•"/>
            </a:pPr>
            <a:r>
              <a:rPr lang="en-US" sz="1600" dirty="0">
                <a:solidFill>
                  <a:schemeClr val="tx1"/>
                </a:solidFill>
              </a:rPr>
              <a:t>Generate tests and examples</a:t>
            </a:r>
            <a:endParaRPr lang="en-US" sz="1600" dirty="0"/>
          </a:p>
          <a:p>
            <a:pPr marL="342900" indent="-342900">
              <a:spcAft>
                <a:spcPts val="600"/>
              </a:spcAft>
              <a:buSzPct val="100000"/>
              <a:buChar char="•"/>
            </a:pPr>
            <a:r>
              <a:rPr lang="en-US" sz="1600" dirty="0">
                <a:solidFill>
                  <a:schemeClr val="tx1"/>
                </a:solidFill>
              </a:rPr>
              <a:t>Learn with a patient tutor</a:t>
            </a:r>
            <a:endParaRPr lang="en-US" sz="1600" dirty="0"/>
          </a:p>
        </p:txBody>
      </p:sp>
      <p:sp>
        <p:nvSpPr>
          <p:cNvPr id="13" name="card"/>
          <p:cNvSpPr/>
          <p:nvPr/>
        </p:nvSpPr>
        <p:spPr>
          <a:xfrm>
            <a:off x="6199632" y="1645920"/>
            <a:ext cx="5440680" cy="2514600"/>
          </a:xfrm>
          <a:prstGeom prst="roundRect">
            <a:avLst>
              <a:gd name="adj" fmla="val 2909"/>
            </a:avLst>
          </a:prstGeom>
          <a:solidFill>
            <a:schemeClr val="bg2"/>
          </a:solidFill>
          <a:ln w="12700">
            <a:solidFill>
              <a:schemeClr val="bg2"/>
            </a:solidFill>
            <a:prstDash val="solid"/>
          </a:ln>
        </p:spPr>
      </p:sp>
      <p:sp>
        <p:nvSpPr>
          <p:cNvPr id="14" name="icon-circle"/>
          <p:cNvSpPr/>
          <p:nvPr/>
        </p:nvSpPr>
        <p:spPr>
          <a:xfrm>
            <a:off x="6428232" y="1783080"/>
            <a:ext cx="502920" cy="502920"/>
          </a:xfrm>
          <a:prstGeom prst="ellipse">
            <a:avLst/>
          </a:prstGeom>
          <a:solidFill>
            <a:schemeClr val="accent6"/>
          </a:solidFill>
          <a:ln w="12700">
            <a:solidFill>
              <a:schemeClr val="accent6"/>
            </a:solidFill>
            <a:prstDash val="solid"/>
          </a:ln>
        </p:spPr>
      </p:sp>
      <p:pic>
        <p:nvPicPr>
          <p:cNvPr id="15" name="Image 1" descr="times"/>
          <p:cNvPicPr>
            <a:picLocks noChangeAspect="1"/>
          </p:cNvPicPr>
          <p:nvPr/>
        </p:nvPicPr>
        <p:blipFill>
          <a:blip r:embed="rId4"/>
          <a:stretch>
            <a:fillRect/>
          </a:stretch>
        </p:blipFill>
        <p:spPr>
          <a:xfrm>
            <a:off x="6548933" y="1903781"/>
            <a:ext cx="261518" cy="261518"/>
          </a:xfrm>
          <a:prstGeom prst="rect">
            <a:avLst/>
          </a:prstGeom>
        </p:spPr>
      </p:pic>
      <p:sp>
        <p:nvSpPr>
          <p:cNvPr id="16" name="Text 11"/>
          <p:cNvSpPr txBox="1"/>
          <p:nvPr/>
        </p:nvSpPr>
        <p:spPr>
          <a:xfrm>
            <a:off x="7068312" y="1783080"/>
            <a:ext cx="4389120" cy="502920"/>
          </a:xfrm>
          <a:prstGeom prst="rect">
            <a:avLst/>
          </a:prstGeom>
          <a:noFill/>
          <a:ln/>
        </p:spPr>
        <p:txBody>
          <a:bodyPr wrap="square" lIns="0" tIns="0" rIns="0" bIns="0" rtlCol="0" anchor="ctr"/>
          <a:lstStyle/>
          <a:p>
            <a:pPr marL="0" indent="0">
              <a:buNone/>
            </a:pPr>
            <a:r>
              <a:rPr lang="en-US" sz="1800" b="1" dirty="0">
                <a:solidFill>
                  <a:schemeClr val="tx2"/>
                </a:solidFill>
              </a:rPr>
              <a:t>It hurts you when you</a:t>
            </a:r>
            <a:endParaRPr lang="en-US" sz="1800" dirty="0"/>
          </a:p>
        </p:txBody>
      </p:sp>
      <p:sp>
        <p:nvSpPr>
          <p:cNvPr id="17" name="Text 12"/>
          <p:cNvSpPr txBox="1"/>
          <p:nvPr/>
        </p:nvSpPr>
        <p:spPr>
          <a:xfrm>
            <a:off x="6428232" y="242316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Copy code you cannot explain</a:t>
            </a:r>
            <a:endParaRPr lang="en-US" sz="1600" dirty="0"/>
          </a:p>
          <a:p>
            <a:pPr marL="342900" indent="-342900">
              <a:spcAft>
                <a:spcPts val="600"/>
              </a:spcAft>
              <a:buSzPct val="100000"/>
              <a:buChar char="•"/>
            </a:pPr>
            <a:r>
              <a:rPr lang="en-US" sz="1600" dirty="0">
                <a:solidFill>
                  <a:schemeClr val="tx1"/>
                </a:solidFill>
              </a:rPr>
              <a:t>Skip the fundamentals</a:t>
            </a:r>
            <a:endParaRPr lang="en-US" sz="1600" dirty="0"/>
          </a:p>
          <a:p>
            <a:pPr marL="342900" indent="-342900">
              <a:spcAft>
                <a:spcPts val="600"/>
              </a:spcAft>
              <a:buSzPct val="100000"/>
              <a:buChar char="•"/>
            </a:pPr>
            <a:r>
              <a:rPr lang="en-US" sz="1600" dirty="0">
                <a:solidFill>
                  <a:schemeClr val="tx1"/>
                </a:solidFill>
              </a:rPr>
              <a:t>Paste private data into it</a:t>
            </a:r>
            <a:endParaRPr lang="en-US" sz="1600" dirty="0"/>
          </a:p>
        </p:txBody>
      </p:sp>
      <p:sp>
        <p:nvSpPr>
          <p:cNvPr id="18" name="Text 13"/>
          <p:cNvSpPr txBox="1"/>
          <p:nvPr/>
        </p:nvSpPr>
        <p:spPr>
          <a:xfrm>
            <a:off x="548640" y="4389120"/>
            <a:ext cx="365760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BE READY</a:t>
            </a:r>
            <a:endParaRPr lang="en-US" sz="1200" dirty="0"/>
          </a:p>
        </p:txBody>
      </p:sp>
      <p:sp>
        <p:nvSpPr>
          <p:cNvPr id="19" name="card"/>
          <p:cNvSpPr/>
          <p:nvPr/>
        </p:nvSpPr>
        <p:spPr>
          <a:xfrm>
            <a:off x="548640" y="4709160"/>
            <a:ext cx="2624328" cy="960120"/>
          </a:xfrm>
          <a:prstGeom prst="roundRect">
            <a:avLst>
              <a:gd name="adj" fmla="val 7619"/>
            </a:avLst>
          </a:prstGeom>
          <a:solidFill>
            <a:schemeClr val="tx2"/>
          </a:solidFill>
          <a:ln w="12700">
            <a:solidFill>
              <a:schemeClr val="tx2"/>
            </a:solidFill>
            <a:prstDash val="solid"/>
          </a:ln>
        </p:spPr>
      </p:sp>
      <p:sp>
        <p:nvSpPr>
          <p:cNvPr id="20" name="Text 15"/>
          <p:cNvSpPr txBox="1"/>
          <p:nvPr/>
        </p:nvSpPr>
        <p:spPr>
          <a:xfrm>
            <a:off x="731520" y="4709160"/>
            <a:ext cx="2286000" cy="960120"/>
          </a:xfrm>
          <a:prstGeom prst="rect">
            <a:avLst/>
          </a:prstGeom>
          <a:noFill/>
          <a:ln/>
        </p:spPr>
        <p:txBody>
          <a:bodyPr wrap="square" lIns="0" tIns="0" rIns="0" bIns="0" rtlCol="0" anchor="ctr"/>
          <a:lstStyle/>
          <a:p>
            <a:pPr marL="0" indent="0">
              <a:buNone/>
            </a:pPr>
            <a:r>
              <a:rPr lang="en-US" sz="2000" b="1" dirty="0">
                <a:solidFill>
                  <a:schemeClr val="accent4"/>
                </a:solidFill>
              </a:rPr>
              <a:t>1  </a:t>
            </a:r>
            <a:r>
              <a:rPr lang="en-US" sz="1500" dirty="0">
                <a:solidFill>
                  <a:schemeClr val="bg1"/>
                </a:solidFill>
              </a:rPr>
              <a:t>Understand before you accept</a:t>
            </a:r>
            <a:endParaRPr lang="en-US" sz="2000" dirty="0"/>
          </a:p>
        </p:txBody>
      </p:sp>
      <p:sp>
        <p:nvSpPr>
          <p:cNvPr id="21" name="card"/>
          <p:cNvSpPr/>
          <p:nvPr/>
        </p:nvSpPr>
        <p:spPr>
          <a:xfrm>
            <a:off x="3355848" y="4709160"/>
            <a:ext cx="2624328" cy="960120"/>
          </a:xfrm>
          <a:prstGeom prst="roundRect">
            <a:avLst>
              <a:gd name="adj" fmla="val 7619"/>
            </a:avLst>
          </a:prstGeom>
          <a:solidFill>
            <a:schemeClr val="tx2"/>
          </a:solidFill>
          <a:ln w="12700">
            <a:solidFill>
              <a:schemeClr val="tx2"/>
            </a:solidFill>
            <a:prstDash val="solid"/>
          </a:ln>
        </p:spPr>
      </p:sp>
      <p:sp>
        <p:nvSpPr>
          <p:cNvPr id="22" name="Text 17"/>
          <p:cNvSpPr txBox="1"/>
          <p:nvPr/>
        </p:nvSpPr>
        <p:spPr>
          <a:xfrm>
            <a:off x="3538728" y="4709160"/>
            <a:ext cx="2286000" cy="960120"/>
          </a:xfrm>
          <a:prstGeom prst="rect">
            <a:avLst/>
          </a:prstGeom>
          <a:noFill/>
          <a:ln/>
        </p:spPr>
        <p:txBody>
          <a:bodyPr wrap="square" lIns="0" tIns="0" rIns="0" bIns="0" rtlCol="0" anchor="ctr"/>
          <a:lstStyle/>
          <a:p>
            <a:pPr marL="0" indent="0">
              <a:buNone/>
            </a:pPr>
            <a:r>
              <a:rPr lang="en-US" sz="2000" b="1" dirty="0">
                <a:solidFill>
                  <a:schemeClr val="accent4"/>
                </a:solidFill>
              </a:rPr>
              <a:t>2  </a:t>
            </a:r>
            <a:r>
              <a:rPr lang="en-US" sz="1500" dirty="0">
                <a:solidFill>
                  <a:schemeClr val="bg1"/>
                </a:solidFill>
              </a:rPr>
              <a:t>Verify with tests</a:t>
            </a:r>
            <a:endParaRPr lang="en-US" sz="2000" dirty="0"/>
          </a:p>
        </p:txBody>
      </p:sp>
      <p:sp>
        <p:nvSpPr>
          <p:cNvPr id="23" name="card"/>
          <p:cNvSpPr/>
          <p:nvPr/>
        </p:nvSpPr>
        <p:spPr>
          <a:xfrm>
            <a:off x="6163056" y="4709160"/>
            <a:ext cx="2624328" cy="960120"/>
          </a:xfrm>
          <a:prstGeom prst="roundRect">
            <a:avLst>
              <a:gd name="adj" fmla="val 7619"/>
            </a:avLst>
          </a:prstGeom>
          <a:solidFill>
            <a:schemeClr val="tx2"/>
          </a:solidFill>
          <a:ln w="12700">
            <a:solidFill>
              <a:schemeClr val="tx2"/>
            </a:solidFill>
            <a:prstDash val="solid"/>
          </a:ln>
        </p:spPr>
      </p:sp>
      <p:sp>
        <p:nvSpPr>
          <p:cNvPr id="24" name="Text 19"/>
          <p:cNvSpPr txBox="1"/>
          <p:nvPr/>
        </p:nvSpPr>
        <p:spPr>
          <a:xfrm>
            <a:off x="6345936" y="4709160"/>
            <a:ext cx="2286000" cy="960120"/>
          </a:xfrm>
          <a:prstGeom prst="rect">
            <a:avLst/>
          </a:prstGeom>
          <a:noFill/>
          <a:ln/>
        </p:spPr>
        <p:txBody>
          <a:bodyPr wrap="square" lIns="0" tIns="0" rIns="0" bIns="0" rtlCol="0" anchor="ctr"/>
          <a:lstStyle/>
          <a:p>
            <a:pPr marL="0" indent="0">
              <a:buNone/>
            </a:pPr>
            <a:r>
              <a:rPr lang="en-US" sz="2000" b="1" dirty="0">
                <a:solidFill>
                  <a:schemeClr val="accent4"/>
                </a:solidFill>
              </a:rPr>
              <a:t>3  </a:t>
            </a:r>
            <a:r>
              <a:rPr lang="en-US" sz="1500" dirty="0">
                <a:solidFill>
                  <a:schemeClr val="bg1"/>
                </a:solidFill>
              </a:rPr>
              <a:t>Keep fundamentals sharp</a:t>
            </a:r>
            <a:endParaRPr lang="en-US" sz="2000" dirty="0"/>
          </a:p>
        </p:txBody>
      </p:sp>
      <p:sp>
        <p:nvSpPr>
          <p:cNvPr id="25" name="card"/>
          <p:cNvSpPr/>
          <p:nvPr/>
        </p:nvSpPr>
        <p:spPr>
          <a:xfrm>
            <a:off x="8970264" y="4709160"/>
            <a:ext cx="2624328" cy="960120"/>
          </a:xfrm>
          <a:prstGeom prst="roundRect">
            <a:avLst>
              <a:gd name="adj" fmla="val 7619"/>
            </a:avLst>
          </a:prstGeom>
          <a:solidFill>
            <a:schemeClr val="tx2"/>
          </a:solidFill>
          <a:ln w="12700">
            <a:solidFill>
              <a:schemeClr val="tx2"/>
            </a:solidFill>
            <a:prstDash val="solid"/>
          </a:ln>
        </p:spPr>
      </p:sp>
      <p:sp>
        <p:nvSpPr>
          <p:cNvPr id="26" name="Text 21"/>
          <p:cNvSpPr txBox="1"/>
          <p:nvPr/>
        </p:nvSpPr>
        <p:spPr>
          <a:xfrm>
            <a:off x="9153144" y="4709160"/>
            <a:ext cx="2286000" cy="960120"/>
          </a:xfrm>
          <a:prstGeom prst="rect">
            <a:avLst/>
          </a:prstGeom>
          <a:noFill/>
          <a:ln/>
        </p:spPr>
        <p:txBody>
          <a:bodyPr wrap="square" lIns="0" tIns="0" rIns="0" bIns="0" rtlCol="0" anchor="ctr"/>
          <a:lstStyle/>
          <a:p>
            <a:pPr marL="0" indent="0">
              <a:buNone/>
            </a:pPr>
            <a:r>
              <a:rPr lang="en-US" sz="2000" b="1" dirty="0">
                <a:solidFill>
                  <a:schemeClr val="accent4"/>
                </a:solidFill>
              </a:rPr>
              <a:t>4  </a:t>
            </a:r>
            <a:r>
              <a:rPr lang="en-US" sz="1500" dirty="0">
                <a:solidFill>
                  <a:schemeClr val="bg1"/>
                </a:solidFill>
              </a:rPr>
              <a:t>Treat every failure as a bug: read the log</a:t>
            </a:r>
            <a:endParaRPr lang="en-US" sz="20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INDUSTRY VIEW</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Improve yourself first. The package follows.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554480"/>
            <a:ext cx="5449824" cy="2057400"/>
          </a:xfrm>
          <a:prstGeom prst="roundRect">
            <a:avLst>
              <a:gd name="adj" fmla="val 3556"/>
            </a:avLst>
          </a:prstGeom>
          <a:solidFill>
            <a:schemeClr val="bg2"/>
          </a:solidFill>
          <a:ln w="12700">
            <a:solidFill>
              <a:schemeClr val="bg2"/>
            </a:solidFill>
            <a:prstDash val="solid"/>
          </a:ln>
        </p:spPr>
      </p:sp>
      <p:sp>
        <p:nvSpPr>
          <p:cNvPr id="9" name="icon-circle"/>
          <p:cNvSpPr/>
          <p:nvPr/>
        </p:nvSpPr>
        <p:spPr>
          <a:xfrm>
            <a:off x="731520" y="1691640"/>
            <a:ext cx="566928" cy="566928"/>
          </a:xfrm>
          <a:prstGeom prst="ellipse">
            <a:avLst/>
          </a:prstGeom>
          <a:solidFill>
            <a:schemeClr val="accent1"/>
          </a:solidFill>
          <a:ln w="12700">
            <a:solidFill>
              <a:schemeClr val="accent1"/>
            </a:solidFill>
            <a:prstDash val="solid"/>
          </a:ln>
        </p:spPr>
      </p:sp>
      <p:pic>
        <p:nvPicPr>
          <p:cNvPr id="10" name="Image 0" descr="seed"/>
          <p:cNvPicPr>
            <a:picLocks noChangeAspect="1"/>
          </p:cNvPicPr>
          <p:nvPr/>
        </p:nvPicPr>
        <p:blipFill>
          <a:blip r:embed="rId3"/>
          <a:stretch>
            <a:fillRect/>
          </a:stretch>
        </p:blipFill>
        <p:spPr>
          <a:xfrm>
            <a:off x="867583" y="1827703"/>
            <a:ext cx="294803" cy="294803"/>
          </a:xfrm>
          <a:prstGeom prst="rect">
            <a:avLst/>
          </a:prstGeom>
        </p:spPr>
      </p:pic>
      <p:sp>
        <p:nvSpPr>
          <p:cNvPr id="11" name="Text 7"/>
          <p:cNvSpPr txBox="1"/>
          <p:nvPr/>
        </p:nvSpPr>
        <p:spPr>
          <a:xfrm>
            <a:off x="1463040" y="1691640"/>
            <a:ext cx="4389120" cy="566928"/>
          </a:xfrm>
          <a:prstGeom prst="rect">
            <a:avLst/>
          </a:prstGeom>
          <a:noFill/>
          <a:ln/>
        </p:spPr>
        <p:txBody>
          <a:bodyPr wrap="square" lIns="0" tIns="0" rIns="0" bIns="0" rtlCol="0" anchor="ctr"/>
          <a:lstStyle/>
          <a:p>
            <a:pPr marL="0" indent="0">
              <a:buNone/>
            </a:pPr>
            <a:r>
              <a:rPr lang="en-US" sz="1900" b="1" dirty="0">
                <a:solidFill>
                  <a:schemeClr val="tx2"/>
                </a:solidFill>
              </a:rPr>
              <a:t>Choose learning over logo</a:t>
            </a:r>
            <a:endParaRPr lang="en-US" sz="1900" dirty="0"/>
          </a:p>
        </p:txBody>
      </p:sp>
      <p:sp>
        <p:nvSpPr>
          <p:cNvPr id="12" name="Text 8"/>
          <p:cNvSpPr txBox="1"/>
          <p:nvPr/>
        </p:nvSpPr>
        <p:spPr>
          <a:xfrm>
            <a:off x="777240" y="2359152"/>
            <a:ext cx="5029200" cy="118872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In your first three years, the team and the mentor matter more than the company name.</a:t>
            </a:r>
            <a:endParaRPr lang="en-US" sz="1500" dirty="0"/>
          </a:p>
          <a:p>
            <a:pPr marL="0" indent="0">
              <a:spcAft>
                <a:spcPts val="600"/>
              </a:spcAft>
              <a:buNone/>
            </a:pPr>
            <a:r>
              <a:rPr lang="en-US" sz="1400" b="1" dirty="0">
                <a:solidFill>
                  <a:schemeClr val="accent3"/>
                </a:solidFill>
              </a:rPr>
              <a:t>Example: </a:t>
            </a:r>
            <a:r>
              <a:rPr lang="en-US" sz="1400" i="1" dirty="0">
                <a:solidFill>
                  <a:schemeClr val="accent5"/>
                </a:solidFill>
              </a:rPr>
              <a:t>A team that reviews your code teaches you more in a year than a big name with no mentor.</a:t>
            </a:r>
            <a:endParaRPr lang="en-US" sz="1500" dirty="0"/>
          </a:p>
        </p:txBody>
      </p:sp>
      <p:sp>
        <p:nvSpPr>
          <p:cNvPr id="13" name="card"/>
          <p:cNvSpPr/>
          <p:nvPr/>
        </p:nvSpPr>
        <p:spPr>
          <a:xfrm>
            <a:off x="6190488" y="1554480"/>
            <a:ext cx="5449824" cy="2057400"/>
          </a:xfrm>
          <a:prstGeom prst="roundRect">
            <a:avLst>
              <a:gd name="adj" fmla="val 3556"/>
            </a:avLst>
          </a:prstGeom>
          <a:solidFill>
            <a:schemeClr val="bg2"/>
          </a:solidFill>
          <a:ln w="12700">
            <a:solidFill>
              <a:schemeClr val="bg2"/>
            </a:solidFill>
            <a:prstDash val="solid"/>
          </a:ln>
        </p:spPr>
      </p:sp>
      <p:sp>
        <p:nvSpPr>
          <p:cNvPr id="14" name="icon-circle"/>
          <p:cNvSpPr/>
          <p:nvPr/>
        </p:nvSpPr>
        <p:spPr>
          <a:xfrm>
            <a:off x="6373368" y="1691640"/>
            <a:ext cx="566928" cy="566928"/>
          </a:xfrm>
          <a:prstGeom prst="ellipse">
            <a:avLst/>
          </a:prstGeom>
          <a:solidFill>
            <a:schemeClr val="accent2"/>
          </a:solidFill>
          <a:ln w="12700">
            <a:solidFill>
              <a:schemeClr val="accent2"/>
            </a:solidFill>
            <a:prstDash val="solid"/>
          </a:ln>
        </p:spPr>
      </p:sp>
      <p:pic>
        <p:nvPicPr>
          <p:cNvPr id="15" name="Image 1" descr="book"/>
          <p:cNvPicPr>
            <a:picLocks noChangeAspect="1"/>
          </p:cNvPicPr>
          <p:nvPr/>
        </p:nvPicPr>
        <p:blipFill>
          <a:blip r:embed="rId4"/>
          <a:stretch>
            <a:fillRect/>
          </a:stretch>
        </p:blipFill>
        <p:spPr>
          <a:xfrm>
            <a:off x="6509431" y="1827703"/>
            <a:ext cx="294803" cy="294803"/>
          </a:xfrm>
          <a:prstGeom prst="rect">
            <a:avLst/>
          </a:prstGeom>
        </p:spPr>
      </p:pic>
      <p:sp>
        <p:nvSpPr>
          <p:cNvPr id="16" name="Text 11"/>
          <p:cNvSpPr txBox="1"/>
          <p:nvPr/>
        </p:nvSpPr>
        <p:spPr>
          <a:xfrm>
            <a:off x="7104888" y="1691640"/>
            <a:ext cx="4389120" cy="566928"/>
          </a:xfrm>
          <a:prstGeom prst="rect">
            <a:avLst/>
          </a:prstGeom>
          <a:noFill/>
          <a:ln/>
        </p:spPr>
        <p:txBody>
          <a:bodyPr wrap="square" lIns="0" tIns="0" rIns="0" bIns="0" rtlCol="0" anchor="ctr"/>
          <a:lstStyle/>
          <a:p>
            <a:pPr marL="0" indent="0">
              <a:buNone/>
            </a:pPr>
            <a:r>
              <a:rPr lang="en-US" sz="1900" b="1" dirty="0">
                <a:solidFill>
                  <a:schemeClr val="tx2"/>
                </a:solidFill>
              </a:rPr>
              <a:t>Ideas outlive versions</a:t>
            </a:r>
            <a:endParaRPr lang="en-US" sz="1900" dirty="0"/>
          </a:p>
        </p:txBody>
      </p:sp>
      <p:sp>
        <p:nvSpPr>
          <p:cNvPr id="17" name="Text 12"/>
          <p:cNvSpPr txBox="1"/>
          <p:nvPr/>
        </p:nvSpPr>
        <p:spPr>
          <a:xfrm>
            <a:off x="6419088" y="2359152"/>
            <a:ext cx="5029200" cy="118872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Tools change every few years. The idea underneath stays the same.</a:t>
            </a:r>
            <a:endParaRPr lang="en-US" sz="1500" dirty="0"/>
          </a:p>
          <a:p>
            <a:pPr marL="0" indent="0">
              <a:spcAft>
                <a:spcPts val="600"/>
              </a:spcAft>
              <a:buNone/>
            </a:pPr>
            <a:r>
              <a:rPr lang="en-US" sz="1400" b="1" dirty="0">
                <a:solidFill>
                  <a:schemeClr val="accent3"/>
                </a:solidFill>
              </a:rPr>
              <a:t>Example: </a:t>
            </a:r>
            <a:r>
              <a:rPr lang="en-US" sz="1400" i="1" dirty="0">
                <a:solidFill>
                  <a:schemeClr val="accent5"/>
                </a:solidFill>
              </a:rPr>
              <a:t>JDBC, Hibernate, Spring Data JPA: three generations, one idea. I started on Hibernate 3; today's demo runs 6.</a:t>
            </a:r>
            <a:endParaRPr lang="en-US" sz="1500" dirty="0"/>
          </a:p>
        </p:txBody>
      </p:sp>
      <p:sp>
        <p:nvSpPr>
          <p:cNvPr id="18" name="card"/>
          <p:cNvSpPr/>
          <p:nvPr/>
        </p:nvSpPr>
        <p:spPr>
          <a:xfrm>
            <a:off x="548640" y="3749040"/>
            <a:ext cx="5449824" cy="2057400"/>
          </a:xfrm>
          <a:prstGeom prst="roundRect">
            <a:avLst>
              <a:gd name="adj" fmla="val 3556"/>
            </a:avLst>
          </a:prstGeom>
          <a:solidFill>
            <a:schemeClr val="bg2"/>
          </a:solidFill>
          <a:ln w="12700">
            <a:solidFill>
              <a:schemeClr val="bg2"/>
            </a:solidFill>
            <a:prstDash val="solid"/>
          </a:ln>
        </p:spPr>
      </p:sp>
      <p:sp>
        <p:nvSpPr>
          <p:cNvPr id="19" name="icon-circle"/>
          <p:cNvSpPr/>
          <p:nvPr/>
        </p:nvSpPr>
        <p:spPr>
          <a:xfrm>
            <a:off x="731520" y="3886200"/>
            <a:ext cx="566928" cy="566928"/>
          </a:xfrm>
          <a:prstGeom prst="ellipse">
            <a:avLst/>
          </a:prstGeom>
          <a:solidFill>
            <a:schemeClr val="accent1"/>
          </a:solidFill>
          <a:ln w="12700">
            <a:solidFill>
              <a:schemeClr val="accent1"/>
            </a:solidFill>
            <a:prstDash val="solid"/>
          </a:ln>
        </p:spPr>
      </p:sp>
      <p:pic>
        <p:nvPicPr>
          <p:cNvPr id="20" name="Image 2" descr="handshake"/>
          <p:cNvPicPr>
            <a:picLocks noChangeAspect="1"/>
          </p:cNvPicPr>
          <p:nvPr/>
        </p:nvPicPr>
        <p:blipFill>
          <a:blip r:embed="rId5"/>
          <a:stretch>
            <a:fillRect/>
          </a:stretch>
        </p:blipFill>
        <p:spPr>
          <a:xfrm>
            <a:off x="867583" y="4022263"/>
            <a:ext cx="294803" cy="294803"/>
          </a:xfrm>
          <a:prstGeom prst="rect">
            <a:avLst/>
          </a:prstGeom>
        </p:spPr>
      </p:pic>
      <p:sp>
        <p:nvSpPr>
          <p:cNvPr id="21" name="Text 15"/>
          <p:cNvSpPr txBox="1"/>
          <p:nvPr/>
        </p:nvSpPr>
        <p:spPr>
          <a:xfrm>
            <a:off x="1463040" y="3886200"/>
            <a:ext cx="4389120" cy="566928"/>
          </a:xfrm>
          <a:prstGeom prst="rect">
            <a:avLst/>
          </a:prstGeom>
          <a:noFill/>
          <a:ln/>
        </p:spPr>
        <p:txBody>
          <a:bodyPr wrap="square" lIns="0" tIns="0" rIns="0" bIns="0" rtlCol="0" anchor="ctr"/>
          <a:lstStyle/>
          <a:p>
            <a:pPr marL="0" indent="0">
              <a:buNone/>
            </a:pPr>
            <a:r>
              <a:rPr lang="en-US" sz="1900" b="1" dirty="0">
                <a:solidFill>
                  <a:schemeClr val="tx2"/>
                </a:solidFill>
              </a:rPr>
              <a:t>Be reliable and visible</a:t>
            </a:r>
            <a:endParaRPr lang="en-US" sz="1900" dirty="0"/>
          </a:p>
        </p:txBody>
      </p:sp>
      <p:sp>
        <p:nvSpPr>
          <p:cNvPr id="22" name="Text 16"/>
          <p:cNvSpPr txBox="1"/>
          <p:nvPr/>
        </p:nvSpPr>
        <p:spPr>
          <a:xfrm>
            <a:off x="777240" y="4553712"/>
            <a:ext cx="5029200" cy="118872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Do what you said you would do, and say early when you are stuck.</a:t>
            </a:r>
            <a:endParaRPr lang="en-US" sz="1500" dirty="0"/>
          </a:p>
          <a:p>
            <a:pPr marL="0" indent="0">
              <a:spcAft>
                <a:spcPts val="600"/>
              </a:spcAft>
              <a:buNone/>
            </a:pPr>
            <a:r>
              <a:rPr lang="en-US" sz="1400" b="1" dirty="0">
                <a:solidFill>
                  <a:schemeClr val="accent3"/>
                </a:solidFill>
              </a:rPr>
              <a:t>Example: </a:t>
            </a:r>
            <a:r>
              <a:rPr lang="en-US" sz="1400" i="1" dirty="0">
                <a:solidFill>
                  <a:schemeClr val="accent5"/>
                </a:solidFill>
              </a:rPr>
              <a:t>Say on Monday: this will slip by two days. Not on Friday: it is not done.</a:t>
            </a:r>
            <a:endParaRPr lang="en-US" sz="1500" dirty="0"/>
          </a:p>
        </p:txBody>
      </p:sp>
      <p:sp>
        <p:nvSpPr>
          <p:cNvPr id="23" name="card"/>
          <p:cNvSpPr/>
          <p:nvPr/>
        </p:nvSpPr>
        <p:spPr>
          <a:xfrm>
            <a:off x="6190488" y="3749040"/>
            <a:ext cx="5449824" cy="2057400"/>
          </a:xfrm>
          <a:prstGeom prst="roundRect">
            <a:avLst>
              <a:gd name="adj" fmla="val 3556"/>
            </a:avLst>
          </a:prstGeom>
          <a:solidFill>
            <a:schemeClr val="bg2"/>
          </a:solidFill>
          <a:ln w="12700">
            <a:solidFill>
              <a:schemeClr val="bg2"/>
            </a:solidFill>
            <a:prstDash val="solid"/>
          </a:ln>
        </p:spPr>
      </p:sp>
      <p:sp>
        <p:nvSpPr>
          <p:cNvPr id="24" name="icon-circle"/>
          <p:cNvSpPr/>
          <p:nvPr/>
        </p:nvSpPr>
        <p:spPr>
          <a:xfrm>
            <a:off x="6373368" y="3886200"/>
            <a:ext cx="566928" cy="566928"/>
          </a:xfrm>
          <a:prstGeom prst="ellipse">
            <a:avLst/>
          </a:prstGeom>
          <a:solidFill>
            <a:schemeClr val="accent2"/>
          </a:solidFill>
          <a:ln w="12700">
            <a:solidFill>
              <a:schemeClr val="accent2"/>
            </a:solidFill>
            <a:prstDash val="solid"/>
          </a:ln>
        </p:spPr>
      </p:sp>
      <p:pic>
        <p:nvPicPr>
          <p:cNvPr id="25" name="Image 3" descr="bug"/>
          <p:cNvPicPr>
            <a:picLocks noChangeAspect="1"/>
          </p:cNvPicPr>
          <p:nvPr/>
        </p:nvPicPr>
        <p:blipFill>
          <a:blip r:embed="rId6"/>
          <a:stretch>
            <a:fillRect/>
          </a:stretch>
        </p:blipFill>
        <p:spPr>
          <a:xfrm>
            <a:off x="6509431" y="4022263"/>
            <a:ext cx="294803" cy="294803"/>
          </a:xfrm>
          <a:prstGeom prst="rect">
            <a:avLst/>
          </a:prstGeom>
        </p:spPr>
      </p:pic>
      <p:sp>
        <p:nvSpPr>
          <p:cNvPr id="26" name="Text 19"/>
          <p:cNvSpPr txBox="1"/>
          <p:nvPr/>
        </p:nvSpPr>
        <p:spPr>
          <a:xfrm>
            <a:off x="7104888" y="3886200"/>
            <a:ext cx="4389120" cy="566928"/>
          </a:xfrm>
          <a:prstGeom prst="rect">
            <a:avLst/>
          </a:prstGeom>
          <a:noFill/>
          <a:ln/>
        </p:spPr>
        <p:txBody>
          <a:bodyPr wrap="square" lIns="0" tIns="0" rIns="0" bIns="0" rtlCol="0" anchor="ctr"/>
          <a:lstStyle/>
          <a:p>
            <a:pPr marL="0" indent="0">
              <a:buNone/>
            </a:pPr>
            <a:r>
              <a:rPr lang="en-US" sz="1900" b="1" dirty="0">
                <a:solidFill>
                  <a:schemeClr val="tx2"/>
                </a:solidFill>
              </a:rPr>
              <a:t>Treat setbacks as bugs</a:t>
            </a:r>
            <a:endParaRPr lang="en-US" sz="1900" dirty="0"/>
          </a:p>
        </p:txBody>
      </p:sp>
      <p:sp>
        <p:nvSpPr>
          <p:cNvPr id="27" name="Text 20"/>
          <p:cNvSpPr txBox="1"/>
          <p:nvPr/>
        </p:nvSpPr>
        <p:spPr>
          <a:xfrm>
            <a:off x="6419088" y="4553712"/>
            <a:ext cx="5029200" cy="118872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A failure is information, not a verdict. Debug it like code: read the log, guess one cause, test it, repeat.</a:t>
            </a:r>
            <a:endParaRPr lang="en-US" sz="1500" dirty="0"/>
          </a:p>
          <a:p>
            <a:pPr marL="0" indent="0">
              <a:spcAft>
                <a:spcPts val="600"/>
              </a:spcAft>
              <a:buNone/>
            </a:pPr>
            <a:r>
              <a:rPr lang="en-US" sz="1400" b="1" dirty="0">
                <a:solidFill>
                  <a:schemeClr val="accent3"/>
                </a:solidFill>
              </a:rPr>
              <a:t>Example: </a:t>
            </a:r>
            <a:r>
              <a:rPr lang="en-US" sz="1400" i="1" dirty="0">
                <a:solidFill>
                  <a:schemeClr val="accent5"/>
                </a:solidFill>
              </a:rPr>
              <a:t>Today: the log shows 26 selects, guess LAZY in a loop, test JOIN FETCH, result 1 select. Use it after a failed interview too.</a:t>
            </a:r>
            <a:endParaRPr lang="en-US" sz="1500" dirty="0"/>
          </a:p>
        </p:txBody>
      </p:sp>
      <p:sp>
        <p:nvSpPr>
          <p:cNvPr id="28" name="Text 21"/>
          <p:cNvSpPr txBox="1"/>
          <p:nvPr/>
        </p:nvSpPr>
        <p:spPr>
          <a:xfrm>
            <a:off x="548640" y="594360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Skills build impact. Impact builds growth. Growth builds the package.</a:t>
            </a:r>
            <a:endParaRPr lang="en-US" sz="16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OUR QUESTION FOR TODAY</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One page. 101 database queries.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554480"/>
            <a:ext cx="4023360" cy="2194560"/>
          </a:xfrm>
          <a:prstGeom prst="rect">
            <a:avLst/>
          </a:prstGeom>
          <a:noFill/>
          <a:ln/>
        </p:spPr>
        <p:txBody>
          <a:bodyPr wrap="square" lIns="0" tIns="0" rIns="0" bIns="0" rtlCol="0" anchor="ctr"/>
          <a:lstStyle/>
          <a:p>
            <a:pPr marL="0" indent="0">
              <a:buNone/>
            </a:pPr>
            <a:r>
              <a:rPr lang="en-US" sz="12000" b="1" dirty="0">
                <a:solidFill>
                  <a:schemeClr val="accent3"/>
                </a:solidFill>
                <a:latin typeface="Cambria" pitchFamily="34" charset="0"/>
                <a:ea typeface="Cambria" pitchFamily="34" charset="-122"/>
                <a:cs typeface="Cambria" pitchFamily="34" charset="-120"/>
              </a:rPr>
              <a:t>101</a:t>
            </a:r>
            <a:endParaRPr lang="en-US" sz="12000" dirty="0"/>
          </a:p>
        </p:txBody>
      </p:sp>
      <p:sp>
        <p:nvSpPr>
          <p:cNvPr id="9" name="Text 6"/>
          <p:cNvSpPr txBox="1"/>
          <p:nvPr/>
        </p:nvSpPr>
        <p:spPr>
          <a:xfrm>
            <a:off x="548640" y="3749040"/>
            <a:ext cx="4023360" cy="822960"/>
          </a:xfrm>
          <a:prstGeom prst="rect">
            <a:avLst/>
          </a:prstGeom>
          <a:noFill/>
          <a:ln/>
        </p:spPr>
        <p:txBody>
          <a:bodyPr wrap="square" lIns="0" tIns="0" rIns="0" bIns="0" rtlCol="0" anchor="t"/>
          <a:lstStyle/>
          <a:p>
            <a:pPr marL="0" indent="0">
              <a:buNone/>
            </a:pPr>
            <a:r>
              <a:rPr lang="en-US" sz="1800" dirty="0">
                <a:solidFill>
                  <a:schemeClr val="tx1"/>
                </a:solidFill>
              </a:rPr>
              <a:t>database queries for one page that showed a simple list.</a:t>
            </a:r>
            <a:endParaRPr lang="en-US" sz="1800" dirty="0"/>
          </a:p>
        </p:txBody>
      </p:sp>
      <p:sp>
        <p:nvSpPr>
          <p:cNvPr id="10" name="card"/>
          <p:cNvSpPr/>
          <p:nvPr/>
        </p:nvSpPr>
        <p:spPr>
          <a:xfrm>
            <a:off x="4937760" y="1600200"/>
            <a:ext cx="6702552" cy="3063240"/>
          </a:xfrm>
          <a:prstGeom prst="roundRect">
            <a:avLst>
              <a:gd name="adj" fmla="val 2388"/>
            </a:avLst>
          </a:prstGeom>
          <a:solidFill>
            <a:schemeClr val="bg2"/>
          </a:solidFill>
          <a:ln w="12700">
            <a:solidFill>
              <a:schemeClr val="bg2"/>
            </a:solidFill>
            <a:prstDash val="solid"/>
          </a:ln>
        </p:spPr>
      </p:sp>
      <p:sp>
        <p:nvSpPr>
          <p:cNvPr id="11" name="Text 8"/>
          <p:cNvSpPr txBox="1"/>
          <p:nvPr/>
        </p:nvSpPr>
        <p:spPr>
          <a:xfrm>
            <a:off x="5166360" y="1737360"/>
            <a:ext cx="6309360" cy="274320"/>
          </a:xfrm>
          <a:prstGeom prst="rect">
            <a:avLst/>
          </a:prstGeom>
          <a:noFill/>
          <a:ln/>
        </p:spPr>
        <p:txBody>
          <a:bodyPr wrap="square" lIns="0" tIns="0" rIns="0" bIns="0" rtlCol="0" anchor="ctr"/>
          <a:lstStyle/>
          <a:p>
            <a:pPr marL="0" indent="0">
              <a:buNone/>
            </a:pPr>
            <a:r>
              <a:rPr lang="en-US" sz="1200" b="1" kern="0" spc="100" dirty="0">
                <a:solidFill>
                  <a:schemeClr val="accent5"/>
                </a:solidFill>
              </a:rPr>
              <a:t>A JOB SEARCH PAGE: 100 JOBS, EACH WITH A COMPANY NAME</a:t>
            </a:r>
            <a:endParaRPr lang="en-US" sz="1200" dirty="0"/>
          </a:p>
        </p:txBody>
      </p:sp>
      <p:sp>
        <p:nvSpPr>
          <p:cNvPr id="12" name="anim-0-20"/>
          <p:cNvSpPr/>
          <p:nvPr/>
        </p:nvSpPr>
        <p:spPr>
          <a:xfrm>
            <a:off x="5166360" y="2148840"/>
            <a:ext cx="6245352" cy="685800"/>
          </a:xfrm>
          <a:prstGeom prst="roundRect">
            <a:avLst>
              <a:gd name="adj" fmla="val 8000"/>
            </a:avLst>
          </a:prstGeom>
          <a:solidFill>
            <a:schemeClr val="accent2"/>
          </a:solidFill>
          <a:ln w="12700">
            <a:solidFill>
              <a:schemeClr val="accent2"/>
            </a:solidFill>
            <a:prstDash val="solid"/>
          </a:ln>
        </p:spPr>
      </p:sp>
      <p:sp>
        <p:nvSpPr>
          <p:cNvPr id="13" name="anim-0-21"/>
          <p:cNvSpPr txBox="1"/>
          <p:nvPr/>
        </p:nvSpPr>
        <p:spPr>
          <a:xfrm>
            <a:off x="5349240" y="2148840"/>
            <a:ext cx="5852160" cy="685800"/>
          </a:xfrm>
          <a:prstGeom prst="rect">
            <a:avLst/>
          </a:prstGeom>
          <a:noFill/>
          <a:ln/>
        </p:spPr>
        <p:txBody>
          <a:bodyPr wrap="square" lIns="0" tIns="0" rIns="0" bIns="0" rtlCol="0" anchor="ctr"/>
          <a:lstStyle/>
          <a:p>
            <a:pPr marL="0" indent="0">
              <a:buNone/>
            </a:pPr>
            <a:r>
              <a:rPr lang="en-US" sz="1800" b="1" dirty="0">
                <a:solidFill>
                  <a:schemeClr val="bg1"/>
                </a:solidFill>
              </a:rPr>
              <a:t>1 query: get the 100 jobs</a:t>
            </a:r>
            <a:endParaRPr lang="en-US" sz="1800" dirty="0"/>
          </a:p>
        </p:txBody>
      </p:sp>
      <p:sp>
        <p:nvSpPr>
          <p:cNvPr id="14" name="anim-1-22"/>
          <p:cNvSpPr/>
          <p:nvPr/>
        </p:nvSpPr>
        <p:spPr>
          <a:xfrm>
            <a:off x="5166360" y="2971800"/>
            <a:ext cx="6245352" cy="685800"/>
          </a:xfrm>
          <a:prstGeom prst="roundRect">
            <a:avLst>
              <a:gd name="adj" fmla="val 8000"/>
            </a:avLst>
          </a:prstGeom>
          <a:solidFill>
            <a:schemeClr val="accent3"/>
          </a:solidFill>
          <a:ln w="12700">
            <a:solidFill>
              <a:schemeClr val="accent3"/>
            </a:solidFill>
            <a:prstDash val="solid"/>
          </a:ln>
        </p:spPr>
      </p:sp>
      <p:sp>
        <p:nvSpPr>
          <p:cNvPr id="15" name="anim-1-23"/>
          <p:cNvSpPr txBox="1"/>
          <p:nvPr/>
        </p:nvSpPr>
        <p:spPr>
          <a:xfrm>
            <a:off x="5349240" y="2971800"/>
            <a:ext cx="5852160" cy="685800"/>
          </a:xfrm>
          <a:prstGeom prst="rect">
            <a:avLst/>
          </a:prstGeom>
          <a:noFill/>
          <a:ln/>
        </p:spPr>
        <p:txBody>
          <a:bodyPr wrap="square" lIns="0" tIns="0" rIns="0" bIns="0" rtlCol="0" anchor="ctr"/>
          <a:lstStyle/>
          <a:p>
            <a:pPr marL="0" indent="0">
              <a:buNone/>
            </a:pPr>
            <a:r>
              <a:rPr lang="en-US" sz="1800" b="1" dirty="0">
                <a:solidFill>
                  <a:schemeClr val="bg1"/>
                </a:solidFill>
              </a:rPr>
              <a:t>+ 100 queries: one per job, to get its company</a:t>
            </a:r>
            <a:endParaRPr lang="en-US" sz="1800" dirty="0"/>
          </a:p>
        </p:txBody>
      </p:sp>
      <p:sp>
        <p:nvSpPr>
          <p:cNvPr id="16" name="anim-2-24"/>
          <p:cNvSpPr txBox="1"/>
          <p:nvPr/>
        </p:nvSpPr>
        <p:spPr>
          <a:xfrm>
            <a:off x="5166360" y="3794760"/>
            <a:ext cx="6245352" cy="68580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1 + 100 = 101</a:t>
            </a:r>
            <a:endParaRPr lang="en-US" sz="3000" dirty="0"/>
          </a:p>
        </p:txBody>
      </p:sp>
      <p:sp>
        <p:nvSpPr>
          <p:cNvPr id="17" name="anim-3-25"/>
          <p:cNvSpPr/>
          <p:nvPr/>
        </p:nvSpPr>
        <p:spPr>
          <a:xfrm>
            <a:off x="548640" y="4846320"/>
            <a:ext cx="11091672" cy="868680"/>
          </a:xfrm>
          <a:prstGeom prst="roundRect">
            <a:avLst>
              <a:gd name="adj" fmla="val 8421"/>
            </a:avLst>
          </a:prstGeom>
          <a:solidFill>
            <a:schemeClr val="accent4">
              <a:alpha val="22000"/>
            </a:schemeClr>
          </a:solidFill>
          <a:ln w="12700">
            <a:solidFill>
              <a:schemeClr val="accent4">
                <a:alpha val="0"/>
              </a:schemeClr>
            </a:solidFill>
            <a:prstDash val="solid"/>
          </a:ln>
        </p:spPr>
      </p:sp>
      <p:sp>
        <p:nvSpPr>
          <p:cNvPr id="18" name="anim-3-26"/>
          <p:cNvSpPr txBox="1"/>
          <p:nvPr/>
        </p:nvSpPr>
        <p:spPr>
          <a:xfrm>
            <a:off x="777240" y="4846320"/>
            <a:ext cx="10698480" cy="868680"/>
          </a:xfrm>
          <a:prstGeom prst="rect">
            <a:avLst/>
          </a:prstGeom>
          <a:noFill/>
          <a:ln/>
        </p:spPr>
        <p:txBody>
          <a:bodyPr wrap="square" lIns="0" tIns="0" rIns="0" bIns="0" rtlCol="0" anchor="ctr"/>
          <a:lstStyle/>
          <a:p>
            <a:pPr marL="0" indent="0">
              <a:buNone/>
            </a:pPr>
            <a:r>
              <a:rPr lang="en-US" sz="1800" b="1" dirty="0">
                <a:solidFill>
                  <a:schemeClr val="tx2"/>
                </a:solidFill>
              </a:rPr>
              <a:t>The database is not slow. The code asks too often. Our app does the same with 20 rows: 26 queries. We will fix it today.</a:t>
            </a:r>
            <a:endParaRPr lang="en-US" sz="1800" dirty="0"/>
          </a:p>
        </p:txBody>
      </p:sp>
      <p:sp>
        <p:nvSpPr>
          <p:cNvPr id="19" name="Text 16"/>
          <p:cNvSpPr txBox="1"/>
          <p:nvPr/>
        </p:nvSpPr>
        <p:spPr>
          <a:xfrm>
            <a:off x="548640" y="580644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Hibernate decides how often we ask. Spring MVC decides what the user sees. Today we control both.</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Why do we need Hibernate?</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6"/>
                </a:solidFill>
              </a:rPr>
              <a:t>PLAIN JDBC</a:t>
            </a:r>
            <a:endParaRPr lang="en-US" sz="1200" dirty="0"/>
          </a:p>
        </p:txBody>
      </p:sp>
      <p:sp>
        <p:nvSpPr>
          <p:cNvPr id="9" name="code-bg"/>
          <p:cNvSpPr/>
          <p:nvPr/>
        </p:nvSpPr>
        <p:spPr>
          <a:xfrm>
            <a:off x="548640" y="1920240"/>
            <a:ext cx="6035040" cy="2743200"/>
          </a:xfrm>
          <a:prstGeom prst="roundRect">
            <a:avLst>
              <a:gd name="adj" fmla="val 2667"/>
            </a:avLst>
          </a:prstGeom>
          <a:solidFill>
            <a:schemeClr val="tx2"/>
          </a:solidFill>
          <a:ln w="12700">
            <a:solidFill>
              <a:schemeClr val="tx2"/>
            </a:solidFill>
            <a:prstDash val="solid"/>
          </a:ln>
        </p:spPr>
      </p:sp>
      <p:sp>
        <p:nvSpPr>
          <p:cNvPr id="10" name="code-text"/>
          <p:cNvSpPr txBox="1"/>
          <p:nvPr/>
        </p:nvSpPr>
        <p:spPr>
          <a:xfrm>
            <a:off x="731520" y="2029968"/>
            <a:ext cx="5669280" cy="252374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Connection con = DriverManager</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.getConnection(url, user, pw);</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PreparedStatement ps = con.prepareStatement(</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"insert into student(name, email)</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values (?, ?)");</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ps.setString(1, name);</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ps.setString(2, email);</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ps.executeUpdate();</a:t>
            </a:r>
            <a:endParaRPr lang="en-US" sz="1300" dirty="0"/>
          </a:p>
          <a:p>
            <a:pPr marL="0" indent="0">
              <a:spcAft>
                <a:spcPts val="200"/>
              </a:spcAft>
              <a:buNone/>
            </a:pPr>
            <a:r>
              <a:rPr lang="en-US" sz="1300" dirty="0">
                <a:solidFill>
                  <a:schemeClr val="accent4"/>
                </a:solidFill>
                <a:latin typeface="Courier New" pitchFamily="34" charset="0"/>
                <a:ea typeface="Courier New" pitchFamily="34" charset="-122"/>
                <a:cs typeface="Courier New" pitchFamily="34" charset="-120"/>
              </a:rPr>
              <a:t>// + result-set loop, mapping, try, catch,</a:t>
            </a:r>
            <a:endParaRPr lang="en-US" sz="1300" dirty="0"/>
          </a:p>
          <a:p>
            <a:pPr marL="0" indent="0">
              <a:spcAft>
                <a:spcPts val="200"/>
              </a:spcAft>
              <a:buNone/>
            </a:pPr>
            <a:r>
              <a:rPr lang="en-US" sz="1300" dirty="0">
                <a:solidFill>
                  <a:schemeClr val="accent4"/>
                </a:solidFill>
                <a:latin typeface="Courier New" pitchFamily="34" charset="0"/>
                <a:ea typeface="Courier New" pitchFamily="34" charset="-122"/>
                <a:cs typeface="Courier New" pitchFamily="34" charset="-120"/>
              </a:rPr>
              <a:t>//   finally, close() ... about 60 lines</a:t>
            </a:r>
            <a:endParaRPr lang="en-US" sz="1300" dirty="0"/>
          </a:p>
        </p:txBody>
      </p:sp>
      <p:sp>
        <p:nvSpPr>
          <p:cNvPr id="11" name="Text 8"/>
          <p:cNvSpPr txBox="1"/>
          <p:nvPr/>
        </p:nvSpPr>
        <p:spPr>
          <a:xfrm>
            <a:off x="685800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WITH HIBERNATE AND SPRING DATA</a:t>
            </a:r>
            <a:endParaRPr lang="en-US" sz="1200" dirty="0"/>
          </a:p>
        </p:txBody>
      </p:sp>
      <p:sp>
        <p:nvSpPr>
          <p:cNvPr id="12" name="code-bg"/>
          <p:cNvSpPr/>
          <p:nvPr/>
        </p:nvSpPr>
        <p:spPr>
          <a:xfrm>
            <a:off x="6858000" y="1920240"/>
            <a:ext cx="4782312" cy="1188720"/>
          </a:xfrm>
          <a:prstGeom prst="roundRect">
            <a:avLst>
              <a:gd name="adj" fmla="val 6154"/>
            </a:avLst>
          </a:prstGeom>
          <a:solidFill>
            <a:schemeClr val="tx2"/>
          </a:solidFill>
          <a:ln w="12700">
            <a:solidFill>
              <a:schemeClr val="tx2"/>
            </a:solidFill>
            <a:prstDash val="solid"/>
          </a:ln>
        </p:spPr>
      </p:sp>
      <p:sp>
        <p:nvSpPr>
          <p:cNvPr id="13" name="code-text"/>
          <p:cNvSpPr txBox="1"/>
          <p:nvPr/>
        </p:nvSpPr>
        <p:spPr>
          <a:xfrm>
            <a:off x="7040880" y="2029968"/>
            <a:ext cx="4416552" cy="96926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students.save(</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new Student(name, email));</a:t>
            </a:r>
            <a:endParaRPr lang="en-US" sz="1400" dirty="0"/>
          </a:p>
        </p:txBody>
      </p:sp>
      <p:sp>
        <p:nvSpPr>
          <p:cNvPr id="14" name="card"/>
          <p:cNvSpPr/>
          <p:nvPr/>
        </p:nvSpPr>
        <p:spPr>
          <a:xfrm>
            <a:off x="6858000" y="3291840"/>
            <a:ext cx="4782312" cy="1371600"/>
          </a:xfrm>
          <a:prstGeom prst="roundRect">
            <a:avLst>
              <a:gd name="adj" fmla="val 5333"/>
            </a:avLst>
          </a:prstGeom>
          <a:solidFill>
            <a:schemeClr val="bg2"/>
          </a:solidFill>
          <a:ln w="12700">
            <a:solidFill>
              <a:schemeClr val="bg2"/>
            </a:solidFill>
            <a:prstDash val="solid"/>
          </a:ln>
        </p:spPr>
      </p:sp>
      <p:sp>
        <p:nvSpPr>
          <p:cNvPr id="15" name="Text 12"/>
          <p:cNvSpPr txBox="1"/>
          <p:nvPr/>
        </p:nvSpPr>
        <p:spPr>
          <a:xfrm>
            <a:off x="7040880" y="3291840"/>
            <a:ext cx="4434840" cy="1371600"/>
          </a:xfrm>
          <a:prstGeom prst="rect">
            <a:avLst/>
          </a:prstGeom>
          <a:noFill/>
          <a:ln/>
        </p:spPr>
        <p:txBody>
          <a:bodyPr wrap="square" lIns="0" tIns="0" rIns="0" bIns="0" rtlCol="0" anchor="ctr"/>
          <a:lstStyle/>
          <a:p>
            <a:pPr marL="0" indent="0">
              <a:buNone/>
            </a:pPr>
            <a:r>
              <a:rPr lang="en-US" sz="1600" b="1" dirty="0">
                <a:solidFill>
                  <a:schemeClr val="accent1"/>
                </a:solidFill>
              </a:rPr>
              <a:t>One line. </a:t>
            </a:r>
            <a:r>
              <a:rPr lang="en-US" sz="1600" dirty="0">
                <a:solidFill>
                  <a:schemeClr val="tx1"/>
                </a:solidFill>
              </a:rPr>
              <a:t>The SQL is generated for you, and printed in the log so you can always read it.</a:t>
            </a:r>
            <a:endParaRPr lang="en-US" sz="1600" dirty="0"/>
          </a:p>
        </p:txBody>
      </p:sp>
      <p:sp>
        <p:nvSpPr>
          <p:cNvPr id="16" name="card"/>
          <p:cNvSpPr/>
          <p:nvPr/>
        </p:nvSpPr>
        <p:spPr>
          <a:xfrm>
            <a:off x="548640" y="4846320"/>
            <a:ext cx="11091672" cy="822960"/>
          </a:xfrm>
          <a:prstGeom prst="roundRect">
            <a:avLst>
              <a:gd name="adj" fmla="val 8889"/>
            </a:avLst>
          </a:prstGeom>
          <a:solidFill>
            <a:schemeClr val="accent4">
              <a:alpha val="22000"/>
            </a:schemeClr>
          </a:solidFill>
          <a:ln w="12700">
            <a:solidFill>
              <a:schemeClr val="accent4">
                <a:alpha val="0"/>
              </a:schemeClr>
            </a:solidFill>
            <a:prstDash val="solid"/>
          </a:ln>
        </p:spPr>
      </p:sp>
      <p:sp>
        <p:nvSpPr>
          <p:cNvPr id="17" name="Text 14"/>
          <p:cNvSpPr txBox="1"/>
          <p:nvPr/>
        </p:nvSpPr>
        <p:spPr>
          <a:xfrm>
            <a:off x="777240" y="4846320"/>
            <a:ext cx="10698480" cy="822960"/>
          </a:xfrm>
          <a:prstGeom prst="rect">
            <a:avLst/>
          </a:prstGeom>
          <a:noFill/>
          <a:ln/>
        </p:spPr>
        <p:txBody>
          <a:bodyPr wrap="square" lIns="0" tIns="0" rIns="0" bIns="0" rtlCol="0" anchor="ctr"/>
          <a:lstStyle/>
          <a:p>
            <a:pPr marL="0" indent="0">
              <a:buNone/>
            </a:pPr>
            <a:r>
              <a:rPr lang="en-US" sz="1600" dirty="0">
                <a:solidFill>
                  <a:schemeClr val="tx2"/>
                </a:solidFill>
              </a:rPr>
              <a:t>Real life: booking systems, ERP, banking and hospital portals. I used Hibernate in ticketing, hotel-booking, timesheet and paper-filing apps.</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Objects have references. Tables have foreign keys.</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JAVA SPEAKS OBJECTS</a:t>
            </a:r>
            <a:endParaRPr lang="en-US" sz="1200" dirty="0"/>
          </a:p>
        </p:txBody>
      </p:sp>
      <p:sp>
        <p:nvSpPr>
          <p:cNvPr id="9" name="code-bg"/>
          <p:cNvSpPr/>
          <p:nvPr/>
        </p:nvSpPr>
        <p:spPr>
          <a:xfrm>
            <a:off x="548640" y="1920240"/>
            <a:ext cx="5212080" cy="1737360"/>
          </a:xfrm>
          <a:prstGeom prst="roundRect">
            <a:avLst>
              <a:gd name="adj" fmla="val 4211"/>
            </a:avLst>
          </a:prstGeom>
          <a:solidFill>
            <a:schemeClr val="tx2"/>
          </a:solidFill>
          <a:ln w="12700">
            <a:solidFill>
              <a:schemeClr val="tx2"/>
            </a:solidFill>
            <a:prstDash val="solid"/>
          </a:ln>
        </p:spPr>
      </p:sp>
      <p:sp>
        <p:nvSpPr>
          <p:cNvPr id="10" name="code-text"/>
          <p:cNvSpPr txBox="1"/>
          <p:nvPr/>
        </p:nvSpPr>
        <p:spPr>
          <a:xfrm>
            <a:off x="731520" y="2029968"/>
            <a:ext cx="4846320" cy="1517904"/>
          </a:xfrm>
          <a:prstGeom prst="rect">
            <a:avLst/>
          </a:prstGeom>
          <a:noFill/>
          <a:ln/>
        </p:spPr>
        <p:txBody>
          <a:bodyPr wrap="square" lIns="0" tIns="0" rIns="0" bIns="0" rtlCol="0" anchor="t"/>
          <a:lstStyle/>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class Student {</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String name;</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List&lt;Application&gt; applications;</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p:txBody>
      </p:sp>
      <p:sp>
        <p:nvSpPr>
          <p:cNvPr id="11" name="Text 8"/>
          <p:cNvSpPr txBox="1"/>
          <p:nvPr/>
        </p:nvSpPr>
        <p:spPr>
          <a:xfrm>
            <a:off x="6309360"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THE DATABASE SPEAKS TABLES</a:t>
            </a:r>
            <a:endParaRPr lang="en-US" sz="1200" dirty="0"/>
          </a:p>
        </p:txBody>
      </p:sp>
      <p:sp>
        <p:nvSpPr>
          <p:cNvPr id="12" name="code-bg"/>
          <p:cNvSpPr/>
          <p:nvPr/>
        </p:nvSpPr>
        <p:spPr>
          <a:xfrm>
            <a:off x="6309360" y="1920240"/>
            <a:ext cx="5330952" cy="1737360"/>
          </a:xfrm>
          <a:prstGeom prst="roundRect">
            <a:avLst>
              <a:gd name="adj" fmla="val 4211"/>
            </a:avLst>
          </a:prstGeom>
          <a:solidFill>
            <a:schemeClr val="tx2"/>
          </a:solidFill>
          <a:ln w="12700">
            <a:solidFill>
              <a:schemeClr val="tx2"/>
            </a:solidFill>
            <a:prstDash val="solid"/>
          </a:ln>
        </p:spPr>
      </p:sp>
      <p:sp>
        <p:nvSpPr>
          <p:cNvPr id="13" name="code-text"/>
          <p:cNvSpPr txBox="1"/>
          <p:nvPr/>
        </p:nvSpPr>
        <p:spPr>
          <a:xfrm>
            <a:off x="6492240" y="2029968"/>
            <a:ext cx="4965192" cy="151790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student(id, name, email)</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application(id, student_id, job_id)</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 student_id is a foreign key</a:t>
            </a:r>
            <a:endParaRPr lang="en-US" sz="1300" dirty="0"/>
          </a:p>
        </p:txBody>
      </p:sp>
      <p:sp>
        <p:nvSpPr>
          <p:cNvPr id="14" name="translator"/>
          <p:cNvSpPr/>
          <p:nvPr/>
        </p:nvSpPr>
        <p:spPr>
          <a:xfrm>
            <a:off x="5029200" y="3611880"/>
            <a:ext cx="2130552" cy="640080"/>
          </a:xfrm>
          <a:prstGeom prst="roundRect">
            <a:avLst>
              <a:gd name="adj" fmla="val 50000"/>
            </a:avLst>
          </a:prstGeom>
          <a:solidFill>
            <a:schemeClr val="accent3"/>
          </a:solidFill>
          <a:ln w="12700">
            <a:solidFill>
              <a:schemeClr val="accent3"/>
            </a:solidFill>
            <a:prstDash val="solid"/>
          </a:ln>
        </p:spPr>
      </p:sp>
      <p:sp>
        <p:nvSpPr>
          <p:cNvPr id="15" name="Text 12"/>
          <p:cNvSpPr txBox="1"/>
          <p:nvPr/>
        </p:nvSpPr>
        <p:spPr>
          <a:xfrm>
            <a:off x="5029200" y="3611880"/>
            <a:ext cx="2130552" cy="640080"/>
          </a:xfrm>
          <a:prstGeom prst="rect">
            <a:avLst/>
          </a:prstGeom>
          <a:noFill/>
          <a:ln/>
        </p:spPr>
        <p:txBody>
          <a:bodyPr wrap="square" lIns="0" tIns="0" rIns="0" bIns="0" rtlCol="0" anchor="ctr"/>
          <a:lstStyle/>
          <a:p>
            <a:pPr marL="0" indent="0" algn="ctr">
              <a:buNone/>
            </a:pPr>
            <a:r>
              <a:rPr lang="en-US" sz="1400" b="1" dirty="0">
                <a:solidFill>
                  <a:schemeClr val="bg1"/>
                </a:solidFill>
              </a:rPr>
              <a:t>Hibernate translates</a:t>
            </a:r>
            <a:endParaRPr lang="en-US" sz="1400" dirty="0"/>
          </a:p>
        </p:txBody>
      </p:sp>
      <p:sp>
        <p:nvSpPr>
          <p:cNvPr id="16" name="card"/>
          <p:cNvSpPr/>
          <p:nvPr/>
        </p:nvSpPr>
        <p:spPr>
          <a:xfrm>
            <a:off x="548640" y="4526280"/>
            <a:ext cx="2057400" cy="685800"/>
          </a:xfrm>
          <a:prstGeom prst="roundRect">
            <a:avLst>
              <a:gd name="adj" fmla="val 10667"/>
            </a:avLst>
          </a:prstGeom>
          <a:solidFill>
            <a:schemeClr val="bg2"/>
          </a:solidFill>
          <a:ln w="12700">
            <a:solidFill>
              <a:schemeClr val="bg2"/>
            </a:solidFill>
            <a:prstDash val="solid"/>
          </a:ln>
        </p:spPr>
      </p:sp>
      <p:sp>
        <p:nvSpPr>
          <p:cNvPr id="17" name="Text 14"/>
          <p:cNvSpPr txBox="1"/>
          <p:nvPr/>
        </p:nvSpPr>
        <p:spPr>
          <a:xfrm>
            <a:off x="548640" y="4526280"/>
            <a:ext cx="2057400" cy="685800"/>
          </a:xfrm>
          <a:prstGeom prst="rect">
            <a:avLst/>
          </a:prstGeom>
          <a:noFill/>
          <a:ln/>
        </p:spPr>
        <p:txBody>
          <a:bodyPr wrap="square" lIns="0" tIns="0" rIns="0" bIns="0" rtlCol="0" anchor="ctr"/>
          <a:lstStyle/>
          <a:p>
            <a:pPr marL="0" indent="0" algn="ctr">
              <a:buNone/>
            </a:pPr>
            <a:r>
              <a:rPr lang="en-US" sz="1600" b="1" dirty="0">
                <a:solidFill>
                  <a:schemeClr val="tx2"/>
                </a:solidFill>
              </a:rPr>
              <a:t>Inheritance</a:t>
            </a:r>
            <a:endParaRPr lang="en-US" sz="1600" dirty="0"/>
          </a:p>
        </p:txBody>
      </p:sp>
      <p:sp>
        <p:nvSpPr>
          <p:cNvPr id="18" name="card"/>
          <p:cNvSpPr/>
          <p:nvPr/>
        </p:nvSpPr>
        <p:spPr>
          <a:xfrm>
            <a:off x="2788920" y="4526280"/>
            <a:ext cx="2057400" cy="685800"/>
          </a:xfrm>
          <a:prstGeom prst="roundRect">
            <a:avLst>
              <a:gd name="adj" fmla="val 10667"/>
            </a:avLst>
          </a:prstGeom>
          <a:solidFill>
            <a:schemeClr val="bg2"/>
          </a:solidFill>
          <a:ln w="12700">
            <a:solidFill>
              <a:schemeClr val="bg2"/>
            </a:solidFill>
            <a:prstDash val="solid"/>
          </a:ln>
        </p:spPr>
      </p:sp>
      <p:sp>
        <p:nvSpPr>
          <p:cNvPr id="19" name="Text 16"/>
          <p:cNvSpPr txBox="1"/>
          <p:nvPr/>
        </p:nvSpPr>
        <p:spPr>
          <a:xfrm>
            <a:off x="2788920" y="4526280"/>
            <a:ext cx="2057400" cy="685800"/>
          </a:xfrm>
          <a:prstGeom prst="rect">
            <a:avLst/>
          </a:prstGeom>
          <a:noFill/>
          <a:ln/>
        </p:spPr>
        <p:txBody>
          <a:bodyPr wrap="square" lIns="0" tIns="0" rIns="0" bIns="0" rtlCol="0" anchor="ctr"/>
          <a:lstStyle/>
          <a:p>
            <a:pPr marL="0" indent="0" algn="ctr">
              <a:buNone/>
            </a:pPr>
            <a:r>
              <a:rPr lang="en-US" sz="1600" b="1" dirty="0">
                <a:solidFill>
                  <a:schemeClr val="tx2"/>
                </a:solidFill>
              </a:rPr>
              <a:t>Identity</a:t>
            </a:r>
            <a:endParaRPr lang="en-US" sz="1600" dirty="0"/>
          </a:p>
        </p:txBody>
      </p:sp>
      <p:sp>
        <p:nvSpPr>
          <p:cNvPr id="20" name="card"/>
          <p:cNvSpPr/>
          <p:nvPr/>
        </p:nvSpPr>
        <p:spPr>
          <a:xfrm>
            <a:off x="5029200" y="4526280"/>
            <a:ext cx="2057400" cy="685800"/>
          </a:xfrm>
          <a:prstGeom prst="roundRect">
            <a:avLst>
              <a:gd name="adj" fmla="val 10667"/>
            </a:avLst>
          </a:prstGeom>
          <a:solidFill>
            <a:schemeClr val="bg2"/>
          </a:solidFill>
          <a:ln w="12700">
            <a:solidFill>
              <a:schemeClr val="bg2"/>
            </a:solidFill>
            <a:prstDash val="solid"/>
          </a:ln>
        </p:spPr>
      </p:sp>
      <p:sp>
        <p:nvSpPr>
          <p:cNvPr id="21" name="Text 18"/>
          <p:cNvSpPr txBox="1"/>
          <p:nvPr/>
        </p:nvSpPr>
        <p:spPr>
          <a:xfrm>
            <a:off x="5029200" y="4526280"/>
            <a:ext cx="2057400" cy="685800"/>
          </a:xfrm>
          <a:prstGeom prst="rect">
            <a:avLst/>
          </a:prstGeom>
          <a:noFill/>
          <a:ln/>
        </p:spPr>
        <p:txBody>
          <a:bodyPr wrap="square" lIns="0" tIns="0" rIns="0" bIns="0" rtlCol="0" anchor="ctr"/>
          <a:lstStyle/>
          <a:p>
            <a:pPr marL="0" indent="0" algn="ctr">
              <a:buNone/>
            </a:pPr>
            <a:r>
              <a:rPr lang="en-US" sz="1600" b="1" dirty="0">
                <a:solidFill>
                  <a:schemeClr val="tx2"/>
                </a:solidFill>
              </a:rPr>
              <a:t>Associations</a:t>
            </a:r>
            <a:endParaRPr lang="en-US" sz="1600" dirty="0"/>
          </a:p>
        </p:txBody>
      </p:sp>
      <p:sp>
        <p:nvSpPr>
          <p:cNvPr id="22" name="card"/>
          <p:cNvSpPr/>
          <p:nvPr/>
        </p:nvSpPr>
        <p:spPr>
          <a:xfrm>
            <a:off x="7269480" y="4526280"/>
            <a:ext cx="2057400" cy="685800"/>
          </a:xfrm>
          <a:prstGeom prst="roundRect">
            <a:avLst>
              <a:gd name="adj" fmla="val 10667"/>
            </a:avLst>
          </a:prstGeom>
          <a:solidFill>
            <a:schemeClr val="bg2"/>
          </a:solidFill>
          <a:ln w="12700">
            <a:solidFill>
              <a:schemeClr val="bg2"/>
            </a:solidFill>
            <a:prstDash val="solid"/>
          </a:ln>
        </p:spPr>
      </p:sp>
      <p:sp>
        <p:nvSpPr>
          <p:cNvPr id="23" name="Text 20"/>
          <p:cNvSpPr txBox="1"/>
          <p:nvPr/>
        </p:nvSpPr>
        <p:spPr>
          <a:xfrm>
            <a:off x="7269480" y="4526280"/>
            <a:ext cx="2057400" cy="685800"/>
          </a:xfrm>
          <a:prstGeom prst="rect">
            <a:avLst/>
          </a:prstGeom>
          <a:noFill/>
          <a:ln/>
        </p:spPr>
        <p:txBody>
          <a:bodyPr wrap="square" lIns="0" tIns="0" rIns="0" bIns="0" rtlCol="0" anchor="ctr"/>
          <a:lstStyle/>
          <a:p>
            <a:pPr marL="0" indent="0" algn="ctr">
              <a:buNone/>
            </a:pPr>
            <a:r>
              <a:rPr lang="en-US" sz="1600" b="1" dirty="0">
                <a:solidFill>
                  <a:schemeClr val="tx2"/>
                </a:solidFill>
              </a:rPr>
              <a:t>Types</a:t>
            </a:r>
            <a:endParaRPr lang="en-US" sz="1600" dirty="0"/>
          </a:p>
        </p:txBody>
      </p:sp>
      <p:sp>
        <p:nvSpPr>
          <p:cNvPr id="24" name="card"/>
          <p:cNvSpPr/>
          <p:nvPr/>
        </p:nvSpPr>
        <p:spPr>
          <a:xfrm>
            <a:off x="9509760" y="4526280"/>
            <a:ext cx="2057400" cy="685800"/>
          </a:xfrm>
          <a:prstGeom prst="roundRect">
            <a:avLst>
              <a:gd name="adj" fmla="val 10667"/>
            </a:avLst>
          </a:prstGeom>
          <a:solidFill>
            <a:schemeClr val="bg2"/>
          </a:solidFill>
          <a:ln w="12700">
            <a:solidFill>
              <a:schemeClr val="bg2"/>
            </a:solidFill>
            <a:prstDash val="solid"/>
          </a:ln>
        </p:spPr>
      </p:sp>
      <p:sp>
        <p:nvSpPr>
          <p:cNvPr id="25" name="Text 22"/>
          <p:cNvSpPr txBox="1"/>
          <p:nvPr/>
        </p:nvSpPr>
        <p:spPr>
          <a:xfrm>
            <a:off x="9509760" y="4526280"/>
            <a:ext cx="2057400" cy="685800"/>
          </a:xfrm>
          <a:prstGeom prst="rect">
            <a:avLst/>
          </a:prstGeom>
          <a:noFill/>
          <a:ln/>
        </p:spPr>
        <p:txBody>
          <a:bodyPr wrap="square" lIns="0" tIns="0" rIns="0" bIns="0" rtlCol="0" anchor="ctr"/>
          <a:lstStyle/>
          <a:p>
            <a:pPr marL="0" indent="0" algn="ctr">
              <a:buNone/>
            </a:pPr>
            <a:r>
              <a:rPr lang="en-US" sz="1600" b="1" dirty="0">
                <a:solidFill>
                  <a:schemeClr val="tx2"/>
                </a:solidFill>
              </a:rPr>
              <a:t>Navigation</a:t>
            </a:r>
            <a:endParaRPr lang="en-US" sz="1600" dirty="0"/>
          </a:p>
        </p:txBody>
      </p:sp>
      <p:sp>
        <p:nvSpPr>
          <p:cNvPr id="26" name="Text 23"/>
          <p:cNvSpPr txBox="1"/>
          <p:nvPr/>
        </p:nvSpPr>
        <p:spPr>
          <a:xfrm>
            <a:off x="548640" y="539496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Five mismatches. The 60 lines of JDBC are how we translate by hand.</a:t>
            </a:r>
            <a:endParaRPr lang="en-US" sz="16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JPA is the rulebook. Hibernate is the player.</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stack-0"/>
          <p:cNvSpPr/>
          <p:nvPr/>
        </p:nvSpPr>
        <p:spPr>
          <a:xfrm>
            <a:off x="548640" y="1645920"/>
            <a:ext cx="6766560" cy="685800"/>
          </a:xfrm>
          <a:prstGeom prst="roundRect">
            <a:avLst>
              <a:gd name="adj" fmla="val 10667"/>
            </a:avLst>
          </a:prstGeom>
          <a:solidFill>
            <a:schemeClr val="accent2"/>
          </a:solidFill>
          <a:ln w="12700">
            <a:solidFill>
              <a:schemeClr val="accent2"/>
            </a:solidFill>
            <a:prstDash val="solid"/>
          </a:ln>
        </p:spPr>
      </p:sp>
      <p:sp>
        <p:nvSpPr>
          <p:cNvPr id="9" name="Text 6"/>
          <p:cNvSpPr txBox="1"/>
          <p:nvPr/>
        </p:nvSpPr>
        <p:spPr>
          <a:xfrm>
            <a:off x="777240" y="1645920"/>
            <a:ext cx="6400800" cy="685800"/>
          </a:xfrm>
          <a:prstGeom prst="rect">
            <a:avLst/>
          </a:prstGeom>
          <a:noFill/>
          <a:ln/>
        </p:spPr>
        <p:txBody>
          <a:bodyPr wrap="square" lIns="0" tIns="0" rIns="0" bIns="0" rtlCol="0" anchor="ctr"/>
          <a:lstStyle/>
          <a:p>
            <a:pPr marL="0" indent="0">
              <a:buNone/>
            </a:pPr>
            <a:r>
              <a:rPr lang="en-US" sz="1800" b="1" dirty="0">
                <a:solidFill>
                  <a:schemeClr val="bg1"/>
                </a:solidFill>
              </a:rPr>
              <a:t>Your application</a:t>
            </a:r>
            <a:r>
              <a:rPr lang="en-US" sz="1400" dirty="0">
                <a:solidFill>
                  <a:schemeClr val="bg1"/>
                </a:solidFill>
              </a:rPr>
              <a:t>   controllers and services</a:t>
            </a:r>
            <a:endParaRPr lang="en-US" sz="1800" dirty="0"/>
          </a:p>
        </p:txBody>
      </p:sp>
      <p:sp>
        <p:nvSpPr>
          <p:cNvPr id="10" name="stack-1"/>
          <p:cNvSpPr/>
          <p:nvPr/>
        </p:nvSpPr>
        <p:spPr>
          <a:xfrm>
            <a:off x="548640" y="2423160"/>
            <a:ext cx="6766560" cy="685800"/>
          </a:xfrm>
          <a:prstGeom prst="roundRect">
            <a:avLst>
              <a:gd name="adj" fmla="val 10667"/>
            </a:avLst>
          </a:prstGeom>
          <a:solidFill>
            <a:schemeClr val="accent2"/>
          </a:solidFill>
          <a:ln w="12700">
            <a:solidFill>
              <a:schemeClr val="accent2"/>
            </a:solidFill>
            <a:prstDash val="solid"/>
          </a:ln>
        </p:spPr>
      </p:sp>
      <p:sp>
        <p:nvSpPr>
          <p:cNvPr id="11" name="Text 8"/>
          <p:cNvSpPr txBox="1"/>
          <p:nvPr/>
        </p:nvSpPr>
        <p:spPr>
          <a:xfrm>
            <a:off x="777240" y="2423160"/>
            <a:ext cx="6400800" cy="685800"/>
          </a:xfrm>
          <a:prstGeom prst="rect">
            <a:avLst/>
          </a:prstGeom>
          <a:noFill/>
          <a:ln/>
        </p:spPr>
        <p:txBody>
          <a:bodyPr wrap="square" lIns="0" tIns="0" rIns="0" bIns="0" rtlCol="0" anchor="ctr"/>
          <a:lstStyle/>
          <a:p>
            <a:pPr marL="0" indent="0">
              <a:buNone/>
            </a:pPr>
            <a:r>
              <a:rPr lang="en-US" sz="1800" b="1" dirty="0">
                <a:solidFill>
                  <a:schemeClr val="bg1"/>
                </a:solidFill>
              </a:rPr>
              <a:t>Spring Data JPA</a:t>
            </a:r>
            <a:r>
              <a:rPr lang="en-US" sz="1400" dirty="0">
                <a:solidFill>
                  <a:schemeClr val="bg1"/>
                </a:solidFill>
              </a:rPr>
              <a:t>   writes the boring repository methods</a:t>
            </a:r>
            <a:endParaRPr lang="en-US" sz="1800" dirty="0"/>
          </a:p>
        </p:txBody>
      </p:sp>
      <p:sp>
        <p:nvSpPr>
          <p:cNvPr id="12" name="stack-2"/>
          <p:cNvSpPr/>
          <p:nvPr/>
        </p:nvSpPr>
        <p:spPr>
          <a:xfrm>
            <a:off x="548640" y="3200400"/>
            <a:ext cx="6766560" cy="685800"/>
          </a:xfrm>
          <a:prstGeom prst="roundRect">
            <a:avLst>
              <a:gd name="adj" fmla="val 10667"/>
            </a:avLst>
          </a:prstGeom>
          <a:solidFill>
            <a:schemeClr val="accent1"/>
          </a:solidFill>
          <a:ln w="12700">
            <a:solidFill>
              <a:schemeClr val="accent1"/>
            </a:solidFill>
            <a:prstDash val="solid"/>
          </a:ln>
        </p:spPr>
      </p:sp>
      <p:sp>
        <p:nvSpPr>
          <p:cNvPr id="13" name="Text 10"/>
          <p:cNvSpPr txBox="1"/>
          <p:nvPr/>
        </p:nvSpPr>
        <p:spPr>
          <a:xfrm>
            <a:off x="777240" y="3200400"/>
            <a:ext cx="6400800" cy="685800"/>
          </a:xfrm>
          <a:prstGeom prst="rect">
            <a:avLst/>
          </a:prstGeom>
          <a:noFill/>
          <a:ln/>
        </p:spPr>
        <p:txBody>
          <a:bodyPr wrap="square" lIns="0" tIns="0" rIns="0" bIns="0" rtlCol="0" anchor="ctr"/>
          <a:lstStyle/>
          <a:p>
            <a:pPr marL="0" indent="0">
              <a:buNone/>
            </a:pPr>
            <a:r>
              <a:rPr lang="en-US" sz="1800" b="1" dirty="0">
                <a:solidFill>
                  <a:schemeClr val="bg1"/>
                </a:solidFill>
              </a:rPr>
              <a:t>JPA  (jakarta.persistence)</a:t>
            </a:r>
            <a:r>
              <a:rPr lang="en-US" sz="1400" dirty="0">
                <a:solidFill>
                  <a:schemeClr val="bg1"/>
                </a:solidFill>
              </a:rPr>
              <a:t>   the rulebook: @Entity, @Id, @Column</a:t>
            </a:r>
            <a:endParaRPr lang="en-US" sz="1800" dirty="0"/>
          </a:p>
        </p:txBody>
      </p:sp>
      <p:sp>
        <p:nvSpPr>
          <p:cNvPr id="14" name="stack-3"/>
          <p:cNvSpPr/>
          <p:nvPr/>
        </p:nvSpPr>
        <p:spPr>
          <a:xfrm>
            <a:off x="548640" y="3977640"/>
            <a:ext cx="6766560" cy="685800"/>
          </a:xfrm>
          <a:prstGeom prst="roundRect">
            <a:avLst>
              <a:gd name="adj" fmla="val 10667"/>
            </a:avLst>
          </a:prstGeom>
          <a:solidFill>
            <a:schemeClr val="accent1"/>
          </a:solidFill>
          <a:ln w="12700">
            <a:solidFill>
              <a:schemeClr val="accent1"/>
            </a:solidFill>
            <a:prstDash val="solid"/>
          </a:ln>
        </p:spPr>
      </p:sp>
      <p:sp>
        <p:nvSpPr>
          <p:cNvPr id="15" name="Text 12"/>
          <p:cNvSpPr txBox="1"/>
          <p:nvPr/>
        </p:nvSpPr>
        <p:spPr>
          <a:xfrm>
            <a:off x="777240" y="3977640"/>
            <a:ext cx="6400800" cy="685800"/>
          </a:xfrm>
          <a:prstGeom prst="rect">
            <a:avLst/>
          </a:prstGeom>
          <a:noFill/>
          <a:ln/>
        </p:spPr>
        <p:txBody>
          <a:bodyPr wrap="square" lIns="0" tIns="0" rIns="0" bIns="0" rtlCol="0" anchor="ctr"/>
          <a:lstStyle/>
          <a:p>
            <a:pPr marL="0" indent="0">
              <a:buNone/>
            </a:pPr>
            <a:r>
              <a:rPr lang="en-US" sz="1800" b="1" dirty="0">
                <a:solidFill>
                  <a:schemeClr val="bg1"/>
                </a:solidFill>
              </a:rPr>
              <a:t>Hibernate</a:t>
            </a:r>
            <a:r>
              <a:rPr lang="en-US" sz="1400" dirty="0">
                <a:solidFill>
                  <a:schemeClr val="bg1"/>
                </a:solidFill>
              </a:rPr>
              <a:t>   the implementation: builds the SQL</a:t>
            </a:r>
            <a:endParaRPr lang="en-US" sz="1800" dirty="0"/>
          </a:p>
        </p:txBody>
      </p:sp>
      <p:sp>
        <p:nvSpPr>
          <p:cNvPr id="16" name="stack-4"/>
          <p:cNvSpPr/>
          <p:nvPr/>
        </p:nvSpPr>
        <p:spPr>
          <a:xfrm>
            <a:off x="548640" y="4754880"/>
            <a:ext cx="6766560" cy="685800"/>
          </a:xfrm>
          <a:prstGeom prst="roundRect">
            <a:avLst>
              <a:gd name="adj" fmla="val 10667"/>
            </a:avLst>
          </a:prstGeom>
          <a:solidFill>
            <a:schemeClr val="tx2"/>
          </a:solidFill>
          <a:ln w="12700">
            <a:solidFill>
              <a:schemeClr val="tx2"/>
            </a:solidFill>
            <a:prstDash val="solid"/>
          </a:ln>
        </p:spPr>
      </p:sp>
      <p:sp>
        <p:nvSpPr>
          <p:cNvPr id="17" name="Text 14"/>
          <p:cNvSpPr txBox="1"/>
          <p:nvPr/>
        </p:nvSpPr>
        <p:spPr>
          <a:xfrm>
            <a:off x="777240" y="4754880"/>
            <a:ext cx="6400800" cy="685800"/>
          </a:xfrm>
          <a:prstGeom prst="rect">
            <a:avLst/>
          </a:prstGeom>
          <a:noFill/>
          <a:ln/>
        </p:spPr>
        <p:txBody>
          <a:bodyPr wrap="square" lIns="0" tIns="0" rIns="0" bIns="0" rtlCol="0" anchor="ctr"/>
          <a:lstStyle/>
          <a:p>
            <a:pPr marL="0" indent="0">
              <a:buNone/>
            </a:pPr>
            <a:r>
              <a:rPr lang="en-US" sz="1800" b="1" dirty="0">
                <a:solidFill>
                  <a:schemeClr val="bg1"/>
                </a:solidFill>
              </a:rPr>
              <a:t>JDBC driver, then PostgreSQL</a:t>
            </a:r>
            <a:r>
              <a:rPr lang="en-US" sz="1400" dirty="0">
                <a:solidFill>
                  <a:schemeClr val="bg1"/>
                </a:solidFill>
              </a:rPr>
              <a:t>   the database (Supabase)</a:t>
            </a:r>
            <a:endParaRPr lang="en-US" sz="1800" dirty="0"/>
          </a:p>
        </p:txBody>
      </p:sp>
      <p:sp>
        <p:nvSpPr>
          <p:cNvPr id="18" name="card"/>
          <p:cNvSpPr/>
          <p:nvPr/>
        </p:nvSpPr>
        <p:spPr>
          <a:xfrm>
            <a:off x="7680960" y="1645920"/>
            <a:ext cx="3959352" cy="3657600"/>
          </a:xfrm>
          <a:prstGeom prst="roundRect">
            <a:avLst>
              <a:gd name="adj" fmla="val 2000"/>
            </a:avLst>
          </a:prstGeom>
          <a:solidFill>
            <a:schemeClr val="accent4">
              <a:alpha val="22000"/>
            </a:schemeClr>
          </a:solidFill>
          <a:ln w="12700">
            <a:solidFill>
              <a:schemeClr val="accent4">
                <a:alpha val="0"/>
              </a:schemeClr>
            </a:solidFill>
            <a:prstDash val="solid"/>
          </a:ln>
        </p:spPr>
      </p:sp>
      <p:sp>
        <p:nvSpPr>
          <p:cNvPr id="19" name="Text 16"/>
          <p:cNvSpPr txBox="1"/>
          <p:nvPr/>
        </p:nvSpPr>
        <p:spPr>
          <a:xfrm>
            <a:off x="7909560" y="1783080"/>
            <a:ext cx="3566160" cy="365760"/>
          </a:xfrm>
          <a:prstGeom prst="rect">
            <a:avLst/>
          </a:prstGeom>
          <a:noFill/>
          <a:ln/>
        </p:spPr>
        <p:txBody>
          <a:bodyPr wrap="square" lIns="0" tIns="0" rIns="0" bIns="0" rtlCol="0" anchor="ctr"/>
          <a:lstStyle/>
          <a:p>
            <a:pPr marL="0" indent="0">
              <a:buNone/>
            </a:pPr>
            <a:r>
              <a:rPr lang="en-US" sz="1400" b="1" kern="0" spc="100" dirty="0">
                <a:solidFill>
                  <a:schemeClr val="accent3"/>
                </a:solidFill>
              </a:rPr>
              <a:t>Interview trap</a:t>
            </a:r>
            <a:endParaRPr lang="en-US" sz="1400" dirty="0"/>
          </a:p>
        </p:txBody>
      </p:sp>
      <p:sp>
        <p:nvSpPr>
          <p:cNvPr id="20" name="code-bg"/>
          <p:cNvSpPr/>
          <p:nvPr/>
        </p:nvSpPr>
        <p:spPr>
          <a:xfrm>
            <a:off x="7909560" y="2240280"/>
            <a:ext cx="3502152" cy="914400"/>
          </a:xfrm>
          <a:prstGeom prst="roundRect">
            <a:avLst>
              <a:gd name="adj" fmla="val 8000"/>
            </a:avLst>
          </a:prstGeom>
          <a:solidFill>
            <a:schemeClr val="tx2"/>
          </a:solidFill>
          <a:ln w="12700">
            <a:solidFill>
              <a:schemeClr val="tx2"/>
            </a:solidFill>
            <a:prstDash val="solid"/>
          </a:ln>
        </p:spPr>
      </p:sp>
      <p:sp>
        <p:nvSpPr>
          <p:cNvPr id="21" name="code-text"/>
          <p:cNvSpPr txBox="1"/>
          <p:nvPr/>
        </p:nvSpPr>
        <p:spPr>
          <a:xfrm>
            <a:off x="8092440" y="2350008"/>
            <a:ext cx="3136392" cy="694944"/>
          </a:xfrm>
          <a:prstGeom prst="rect">
            <a:avLst/>
          </a:prstGeom>
          <a:noFill/>
          <a:ln/>
        </p:spPr>
        <p:txBody>
          <a:bodyPr wrap="square" lIns="0" tIns="0" rIns="0" bIns="0" rtlCol="0" anchor="t"/>
          <a:lstStyle/>
          <a:p>
            <a:pPr marL="0" indent="0">
              <a:spcAft>
                <a:spcPts val="200"/>
              </a:spcAft>
              <a:buNone/>
            </a:pPr>
            <a:r>
              <a:rPr lang="en-US" sz="1200" dirty="0">
                <a:solidFill>
                  <a:schemeClr val="accent4"/>
                </a:solidFill>
                <a:latin typeface="Courier New" pitchFamily="34" charset="0"/>
                <a:ea typeface="Courier New" pitchFamily="34" charset="-122"/>
                <a:cs typeface="Courier New" pitchFamily="34" charset="-120"/>
              </a:rPr>
              <a:t>import jakarta.persistence.*;</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import javax.persistence.*;</a:t>
            </a:r>
            <a:endParaRPr lang="en-US" sz="1200" dirty="0"/>
          </a:p>
        </p:txBody>
      </p:sp>
      <p:sp>
        <p:nvSpPr>
          <p:cNvPr id="22" name="Text 19"/>
          <p:cNvSpPr txBox="1"/>
          <p:nvPr/>
        </p:nvSpPr>
        <p:spPr>
          <a:xfrm>
            <a:off x="7909560" y="3337560"/>
            <a:ext cx="3502152" cy="1737360"/>
          </a:xfrm>
          <a:prstGeom prst="rect">
            <a:avLst/>
          </a:prstGeom>
          <a:noFill/>
          <a:ln/>
        </p:spPr>
        <p:txBody>
          <a:bodyPr wrap="square" lIns="0" tIns="0" rIns="0" bIns="0" rtlCol="0" anchor="t"/>
          <a:lstStyle/>
          <a:p>
            <a:pPr marL="0" indent="0">
              <a:buNone/>
            </a:pPr>
            <a:r>
              <a:rPr lang="en-US" sz="1600" dirty="0">
                <a:solidFill>
                  <a:schemeClr val="tx1"/>
                </a:solidFill>
              </a:rPr>
              <a:t>New projects use jakarta. The old javax package no longer works with Spring Boot 3.</a:t>
            </a:r>
            <a:endParaRPr lang="en-US" sz="1600" dirty="0"/>
          </a:p>
        </p:txBody>
      </p:sp>
      <p:sp>
        <p:nvSpPr>
          <p:cNvPr id="23"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4" name="Text 21"/>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pom.xml: spring-boot-starter-data-jpa   (Java 21, Boot 3.5, Hibernate 6.6)</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 class becomes a table</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THE ENTITY</a:t>
            </a:r>
            <a:endParaRPr lang="en-US" sz="1200" dirty="0"/>
          </a:p>
        </p:txBody>
      </p:sp>
      <p:sp>
        <p:nvSpPr>
          <p:cNvPr id="9" name="code-bg"/>
          <p:cNvSpPr/>
          <p:nvPr/>
        </p:nvSpPr>
        <p:spPr>
          <a:xfrm>
            <a:off x="548640" y="1920240"/>
            <a:ext cx="5760720" cy="3566160"/>
          </a:xfrm>
          <a:prstGeom prst="roundRect">
            <a:avLst>
              <a:gd name="adj" fmla="val 2051"/>
            </a:avLst>
          </a:prstGeom>
          <a:solidFill>
            <a:schemeClr val="tx2"/>
          </a:solidFill>
          <a:ln w="12700">
            <a:solidFill>
              <a:schemeClr val="tx2"/>
            </a:solidFill>
            <a:prstDash val="solid"/>
          </a:ln>
        </p:spPr>
      </p:sp>
      <p:sp>
        <p:nvSpPr>
          <p:cNvPr id="10" name="code-text"/>
          <p:cNvSpPr txBox="1"/>
          <p:nvPr/>
        </p:nvSpPr>
        <p:spPr>
          <a:xfrm>
            <a:off x="731520" y="2029968"/>
            <a:ext cx="5394960" cy="334670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@Entity</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@Table(name = "company")</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public class Company {</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@Id</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@GeneratedValue(strategy = IDENTITY)</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private Long id;</a:t>
            </a:r>
            <a:endParaRPr lang="en-US" sz="1400" dirty="0"/>
          </a:p>
          <a:p>
            <a:pPr marL="0" indent="0">
              <a:spcAft>
                <a:spcPts val="200"/>
              </a:spcAft>
              <a:buNone/>
            </a:pP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@Column(nullable = false, unique = true)</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private String name;</a:t>
            </a:r>
            <a:endParaRPr lang="en-US" sz="1400" dirty="0"/>
          </a:p>
          <a:p>
            <a:pPr marL="0" indent="0">
              <a:spcAft>
                <a:spcPts val="200"/>
              </a:spcAft>
              <a:buNone/>
            </a:pP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@Column(nullable = false)</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private String city;</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1" name="Text 8"/>
          <p:cNvSpPr txBox="1"/>
          <p:nvPr/>
        </p:nvSpPr>
        <p:spPr>
          <a:xfrm>
            <a:off x="667512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THE TABLE (FLYWAY SQL)</a:t>
            </a:r>
            <a:endParaRPr lang="en-US" sz="1200" dirty="0"/>
          </a:p>
        </p:txBody>
      </p:sp>
      <p:sp>
        <p:nvSpPr>
          <p:cNvPr id="12" name="code-bg"/>
          <p:cNvSpPr/>
          <p:nvPr/>
        </p:nvSpPr>
        <p:spPr>
          <a:xfrm>
            <a:off x="6675120" y="1920240"/>
            <a:ext cx="4965192" cy="2377440"/>
          </a:xfrm>
          <a:prstGeom prst="roundRect">
            <a:avLst>
              <a:gd name="adj" fmla="val 3077"/>
            </a:avLst>
          </a:prstGeom>
          <a:solidFill>
            <a:schemeClr val="tx2"/>
          </a:solidFill>
          <a:ln w="12700">
            <a:solidFill>
              <a:schemeClr val="tx2"/>
            </a:solidFill>
            <a:prstDash val="solid"/>
          </a:ln>
        </p:spPr>
      </p:sp>
      <p:sp>
        <p:nvSpPr>
          <p:cNvPr id="13" name="code-text"/>
          <p:cNvSpPr txBox="1"/>
          <p:nvPr/>
        </p:nvSpPr>
        <p:spPr>
          <a:xfrm>
            <a:off x="6858000" y="2029968"/>
            <a:ext cx="4599432" cy="215798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create table company (</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id bigint generated by default</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as identity primary key,</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name varchar(120) not null unique,</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city varchar(80) not null,</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website varchar(200)</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4" name="card"/>
          <p:cNvSpPr/>
          <p:nvPr/>
        </p:nvSpPr>
        <p:spPr>
          <a:xfrm>
            <a:off x="6675120" y="4480560"/>
            <a:ext cx="4965192" cy="1005840"/>
          </a:xfrm>
          <a:prstGeom prst="roundRect">
            <a:avLst>
              <a:gd name="adj" fmla="val 7273"/>
            </a:avLst>
          </a:prstGeom>
          <a:solidFill>
            <a:schemeClr val="bg2"/>
          </a:solidFill>
          <a:ln w="12700">
            <a:solidFill>
              <a:schemeClr val="bg2"/>
            </a:solidFill>
            <a:prstDash val="solid"/>
          </a:ln>
        </p:spPr>
      </p:sp>
      <p:sp>
        <p:nvSpPr>
          <p:cNvPr id="15" name="Text 12"/>
          <p:cNvSpPr txBox="1"/>
          <p:nvPr/>
        </p:nvSpPr>
        <p:spPr>
          <a:xfrm>
            <a:off x="6858000" y="4480560"/>
            <a:ext cx="4617720" cy="1005840"/>
          </a:xfrm>
          <a:prstGeom prst="rect">
            <a:avLst/>
          </a:prstGeom>
          <a:noFill/>
          <a:ln/>
        </p:spPr>
        <p:txBody>
          <a:bodyPr wrap="square" lIns="0" tIns="0" rIns="0" bIns="0" rtlCol="0" anchor="ctr"/>
          <a:lstStyle/>
          <a:p>
            <a:pPr marL="0" indent="0">
              <a:buNone/>
            </a:pPr>
            <a:r>
              <a:rPr lang="en-US" sz="1600" dirty="0">
                <a:solidFill>
                  <a:schemeClr val="tx1"/>
                </a:solidFill>
              </a:rPr>
              <a:t>Flyway builds. Hibernate only checks (validate). A mismatch stops the app.</a:t>
            </a:r>
            <a:endParaRPr lang="en-US" sz="1600" dirty="0"/>
          </a:p>
        </p:txBody>
      </p:sp>
      <p:sp>
        <p:nvSpPr>
          <p:cNvPr id="16"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17" name="Text 14"/>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company/Company.java      db/migration/V1__init.sql</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Create, read, update, delete: no SQL written</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THE REPOSITORY</a:t>
            </a:r>
            <a:endParaRPr lang="en-US" sz="1200" dirty="0"/>
          </a:p>
        </p:txBody>
      </p:sp>
      <p:sp>
        <p:nvSpPr>
          <p:cNvPr id="9" name="code-bg"/>
          <p:cNvSpPr/>
          <p:nvPr/>
        </p:nvSpPr>
        <p:spPr>
          <a:xfrm>
            <a:off x="548640" y="1920240"/>
            <a:ext cx="5852160" cy="2103120"/>
          </a:xfrm>
          <a:prstGeom prst="roundRect">
            <a:avLst>
              <a:gd name="adj" fmla="val 3478"/>
            </a:avLst>
          </a:prstGeom>
          <a:solidFill>
            <a:schemeClr val="tx2"/>
          </a:solidFill>
          <a:ln w="12700">
            <a:solidFill>
              <a:schemeClr val="tx2"/>
            </a:solidFill>
            <a:prstDash val="solid"/>
          </a:ln>
        </p:spPr>
      </p:sp>
      <p:sp>
        <p:nvSpPr>
          <p:cNvPr id="10" name="code-text"/>
          <p:cNvSpPr txBox="1"/>
          <p:nvPr/>
        </p:nvSpPr>
        <p:spPr>
          <a:xfrm>
            <a:off x="731520" y="2029968"/>
            <a:ext cx="5486400" cy="188366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public interface StudentRepository</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extends JpaRepository&lt;Student, Long&gt; {</a:t>
            </a:r>
            <a:endParaRPr lang="en-US" sz="1400" dirty="0"/>
          </a:p>
          <a:p>
            <a:pPr marL="0" indent="0">
              <a:spcAft>
                <a:spcPts val="200"/>
              </a:spcAft>
              <a:buNone/>
            </a:pP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Optional&lt;Student&gt; findByEmail(String email);</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boolean existsByEmailIgnoreCase(String email);</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75120" y="1920240"/>
          <a:ext cx="4965192" cy="914400"/>
        </p:xfrm>
        <a:graphic>
          <a:graphicData uri="http://schemas.openxmlformats.org/drawingml/2006/table">
            <a:tbl>
              <a:tblPr/>
              <a:tblGrid>
                <a:gridCol w="1280160"/>
                <a:gridCol w="1600200"/>
                <a:gridCol w="2084832"/>
              </a:tblGrid>
              <a:tr h="457200">
                <a:tc>
                  <a:txBody>
                    <a:bodyPr/>
                    <a:lstStyle/>
                    <a:p>
                      <a:pPr marL="0" indent="0">
                        <a:buNone/>
                      </a:pPr>
                      <a:r>
                        <a:rPr lang="en-US" sz="1400" b="1" dirty="0">
                          <a:solidFill>
                            <a:srgbClr val="FFFFFF"/>
                          </a:solidFill>
                        </a:rPr>
                        <a:t>Action</a:t>
                      </a:r>
                      <a:endParaRPr lang="en-US" sz="1400" dirty="0"/>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rPr>
                        <a:t>Method</a:t>
                      </a:r>
                      <a:endParaRPr lang="en-US" sz="1400" dirty="0"/>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rPr>
                        <a:t>SQL Hibernate writes</a:t>
                      </a:r>
                      <a:endParaRPr lang="en-US" sz="1400" dirty="0"/>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r>
              <a:tr h="457200">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Create / update</a:t>
                      </a:r>
                      <a:endParaRPr lang="en-US" sz="1300" dirty="0">
                        <a:latin typeface="Calibri" charset="0"/>
                        <a:ea typeface="Calibri" charset="0"/>
                        <a:cs typeface="Calibri"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save(student)</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insert / update</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57200">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Read one</a:t>
                      </a:r>
                      <a:endParaRPr lang="en-US" sz="1300" dirty="0">
                        <a:latin typeface="Calibri" charset="0"/>
                        <a:ea typeface="Calibri" charset="0"/>
                        <a:cs typeface="Calibri"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findById(id)</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select ... where id=?</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57200">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Read many</a:t>
                      </a:r>
                      <a:endParaRPr lang="en-US" sz="1300" dirty="0">
                        <a:latin typeface="Calibri" charset="0"/>
                        <a:ea typeface="Calibri" charset="0"/>
                        <a:cs typeface="Calibri"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findAll()</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select ...</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57200">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Delete</a:t>
                      </a:r>
                      <a:endParaRPr lang="en-US" sz="1300" dirty="0">
                        <a:latin typeface="Calibri" charset="0"/>
                        <a:ea typeface="Calibri" charset="0"/>
                        <a:cs typeface="Calibri"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delete(student)</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200" dirty="0">
                          <a:solidFill>
                            <a:srgbClr val="1B2733"/>
                          </a:solidFill>
                          <a:latin typeface="Courier New" pitchFamily="34" charset="0"/>
                          <a:ea typeface="Courier New" pitchFamily="34" charset="-122"/>
                          <a:cs typeface="Courier New" pitchFamily="34" charset="-120"/>
                        </a:rPr>
                        <a:t>delete ... where id=?</a:t>
                      </a:r>
                      <a:endParaRPr lang="en-US" sz="1200" dirty="0">
                        <a:latin typeface="Courier New" charset="0"/>
                        <a:ea typeface="Courier New" charset="0"/>
                        <a:cs typeface="Courier New" charset="0"/>
                      </a:endParaRPr>
                    </a:p>
                  </a:txBody>
                  <a:tcPr marL="73152" marR="73152"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12" name="card"/>
          <p:cNvSpPr/>
          <p:nvPr/>
        </p:nvSpPr>
        <p:spPr>
          <a:xfrm>
            <a:off x="548640" y="4251960"/>
            <a:ext cx="11091672" cy="1280160"/>
          </a:xfrm>
          <a:prstGeom prst="roundRect">
            <a:avLst>
              <a:gd name="adj" fmla="val 5714"/>
            </a:avLst>
          </a:prstGeom>
          <a:solidFill>
            <a:schemeClr val="bg2"/>
          </a:solidFill>
          <a:ln w="12700">
            <a:solidFill>
              <a:schemeClr val="bg2"/>
            </a:solidFill>
            <a:prstDash val="solid"/>
          </a:ln>
        </p:spPr>
      </p:sp>
      <p:sp>
        <p:nvSpPr>
          <p:cNvPr id="13" name="Text 9"/>
          <p:cNvSpPr txBox="1"/>
          <p:nvPr/>
        </p:nvSpPr>
        <p:spPr>
          <a:xfrm>
            <a:off x="777240" y="4251960"/>
            <a:ext cx="10698480" cy="1280160"/>
          </a:xfrm>
          <a:prstGeom prst="rect">
            <a:avLst/>
          </a:prstGeom>
          <a:noFill/>
          <a:ln/>
        </p:spPr>
        <p:txBody>
          <a:bodyPr wrap="square" lIns="0" tIns="0" rIns="0" bIns="0" rtlCol="0" anchor="ctr"/>
          <a:lstStyle/>
          <a:p>
            <a:pPr marL="0" indent="0">
              <a:buNone/>
            </a:pPr>
            <a:r>
              <a:rPr lang="en-US" sz="1700" b="1" dirty="0">
                <a:solidFill>
                  <a:schemeClr val="accent1"/>
                </a:solidFill>
              </a:rPr>
              <a:t>findByEmail has no body. </a:t>
            </a:r>
            <a:r>
              <a:rPr lang="en-US" sz="1700" dirty="0">
                <a:solidFill>
                  <a:schemeClr val="tx1"/>
                </a:solidFill>
              </a:rPr>
              <a:t>Spring reads the method name and builds the query. That is a derived query. Add a student on the page, then read the INSERT in the console.</a:t>
            </a:r>
            <a:endParaRPr lang="en-US" sz="1700" dirty="0"/>
          </a:p>
        </p:txBody>
      </p:sp>
      <p:sp>
        <p:nvSpPr>
          <p:cNvPr id="14"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15" name="Text 11"/>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LIVE: /students</a:t>
            </a:r>
            <a:endParaRPr lang="en-US" sz="1200" dirty="0"/>
          </a:p>
        </p:txBody>
      </p:sp>
      <p:sp>
        <p:nvSpPr>
          <p:cNvPr id="16"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7" name="Text 13"/>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student/StudentRepository.java      /students  (list, add, edit, delete)</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Companies post jobs. Students apply.</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er-Company"/>
          <p:cNvSpPr/>
          <p:nvPr/>
        </p:nvSpPr>
        <p:spPr>
          <a:xfrm>
            <a:off x="914400" y="2011680"/>
            <a:ext cx="3108960" cy="1371600"/>
          </a:xfrm>
          <a:prstGeom prst="roundRect">
            <a:avLst>
              <a:gd name="adj" fmla="val 6667"/>
            </a:avLst>
          </a:prstGeom>
          <a:solidFill>
            <a:schemeClr val="accent1"/>
          </a:solidFill>
          <a:ln w="12700">
            <a:solidFill>
              <a:schemeClr val="accent1"/>
            </a:solidFill>
            <a:prstDash val="solid"/>
          </a:ln>
        </p:spPr>
      </p:sp>
      <p:sp>
        <p:nvSpPr>
          <p:cNvPr id="9" name="Text 6"/>
          <p:cNvSpPr txBox="1"/>
          <p:nvPr/>
        </p:nvSpPr>
        <p:spPr>
          <a:xfrm>
            <a:off x="1143000" y="2011680"/>
            <a:ext cx="2743200" cy="13716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Company</a:t>
            </a:r>
            <a:endParaRPr lang="en-US" sz="2200" dirty="0"/>
          </a:p>
          <a:p>
            <a:pPr marL="0" indent="0">
              <a:buNone/>
            </a:pPr>
            <a:r>
              <a:rPr lang="en-US" sz="1400" dirty="0">
                <a:solidFill>
                  <a:schemeClr val="bg1"/>
                </a:solidFill>
              </a:rPr>
              <a:t>name, city</a:t>
            </a:r>
            <a:endParaRPr lang="en-US" sz="2200" dirty="0"/>
          </a:p>
        </p:txBody>
      </p:sp>
      <p:sp>
        <p:nvSpPr>
          <p:cNvPr id="10" name="er-JobPosting"/>
          <p:cNvSpPr/>
          <p:nvPr/>
        </p:nvSpPr>
        <p:spPr>
          <a:xfrm>
            <a:off x="4297680" y="2011680"/>
            <a:ext cx="3108960" cy="1371600"/>
          </a:xfrm>
          <a:prstGeom prst="roundRect">
            <a:avLst>
              <a:gd name="adj" fmla="val 6667"/>
            </a:avLst>
          </a:prstGeom>
          <a:solidFill>
            <a:schemeClr val="accent1"/>
          </a:solidFill>
          <a:ln w="12700">
            <a:solidFill>
              <a:schemeClr val="accent1"/>
            </a:solidFill>
            <a:prstDash val="solid"/>
          </a:ln>
        </p:spPr>
      </p:sp>
      <p:sp>
        <p:nvSpPr>
          <p:cNvPr id="11" name="Text 8"/>
          <p:cNvSpPr txBox="1"/>
          <p:nvPr/>
        </p:nvSpPr>
        <p:spPr>
          <a:xfrm>
            <a:off x="4526280" y="2011680"/>
            <a:ext cx="2743200" cy="13716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JobPosting</a:t>
            </a:r>
            <a:endParaRPr lang="en-US" sz="2200" dirty="0"/>
          </a:p>
          <a:p>
            <a:pPr marL="0" indent="0">
              <a:buNone/>
            </a:pPr>
            <a:r>
              <a:rPr lang="en-US" sz="1400" dirty="0">
                <a:solidFill>
                  <a:schemeClr val="bg1"/>
                </a:solidFill>
              </a:rPr>
              <a:t>title, package</a:t>
            </a:r>
            <a:endParaRPr lang="en-US" sz="2200" dirty="0"/>
          </a:p>
        </p:txBody>
      </p:sp>
      <p:sp>
        <p:nvSpPr>
          <p:cNvPr id="12" name="er-Application"/>
          <p:cNvSpPr/>
          <p:nvPr/>
        </p:nvSpPr>
        <p:spPr>
          <a:xfrm>
            <a:off x="7680960" y="2011680"/>
            <a:ext cx="3108960" cy="1371600"/>
          </a:xfrm>
          <a:prstGeom prst="roundRect">
            <a:avLst>
              <a:gd name="adj" fmla="val 6667"/>
            </a:avLst>
          </a:prstGeom>
          <a:solidFill>
            <a:schemeClr val="accent3"/>
          </a:solidFill>
          <a:ln w="12700">
            <a:solidFill>
              <a:schemeClr val="accent3"/>
            </a:solidFill>
            <a:prstDash val="solid"/>
          </a:ln>
        </p:spPr>
      </p:sp>
      <p:sp>
        <p:nvSpPr>
          <p:cNvPr id="13" name="Text 10"/>
          <p:cNvSpPr txBox="1"/>
          <p:nvPr/>
        </p:nvSpPr>
        <p:spPr>
          <a:xfrm>
            <a:off x="7909560" y="2011680"/>
            <a:ext cx="2743200" cy="13716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Application</a:t>
            </a:r>
            <a:endParaRPr lang="en-US" sz="2200" dirty="0"/>
          </a:p>
          <a:p>
            <a:pPr marL="0" indent="0">
              <a:buNone/>
            </a:pPr>
            <a:r>
              <a:rPr lang="en-US" sz="1400" dirty="0">
                <a:solidFill>
                  <a:schemeClr val="bg1"/>
                </a:solidFill>
              </a:rPr>
              <a:t>status, date, version</a:t>
            </a:r>
            <a:endParaRPr lang="en-US" sz="2200" dirty="0"/>
          </a:p>
        </p:txBody>
      </p:sp>
      <p:sp>
        <p:nvSpPr>
          <p:cNvPr id="14" name="er-Student"/>
          <p:cNvSpPr/>
          <p:nvPr/>
        </p:nvSpPr>
        <p:spPr>
          <a:xfrm>
            <a:off x="7680960" y="4023360"/>
            <a:ext cx="3108960" cy="1371600"/>
          </a:xfrm>
          <a:prstGeom prst="roundRect">
            <a:avLst>
              <a:gd name="adj" fmla="val 6667"/>
            </a:avLst>
          </a:prstGeom>
          <a:solidFill>
            <a:schemeClr val="accent2"/>
          </a:solidFill>
          <a:ln w="12700">
            <a:solidFill>
              <a:schemeClr val="accent2"/>
            </a:solidFill>
            <a:prstDash val="solid"/>
          </a:ln>
        </p:spPr>
      </p:sp>
      <p:sp>
        <p:nvSpPr>
          <p:cNvPr id="15" name="Text 12"/>
          <p:cNvSpPr txBox="1"/>
          <p:nvPr/>
        </p:nvSpPr>
        <p:spPr>
          <a:xfrm>
            <a:off x="7909560" y="4023360"/>
            <a:ext cx="2743200" cy="13716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Student</a:t>
            </a:r>
            <a:endParaRPr lang="en-US" sz="2200" dirty="0"/>
          </a:p>
          <a:p>
            <a:pPr marL="0" indent="0">
              <a:buNone/>
            </a:pPr>
            <a:r>
              <a:rPr lang="en-US" sz="1400" dirty="0">
                <a:solidFill>
                  <a:schemeClr val="bg1"/>
                </a:solidFill>
              </a:rPr>
              <a:t>name, email, CGPA</a:t>
            </a:r>
            <a:endParaRPr lang="en-US" sz="2200" dirty="0"/>
          </a:p>
        </p:txBody>
      </p:sp>
      <p:sp>
        <p:nvSpPr>
          <p:cNvPr id="16" name="arrow-1"/>
          <p:cNvSpPr/>
          <p:nvPr/>
        </p:nvSpPr>
        <p:spPr>
          <a:xfrm>
            <a:off x="4023360" y="2697480"/>
            <a:ext cx="274320" cy="0"/>
          </a:xfrm>
          <a:prstGeom prst="line">
            <a:avLst/>
          </a:prstGeom>
          <a:noFill/>
          <a:ln w="38100">
            <a:solidFill>
              <a:schemeClr val="tx2"/>
            </a:solidFill>
            <a:prstDash val="solid"/>
            <a:tailEnd type="triangle"/>
          </a:ln>
        </p:spPr>
      </p:sp>
      <p:sp>
        <p:nvSpPr>
          <p:cNvPr id="17" name="arrow-2"/>
          <p:cNvSpPr/>
          <p:nvPr/>
        </p:nvSpPr>
        <p:spPr>
          <a:xfrm>
            <a:off x="7406640" y="2697480"/>
            <a:ext cx="274320" cy="0"/>
          </a:xfrm>
          <a:prstGeom prst="line">
            <a:avLst/>
          </a:prstGeom>
          <a:noFill/>
          <a:ln w="38100">
            <a:solidFill>
              <a:schemeClr val="tx2"/>
            </a:solidFill>
            <a:prstDash val="solid"/>
            <a:headEnd type="triangle"/>
          </a:ln>
        </p:spPr>
      </p:sp>
      <p:sp>
        <p:nvSpPr>
          <p:cNvPr id="18" name="arrow-3"/>
          <p:cNvSpPr/>
          <p:nvPr/>
        </p:nvSpPr>
        <p:spPr>
          <a:xfrm>
            <a:off x="9235440" y="3383280"/>
            <a:ext cx="0" cy="640080"/>
          </a:xfrm>
          <a:prstGeom prst="line">
            <a:avLst/>
          </a:prstGeom>
          <a:noFill/>
          <a:ln w="38100">
            <a:solidFill>
              <a:schemeClr val="tx2"/>
            </a:solidFill>
            <a:prstDash val="solid"/>
            <a:headEnd type="triangle"/>
          </a:ln>
        </p:spPr>
      </p:sp>
      <p:sp>
        <p:nvSpPr>
          <p:cNvPr id="19" name="Text 16"/>
          <p:cNvSpPr txBox="1"/>
          <p:nvPr/>
        </p:nvSpPr>
        <p:spPr>
          <a:xfrm>
            <a:off x="3291840" y="2103120"/>
            <a:ext cx="1005840" cy="365760"/>
          </a:xfrm>
          <a:prstGeom prst="rect">
            <a:avLst/>
          </a:prstGeom>
          <a:noFill/>
          <a:ln/>
        </p:spPr>
        <p:txBody>
          <a:bodyPr wrap="square" lIns="0" tIns="0" rIns="0" bIns="0" rtlCol="0" anchor="ctr"/>
          <a:lstStyle/>
          <a:p>
            <a:pPr marL="0" indent="0" algn="ctr">
              <a:buNone/>
            </a:pPr>
            <a:r>
              <a:rPr lang="en-US" sz="1400" b="1" dirty="0">
                <a:solidFill>
                  <a:schemeClr val="tx2"/>
                </a:solidFill>
              </a:rPr>
              <a:t>1 : N</a:t>
            </a:r>
            <a:endParaRPr lang="en-US" sz="1400" dirty="0"/>
          </a:p>
        </p:txBody>
      </p:sp>
      <p:sp>
        <p:nvSpPr>
          <p:cNvPr id="20" name="Text 17"/>
          <p:cNvSpPr txBox="1"/>
          <p:nvPr/>
        </p:nvSpPr>
        <p:spPr>
          <a:xfrm>
            <a:off x="6949440" y="2103120"/>
            <a:ext cx="914400" cy="365760"/>
          </a:xfrm>
          <a:prstGeom prst="rect">
            <a:avLst/>
          </a:prstGeom>
          <a:noFill/>
          <a:ln/>
        </p:spPr>
        <p:txBody>
          <a:bodyPr wrap="square" lIns="0" tIns="0" rIns="0" bIns="0" rtlCol="0" anchor="ctr"/>
          <a:lstStyle/>
          <a:p>
            <a:pPr marL="0" indent="0" algn="ctr">
              <a:buNone/>
            </a:pPr>
            <a:r>
              <a:rPr lang="en-US" sz="1400" b="1" dirty="0">
                <a:solidFill>
                  <a:schemeClr val="tx2"/>
                </a:solidFill>
              </a:rPr>
              <a:t>N : 1</a:t>
            </a:r>
            <a:endParaRPr lang="en-US" sz="1400" dirty="0"/>
          </a:p>
        </p:txBody>
      </p:sp>
      <p:sp>
        <p:nvSpPr>
          <p:cNvPr id="21" name="Text 18"/>
          <p:cNvSpPr txBox="1"/>
          <p:nvPr/>
        </p:nvSpPr>
        <p:spPr>
          <a:xfrm>
            <a:off x="9418320" y="3520440"/>
            <a:ext cx="914400" cy="365760"/>
          </a:xfrm>
          <a:prstGeom prst="rect">
            <a:avLst/>
          </a:prstGeom>
          <a:noFill/>
          <a:ln/>
        </p:spPr>
        <p:txBody>
          <a:bodyPr wrap="square" lIns="0" tIns="0" rIns="0" bIns="0" rtlCol="0" anchor="ctr"/>
          <a:lstStyle/>
          <a:p>
            <a:pPr marL="0" indent="0">
              <a:buNone/>
            </a:pPr>
            <a:r>
              <a:rPr lang="en-US" sz="1400" b="1" dirty="0">
                <a:solidFill>
                  <a:schemeClr val="tx2"/>
                </a:solidFill>
              </a:rPr>
              <a:t>N : 1</a:t>
            </a:r>
            <a:endParaRPr lang="en-US" sz="1400" dirty="0"/>
          </a:p>
        </p:txBody>
      </p:sp>
      <p:sp>
        <p:nvSpPr>
          <p:cNvPr id="22" name="card"/>
          <p:cNvSpPr/>
          <p:nvPr/>
        </p:nvSpPr>
        <p:spPr>
          <a:xfrm>
            <a:off x="548640" y="4023360"/>
            <a:ext cx="6766560" cy="1463040"/>
          </a:xfrm>
          <a:prstGeom prst="roundRect">
            <a:avLst>
              <a:gd name="adj" fmla="val 5000"/>
            </a:avLst>
          </a:prstGeom>
          <a:solidFill>
            <a:schemeClr val="bg2"/>
          </a:solidFill>
          <a:ln w="12700">
            <a:solidFill>
              <a:schemeClr val="bg2"/>
            </a:solidFill>
            <a:prstDash val="solid"/>
          </a:ln>
        </p:spPr>
      </p:sp>
      <p:sp>
        <p:nvSpPr>
          <p:cNvPr id="23" name="Text 20"/>
          <p:cNvSpPr txBox="1"/>
          <p:nvPr/>
        </p:nvSpPr>
        <p:spPr>
          <a:xfrm>
            <a:off x="777240" y="4023360"/>
            <a:ext cx="6400800" cy="1463040"/>
          </a:xfrm>
          <a:prstGeom prst="rect">
            <a:avLst/>
          </a:prstGeom>
          <a:noFill/>
          <a:ln/>
        </p:spPr>
        <p:txBody>
          <a:bodyPr wrap="square" lIns="0" tIns="0" rIns="0" bIns="0" rtlCol="0" anchor="ctr"/>
          <a:lstStyle/>
          <a:p>
            <a:pPr marL="0" indent="0">
              <a:buNone/>
            </a:pPr>
            <a:r>
              <a:rPr lang="en-US" sz="1600" b="1" dirty="0">
                <a:solidFill>
                  <a:schemeClr val="accent3"/>
                </a:solidFill>
              </a:rPr>
              <a:t>Like a food-delivery app: </a:t>
            </a:r>
            <a:r>
              <a:rPr lang="en-US" sz="1600" dirty="0">
                <a:solidFill>
                  <a:schemeClr val="tx1"/>
                </a:solidFill>
              </a:rPr>
              <a:t>a restaurant has many dishes, customers order many dishes, and the order itself carries a status and a time. Application is our order slip.</a:t>
            </a:r>
            <a:endParaRPr lang="en-US" sz="1600" dirty="0"/>
          </a:p>
        </p:txBody>
      </p:sp>
      <p:sp>
        <p:nvSpPr>
          <p:cNvPr id="24"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5" name="Text 22"/>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docs/01-database-design.md      Supabase Table Editor: schema app</a:t>
            </a:r>
            <a:endParaRPr lang="en-US" sz="12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mappedBy: who holds the foreign key?</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JobPosting: THE OWNING SIDE</a:t>
            </a:r>
            <a:endParaRPr lang="en-US" sz="1200" dirty="0"/>
          </a:p>
        </p:txBody>
      </p:sp>
      <p:sp>
        <p:nvSpPr>
          <p:cNvPr id="9" name="code-bg"/>
          <p:cNvSpPr/>
          <p:nvPr/>
        </p:nvSpPr>
        <p:spPr>
          <a:xfrm>
            <a:off x="548640" y="1920240"/>
            <a:ext cx="5394960" cy="2011680"/>
          </a:xfrm>
          <a:prstGeom prst="roundRect">
            <a:avLst>
              <a:gd name="adj" fmla="val 3636"/>
            </a:avLst>
          </a:prstGeom>
          <a:solidFill>
            <a:schemeClr val="tx2"/>
          </a:solidFill>
          <a:ln w="12700">
            <a:solidFill>
              <a:schemeClr val="tx2"/>
            </a:solidFill>
            <a:prstDash val="solid"/>
          </a:ln>
        </p:spPr>
      </p:sp>
      <p:sp>
        <p:nvSpPr>
          <p:cNvPr id="10" name="code-text"/>
          <p:cNvSpPr txBox="1"/>
          <p:nvPr/>
        </p:nvSpPr>
        <p:spPr>
          <a:xfrm>
            <a:off x="731520" y="2029968"/>
            <a:ext cx="5029200" cy="1792224"/>
          </a:xfrm>
          <a:prstGeom prst="rect">
            <a:avLst/>
          </a:prstGeom>
          <a:noFill/>
          <a:ln/>
        </p:spPr>
        <p:txBody>
          <a:bodyPr wrap="square" lIns="0" tIns="0" rIns="0" bIns="0" rtlCol="0" anchor="t"/>
          <a:lstStyle/>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@ManyToOne(fetch = FetchType.LAZY,</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optional = false)</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@JoinColumn(name = "company_id")</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private Company company;</a:t>
            </a:r>
            <a:endParaRPr lang="en-US" sz="1500" dirty="0"/>
          </a:p>
        </p:txBody>
      </p:sp>
      <p:sp>
        <p:nvSpPr>
          <p:cNvPr id="11" name="Text 8"/>
          <p:cNvSpPr txBox="1"/>
          <p:nvPr/>
        </p:nvSpPr>
        <p:spPr>
          <a:xfrm>
            <a:off x="6245352"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Company: THE INVERSE SIDE</a:t>
            </a:r>
            <a:endParaRPr lang="en-US" sz="1200" dirty="0"/>
          </a:p>
        </p:txBody>
      </p:sp>
      <p:sp>
        <p:nvSpPr>
          <p:cNvPr id="12" name="code-bg"/>
          <p:cNvSpPr/>
          <p:nvPr/>
        </p:nvSpPr>
        <p:spPr>
          <a:xfrm>
            <a:off x="6245352" y="1920240"/>
            <a:ext cx="5394960" cy="2011680"/>
          </a:xfrm>
          <a:prstGeom prst="roundRect">
            <a:avLst>
              <a:gd name="adj" fmla="val 3636"/>
            </a:avLst>
          </a:prstGeom>
          <a:solidFill>
            <a:schemeClr val="tx2"/>
          </a:solidFill>
          <a:ln w="12700">
            <a:solidFill>
              <a:schemeClr val="tx2"/>
            </a:solidFill>
            <a:prstDash val="solid"/>
          </a:ln>
        </p:spPr>
      </p:sp>
      <p:sp>
        <p:nvSpPr>
          <p:cNvPr id="13" name="code-text"/>
          <p:cNvSpPr txBox="1"/>
          <p:nvPr/>
        </p:nvSpPr>
        <p:spPr>
          <a:xfrm>
            <a:off x="6428232" y="2029968"/>
            <a:ext cx="5029200" cy="1792224"/>
          </a:xfrm>
          <a:prstGeom prst="rect">
            <a:avLst/>
          </a:prstGeom>
          <a:noFill/>
          <a:ln/>
        </p:spPr>
        <p:txBody>
          <a:bodyPr wrap="square" lIns="0" tIns="0" rIns="0" bIns="0" rtlCol="0" anchor="t"/>
          <a:lstStyle/>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@OneToMany(mappedBy = "company")</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private List&lt;JobPosting&gt; postings</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 new ArrayList&lt;&gt;();</a:t>
            </a:r>
            <a:endParaRPr lang="en-US" sz="1500" dirty="0"/>
          </a:p>
        </p:txBody>
      </p:sp>
      <p:sp>
        <p:nvSpPr>
          <p:cNvPr id="14" name="card"/>
          <p:cNvSpPr/>
          <p:nvPr/>
        </p:nvSpPr>
        <p:spPr>
          <a:xfrm>
            <a:off x="548640" y="4160520"/>
            <a:ext cx="11091672" cy="1371600"/>
          </a:xfrm>
          <a:prstGeom prst="roundRect">
            <a:avLst>
              <a:gd name="adj" fmla="val 5333"/>
            </a:avLst>
          </a:prstGeom>
          <a:solidFill>
            <a:schemeClr val="accent4">
              <a:alpha val="22000"/>
            </a:schemeClr>
          </a:solidFill>
          <a:ln w="12700">
            <a:solidFill>
              <a:schemeClr val="accent4">
                <a:alpha val="0"/>
              </a:schemeClr>
            </a:solidFill>
            <a:prstDash val="solid"/>
          </a:ln>
        </p:spPr>
      </p:sp>
      <p:sp>
        <p:nvSpPr>
          <p:cNvPr id="15" name="Text 12"/>
          <p:cNvSpPr txBox="1"/>
          <p:nvPr/>
        </p:nvSpPr>
        <p:spPr>
          <a:xfrm>
            <a:off x="777240" y="4160520"/>
            <a:ext cx="10698480" cy="1371600"/>
          </a:xfrm>
          <a:prstGeom prst="rect">
            <a:avLst/>
          </a:prstGeom>
          <a:noFill/>
          <a:ln/>
        </p:spPr>
        <p:txBody>
          <a:bodyPr wrap="square" lIns="0" tIns="0" rIns="0" bIns="0" rtlCol="0" anchor="ctr"/>
          <a:lstStyle/>
          <a:p>
            <a:pPr marL="0" indent="0">
              <a:buNone/>
            </a:pPr>
            <a:r>
              <a:rPr lang="en-US" sz="1800" b="1" dirty="0">
                <a:solidFill>
                  <a:schemeClr val="tx2"/>
                </a:solidFill>
              </a:rPr>
              <a:t>The side that has the foreign key owns the relationship. The other side only points back with mappedBy. The most common Hibernate interview question.</a:t>
            </a:r>
            <a:endParaRPr lang="en-US" sz="1800" dirty="0"/>
          </a:p>
        </p:txBody>
      </p:sp>
      <p:sp>
        <p:nvSpPr>
          <p:cNvPr id="16"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17" name="Text 14"/>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job/JobPosting.java      company/Company.java</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Three ways to ask the database</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q-head"/>
          <p:cNvSpPr/>
          <p:nvPr/>
        </p:nvSpPr>
        <p:spPr>
          <a:xfrm>
            <a:off x="548640" y="1645920"/>
            <a:ext cx="3566160" cy="822960"/>
          </a:xfrm>
          <a:prstGeom prst="roundRect">
            <a:avLst>
              <a:gd name="adj" fmla="val 8889"/>
            </a:avLst>
          </a:prstGeom>
          <a:solidFill>
            <a:schemeClr val="accent2"/>
          </a:solidFill>
          <a:ln w="12700">
            <a:solidFill>
              <a:schemeClr val="accent2"/>
            </a:solidFill>
            <a:prstDash val="solid"/>
          </a:ln>
        </p:spPr>
      </p:sp>
      <p:sp>
        <p:nvSpPr>
          <p:cNvPr id="9" name="Text 6"/>
          <p:cNvSpPr txBox="1"/>
          <p:nvPr/>
        </p:nvSpPr>
        <p:spPr>
          <a:xfrm>
            <a:off x="731520" y="1645920"/>
            <a:ext cx="3200400" cy="822960"/>
          </a:xfrm>
          <a:prstGeom prst="rect">
            <a:avLst/>
          </a:prstGeom>
          <a:noFill/>
          <a:ln/>
        </p:spPr>
        <p:txBody>
          <a:bodyPr wrap="square" lIns="0" tIns="0" rIns="0" bIns="0" rtlCol="0" anchor="ctr"/>
          <a:lstStyle/>
          <a:p>
            <a:pPr marL="0" indent="0">
              <a:buNone/>
            </a:pPr>
            <a:r>
              <a:rPr lang="en-US" sz="1600" b="1" dirty="0">
                <a:solidFill>
                  <a:schemeClr val="bg1"/>
                </a:solidFill>
              </a:rPr>
              <a:t>1  DERIVED QUERY</a:t>
            </a:r>
            <a:endParaRPr lang="en-US" sz="1600" dirty="0"/>
          </a:p>
          <a:p>
            <a:pPr marL="0" indent="0">
              <a:buNone/>
            </a:pPr>
            <a:r>
              <a:rPr lang="en-US" sz="1300" dirty="0">
                <a:solidFill>
                  <a:schemeClr val="bg1"/>
                </a:solidFill>
              </a:rPr>
              <a:t>The method name becomes the query</a:t>
            </a:r>
            <a:endParaRPr lang="en-US" sz="1600" dirty="0"/>
          </a:p>
        </p:txBody>
      </p:sp>
      <p:sp>
        <p:nvSpPr>
          <p:cNvPr id="10" name="code-bg"/>
          <p:cNvSpPr/>
          <p:nvPr/>
        </p:nvSpPr>
        <p:spPr>
          <a:xfrm>
            <a:off x="548640" y="2606040"/>
            <a:ext cx="3566160" cy="2240280"/>
          </a:xfrm>
          <a:prstGeom prst="roundRect">
            <a:avLst>
              <a:gd name="adj" fmla="val 3265"/>
            </a:avLst>
          </a:prstGeom>
          <a:solidFill>
            <a:schemeClr val="tx2"/>
          </a:solidFill>
          <a:ln w="12700">
            <a:solidFill>
              <a:schemeClr val="tx2"/>
            </a:solidFill>
            <a:prstDash val="solid"/>
          </a:ln>
        </p:spPr>
      </p:sp>
      <p:sp>
        <p:nvSpPr>
          <p:cNvPr id="11" name="code-text"/>
          <p:cNvSpPr txBox="1"/>
          <p:nvPr/>
        </p:nvSpPr>
        <p:spPr>
          <a:xfrm>
            <a:off x="731520" y="2715768"/>
            <a:ext cx="3200400" cy="202082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boolean</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existsByStudentIdAndJobId(</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Long studentId, Long jobId);</a:t>
            </a:r>
            <a:endParaRPr lang="en-US" sz="1300" dirty="0"/>
          </a:p>
        </p:txBody>
      </p:sp>
      <p:sp>
        <p:nvSpPr>
          <p:cNvPr id="12" name="q-head"/>
          <p:cNvSpPr/>
          <p:nvPr/>
        </p:nvSpPr>
        <p:spPr>
          <a:xfrm>
            <a:off x="4315968" y="1645920"/>
            <a:ext cx="3566160" cy="822960"/>
          </a:xfrm>
          <a:prstGeom prst="roundRect">
            <a:avLst>
              <a:gd name="adj" fmla="val 8889"/>
            </a:avLst>
          </a:prstGeom>
          <a:solidFill>
            <a:schemeClr val="accent1"/>
          </a:solidFill>
          <a:ln w="12700">
            <a:solidFill>
              <a:schemeClr val="accent1"/>
            </a:solidFill>
            <a:prstDash val="solid"/>
          </a:ln>
        </p:spPr>
      </p:sp>
      <p:sp>
        <p:nvSpPr>
          <p:cNvPr id="13" name="Text 10"/>
          <p:cNvSpPr txBox="1"/>
          <p:nvPr/>
        </p:nvSpPr>
        <p:spPr>
          <a:xfrm>
            <a:off x="4498848" y="1645920"/>
            <a:ext cx="3200400" cy="822960"/>
          </a:xfrm>
          <a:prstGeom prst="rect">
            <a:avLst/>
          </a:prstGeom>
          <a:noFill/>
          <a:ln/>
        </p:spPr>
        <p:txBody>
          <a:bodyPr wrap="square" lIns="0" tIns="0" rIns="0" bIns="0" rtlCol="0" anchor="ctr"/>
          <a:lstStyle/>
          <a:p>
            <a:pPr marL="0" indent="0">
              <a:buNone/>
            </a:pPr>
            <a:r>
              <a:rPr lang="en-US" sz="1600" b="1" dirty="0">
                <a:solidFill>
                  <a:schemeClr val="bg1"/>
                </a:solidFill>
              </a:rPr>
              <a:t>2  JPQL WITH @Query</a:t>
            </a:r>
            <a:endParaRPr lang="en-US" sz="1600" dirty="0"/>
          </a:p>
          <a:p>
            <a:pPr marL="0" indent="0">
              <a:buNone/>
            </a:pPr>
            <a:r>
              <a:rPr lang="en-US" sz="1300" dirty="0">
                <a:solidFill>
                  <a:schemeClr val="bg1"/>
                </a:solidFill>
              </a:rPr>
              <a:t>Class and field names, not tables</a:t>
            </a:r>
            <a:endParaRPr lang="en-US" sz="1600" dirty="0"/>
          </a:p>
        </p:txBody>
      </p:sp>
      <p:sp>
        <p:nvSpPr>
          <p:cNvPr id="14" name="code-bg"/>
          <p:cNvSpPr/>
          <p:nvPr/>
        </p:nvSpPr>
        <p:spPr>
          <a:xfrm>
            <a:off x="4315968" y="2606040"/>
            <a:ext cx="3566160" cy="2240280"/>
          </a:xfrm>
          <a:prstGeom prst="roundRect">
            <a:avLst>
              <a:gd name="adj" fmla="val 3265"/>
            </a:avLst>
          </a:prstGeom>
          <a:solidFill>
            <a:schemeClr val="tx2"/>
          </a:solidFill>
          <a:ln w="12700">
            <a:solidFill>
              <a:schemeClr val="tx2"/>
            </a:solidFill>
            <a:prstDash val="solid"/>
          </a:ln>
        </p:spPr>
      </p:sp>
      <p:sp>
        <p:nvSpPr>
          <p:cNvPr id="15" name="code-text"/>
          <p:cNvSpPr txBox="1"/>
          <p:nvPr/>
        </p:nvSpPr>
        <p:spPr>
          <a:xfrm>
            <a:off x="4498848" y="2715768"/>
            <a:ext cx="3200400" cy="202082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@Query("select j</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from JobPosting j</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join fetch j.company c</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where lower(c.city)</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 lower(:city)")</a:t>
            </a:r>
            <a:endParaRPr lang="en-US" sz="1300" dirty="0"/>
          </a:p>
        </p:txBody>
      </p:sp>
      <p:sp>
        <p:nvSpPr>
          <p:cNvPr id="16" name="q-head"/>
          <p:cNvSpPr/>
          <p:nvPr/>
        </p:nvSpPr>
        <p:spPr>
          <a:xfrm>
            <a:off x="8083296" y="1645920"/>
            <a:ext cx="3566160" cy="822960"/>
          </a:xfrm>
          <a:prstGeom prst="roundRect">
            <a:avLst>
              <a:gd name="adj" fmla="val 8889"/>
            </a:avLst>
          </a:prstGeom>
          <a:solidFill>
            <a:schemeClr val="accent3"/>
          </a:solidFill>
          <a:ln w="12700">
            <a:solidFill>
              <a:schemeClr val="accent3"/>
            </a:solidFill>
            <a:prstDash val="solid"/>
          </a:ln>
        </p:spPr>
      </p:sp>
      <p:sp>
        <p:nvSpPr>
          <p:cNvPr id="17" name="Text 14"/>
          <p:cNvSpPr txBox="1"/>
          <p:nvPr/>
        </p:nvSpPr>
        <p:spPr>
          <a:xfrm>
            <a:off x="8266176" y="1645920"/>
            <a:ext cx="3200400" cy="822960"/>
          </a:xfrm>
          <a:prstGeom prst="rect">
            <a:avLst/>
          </a:prstGeom>
          <a:noFill/>
          <a:ln/>
        </p:spPr>
        <p:txBody>
          <a:bodyPr wrap="square" lIns="0" tIns="0" rIns="0" bIns="0" rtlCol="0" anchor="ctr"/>
          <a:lstStyle/>
          <a:p>
            <a:pPr marL="0" indent="0">
              <a:buNone/>
            </a:pPr>
            <a:r>
              <a:rPr lang="en-US" sz="1600" b="1" dirty="0">
                <a:solidFill>
                  <a:schemeClr val="bg1"/>
                </a:solidFill>
              </a:rPr>
              <a:t>3  PROJECTION</a:t>
            </a:r>
            <a:endParaRPr lang="en-US" sz="1600" dirty="0"/>
          </a:p>
          <a:p>
            <a:pPr marL="0" indent="0">
              <a:buNone/>
            </a:pPr>
            <a:r>
              <a:rPr lang="en-US" sz="1300" dirty="0">
                <a:solidFill>
                  <a:schemeClr val="bg1"/>
                </a:solidFill>
              </a:rPr>
              <a:t>Only the columns you need</a:t>
            </a:r>
            <a:endParaRPr lang="en-US" sz="1600" dirty="0"/>
          </a:p>
        </p:txBody>
      </p:sp>
      <p:sp>
        <p:nvSpPr>
          <p:cNvPr id="18" name="code-bg"/>
          <p:cNvSpPr/>
          <p:nvPr/>
        </p:nvSpPr>
        <p:spPr>
          <a:xfrm>
            <a:off x="8083296" y="2606040"/>
            <a:ext cx="3566160" cy="2240280"/>
          </a:xfrm>
          <a:prstGeom prst="roundRect">
            <a:avLst>
              <a:gd name="adj" fmla="val 3265"/>
            </a:avLst>
          </a:prstGeom>
          <a:solidFill>
            <a:schemeClr val="tx2"/>
          </a:solidFill>
          <a:ln w="12700">
            <a:solidFill>
              <a:schemeClr val="tx2"/>
            </a:solidFill>
            <a:prstDash val="solid"/>
          </a:ln>
        </p:spPr>
      </p:sp>
      <p:sp>
        <p:nvSpPr>
          <p:cNvPr id="19" name="code-text"/>
          <p:cNvSpPr txBox="1"/>
          <p:nvPr/>
        </p:nvSpPr>
        <p:spPr>
          <a:xfrm>
            <a:off x="8266176" y="2715768"/>
            <a:ext cx="3200400" cy="202082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interface JobSummary {</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getTitle();</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getCompanyName();</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20"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21" name="Text 18"/>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LIVE: ?city=Surat</a:t>
            </a:r>
            <a:endParaRPr lang="en-US" sz="1200" dirty="0"/>
          </a:p>
        </p:txBody>
      </p:sp>
      <p:sp>
        <p:nvSpPr>
          <p:cNvPr id="22" name="Text 19"/>
          <p:cNvSpPr txBox="1"/>
          <p:nvPr/>
        </p:nvSpPr>
        <p:spPr>
          <a:xfrm>
            <a:off x="548640" y="498348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Try /jobs?city=Surat. One select in the console, the company comes with the job.</a:t>
            </a:r>
            <a:endParaRPr lang="en-US" sz="1600" dirty="0"/>
          </a:p>
        </p:txBody>
      </p:sp>
      <p:sp>
        <p:nvSpPr>
          <p:cNvPr id="23"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4" name="Text 21"/>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job/JobRepository.java      /jobs?city=Surat      /jobs/manage (paged)</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LAZY loads when asked. EAGER loads it all.</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45920"/>
            <a:ext cx="5440680" cy="2834640"/>
          </a:xfrm>
          <a:prstGeom prst="roundRect">
            <a:avLst>
              <a:gd name="adj" fmla="val 2581"/>
            </a:avLst>
          </a:prstGeom>
          <a:solidFill>
            <a:schemeClr val="accent1">
              <a:alpha val="12000"/>
            </a:schemeClr>
          </a:solidFill>
          <a:ln w="12700">
            <a:solidFill>
              <a:schemeClr val="accent1"/>
            </a:solidFill>
            <a:prstDash val="solid"/>
          </a:ln>
        </p:spPr>
      </p:sp>
      <p:sp>
        <p:nvSpPr>
          <p:cNvPr id="9" name="Text 6"/>
          <p:cNvSpPr txBox="1"/>
          <p:nvPr/>
        </p:nvSpPr>
        <p:spPr>
          <a:xfrm>
            <a:off x="777240" y="1783080"/>
            <a:ext cx="5029200" cy="457200"/>
          </a:xfrm>
          <a:prstGeom prst="rect">
            <a:avLst/>
          </a:prstGeom>
          <a:noFill/>
          <a:ln/>
        </p:spPr>
        <p:txBody>
          <a:bodyPr wrap="square" lIns="0" tIns="0" rIns="0" bIns="0" rtlCol="0" anchor="ctr"/>
          <a:lstStyle/>
          <a:p>
            <a:pPr marL="0" indent="0">
              <a:buNone/>
            </a:pPr>
            <a:r>
              <a:rPr lang="en-US" sz="2000" b="1" dirty="0">
                <a:solidFill>
                  <a:schemeClr val="accent1"/>
                </a:solidFill>
              </a:rPr>
              <a:t>LAZY   (the default to choose)</a:t>
            </a:r>
            <a:endParaRPr lang="en-US" sz="2000" dirty="0"/>
          </a:p>
        </p:txBody>
      </p:sp>
      <p:sp>
        <p:nvSpPr>
          <p:cNvPr id="10" name="Text 7"/>
          <p:cNvSpPr txBox="1"/>
          <p:nvPr/>
        </p:nvSpPr>
        <p:spPr>
          <a:xfrm>
            <a:off x="777240" y="2331720"/>
            <a:ext cx="5029200" cy="1005840"/>
          </a:xfrm>
          <a:prstGeom prst="rect">
            <a:avLst/>
          </a:prstGeom>
          <a:noFill/>
          <a:ln/>
        </p:spPr>
        <p:txBody>
          <a:bodyPr wrap="square" lIns="0" tIns="0" rIns="0" bIns="0" rtlCol="0" anchor="t"/>
          <a:lstStyle/>
          <a:p>
            <a:pPr marL="0" indent="0">
              <a:buNone/>
            </a:pPr>
            <a:r>
              <a:rPr lang="en-US" sz="1700" dirty="0">
                <a:solidFill>
                  <a:schemeClr val="tx1"/>
                </a:solidFill>
              </a:rPr>
              <a:t>Like a food-delivery menu list: names now, the full dish page only when you tap.</a:t>
            </a:r>
            <a:endParaRPr lang="en-US" sz="1700" dirty="0"/>
          </a:p>
        </p:txBody>
      </p:sp>
      <p:sp>
        <p:nvSpPr>
          <p:cNvPr id="11" name="Text 8"/>
          <p:cNvSpPr txBox="1"/>
          <p:nvPr/>
        </p:nvSpPr>
        <p:spPr>
          <a:xfrm>
            <a:off x="777240" y="3520440"/>
            <a:ext cx="5029200" cy="731520"/>
          </a:xfrm>
          <a:prstGeom prst="rect">
            <a:avLst/>
          </a:prstGeom>
          <a:noFill/>
          <a:ln/>
        </p:spPr>
        <p:txBody>
          <a:bodyPr wrap="square" lIns="0" tIns="0" rIns="0" bIns="0" rtlCol="0" anchor="t"/>
          <a:lstStyle/>
          <a:p>
            <a:pPr marL="0" indent="0">
              <a:buNone/>
            </a:pPr>
            <a:r>
              <a:rPr lang="en-US" sz="1700" b="1" dirty="0">
                <a:solidFill>
                  <a:schemeClr val="tx2"/>
                </a:solidFill>
              </a:rPr>
              <a:t>One small query now. More only if needed.</a:t>
            </a:r>
            <a:endParaRPr lang="en-US" sz="1700" dirty="0"/>
          </a:p>
        </p:txBody>
      </p:sp>
      <p:sp>
        <p:nvSpPr>
          <p:cNvPr id="12" name="card"/>
          <p:cNvSpPr/>
          <p:nvPr/>
        </p:nvSpPr>
        <p:spPr>
          <a:xfrm>
            <a:off x="6199632" y="1645920"/>
            <a:ext cx="5440680" cy="2834640"/>
          </a:xfrm>
          <a:prstGeom prst="roundRect">
            <a:avLst>
              <a:gd name="adj" fmla="val 2581"/>
            </a:avLst>
          </a:prstGeom>
          <a:solidFill>
            <a:schemeClr val="accent6">
              <a:alpha val="10000"/>
            </a:schemeClr>
          </a:solidFill>
          <a:ln w="12700">
            <a:solidFill>
              <a:schemeClr val="accent6"/>
            </a:solidFill>
            <a:prstDash val="solid"/>
          </a:ln>
        </p:spPr>
      </p:sp>
      <p:sp>
        <p:nvSpPr>
          <p:cNvPr id="13" name="Text 10"/>
          <p:cNvSpPr txBox="1"/>
          <p:nvPr/>
        </p:nvSpPr>
        <p:spPr>
          <a:xfrm>
            <a:off x="6428232" y="1783080"/>
            <a:ext cx="5029200" cy="457200"/>
          </a:xfrm>
          <a:prstGeom prst="rect">
            <a:avLst/>
          </a:prstGeom>
          <a:noFill/>
          <a:ln/>
        </p:spPr>
        <p:txBody>
          <a:bodyPr wrap="square" lIns="0" tIns="0" rIns="0" bIns="0" rtlCol="0" anchor="ctr"/>
          <a:lstStyle/>
          <a:p>
            <a:pPr marL="0" indent="0">
              <a:buNone/>
            </a:pPr>
            <a:r>
              <a:rPr lang="en-US" sz="2000" b="1" dirty="0">
                <a:solidFill>
                  <a:schemeClr val="accent6"/>
                </a:solidFill>
              </a:rPr>
              <a:t>EAGER</a:t>
            </a:r>
            <a:endParaRPr lang="en-US" sz="2000" dirty="0"/>
          </a:p>
        </p:txBody>
      </p:sp>
      <p:sp>
        <p:nvSpPr>
          <p:cNvPr id="14" name="Text 11"/>
          <p:cNvSpPr txBox="1"/>
          <p:nvPr/>
        </p:nvSpPr>
        <p:spPr>
          <a:xfrm>
            <a:off x="6428232" y="2331720"/>
            <a:ext cx="5029200" cy="1005840"/>
          </a:xfrm>
          <a:prstGeom prst="rect">
            <a:avLst/>
          </a:prstGeom>
          <a:noFill/>
          <a:ln/>
        </p:spPr>
        <p:txBody>
          <a:bodyPr wrap="square" lIns="0" tIns="0" rIns="0" bIns="0" rtlCol="0" anchor="t"/>
          <a:lstStyle/>
          <a:p>
            <a:pPr marL="0" indent="0">
              <a:buNone/>
            </a:pPr>
            <a:r>
              <a:rPr lang="en-US" sz="1700" dirty="0">
                <a:solidFill>
                  <a:schemeClr val="tx1"/>
                </a:solidFill>
              </a:rPr>
              <a:t>Like the app downloading every dish photo, review and detail at startup.</a:t>
            </a:r>
            <a:endParaRPr lang="en-US" sz="1700" dirty="0"/>
          </a:p>
        </p:txBody>
      </p:sp>
      <p:sp>
        <p:nvSpPr>
          <p:cNvPr id="15" name="Text 12"/>
          <p:cNvSpPr txBox="1"/>
          <p:nvPr/>
        </p:nvSpPr>
        <p:spPr>
          <a:xfrm>
            <a:off x="6428232" y="3520440"/>
            <a:ext cx="5029200" cy="731520"/>
          </a:xfrm>
          <a:prstGeom prst="rect">
            <a:avLst/>
          </a:prstGeom>
          <a:noFill/>
          <a:ln/>
        </p:spPr>
        <p:txBody>
          <a:bodyPr wrap="square" lIns="0" tIns="0" rIns="0" bIns="0" rtlCol="0" anchor="t"/>
          <a:lstStyle/>
          <a:p>
            <a:pPr marL="0" indent="0">
              <a:buNone/>
            </a:pPr>
            <a:r>
              <a:rPr lang="en-US" sz="1700" b="1" dirty="0">
                <a:solidFill>
                  <a:schemeClr val="tx2"/>
                </a:solidFill>
              </a:rPr>
              <a:t>Big joins on every load, used or not.</a:t>
            </a:r>
            <a:endParaRPr lang="en-US" sz="1700" dirty="0"/>
          </a:p>
        </p:txBody>
      </p:sp>
      <p:sp>
        <p:nvSpPr>
          <p:cNvPr id="16" name="Text 13"/>
          <p:cNvSpPr txBox="1"/>
          <p:nvPr/>
        </p:nvSpPr>
        <p:spPr>
          <a:xfrm>
            <a:off x="548640" y="457200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Default to LAZY. Fetch what you need, on purpose. Never fix a problem by switching to EAGER.</a:t>
            </a:r>
            <a:endParaRPr lang="en-US" sz="1600" dirty="0"/>
          </a:p>
        </p:txBody>
      </p:sp>
      <p:sp>
        <p:nvSpPr>
          <p:cNvPr id="17"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18" name="Text 15"/>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every @ManyToOne is fetch = LAZY      no EAGER anywhere in the project</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How many queries for this one page?</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5"/>
                </a:solidFill>
              </a:rPr>
              <a:t>APPLICATIONSERVICE.LISTSLOW()</a:t>
            </a:r>
            <a:endParaRPr lang="en-US" sz="1200" dirty="0"/>
          </a:p>
        </p:txBody>
      </p:sp>
      <p:sp>
        <p:nvSpPr>
          <p:cNvPr id="9" name="code-bg"/>
          <p:cNvSpPr/>
          <p:nvPr/>
        </p:nvSpPr>
        <p:spPr>
          <a:xfrm>
            <a:off x="548640" y="1920240"/>
            <a:ext cx="6766560" cy="2926080"/>
          </a:xfrm>
          <a:prstGeom prst="roundRect">
            <a:avLst>
              <a:gd name="adj" fmla="val 2500"/>
            </a:avLst>
          </a:prstGeom>
          <a:solidFill>
            <a:schemeClr val="tx2"/>
          </a:solidFill>
          <a:ln w="12700">
            <a:solidFill>
              <a:schemeClr val="tx2"/>
            </a:solidFill>
            <a:prstDash val="solid"/>
          </a:ln>
        </p:spPr>
      </p:sp>
      <p:sp>
        <p:nvSpPr>
          <p:cNvPr id="10" name="code-text"/>
          <p:cNvSpPr txBox="1"/>
          <p:nvPr/>
        </p:nvSpPr>
        <p:spPr>
          <a:xfrm>
            <a:off x="731520" y="2029968"/>
            <a:ext cx="6400800" cy="270662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@Transactional(readOnly = true)</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List&lt;ApplicationRow&gt; listSlow() {</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return applications.findAll()</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.stream().map(a -&gt; new ApplicationRow(</a:t>
            </a:r>
            <a:endParaRPr lang="en-US" sz="1300" dirty="0"/>
          </a:p>
          <a:p>
            <a:pPr marL="0" indent="0">
              <a:spcAft>
                <a:spcPts val="200"/>
              </a:spcAft>
              <a:buNone/>
            </a:pPr>
            <a:r>
              <a:rPr lang="en-US" sz="1300" dirty="0">
                <a:solidFill>
                  <a:schemeClr val="accent4"/>
                </a:solidFill>
                <a:latin typeface="Courier New" pitchFamily="34" charset="0"/>
                <a:ea typeface="Courier New" pitchFamily="34" charset="-122"/>
                <a:cs typeface="Courier New" pitchFamily="34" charset="-120"/>
              </a:rPr>
              <a:t>       a.getStudent().getName(),</a:t>
            </a:r>
            <a:endParaRPr lang="en-US" sz="1300" dirty="0"/>
          </a:p>
          <a:p>
            <a:pPr marL="0" indent="0">
              <a:spcAft>
                <a:spcPts val="200"/>
              </a:spcAft>
              <a:buNone/>
            </a:pPr>
            <a:r>
              <a:rPr lang="en-US" sz="1300" dirty="0">
                <a:solidFill>
                  <a:schemeClr val="accent4"/>
                </a:solidFill>
                <a:latin typeface="Courier New" pitchFamily="34" charset="0"/>
                <a:ea typeface="Courier New" pitchFamily="34" charset="-122"/>
                <a:cs typeface="Courier New" pitchFamily="34" charset="-120"/>
              </a:rPr>
              <a:t>       a.getJob().getTitle(),</a:t>
            </a:r>
            <a:endParaRPr lang="en-US" sz="1300" dirty="0"/>
          </a:p>
          <a:p>
            <a:pPr marL="0" indent="0">
              <a:spcAft>
                <a:spcPts val="200"/>
              </a:spcAft>
              <a:buNone/>
            </a:pPr>
            <a:r>
              <a:rPr lang="en-US" sz="1300" dirty="0">
                <a:solidFill>
                  <a:schemeClr val="accent4"/>
                </a:solidFill>
                <a:latin typeface="Courier New" pitchFamily="34" charset="0"/>
                <a:ea typeface="Courier New" pitchFamily="34" charset="-122"/>
                <a:cs typeface="Courier New" pitchFamily="34" charset="-120"/>
              </a:rPr>
              <a:t>       a.getJob().getCompany().getName(),</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a.getStatus())).toList();</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11" name="Text 8"/>
          <p:cNvSpPr txBox="1"/>
          <p:nvPr/>
        </p:nvSpPr>
        <p:spPr>
          <a:xfrm>
            <a:off x="7772400" y="1600200"/>
            <a:ext cx="3840480" cy="2103120"/>
          </a:xfrm>
          <a:prstGeom prst="rect">
            <a:avLst/>
          </a:prstGeom>
          <a:noFill/>
          <a:ln/>
        </p:spPr>
        <p:txBody>
          <a:bodyPr wrap="square" lIns="0" tIns="0" rIns="0" bIns="0" rtlCol="0" anchor="ctr"/>
          <a:lstStyle/>
          <a:p>
            <a:pPr marL="0" indent="0" algn="ctr">
              <a:buNone/>
            </a:pPr>
            <a:r>
              <a:rPr lang="en-US" sz="13000" b="1" dirty="0">
                <a:solidFill>
                  <a:schemeClr val="accent3"/>
                </a:solidFill>
                <a:latin typeface="Cambria" pitchFamily="34" charset="0"/>
                <a:ea typeface="Cambria" pitchFamily="34" charset="-122"/>
                <a:cs typeface="Cambria" pitchFamily="34" charset="-120"/>
              </a:rPr>
              <a:t>?</a:t>
            </a:r>
            <a:endParaRPr lang="en-US" sz="13000" dirty="0"/>
          </a:p>
        </p:txBody>
      </p:sp>
      <p:sp>
        <p:nvSpPr>
          <p:cNvPr id="12" name="Text 9"/>
          <p:cNvSpPr txBox="1"/>
          <p:nvPr/>
        </p:nvSpPr>
        <p:spPr>
          <a:xfrm>
            <a:off x="7772400" y="3657600"/>
            <a:ext cx="3840480" cy="457200"/>
          </a:xfrm>
          <a:prstGeom prst="rect">
            <a:avLst/>
          </a:prstGeom>
          <a:noFill/>
          <a:ln/>
        </p:spPr>
        <p:txBody>
          <a:bodyPr wrap="square" lIns="0" tIns="0" rIns="0" bIns="0" rtlCol="0" anchor="ctr"/>
          <a:lstStyle/>
          <a:p>
            <a:pPr marL="0" indent="0" algn="ctr">
              <a:buNone/>
            </a:pPr>
            <a:r>
              <a:rPr lang="en-US" sz="1800" dirty="0">
                <a:solidFill>
                  <a:schemeClr val="tx1"/>
                </a:solidFill>
              </a:rPr>
              <a:t>queries for 20 applications</a:t>
            </a:r>
            <a:endParaRPr lang="en-US" sz="1800" dirty="0"/>
          </a:p>
        </p:txBody>
      </p:sp>
      <p:sp>
        <p:nvSpPr>
          <p:cNvPr id="13" name="opt-1"/>
          <p:cNvSpPr/>
          <p:nvPr/>
        </p:nvSpPr>
        <p:spPr>
          <a:xfrm>
            <a:off x="7680960" y="4251960"/>
            <a:ext cx="868680" cy="594360"/>
          </a:xfrm>
          <a:prstGeom prst="roundRect">
            <a:avLst>
              <a:gd name="adj" fmla="val 12308"/>
            </a:avLst>
          </a:prstGeom>
          <a:solidFill>
            <a:schemeClr val="tx2"/>
          </a:solidFill>
          <a:ln w="12700">
            <a:solidFill>
              <a:schemeClr val="tx2"/>
            </a:solidFill>
            <a:prstDash val="solid"/>
          </a:ln>
        </p:spPr>
      </p:sp>
      <p:sp>
        <p:nvSpPr>
          <p:cNvPr id="14" name="Text 11"/>
          <p:cNvSpPr txBox="1"/>
          <p:nvPr/>
        </p:nvSpPr>
        <p:spPr>
          <a:xfrm>
            <a:off x="7680960" y="4251960"/>
            <a:ext cx="868680" cy="5943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15" name="opt-5"/>
          <p:cNvSpPr/>
          <p:nvPr/>
        </p:nvSpPr>
        <p:spPr>
          <a:xfrm>
            <a:off x="8686800" y="4251960"/>
            <a:ext cx="868680" cy="594360"/>
          </a:xfrm>
          <a:prstGeom prst="roundRect">
            <a:avLst>
              <a:gd name="adj" fmla="val 12308"/>
            </a:avLst>
          </a:prstGeom>
          <a:solidFill>
            <a:schemeClr val="tx2"/>
          </a:solidFill>
          <a:ln w="12700">
            <a:solidFill>
              <a:schemeClr val="tx2"/>
            </a:solidFill>
            <a:prstDash val="solid"/>
          </a:ln>
        </p:spPr>
      </p:sp>
      <p:sp>
        <p:nvSpPr>
          <p:cNvPr id="16" name="Text 13"/>
          <p:cNvSpPr txBox="1"/>
          <p:nvPr/>
        </p:nvSpPr>
        <p:spPr>
          <a:xfrm>
            <a:off x="8686800" y="4251960"/>
            <a:ext cx="868680" cy="59436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17" name="opt-26"/>
          <p:cNvSpPr/>
          <p:nvPr/>
        </p:nvSpPr>
        <p:spPr>
          <a:xfrm>
            <a:off x="9692640" y="4251960"/>
            <a:ext cx="868680" cy="594360"/>
          </a:xfrm>
          <a:prstGeom prst="roundRect">
            <a:avLst>
              <a:gd name="adj" fmla="val 12308"/>
            </a:avLst>
          </a:prstGeom>
          <a:solidFill>
            <a:schemeClr val="tx2"/>
          </a:solidFill>
          <a:ln w="12700">
            <a:solidFill>
              <a:schemeClr val="tx2"/>
            </a:solidFill>
            <a:prstDash val="solid"/>
          </a:ln>
        </p:spPr>
      </p:sp>
      <p:sp>
        <p:nvSpPr>
          <p:cNvPr id="18" name="Text 15"/>
          <p:cNvSpPr txBox="1"/>
          <p:nvPr/>
        </p:nvSpPr>
        <p:spPr>
          <a:xfrm>
            <a:off x="9692640" y="4251960"/>
            <a:ext cx="868680" cy="594360"/>
          </a:xfrm>
          <a:prstGeom prst="rect">
            <a:avLst/>
          </a:prstGeom>
          <a:noFill/>
          <a:ln/>
        </p:spPr>
        <p:txBody>
          <a:bodyPr wrap="square" lIns="0" tIns="0" rIns="0" bIns="0" rtlCol="0" anchor="ctr"/>
          <a:lstStyle/>
          <a:p>
            <a:pPr marL="0" indent="0" algn="ctr">
              <a:buNone/>
            </a:pPr>
            <a:r>
              <a:rPr lang="en-US" sz="2000" b="1" dirty="0">
                <a:solidFill>
                  <a:schemeClr val="bg1"/>
                </a:solidFill>
              </a:rPr>
              <a:t>26</a:t>
            </a:r>
            <a:endParaRPr lang="en-US" sz="2000" dirty="0"/>
          </a:p>
        </p:txBody>
      </p:sp>
      <p:sp>
        <p:nvSpPr>
          <p:cNvPr id="19" name="opt-100"/>
          <p:cNvSpPr/>
          <p:nvPr/>
        </p:nvSpPr>
        <p:spPr>
          <a:xfrm>
            <a:off x="10698480" y="4251960"/>
            <a:ext cx="868680" cy="594360"/>
          </a:xfrm>
          <a:prstGeom prst="roundRect">
            <a:avLst>
              <a:gd name="adj" fmla="val 12308"/>
            </a:avLst>
          </a:prstGeom>
          <a:solidFill>
            <a:schemeClr val="tx2"/>
          </a:solidFill>
          <a:ln w="12700">
            <a:solidFill>
              <a:schemeClr val="tx2"/>
            </a:solidFill>
            <a:prstDash val="solid"/>
          </a:ln>
        </p:spPr>
      </p:sp>
      <p:sp>
        <p:nvSpPr>
          <p:cNvPr id="20" name="Text 17"/>
          <p:cNvSpPr txBox="1"/>
          <p:nvPr/>
        </p:nvSpPr>
        <p:spPr>
          <a:xfrm>
            <a:off x="10698480" y="4251960"/>
            <a:ext cx="868680" cy="594360"/>
          </a:xfrm>
          <a:prstGeom prst="rect">
            <a:avLst/>
          </a:prstGeom>
          <a:noFill/>
          <a:ln/>
        </p:spPr>
        <p:txBody>
          <a:bodyPr wrap="square" lIns="0" tIns="0" rIns="0" bIns="0" rtlCol="0" anchor="ctr"/>
          <a:lstStyle/>
          <a:p>
            <a:pPr marL="0" indent="0" algn="ctr">
              <a:buNone/>
            </a:pPr>
            <a:r>
              <a:rPr lang="en-US" sz="2000" b="1" dirty="0">
                <a:solidFill>
                  <a:schemeClr val="bg1"/>
                </a:solidFill>
              </a:rPr>
              <a:t>100</a:t>
            </a:r>
            <a:endParaRPr lang="en-US" sz="2000" dirty="0"/>
          </a:p>
        </p:txBody>
      </p:sp>
      <p:sp>
        <p:nvSpPr>
          <p:cNvPr id="21" name="demo-tag"/>
          <p:cNvSpPr/>
          <p:nvPr/>
        </p:nvSpPr>
        <p:spPr>
          <a:xfrm>
            <a:off x="548640" y="5029200"/>
            <a:ext cx="2331720" cy="347472"/>
          </a:xfrm>
          <a:prstGeom prst="roundRect">
            <a:avLst>
              <a:gd name="adj" fmla="val 50000"/>
            </a:avLst>
          </a:prstGeom>
          <a:solidFill>
            <a:schemeClr val="accent3"/>
          </a:solidFill>
          <a:ln w="12700">
            <a:solidFill>
              <a:schemeClr val="accent3"/>
            </a:solidFill>
            <a:prstDash val="solid"/>
          </a:ln>
        </p:spPr>
      </p:sp>
      <p:sp>
        <p:nvSpPr>
          <p:cNvPr id="22" name="Text 19"/>
          <p:cNvSpPr txBox="1"/>
          <p:nvPr/>
        </p:nvSpPr>
        <p:spPr>
          <a:xfrm>
            <a:off x="548640" y="502920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PREDICT, then DEMO</a:t>
            </a:r>
            <a:endParaRPr lang="en-US" sz="1200" dirty="0"/>
          </a:p>
        </p:txBody>
      </p:sp>
      <p:sp>
        <p:nvSpPr>
          <p:cNvPr id="23"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4" name="Text 21"/>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application/ApplicationService.java: listSlow()</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answer: 26. The fix: 1.</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graphicFrame>
        <p:nvGraphicFramePr>
          <p:cNvPr id="8" name="Chart 0"/>
          <p:cNvGraphicFramePr/>
          <p:nvPr/>
        </p:nvGraphicFramePr>
        <p:xfrm>
          <a:off x="548640" y="1645920"/>
          <a:ext cx="63093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9" name="card"/>
          <p:cNvSpPr/>
          <p:nvPr/>
        </p:nvSpPr>
        <p:spPr>
          <a:xfrm>
            <a:off x="7132320" y="1645920"/>
            <a:ext cx="4507992" cy="1828800"/>
          </a:xfrm>
          <a:prstGeom prst="roundRect">
            <a:avLst>
              <a:gd name="adj" fmla="val 4000"/>
            </a:avLst>
          </a:prstGeom>
          <a:solidFill>
            <a:schemeClr val="bg2"/>
          </a:solidFill>
          <a:ln w="12700">
            <a:solidFill>
              <a:schemeClr val="bg2"/>
            </a:solidFill>
            <a:prstDash val="solid"/>
          </a:ln>
        </p:spPr>
      </p:sp>
      <p:sp>
        <p:nvSpPr>
          <p:cNvPr id="10" name="Text 6"/>
          <p:cNvSpPr txBox="1"/>
          <p:nvPr/>
        </p:nvSpPr>
        <p:spPr>
          <a:xfrm>
            <a:off x="7360920" y="1755648"/>
            <a:ext cx="365760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WHY 26?</a:t>
            </a:r>
            <a:endParaRPr lang="en-US" sz="1200" dirty="0"/>
          </a:p>
        </p:txBody>
      </p:sp>
      <p:sp>
        <p:nvSpPr>
          <p:cNvPr id="11" name="Text 7"/>
          <p:cNvSpPr txBox="1"/>
          <p:nvPr/>
        </p:nvSpPr>
        <p:spPr>
          <a:xfrm>
            <a:off x="7360920" y="2103120"/>
            <a:ext cx="4114800" cy="1188720"/>
          </a:xfrm>
          <a:prstGeom prst="rect">
            <a:avLst/>
          </a:prstGeom>
          <a:noFill/>
          <a:ln/>
        </p:spPr>
        <p:txBody>
          <a:bodyPr wrap="square" lIns="0" tIns="0" rIns="0" bIns="0" rtlCol="0" anchor="t"/>
          <a:lstStyle/>
          <a:p>
            <a:pPr marL="0" indent="0">
              <a:buNone/>
            </a:pPr>
            <a:r>
              <a:rPr lang="en-US" sz="1800" b="1" dirty="0">
                <a:solidFill>
                  <a:schemeClr val="tx2"/>
                </a:solidFill>
              </a:rPr>
              <a:t>1 list + 8 students + 12 jobs + 5 companies</a:t>
            </a:r>
            <a:endParaRPr lang="en-US" sz="1800" dirty="0"/>
          </a:p>
        </p:txBody>
      </p:sp>
      <p:sp>
        <p:nvSpPr>
          <p:cNvPr id="12" name="card"/>
          <p:cNvSpPr/>
          <p:nvPr/>
        </p:nvSpPr>
        <p:spPr>
          <a:xfrm>
            <a:off x="7132320" y="3657600"/>
            <a:ext cx="4507992" cy="1920240"/>
          </a:xfrm>
          <a:prstGeom prst="roundRect">
            <a:avLst>
              <a:gd name="adj" fmla="val 3810"/>
            </a:avLst>
          </a:prstGeom>
          <a:solidFill>
            <a:schemeClr val="accent4">
              <a:alpha val="22000"/>
            </a:schemeClr>
          </a:solidFill>
          <a:ln w="12700">
            <a:solidFill>
              <a:schemeClr val="accent4">
                <a:alpha val="0"/>
              </a:schemeClr>
            </a:solidFill>
            <a:prstDash val="solid"/>
          </a:ln>
        </p:spPr>
      </p:sp>
      <p:sp>
        <p:nvSpPr>
          <p:cNvPr id="13" name="Text 9"/>
          <p:cNvSpPr txBox="1"/>
          <p:nvPr/>
        </p:nvSpPr>
        <p:spPr>
          <a:xfrm>
            <a:off x="7360920" y="3657600"/>
            <a:ext cx="4069080" cy="1920240"/>
          </a:xfrm>
          <a:prstGeom prst="rect">
            <a:avLst/>
          </a:prstGeom>
          <a:noFill/>
          <a:ln/>
        </p:spPr>
        <p:txBody>
          <a:bodyPr wrap="square" lIns="0" tIns="0" rIns="0" bIns="0" rtlCol="0" anchor="ctr"/>
          <a:lstStyle/>
          <a:p>
            <a:pPr marL="0" indent="0">
              <a:buNone/>
            </a:pPr>
            <a:r>
              <a:rPr lang="en-US" sz="1700" dirty="0">
                <a:solidFill>
                  <a:schemeClr val="tx2"/>
                </a:solidFill>
              </a:rPr>
              <a:t>Same bug as the 101: one query for the list, plus one per row. The fix: ask for everything in one query.</a:t>
            </a:r>
            <a:endParaRPr lang="en-US" sz="1700" dirty="0"/>
          </a:p>
        </p:txBody>
      </p:sp>
      <p:sp>
        <p:nvSpPr>
          <p:cNvPr id="14"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15" name="Text 11"/>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DEMO: ?slow=true</a:t>
            </a:r>
            <a:endParaRPr lang="en-US" sz="1200" dirty="0"/>
          </a:p>
        </p:txBody>
      </p:sp>
      <p:sp>
        <p:nvSpPr>
          <p:cNvPr id="16"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17" name="Text 13"/>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/applications?slow=true  (26)      /applications  (1)      profile batch  (4)</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Transient. Persistent. Detached. Removed.</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anim-0-27"/>
          <p:cNvSpPr/>
          <p:nvPr/>
        </p:nvSpPr>
        <p:spPr>
          <a:xfrm>
            <a:off x="548640" y="2011680"/>
            <a:ext cx="2450592" cy="1463040"/>
          </a:xfrm>
          <a:prstGeom prst="roundRect">
            <a:avLst>
              <a:gd name="adj" fmla="val 6250"/>
            </a:avLst>
          </a:prstGeom>
          <a:solidFill>
            <a:schemeClr val="accent5"/>
          </a:solidFill>
          <a:ln>
            <a:solidFill>
              <a:schemeClr val="accent5"/>
            </a:solidFill>
          </a:ln>
        </p:spPr>
        <p:txBody>
          <a:bodyPr wrap="square" lIns="203200" tIns="203200" rIns="203200" bIns="20320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Transient</a:t>
            </a:r>
            <a:endParaRPr lang="en-US" sz="2200" dirty="0"/>
          </a:p>
          <a:p>
            <a:pPr marL="0" indent="0">
              <a:buNone/>
            </a:pPr>
            <a:r>
              <a:rPr lang="en-US" sz="1400" dirty="0">
                <a:solidFill>
                  <a:schemeClr val="bg1"/>
                </a:solidFill>
              </a:rPr>
              <a:t>new Student()</a:t>
            </a:r>
            <a:endParaRPr lang="en-US" sz="2200" dirty="0"/>
          </a:p>
        </p:txBody>
      </p:sp>
      <p:sp>
        <p:nvSpPr>
          <p:cNvPr id="9" name="anim-1-28"/>
          <p:cNvSpPr/>
          <p:nvPr/>
        </p:nvSpPr>
        <p:spPr>
          <a:xfrm>
            <a:off x="3429000" y="2011680"/>
            <a:ext cx="2450592" cy="1463040"/>
          </a:xfrm>
          <a:prstGeom prst="roundRect">
            <a:avLst>
              <a:gd name="adj" fmla="val 6250"/>
            </a:avLst>
          </a:prstGeom>
          <a:solidFill>
            <a:schemeClr val="accent1"/>
          </a:solidFill>
          <a:ln>
            <a:solidFill>
              <a:schemeClr val="accent1"/>
            </a:solidFill>
          </a:ln>
        </p:spPr>
        <p:txBody>
          <a:bodyPr wrap="square" lIns="203200" tIns="203200" rIns="203200" bIns="20320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Persistent</a:t>
            </a:r>
            <a:endParaRPr lang="en-US" sz="2200" dirty="0"/>
          </a:p>
          <a:p>
            <a:pPr marL="0" indent="0">
              <a:buNone/>
            </a:pPr>
            <a:r>
              <a:rPr lang="en-US" sz="1400" dirty="0">
                <a:solidFill>
                  <a:schemeClr val="bg1"/>
                </a:solidFill>
              </a:rPr>
              <a:t>Hibernate is watching</a:t>
            </a:r>
            <a:endParaRPr lang="en-US" sz="2200" dirty="0"/>
          </a:p>
        </p:txBody>
      </p:sp>
      <p:sp>
        <p:nvSpPr>
          <p:cNvPr id="10" name="anim-2-29"/>
          <p:cNvSpPr/>
          <p:nvPr/>
        </p:nvSpPr>
        <p:spPr>
          <a:xfrm>
            <a:off x="6309360" y="2011680"/>
            <a:ext cx="2450592" cy="1463040"/>
          </a:xfrm>
          <a:prstGeom prst="roundRect">
            <a:avLst>
              <a:gd name="adj" fmla="val 6250"/>
            </a:avLst>
          </a:prstGeom>
          <a:solidFill>
            <a:schemeClr val="accent2"/>
          </a:solidFill>
          <a:ln>
            <a:solidFill>
              <a:schemeClr val="accent2"/>
            </a:solidFill>
          </a:ln>
        </p:spPr>
        <p:txBody>
          <a:bodyPr wrap="square" lIns="203200" tIns="203200" rIns="203200" bIns="20320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Detached</a:t>
            </a:r>
            <a:endParaRPr lang="en-US" sz="2200" dirty="0"/>
          </a:p>
          <a:p>
            <a:pPr marL="0" indent="0">
              <a:buNone/>
            </a:pPr>
            <a:r>
              <a:rPr lang="en-US" sz="1400" dirty="0">
                <a:solidFill>
                  <a:schemeClr val="bg1"/>
                </a:solidFill>
              </a:rPr>
              <a:t>session closed</a:t>
            </a:r>
            <a:endParaRPr lang="en-US" sz="2200" dirty="0"/>
          </a:p>
        </p:txBody>
      </p:sp>
      <p:sp>
        <p:nvSpPr>
          <p:cNvPr id="11" name="anim-3-30"/>
          <p:cNvSpPr/>
          <p:nvPr/>
        </p:nvSpPr>
        <p:spPr>
          <a:xfrm>
            <a:off x="9189720" y="2011680"/>
            <a:ext cx="2450592" cy="1463040"/>
          </a:xfrm>
          <a:prstGeom prst="roundRect">
            <a:avLst>
              <a:gd name="adj" fmla="val 6250"/>
            </a:avLst>
          </a:prstGeom>
          <a:solidFill>
            <a:schemeClr val="accent6"/>
          </a:solidFill>
          <a:ln>
            <a:solidFill>
              <a:schemeClr val="accent6"/>
            </a:solidFill>
          </a:ln>
        </p:spPr>
        <p:txBody>
          <a:bodyPr wrap="square" lIns="203200" tIns="203200" rIns="203200" bIns="20320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Removed</a:t>
            </a:r>
            <a:endParaRPr lang="en-US" sz="2200" dirty="0"/>
          </a:p>
          <a:p>
            <a:pPr marL="0" indent="0">
              <a:buNone/>
            </a:pPr>
            <a:r>
              <a:rPr lang="en-US" sz="1400" dirty="0">
                <a:solidFill>
                  <a:schemeClr val="bg1"/>
                </a:solidFill>
              </a:rPr>
              <a:t>DELETE at commit</a:t>
            </a:r>
            <a:endParaRPr lang="en-US" sz="2200" dirty="0"/>
          </a:p>
        </p:txBody>
      </p:sp>
      <p:sp>
        <p:nvSpPr>
          <p:cNvPr id="12" name="anim-1-31"/>
          <p:cNvSpPr/>
          <p:nvPr/>
        </p:nvSpPr>
        <p:spPr>
          <a:xfrm>
            <a:off x="3017520" y="2743200"/>
            <a:ext cx="365760" cy="0"/>
          </a:xfrm>
          <a:prstGeom prst="line">
            <a:avLst/>
          </a:prstGeom>
          <a:noFill/>
          <a:ln w="38100">
            <a:solidFill>
              <a:schemeClr val="tx2"/>
            </a:solidFill>
            <a:prstDash val="solid"/>
            <a:tailEnd type="triangle"/>
          </a:ln>
        </p:spPr>
      </p:sp>
      <p:sp>
        <p:nvSpPr>
          <p:cNvPr id="13" name="anim-1-32"/>
          <p:cNvSpPr txBox="1"/>
          <p:nvPr/>
        </p:nvSpPr>
        <p:spPr>
          <a:xfrm>
            <a:off x="2606040" y="3611880"/>
            <a:ext cx="1188720" cy="320040"/>
          </a:xfrm>
          <a:prstGeom prst="rect">
            <a:avLst/>
          </a:prstGeom>
          <a:noFill/>
          <a:ln/>
        </p:spPr>
        <p:txBody>
          <a:bodyPr wrap="square" lIns="0" tIns="0" rIns="0" bIns="0" rtlCol="0" anchor="ctr"/>
          <a:lstStyle/>
          <a:p>
            <a:pPr marL="0" indent="0" algn="ctr">
              <a:buNone/>
            </a:pPr>
            <a:r>
              <a:rPr lang="en-US" sz="1200" b="1" dirty="0">
                <a:solidFill>
                  <a:schemeClr val="tx2"/>
                </a:solidFill>
                <a:latin typeface="Courier New" pitchFamily="34" charset="0"/>
                <a:ea typeface="Courier New" pitchFamily="34" charset="-122"/>
                <a:cs typeface="Courier New" pitchFamily="34" charset="-120"/>
              </a:rPr>
              <a:t>persist()</a:t>
            </a:r>
            <a:endParaRPr lang="en-US" sz="1200" dirty="0"/>
          </a:p>
        </p:txBody>
      </p:sp>
      <p:sp>
        <p:nvSpPr>
          <p:cNvPr id="14" name="anim-2-33"/>
          <p:cNvSpPr/>
          <p:nvPr/>
        </p:nvSpPr>
        <p:spPr>
          <a:xfrm>
            <a:off x="5897880" y="2743200"/>
            <a:ext cx="365760" cy="0"/>
          </a:xfrm>
          <a:prstGeom prst="line">
            <a:avLst/>
          </a:prstGeom>
          <a:noFill/>
          <a:ln w="38100">
            <a:solidFill>
              <a:schemeClr val="tx2"/>
            </a:solidFill>
            <a:prstDash val="solid"/>
            <a:tailEnd type="triangle"/>
          </a:ln>
        </p:spPr>
      </p:sp>
      <p:sp>
        <p:nvSpPr>
          <p:cNvPr id="15" name="anim-2-34"/>
          <p:cNvSpPr txBox="1"/>
          <p:nvPr/>
        </p:nvSpPr>
        <p:spPr>
          <a:xfrm>
            <a:off x="5486400" y="3611880"/>
            <a:ext cx="1188720" cy="320040"/>
          </a:xfrm>
          <a:prstGeom prst="rect">
            <a:avLst/>
          </a:prstGeom>
          <a:noFill/>
          <a:ln/>
        </p:spPr>
        <p:txBody>
          <a:bodyPr wrap="square" lIns="0" tIns="0" rIns="0" bIns="0" rtlCol="0" anchor="ctr"/>
          <a:lstStyle/>
          <a:p>
            <a:pPr marL="0" indent="0" algn="ctr">
              <a:buNone/>
            </a:pPr>
            <a:r>
              <a:rPr lang="en-US" sz="1200" b="1" dirty="0">
                <a:solidFill>
                  <a:schemeClr val="tx2"/>
                </a:solidFill>
                <a:latin typeface="Courier New" pitchFamily="34" charset="0"/>
                <a:ea typeface="Courier New" pitchFamily="34" charset="-122"/>
                <a:cs typeface="Courier New" pitchFamily="34" charset="-120"/>
              </a:rPr>
              <a:t>close()</a:t>
            </a:r>
            <a:endParaRPr lang="en-US" sz="1200" dirty="0"/>
          </a:p>
        </p:txBody>
      </p:sp>
      <p:sp>
        <p:nvSpPr>
          <p:cNvPr id="16" name="anim-3-35"/>
          <p:cNvSpPr/>
          <p:nvPr/>
        </p:nvSpPr>
        <p:spPr>
          <a:xfrm>
            <a:off x="8778240" y="2743200"/>
            <a:ext cx="365760" cy="0"/>
          </a:xfrm>
          <a:prstGeom prst="line">
            <a:avLst/>
          </a:prstGeom>
          <a:noFill/>
          <a:ln w="38100">
            <a:solidFill>
              <a:schemeClr val="tx2"/>
            </a:solidFill>
            <a:prstDash val="solid"/>
            <a:tailEnd type="triangle"/>
          </a:ln>
        </p:spPr>
      </p:sp>
      <p:sp>
        <p:nvSpPr>
          <p:cNvPr id="17" name="anim-3-36"/>
          <p:cNvSpPr txBox="1"/>
          <p:nvPr/>
        </p:nvSpPr>
        <p:spPr>
          <a:xfrm>
            <a:off x="8366760" y="3611880"/>
            <a:ext cx="1188720" cy="320040"/>
          </a:xfrm>
          <a:prstGeom prst="rect">
            <a:avLst/>
          </a:prstGeom>
          <a:noFill/>
          <a:ln/>
        </p:spPr>
        <p:txBody>
          <a:bodyPr wrap="square" lIns="0" tIns="0" rIns="0" bIns="0" rtlCol="0" anchor="ctr"/>
          <a:lstStyle/>
          <a:p>
            <a:pPr marL="0" indent="0" algn="ctr">
              <a:buNone/>
            </a:pPr>
            <a:r>
              <a:rPr lang="en-US" sz="1200" b="1" dirty="0">
                <a:solidFill>
                  <a:schemeClr val="tx2"/>
                </a:solidFill>
                <a:latin typeface="Courier New" pitchFamily="34" charset="0"/>
                <a:ea typeface="Courier New" pitchFamily="34" charset="-122"/>
                <a:cs typeface="Courier New" pitchFamily="34" charset="-120"/>
              </a:rPr>
              <a:t>remove()</a:t>
            </a:r>
            <a:endParaRPr lang="en-US" sz="1200" dirty="0"/>
          </a:p>
        </p:txBody>
      </p:sp>
      <p:sp>
        <p:nvSpPr>
          <p:cNvPr id="18" name="anim-4-37"/>
          <p:cNvSpPr/>
          <p:nvPr/>
        </p:nvSpPr>
        <p:spPr>
          <a:xfrm>
            <a:off x="548640" y="4297680"/>
            <a:ext cx="11091672" cy="1097280"/>
          </a:xfrm>
          <a:prstGeom prst="roundRect">
            <a:avLst>
              <a:gd name="adj" fmla="val 6667"/>
            </a:avLst>
          </a:prstGeom>
          <a:solidFill>
            <a:schemeClr val="bg2"/>
          </a:solidFill>
          <a:ln w="12700">
            <a:solidFill>
              <a:schemeClr val="bg2"/>
            </a:solidFill>
            <a:prstDash val="solid"/>
          </a:ln>
        </p:spPr>
      </p:sp>
      <p:sp>
        <p:nvSpPr>
          <p:cNvPr id="19" name="anim-4-38"/>
          <p:cNvSpPr txBox="1"/>
          <p:nvPr/>
        </p:nvSpPr>
        <p:spPr>
          <a:xfrm>
            <a:off x="777240" y="4297680"/>
            <a:ext cx="10698480" cy="1097280"/>
          </a:xfrm>
          <a:prstGeom prst="rect">
            <a:avLst/>
          </a:prstGeom>
          <a:noFill/>
          <a:ln/>
        </p:spPr>
        <p:txBody>
          <a:bodyPr wrap="square" lIns="0" tIns="0" rIns="0" bIns="0" rtlCol="0" anchor="ctr"/>
          <a:lstStyle/>
          <a:p>
            <a:pPr marL="0" indent="0">
              <a:buNone/>
            </a:pPr>
            <a:r>
              <a:rPr lang="en-US" sz="1800" dirty="0">
                <a:solidFill>
                  <a:schemeClr val="tx1"/>
                </a:solidFill>
              </a:rPr>
              <a:t>Like the attendance register: pencil, ink, left the room, struck off. Only a persistent object is tracked.</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par>
                          <p:cTn id="28" fill="hold">
                            <p:stCondLst>
                              <p:cond delay="15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No save() call. Will the row update?</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5"/>
                </a:solidFill>
              </a:rPr>
              <a:t>APPLICATIONSERVICE.SHORTLIST()</a:t>
            </a:r>
            <a:endParaRPr lang="en-US" sz="1200" dirty="0"/>
          </a:p>
        </p:txBody>
      </p:sp>
      <p:sp>
        <p:nvSpPr>
          <p:cNvPr id="9" name="code-bg"/>
          <p:cNvSpPr/>
          <p:nvPr/>
        </p:nvSpPr>
        <p:spPr>
          <a:xfrm>
            <a:off x="548640" y="1920240"/>
            <a:ext cx="6035040" cy="2286000"/>
          </a:xfrm>
          <a:prstGeom prst="roundRect">
            <a:avLst>
              <a:gd name="adj" fmla="val 3200"/>
            </a:avLst>
          </a:prstGeom>
          <a:solidFill>
            <a:schemeClr val="tx2"/>
          </a:solidFill>
          <a:ln w="12700">
            <a:solidFill>
              <a:schemeClr val="tx2"/>
            </a:solidFill>
            <a:prstDash val="solid"/>
          </a:ln>
        </p:spPr>
      </p:sp>
      <p:sp>
        <p:nvSpPr>
          <p:cNvPr id="10" name="code-text"/>
          <p:cNvSpPr txBox="1"/>
          <p:nvPr/>
        </p:nvSpPr>
        <p:spPr>
          <a:xfrm>
            <a:off x="731520" y="2029968"/>
            <a:ext cx="5669280" cy="206654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@Transactional</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public void shortlist(Long id) {</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Application a = applications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.findById(id).orElseThrow();</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a.setStatus(SHORTLISTED);</a:t>
            </a:r>
            <a:endParaRPr lang="en-US" sz="1400" dirty="0"/>
          </a:p>
          <a:p>
            <a:pPr marL="0" indent="0">
              <a:spcAft>
                <a:spcPts val="200"/>
              </a:spcAft>
              <a:buNone/>
            </a:pPr>
            <a:r>
              <a:rPr lang="en-US" sz="1400" dirty="0">
                <a:solidFill>
                  <a:schemeClr val="accent4"/>
                </a:solidFill>
                <a:latin typeface="Courier New" pitchFamily="34" charset="0"/>
                <a:ea typeface="Courier New" pitchFamily="34" charset="-122"/>
                <a:cs typeface="Courier New" pitchFamily="34" charset="-120"/>
              </a:rPr>
              <a:t>}  // no save() anywhere</a:t>
            </a:r>
            <a:endParaRPr lang="en-US" sz="1400" dirty="0"/>
          </a:p>
        </p:txBody>
      </p:sp>
      <p:sp>
        <p:nvSpPr>
          <p:cNvPr id="11" name="card"/>
          <p:cNvSpPr/>
          <p:nvPr/>
        </p:nvSpPr>
        <p:spPr>
          <a:xfrm>
            <a:off x="6858000" y="1645920"/>
            <a:ext cx="4782312" cy="2560320"/>
          </a:xfrm>
          <a:prstGeom prst="roundRect">
            <a:avLst>
              <a:gd name="adj" fmla="val 2857"/>
            </a:avLst>
          </a:prstGeom>
          <a:solidFill>
            <a:schemeClr val="bg2"/>
          </a:solidFill>
          <a:ln w="12700">
            <a:solidFill>
              <a:schemeClr val="bg2"/>
            </a:solidFill>
            <a:prstDash val="solid"/>
          </a:ln>
        </p:spPr>
      </p:sp>
      <p:sp>
        <p:nvSpPr>
          <p:cNvPr id="12" name="Text 9"/>
          <p:cNvSpPr txBox="1"/>
          <p:nvPr/>
        </p:nvSpPr>
        <p:spPr>
          <a:xfrm>
            <a:off x="7086600" y="1783080"/>
            <a:ext cx="36576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WHY IT WORKS</a:t>
            </a:r>
            <a:endParaRPr lang="en-US" sz="1200" dirty="0"/>
          </a:p>
        </p:txBody>
      </p:sp>
      <p:sp>
        <p:nvSpPr>
          <p:cNvPr id="13" name="Text 10"/>
          <p:cNvSpPr txBox="1"/>
          <p:nvPr/>
        </p:nvSpPr>
        <p:spPr>
          <a:xfrm>
            <a:off x="7086600" y="2148840"/>
            <a:ext cx="4389120" cy="1920240"/>
          </a:xfrm>
          <a:prstGeom prst="rect">
            <a:avLst/>
          </a:prstGeom>
          <a:noFill/>
          <a:ln/>
        </p:spPr>
        <p:txBody>
          <a:bodyPr wrap="square" lIns="0" tIns="0" rIns="0" bIns="0" rtlCol="0" anchor="t"/>
          <a:lstStyle/>
          <a:p>
            <a:pPr marL="0" indent="0">
              <a:buNone/>
            </a:pPr>
            <a:r>
              <a:rPr lang="en-US" sz="1800" dirty="0">
                <a:solidFill>
                  <a:schemeClr val="tx1"/>
                </a:solidFill>
              </a:rPr>
              <a:t>Hibernate keeps a snapshot of what it loaded. At commit it compares and writes the difference.</a:t>
            </a:r>
            <a:endParaRPr lang="en-US" sz="1800" dirty="0"/>
          </a:p>
        </p:txBody>
      </p:sp>
      <p:sp>
        <p:nvSpPr>
          <p:cNvPr id="14" name="card"/>
          <p:cNvSpPr/>
          <p:nvPr/>
        </p:nvSpPr>
        <p:spPr>
          <a:xfrm>
            <a:off x="548640" y="4434840"/>
            <a:ext cx="11091672" cy="1005840"/>
          </a:xfrm>
          <a:prstGeom prst="roundRect">
            <a:avLst>
              <a:gd name="adj" fmla="val 7273"/>
            </a:avLst>
          </a:prstGeom>
          <a:solidFill>
            <a:schemeClr val="accent1">
              <a:alpha val="15000"/>
            </a:schemeClr>
          </a:solidFill>
          <a:ln w="12700">
            <a:solidFill>
              <a:schemeClr val="accent1">
                <a:alpha val="0"/>
              </a:schemeClr>
            </a:solidFill>
            <a:prstDash val="solid"/>
          </a:ln>
        </p:spPr>
      </p:sp>
      <p:sp>
        <p:nvSpPr>
          <p:cNvPr id="15" name="Text 12"/>
          <p:cNvSpPr txBox="1"/>
          <p:nvPr/>
        </p:nvSpPr>
        <p:spPr>
          <a:xfrm>
            <a:off x="777240" y="4434840"/>
            <a:ext cx="10698480" cy="1005840"/>
          </a:xfrm>
          <a:prstGeom prst="rect">
            <a:avLst/>
          </a:prstGeom>
          <a:noFill/>
          <a:ln/>
        </p:spPr>
        <p:txBody>
          <a:bodyPr wrap="square" lIns="0" tIns="0" rIns="0" bIns="0" rtlCol="0" anchor="ctr"/>
          <a:lstStyle/>
          <a:p>
            <a:pPr marL="0" indent="0">
              <a:buNone/>
            </a:pPr>
            <a:r>
              <a:rPr lang="en-US" sz="2200" b="1" dirty="0">
                <a:solidFill>
                  <a:schemeClr val="accent1"/>
                </a:solidFill>
              </a:rPr>
              <a:t>YES. </a:t>
            </a:r>
            <a:r>
              <a:rPr lang="en-US" sz="2200" b="1" dirty="0">
                <a:solidFill>
                  <a:schemeClr val="tx2"/>
                </a:solidFill>
              </a:rPr>
              <a:t>An UPDATE is written. This is dirty checking.</a:t>
            </a:r>
            <a:endParaRPr lang="en-US" sz="2200" dirty="0"/>
          </a:p>
        </p:txBody>
      </p:sp>
      <p:sp>
        <p:nvSpPr>
          <p:cNvPr id="16"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17" name="Text 14"/>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PREDICT, then DEMO</a:t>
            </a:r>
            <a:endParaRPr lang="en-US" sz="1200" dirty="0"/>
          </a:p>
        </p:txBody>
      </p:sp>
      <p:sp>
        <p:nvSpPr>
          <p:cNvPr id="18"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19" name="Text 16"/>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application/ApplicationService.java: shortlist()      Shortlist button on /applications</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All or nothing, and stale forms</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45920"/>
            <a:ext cx="5440680" cy="3931920"/>
          </a:xfrm>
          <a:prstGeom prst="roundRect">
            <a:avLst>
              <a:gd name="adj" fmla="val 1860"/>
            </a:avLst>
          </a:prstGeom>
          <a:solidFill>
            <a:schemeClr val="bg2"/>
          </a:solidFill>
          <a:ln w="12700">
            <a:solidFill>
              <a:schemeClr val="bg2"/>
            </a:solidFill>
            <a:prstDash val="solid"/>
          </a:ln>
        </p:spPr>
      </p:sp>
      <p:sp>
        <p:nvSpPr>
          <p:cNvPr id="9" name="icon-circle"/>
          <p:cNvSpPr/>
          <p:nvPr/>
        </p:nvSpPr>
        <p:spPr>
          <a:xfrm>
            <a:off x="777240" y="1810512"/>
            <a:ext cx="548640" cy="548640"/>
          </a:xfrm>
          <a:prstGeom prst="ellipse">
            <a:avLst/>
          </a:prstGeom>
          <a:solidFill>
            <a:schemeClr val="accent1"/>
          </a:solidFill>
          <a:ln w="12700">
            <a:solidFill>
              <a:schemeClr val="accent1"/>
            </a:solidFill>
            <a:prstDash val="solid"/>
          </a:ln>
        </p:spPr>
      </p:sp>
      <p:pic>
        <p:nvPicPr>
          <p:cNvPr id="10" name="Image 0" descr="shield"/>
          <p:cNvPicPr>
            <a:picLocks noChangeAspect="1"/>
          </p:cNvPicPr>
          <p:nvPr/>
        </p:nvPicPr>
        <p:blipFill>
          <a:blip r:embed="rId3"/>
          <a:stretch>
            <a:fillRect/>
          </a:stretch>
        </p:blipFill>
        <p:spPr>
          <a:xfrm>
            <a:off x="908914" y="1942186"/>
            <a:ext cx="285293" cy="285293"/>
          </a:xfrm>
          <a:prstGeom prst="rect">
            <a:avLst/>
          </a:prstGeom>
        </p:spPr>
      </p:pic>
      <p:sp>
        <p:nvSpPr>
          <p:cNvPr id="11" name="Text 7"/>
          <p:cNvSpPr txBox="1"/>
          <p:nvPr/>
        </p:nvSpPr>
        <p:spPr>
          <a:xfrm>
            <a:off x="1463040" y="1810512"/>
            <a:ext cx="4389120" cy="548640"/>
          </a:xfrm>
          <a:prstGeom prst="rect">
            <a:avLst/>
          </a:prstGeom>
          <a:noFill/>
          <a:ln/>
        </p:spPr>
        <p:txBody>
          <a:bodyPr wrap="square" lIns="0" tIns="0" rIns="0" bIns="0" rtlCol="0" anchor="ctr"/>
          <a:lstStyle/>
          <a:p>
            <a:pPr marL="0" indent="0">
              <a:buNone/>
            </a:pPr>
            <a:r>
              <a:rPr lang="en-US" sz="1800" b="1" dirty="0">
                <a:solidFill>
                  <a:schemeClr val="tx2"/>
                </a:solidFill>
              </a:rPr>
              <a:t>Transaction: all or nothing</a:t>
            </a:r>
            <a:endParaRPr lang="en-US" sz="1800" dirty="0"/>
          </a:p>
        </p:txBody>
      </p:sp>
      <p:sp>
        <p:nvSpPr>
          <p:cNvPr id="12" name="Text 8"/>
          <p:cNvSpPr txBox="1"/>
          <p:nvPr/>
        </p:nvSpPr>
        <p:spPr>
          <a:xfrm>
            <a:off x="777240" y="2560320"/>
            <a:ext cx="5029200" cy="2011680"/>
          </a:xfrm>
          <a:prstGeom prst="rect">
            <a:avLst/>
          </a:prstGeom>
          <a:noFill/>
          <a:ln/>
        </p:spPr>
        <p:txBody>
          <a:bodyPr wrap="square" lIns="0" tIns="0" rIns="0" bIns="0" rtlCol="0" anchor="t"/>
          <a:lstStyle/>
          <a:p>
            <a:pPr marL="0" indent="0">
              <a:buNone/>
            </a:pPr>
            <a:r>
              <a:rPr lang="en-US" sz="1700" dirty="0">
                <a:solidFill>
                  <a:schemeClr val="tx1"/>
                </a:solidFill>
              </a:rPr>
              <a:t>Bulk shortlist [1, 2, 9999]: ids 1 and 2 are changed, 9999 fails, everything rolls back. Like a bank transfer: debit and credit together, or neither.</a:t>
            </a:r>
            <a:endParaRPr lang="en-US" sz="1700" dirty="0"/>
          </a:p>
        </p:txBody>
      </p:sp>
      <p:sp>
        <p:nvSpPr>
          <p:cNvPr id="13" name="code-bg"/>
          <p:cNvSpPr/>
          <p:nvPr/>
        </p:nvSpPr>
        <p:spPr>
          <a:xfrm>
            <a:off x="777240" y="4526280"/>
            <a:ext cx="4983480" cy="822960"/>
          </a:xfrm>
          <a:prstGeom prst="roundRect">
            <a:avLst>
              <a:gd name="adj" fmla="val 8889"/>
            </a:avLst>
          </a:prstGeom>
          <a:solidFill>
            <a:schemeClr val="tx2"/>
          </a:solidFill>
          <a:ln w="12700">
            <a:solidFill>
              <a:schemeClr val="tx2"/>
            </a:solidFill>
            <a:prstDash val="solid"/>
          </a:ln>
        </p:spPr>
      </p:sp>
      <p:sp>
        <p:nvSpPr>
          <p:cNvPr id="14" name="code-text"/>
          <p:cNvSpPr txBox="1"/>
          <p:nvPr/>
        </p:nvSpPr>
        <p:spPr>
          <a:xfrm>
            <a:off x="960120" y="4636008"/>
            <a:ext cx="4617720" cy="603504"/>
          </a:xfrm>
          <a:prstGeom prst="rect">
            <a:avLst/>
          </a:prstGeom>
          <a:noFill/>
          <a:ln/>
        </p:spPr>
        <p:txBody>
          <a:bodyPr wrap="square" lIns="0" tIns="0" rIns="0" bIns="0" rtlCol="0" anchor="t"/>
          <a:lstStyle/>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@Transactional</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public void bulkShortlist(List&lt;Long&gt; ids)</a:t>
            </a:r>
            <a:endParaRPr lang="en-US" sz="1200" dirty="0"/>
          </a:p>
        </p:txBody>
      </p:sp>
      <p:sp>
        <p:nvSpPr>
          <p:cNvPr id="15" name="card"/>
          <p:cNvSpPr/>
          <p:nvPr/>
        </p:nvSpPr>
        <p:spPr>
          <a:xfrm>
            <a:off x="6199632" y="1645920"/>
            <a:ext cx="5440680" cy="3931920"/>
          </a:xfrm>
          <a:prstGeom prst="roundRect">
            <a:avLst>
              <a:gd name="adj" fmla="val 1860"/>
            </a:avLst>
          </a:prstGeom>
          <a:solidFill>
            <a:schemeClr val="bg2"/>
          </a:solidFill>
          <a:ln w="12700">
            <a:solidFill>
              <a:schemeClr val="bg2"/>
            </a:solidFill>
            <a:prstDash val="solid"/>
          </a:ln>
        </p:spPr>
      </p:sp>
      <p:sp>
        <p:nvSpPr>
          <p:cNvPr id="16" name="icon-circle"/>
          <p:cNvSpPr/>
          <p:nvPr/>
        </p:nvSpPr>
        <p:spPr>
          <a:xfrm>
            <a:off x="6428232" y="1810512"/>
            <a:ext cx="548640" cy="548640"/>
          </a:xfrm>
          <a:prstGeom prst="ellipse">
            <a:avLst/>
          </a:prstGeom>
          <a:solidFill>
            <a:schemeClr val="accent2"/>
          </a:solidFill>
          <a:ln w="12700">
            <a:solidFill>
              <a:schemeClr val="accent2"/>
            </a:solidFill>
            <a:prstDash val="solid"/>
          </a:ln>
        </p:spPr>
      </p:sp>
      <p:pic>
        <p:nvPicPr>
          <p:cNvPr id="17" name="Image 1" descr="users"/>
          <p:cNvPicPr>
            <a:picLocks noChangeAspect="1"/>
          </p:cNvPicPr>
          <p:nvPr/>
        </p:nvPicPr>
        <p:blipFill>
          <a:blip r:embed="rId4"/>
          <a:stretch>
            <a:fillRect/>
          </a:stretch>
        </p:blipFill>
        <p:spPr>
          <a:xfrm>
            <a:off x="6559906" y="1942186"/>
            <a:ext cx="285293" cy="285293"/>
          </a:xfrm>
          <a:prstGeom prst="rect">
            <a:avLst/>
          </a:prstGeom>
        </p:spPr>
      </p:pic>
      <p:sp>
        <p:nvSpPr>
          <p:cNvPr id="18" name="Text 13"/>
          <p:cNvSpPr txBox="1"/>
          <p:nvPr/>
        </p:nvSpPr>
        <p:spPr>
          <a:xfrm>
            <a:off x="7114032" y="1810512"/>
            <a:ext cx="4389120" cy="548640"/>
          </a:xfrm>
          <a:prstGeom prst="rect">
            <a:avLst/>
          </a:prstGeom>
          <a:noFill/>
          <a:ln/>
        </p:spPr>
        <p:txBody>
          <a:bodyPr wrap="square" lIns="0" tIns="0" rIns="0" bIns="0" rtlCol="0" anchor="ctr"/>
          <a:lstStyle/>
          <a:p>
            <a:pPr marL="0" indent="0">
              <a:buNone/>
            </a:pPr>
            <a:r>
              <a:rPr lang="en-US" sz="1800" b="1" dirty="0">
                <a:solidFill>
                  <a:schemeClr val="tx2"/>
                </a:solidFill>
              </a:rPr>
              <a:t>@Version: two tabs, one row</a:t>
            </a:r>
            <a:endParaRPr lang="en-US" sz="1800" dirty="0"/>
          </a:p>
        </p:txBody>
      </p:sp>
      <p:sp>
        <p:nvSpPr>
          <p:cNvPr id="19" name="Text 14"/>
          <p:cNvSpPr txBox="1"/>
          <p:nvPr/>
        </p:nvSpPr>
        <p:spPr>
          <a:xfrm>
            <a:off x="6428232" y="2560320"/>
            <a:ext cx="5029200" cy="2011680"/>
          </a:xfrm>
          <a:prstGeom prst="rect">
            <a:avLst/>
          </a:prstGeom>
          <a:noFill/>
          <a:ln/>
        </p:spPr>
        <p:txBody>
          <a:bodyPr wrap="square" lIns="0" tIns="0" rIns="0" bIns="0" rtlCol="0" anchor="t"/>
          <a:lstStyle/>
          <a:p>
            <a:pPr marL="0" indent="0">
              <a:buNone/>
            </a:pPr>
            <a:r>
              <a:rPr lang="en-US" sz="1700" dirty="0">
                <a:solidFill>
                  <a:schemeClr val="tx1"/>
                </a:solidFill>
              </a:rPr>
              <a:t>Two admins edit the same row. The first save wins. The second gets a 409 page: "someone changed this before you".</a:t>
            </a:r>
            <a:endParaRPr lang="en-US" sz="1700" dirty="0"/>
          </a:p>
        </p:txBody>
      </p:sp>
      <p:sp>
        <p:nvSpPr>
          <p:cNvPr id="20" name="code-bg"/>
          <p:cNvSpPr/>
          <p:nvPr/>
        </p:nvSpPr>
        <p:spPr>
          <a:xfrm>
            <a:off x="6428232" y="4526280"/>
            <a:ext cx="4983480" cy="822960"/>
          </a:xfrm>
          <a:prstGeom prst="roundRect">
            <a:avLst>
              <a:gd name="adj" fmla="val 8889"/>
            </a:avLst>
          </a:prstGeom>
          <a:solidFill>
            <a:schemeClr val="tx2"/>
          </a:solidFill>
          <a:ln w="12700">
            <a:solidFill>
              <a:schemeClr val="tx2"/>
            </a:solidFill>
            <a:prstDash val="solid"/>
          </a:ln>
        </p:spPr>
      </p:sp>
      <p:sp>
        <p:nvSpPr>
          <p:cNvPr id="21" name="code-text"/>
          <p:cNvSpPr txBox="1"/>
          <p:nvPr/>
        </p:nvSpPr>
        <p:spPr>
          <a:xfrm>
            <a:off x="6611112" y="4636008"/>
            <a:ext cx="4617720" cy="603504"/>
          </a:xfrm>
          <a:prstGeom prst="rect">
            <a:avLst/>
          </a:prstGeom>
          <a:noFill/>
          <a:ln/>
        </p:spPr>
        <p:txBody>
          <a:bodyPr wrap="square" lIns="0" tIns="0" rIns="0" bIns="0" rtlCol="0" anchor="t"/>
          <a:lstStyle/>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update application set status=?, version=?</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 where id=? and version=?</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HIBERNATE  |  DATA</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Hibernate: three rules to keep</a:t>
            </a:r>
            <a:endParaRPr lang="en-US" sz="3400" dirty="0"/>
          </a:p>
        </p:txBody>
      </p:sp>
      <p:sp>
        <p:nvSpPr>
          <p:cNvPr id="4" name="layer-chip-data"/>
          <p:cNvSpPr/>
          <p:nvPr/>
        </p:nvSpPr>
        <p:spPr>
          <a:xfrm>
            <a:off x="10744200" y="310896"/>
            <a:ext cx="201168" cy="201168"/>
          </a:xfrm>
          <a:prstGeom prst="ellipse">
            <a:avLst/>
          </a:prstGeom>
          <a:solidFill>
            <a:schemeClr val="accent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3566160" cy="2286000"/>
          </a:xfrm>
          <a:prstGeom prst="roundRect">
            <a:avLst>
              <a:gd name="adj" fmla="val 3200"/>
            </a:avLst>
          </a:prstGeom>
          <a:solidFill>
            <a:schemeClr val="accent1"/>
          </a:solidFill>
          <a:ln w="12700">
            <a:solidFill>
              <a:schemeClr val="accent1"/>
            </a:solidFill>
            <a:prstDash val="solid"/>
          </a:ln>
        </p:spPr>
      </p:sp>
      <p:sp>
        <p:nvSpPr>
          <p:cNvPr id="9" name="Text 6"/>
          <p:cNvSpPr txBox="1"/>
          <p:nvPr/>
        </p:nvSpPr>
        <p:spPr>
          <a:xfrm>
            <a:off x="822960" y="1783080"/>
            <a:ext cx="914400" cy="731520"/>
          </a:xfrm>
          <a:prstGeom prst="rect">
            <a:avLst/>
          </a:prstGeom>
          <a:noFill/>
          <a:ln/>
        </p:spPr>
        <p:txBody>
          <a:bodyPr wrap="square" lIns="0" tIns="0" rIns="0" bIns="0" rtlCol="0" anchor="ctr"/>
          <a:lstStyle/>
          <a:p>
            <a:pPr marL="0" indent="0">
              <a:buNone/>
            </a:pPr>
            <a:r>
              <a:rPr lang="en-US" sz="4400" b="1" dirty="0">
                <a:solidFill>
                  <a:schemeClr val="accent4"/>
                </a:solidFill>
                <a:latin typeface="Cambria" pitchFamily="34" charset="0"/>
                <a:ea typeface="Cambria" pitchFamily="34" charset="-122"/>
                <a:cs typeface="Cambria" pitchFamily="34" charset="-120"/>
              </a:rPr>
              <a:t>1</a:t>
            </a:r>
            <a:endParaRPr lang="en-US" sz="4400" dirty="0"/>
          </a:p>
        </p:txBody>
      </p:sp>
      <p:sp>
        <p:nvSpPr>
          <p:cNvPr id="10" name="Text 7"/>
          <p:cNvSpPr txBox="1"/>
          <p:nvPr/>
        </p:nvSpPr>
        <p:spPr>
          <a:xfrm>
            <a:off x="822960" y="2606040"/>
            <a:ext cx="3108960" cy="502920"/>
          </a:xfrm>
          <a:prstGeom prst="rect">
            <a:avLst/>
          </a:prstGeom>
          <a:noFill/>
          <a:ln/>
        </p:spPr>
        <p:txBody>
          <a:bodyPr wrap="square" lIns="0" tIns="0" rIns="0" bIns="0" rtlCol="0" anchor="ctr"/>
          <a:lstStyle/>
          <a:p>
            <a:pPr marL="0" indent="0">
              <a:buNone/>
            </a:pPr>
            <a:r>
              <a:rPr lang="en-US" sz="2200" b="1" dirty="0">
                <a:solidFill>
                  <a:schemeClr val="bg1"/>
                </a:solidFill>
              </a:rPr>
              <a:t>Look at the SQL</a:t>
            </a:r>
            <a:endParaRPr lang="en-US" sz="2200" dirty="0"/>
          </a:p>
        </p:txBody>
      </p:sp>
      <p:sp>
        <p:nvSpPr>
          <p:cNvPr id="11" name="Text 8"/>
          <p:cNvSpPr txBox="1"/>
          <p:nvPr/>
        </p:nvSpPr>
        <p:spPr>
          <a:xfrm>
            <a:off x="822960" y="3108960"/>
            <a:ext cx="3108960" cy="731520"/>
          </a:xfrm>
          <a:prstGeom prst="rect">
            <a:avLst/>
          </a:prstGeom>
          <a:noFill/>
          <a:ln/>
        </p:spPr>
        <p:txBody>
          <a:bodyPr wrap="square" lIns="0" tIns="0" rIns="0" bIns="0" rtlCol="0" anchor="t"/>
          <a:lstStyle/>
          <a:p>
            <a:pPr marL="0" indent="0">
              <a:buNone/>
            </a:pPr>
            <a:r>
              <a:rPr lang="en-US" sz="1600" dirty="0">
                <a:solidFill>
                  <a:schemeClr val="bg1"/>
                </a:solidFill>
              </a:rPr>
              <a:t>You cannot fix what you cannot see.</a:t>
            </a:r>
            <a:endParaRPr lang="en-US" sz="1600" dirty="0"/>
          </a:p>
        </p:txBody>
      </p:sp>
      <p:sp>
        <p:nvSpPr>
          <p:cNvPr id="12" name="card"/>
          <p:cNvSpPr/>
          <p:nvPr/>
        </p:nvSpPr>
        <p:spPr>
          <a:xfrm>
            <a:off x="4315968" y="1691640"/>
            <a:ext cx="3566160" cy="2286000"/>
          </a:xfrm>
          <a:prstGeom prst="roundRect">
            <a:avLst>
              <a:gd name="adj" fmla="val 3200"/>
            </a:avLst>
          </a:prstGeom>
          <a:solidFill>
            <a:schemeClr val="accent2"/>
          </a:solidFill>
          <a:ln w="12700">
            <a:solidFill>
              <a:schemeClr val="accent2"/>
            </a:solidFill>
            <a:prstDash val="solid"/>
          </a:ln>
        </p:spPr>
      </p:sp>
      <p:sp>
        <p:nvSpPr>
          <p:cNvPr id="13" name="Text 10"/>
          <p:cNvSpPr txBox="1"/>
          <p:nvPr/>
        </p:nvSpPr>
        <p:spPr>
          <a:xfrm>
            <a:off x="4590288" y="1783080"/>
            <a:ext cx="914400" cy="731520"/>
          </a:xfrm>
          <a:prstGeom prst="rect">
            <a:avLst/>
          </a:prstGeom>
          <a:noFill/>
          <a:ln/>
        </p:spPr>
        <p:txBody>
          <a:bodyPr wrap="square" lIns="0" tIns="0" rIns="0" bIns="0" rtlCol="0" anchor="ctr"/>
          <a:lstStyle/>
          <a:p>
            <a:pPr marL="0" indent="0">
              <a:buNone/>
            </a:pPr>
            <a:r>
              <a:rPr lang="en-US" sz="4400" b="1" dirty="0">
                <a:solidFill>
                  <a:schemeClr val="accent4"/>
                </a:solidFill>
                <a:latin typeface="Cambria" pitchFamily="34" charset="0"/>
                <a:ea typeface="Cambria" pitchFamily="34" charset="-122"/>
                <a:cs typeface="Cambria" pitchFamily="34" charset="-120"/>
              </a:rPr>
              <a:t>2</a:t>
            </a:r>
            <a:endParaRPr lang="en-US" sz="4400" dirty="0"/>
          </a:p>
        </p:txBody>
      </p:sp>
      <p:sp>
        <p:nvSpPr>
          <p:cNvPr id="14" name="Text 11"/>
          <p:cNvSpPr txBox="1"/>
          <p:nvPr/>
        </p:nvSpPr>
        <p:spPr>
          <a:xfrm>
            <a:off x="4590288" y="2606040"/>
            <a:ext cx="3108960" cy="502920"/>
          </a:xfrm>
          <a:prstGeom prst="rect">
            <a:avLst/>
          </a:prstGeom>
          <a:noFill/>
          <a:ln/>
        </p:spPr>
        <p:txBody>
          <a:bodyPr wrap="square" lIns="0" tIns="0" rIns="0" bIns="0" rtlCol="0" anchor="ctr"/>
          <a:lstStyle/>
          <a:p>
            <a:pPr marL="0" indent="0">
              <a:buNone/>
            </a:pPr>
            <a:r>
              <a:rPr lang="en-US" sz="2200" b="1" dirty="0">
                <a:solidFill>
                  <a:schemeClr val="bg1"/>
                </a:solidFill>
              </a:rPr>
              <a:t>Default to LAZY</a:t>
            </a:r>
            <a:endParaRPr lang="en-US" sz="2200" dirty="0"/>
          </a:p>
        </p:txBody>
      </p:sp>
      <p:sp>
        <p:nvSpPr>
          <p:cNvPr id="15" name="Text 12"/>
          <p:cNvSpPr txBox="1"/>
          <p:nvPr/>
        </p:nvSpPr>
        <p:spPr>
          <a:xfrm>
            <a:off x="4590288" y="3108960"/>
            <a:ext cx="3108960" cy="731520"/>
          </a:xfrm>
          <a:prstGeom prst="rect">
            <a:avLst/>
          </a:prstGeom>
          <a:noFill/>
          <a:ln/>
        </p:spPr>
        <p:txBody>
          <a:bodyPr wrap="square" lIns="0" tIns="0" rIns="0" bIns="0" rtlCol="0" anchor="t"/>
          <a:lstStyle/>
          <a:p>
            <a:pPr marL="0" indent="0">
              <a:buNone/>
            </a:pPr>
            <a:r>
              <a:rPr lang="en-US" sz="1600" dirty="0">
                <a:solidFill>
                  <a:schemeClr val="bg1"/>
                </a:solidFill>
              </a:rPr>
              <a:t>Fetch what you need, on purpose.</a:t>
            </a:r>
            <a:endParaRPr lang="en-US" sz="1600" dirty="0"/>
          </a:p>
        </p:txBody>
      </p:sp>
      <p:sp>
        <p:nvSpPr>
          <p:cNvPr id="16" name="card"/>
          <p:cNvSpPr/>
          <p:nvPr/>
        </p:nvSpPr>
        <p:spPr>
          <a:xfrm>
            <a:off x="8083296" y="1691640"/>
            <a:ext cx="3566160" cy="2286000"/>
          </a:xfrm>
          <a:prstGeom prst="roundRect">
            <a:avLst>
              <a:gd name="adj" fmla="val 3200"/>
            </a:avLst>
          </a:prstGeom>
          <a:solidFill>
            <a:schemeClr val="accent3"/>
          </a:solidFill>
          <a:ln w="12700">
            <a:solidFill>
              <a:schemeClr val="accent3"/>
            </a:solidFill>
            <a:prstDash val="solid"/>
          </a:ln>
        </p:spPr>
      </p:sp>
      <p:sp>
        <p:nvSpPr>
          <p:cNvPr id="17" name="Text 14"/>
          <p:cNvSpPr txBox="1"/>
          <p:nvPr/>
        </p:nvSpPr>
        <p:spPr>
          <a:xfrm>
            <a:off x="8357616" y="1783080"/>
            <a:ext cx="914400" cy="731520"/>
          </a:xfrm>
          <a:prstGeom prst="rect">
            <a:avLst/>
          </a:prstGeom>
          <a:noFill/>
          <a:ln/>
        </p:spPr>
        <p:txBody>
          <a:bodyPr wrap="square" lIns="0" tIns="0" rIns="0" bIns="0" rtlCol="0" anchor="ctr"/>
          <a:lstStyle/>
          <a:p>
            <a:pPr marL="0" indent="0">
              <a:buNone/>
            </a:pPr>
            <a:r>
              <a:rPr lang="en-US" sz="4400" b="1" dirty="0">
                <a:solidFill>
                  <a:schemeClr val="accent4"/>
                </a:solidFill>
                <a:latin typeface="Cambria" pitchFamily="34" charset="0"/>
                <a:ea typeface="Cambria" pitchFamily="34" charset="-122"/>
                <a:cs typeface="Cambria" pitchFamily="34" charset="-120"/>
              </a:rPr>
              <a:t>3</a:t>
            </a:r>
            <a:endParaRPr lang="en-US" sz="4400" dirty="0"/>
          </a:p>
        </p:txBody>
      </p:sp>
      <p:sp>
        <p:nvSpPr>
          <p:cNvPr id="18" name="Text 15"/>
          <p:cNvSpPr txBox="1"/>
          <p:nvPr/>
        </p:nvSpPr>
        <p:spPr>
          <a:xfrm>
            <a:off x="8357616" y="2606040"/>
            <a:ext cx="3108960" cy="502920"/>
          </a:xfrm>
          <a:prstGeom prst="rect">
            <a:avLst/>
          </a:prstGeom>
          <a:noFill/>
          <a:ln/>
        </p:spPr>
        <p:txBody>
          <a:bodyPr wrap="square" lIns="0" tIns="0" rIns="0" bIns="0" rtlCol="0" anchor="ctr"/>
          <a:lstStyle/>
          <a:p>
            <a:pPr marL="0" indent="0">
              <a:buNone/>
            </a:pPr>
            <a:r>
              <a:rPr lang="en-US" sz="2200" b="1" dirty="0">
                <a:solidFill>
                  <a:schemeClr val="bg1"/>
                </a:solidFill>
              </a:rPr>
              <a:t>Short transactions</a:t>
            </a:r>
            <a:endParaRPr lang="en-US" sz="2200" dirty="0"/>
          </a:p>
        </p:txBody>
      </p:sp>
      <p:sp>
        <p:nvSpPr>
          <p:cNvPr id="19" name="Text 16"/>
          <p:cNvSpPr txBox="1"/>
          <p:nvPr/>
        </p:nvSpPr>
        <p:spPr>
          <a:xfrm>
            <a:off x="8357616" y="3108960"/>
            <a:ext cx="3108960" cy="731520"/>
          </a:xfrm>
          <a:prstGeom prst="rect">
            <a:avLst/>
          </a:prstGeom>
          <a:noFill/>
          <a:ln/>
        </p:spPr>
        <p:txBody>
          <a:bodyPr wrap="square" lIns="0" tIns="0" rIns="0" bIns="0" rtlCol="0" anchor="t"/>
          <a:lstStyle/>
          <a:p>
            <a:pPr marL="0" indent="0">
              <a:buNone/>
            </a:pPr>
            <a:r>
              <a:rPr lang="en-US" sz="1600" dirty="0">
                <a:solidFill>
                  <a:schemeClr val="bg1"/>
                </a:solidFill>
              </a:rPr>
              <a:t>At the service layer.</a:t>
            </a:r>
            <a:endParaRPr lang="en-US" sz="1600" dirty="0"/>
          </a:p>
        </p:txBody>
      </p:sp>
      <p:sp>
        <p:nvSpPr>
          <p:cNvPr id="20" name="card"/>
          <p:cNvSpPr/>
          <p:nvPr/>
        </p:nvSpPr>
        <p:spPr>
          <a:xfrm>
            <a:off x="548640" y="4206240"/>
            <a:ext cx="11091672" cy="1463040"/>
          </a:xfrm>
          <a:prstGeom prst="roundRect">
            <a:avLst>
              <a:gd name="adj" fmla="val 5000"/>
            </a:avLst>
          </a:prstGeom>
          <a:solidFill>
            <a:schemeClr val="bg2"/>
          </a:solidFill>
          <a:ln w="12700">
            <a:solidFill>
              <a:schemeClr val="bg2"/>
            </a:solidFill>
            <a:prstDash val="solid"/>
          </a:ln>
        </p:spPr>
      </p:sp>
      <p:sp>
        <p:nvSpPr>
          <p:cNvPr id="21" name="icon-circle"/>
          <p:cNvSpPr/>
          <p:nvPr/>
        </p:nvSpPr>
        <p:spPr>
          <a:xfrm>
            <a:off x="777240" y="4526280"/>
            <a:ext cx="777240" cy="777240"/>
          </a:xfrm>
          <a:prstGeom prst="ellipse">
            <a:avLst/>
          </a:prstGeom>
          <a:solidFill>
            <a:schemeClr val="accent3"/>
          </a:solidFill>
          <a:ln w="12700">
            <a:solidFill>
              <a:schemeClr val="accent3"/>
            </a:solidFill>
            <a:prstDash val="solid"/>
          </a:ln>
        </p:spPr>
      </p:sp>
      <p:pic>
        <p:nvPicPr>
          <p:cNvPr id="22" name="Image 0" descr="users"/>
          <p:cNvPicPr>
            <a:picLocks noChangeAspect="1"/>
          </p:cNvPicPr>
          <p:nvPr/>
        </p:nvPicPr>
        <p:blipFill>
          <a:blip r:embed="rId3"/>
          <a:stretch>
            <a:fillRect/>
          </a:stretch>
        </p:blipFill>
        <p:spPr>
          <a:xfrm>
            <a:off x="963778" y="4712818"/>
            <a:ext cx="404165" cy="404165"/>
          </a:xfrm>
          <a:prstGeom prst="rect">
            <a:avLst/>
          </a:prstGeom>
        </p:spPr>
      </p:pic>
      <p:sp>
        <p:nvSpPr>
          <p:cNvPr id="23" name="Text 19"/>
          <p:cNvSpPr txBox="1"/>
          <p:nvPr/>
        </p:nvSpPr>
        <p:spPr>
          <a:xfrm>
            <a:off x="1828800" y="4206240"/>
            <a:ext cx="9601200" cy="1463040"/>
          </a:xfrm>
          <a:prstGeom prst="rect">
            <a:avLst/>
          </a:prstGeom>
          <a:noFill/>
          <a:ln/>
        </p:spPr>
        <p:txBody>
          <a:bodyPr wrap="square" lIns="0" tIns="0" rIns="0" bIns="0" rtlCol="0" anchor="ctr"/>
          <a:lstStyle/>
          <a:p>
            <a:pPr marL="0" indent="0">
              <a:buNone/>
            </a:pPr>
            <a:r>
              <a:rPr lang="en-US" sz="1900" b="1" dirty="0">
                <a:solidFill>
                  <a:schemeClr val="tx2"/>
                </a:solidFill>
              </a:rPr>
              <a:t>Explain it to your neighbour, 2 minutes. </a:t>
            </a:r>
            <a:r>
              <a:rPr lang="en-US" sz="1900" dirty="0">
                <a:solidFill>
                  <a:schemeClr val="tx1"/>
                </a:solidFill>
              </a:rPr>
              <a:t>What is N+1? Use the waiter who carries one dish per trip, and the tray.</a:t>
            </a:r>
            <a:endParaRPr lang="en-US" sz="19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Why do we need Spring MVC?</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6"/>
                </a:solidFill>
              </a:rPr>
              <a:t>A PLAIN SERVLET</a:t>
            </a:r>
            <a:endParaRPr lang="en-US" sz="1200" dirty="0"/>
          </a:p>
        </p:txBody>
      </p:sp>
      <p:sp>
        <p:nvSpPr>
          <p:cNvPr id="9" name="code-bg"/>
          <p:cNvSpPr/>
          <p:nvPr/>
        </p:nvSpPr>
        <p:spPr>
          <a:xfrm>
            <a:off x="548640" y="1920240"/>
            <a:ext cx="5440680" cy="2651760"/>
          </a:xfrm>
          <a:prstGeom prst="roundRect">
            <a:avLst>
              <a:gd name="adj" fmla="val 2759"/>
            </a:avLst>
          </a:prstGeom>
          <a:solidFill>
            <a:schemeClr val="tx2"/>
          </a:solidFill>
          <a:ln w="12700">
            <a:solidFill>
              <a:schemeClr val="tx2"/>
            </a:solidFill>
            <a:prstDash val="solid"/>
          </a:ln>
        </p:spPr>
      </p:sp>
      <p:sp>
        <p:nvSpPr>
          <p:cNvPr id="10" name="code-text"/>
          <p:cNvSpPr txBox="1"/>
          <p:nvPr/>
        </p:nvSpPr>
        <p:spPr>
          <a:xfrm>
            <a:off x="731520" y="2029968"/>
            <a:ext cx="5074920" cy="2432304"/>
          </a:xfrm>
          <a:prstGeom prst="rect">
            <a:avLst/>
          </a:prstGeom>
          <a:noFill/>
          <a:ln/>
        </p:spPr>
        <p:txBody>
          <a:bodyPr wrap="square" lIns="0" tIns="0" rIns="0" bIns="0" rtlCol="0" anchor="t"/>
          <a:lstStyle/>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protected void doGet(req, res) {</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res.setContentType("text/html");</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PrintWriter out = res.getWriter();</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out.println("&lt;html&gt;...");</a:t>
            </a:r>
            <a:endParaRPr lang="en-US" sz="1500" dirty="0"/>
          </a:p>
          <a:p>
            <a:pPr marL="0" indent="0">
              <a:spcAft>
                <a:spcPts val="200"/>
              </a:spcAft>
              <a:buNone/>
            </a:pPr>
            <a:r>
              <a:rPr lang="en-US" sz="1500" dirty="0">
                <a:solidFill>
                  <a:schemeClr val="accent4"/>
                </a:solidFill>
                <a:latin typeface="Courier New" pitchFamily="34" charset="0"/>
                <a:ea typeface="Courier New" pitchFamily="34" charset="-122"/>
                <a:cs typeface="Courier New" pitchFamily="34" charset="-120"/>
              </a:rPr>
              <a:t>  // ... 40 lines of this</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p:txBody>
      </p:sp>
      <p:sp>
        <p:nvSpPr>
          <p:cNvPr id="11" name="Text 8"/>
          <p:cNvSpPr txBox="1"/>
          <p:nvPr/>
        </p:nvSpPr>
        <p:spPr>
          <a:xfrm>
            <a:off x="6199632"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SPRING MVC</a:t>
            </a:r>
            <a:endParaRPr lang="en-US" sz="1200" dirty="0"/>
          </a:p>
        </p:txBody>
      </p:sp>
      <p:sp>
        <p:nvSpPr>
          <p:cNvPr id="12" name="code-bg"/>
          <p:cNvSpPr/>
          <p:nvPr/>
        </p:nvSpPr>
        <p:spPr>
          <a:xfrm>
            <a:off x="6199632" y="1920240"/>
            <a:ext cx="5440680" cy="2651760"/>
          </a:xfrm>
          <a:prstGeom prst="roundRect">
            <a:avLst>
              <a:gd name="adj" fmla="val 2759"/>
            </a:avLst>
          </a:prstGeom>
          <a:solidFill>
            <a:schemeClr val="tx2"/>
          </a:solidFill>
          <a:ln w="12700">
            <a:solidFill>
              <a:schemeClr val="tx2"/>
            </a:solidFill>
            <a:prstDash val="solid"/>
          </a:ln>
        </p:spPr>
      </p:sp>
      <p:sp>
        <p:nvSpPr>
          <p:cNvPr id="13" name="code-text"/>
          <p:cNvSpPr txBox="1"/>
          <p:nvPr/>
        </p:nvSpPr>
        <p:spPr>
          <a:xfrm>
            <a:off x="6382512" y="2029968"/>
            <a:ext cx="5074920" cy="2432304"/>
          </a:xfrm>
          <a:prstGeom prst="rect">
            <a:avLst/>
          </a:prstGeom>
          <a:noFill/>
          <a:ln/>
        </p:spPr>
        <p:txBody>
          <a:bodyPr wrap="square" lIns="0" tIns="0" rIns="0" bIns="0" rtlCol="0" anchor="t"/>
          <a:lstStyle/>
          <a:p>
            <a:pPr marL="0" indent="0">
              <a:spcAft>
                <a:spcPts val="200"/>
              </a:spcAft>
              <a:buNone/>
            </a:pPr>
            <a:r>
              <a:rPr lang="en-US" sz="1600" dirty="0">
                <a:solidFill>
                  <a:schemeClr val="bg1"/>
                </a:solidFill>
                <a:latin typeface="Courier New" pitchFamily="34" charset="0"/>
                <a:ea typeface="Courier New" pitchFamily="34" charset="-122"/>
                <a:cs typeface="Courier New" pitchFamily="34" charset="-120"/>
              </a:rPr>
              <a:t>@GetMapping("/jobs")</a:t>
            </a:r>
            <a:endParaRPr lang="en-US" sz="1600" dirty="0"/>
          </a:p>
          <a:p>
            <a:pPr marL="0" indent="0">
              <a:spcAft>
                <a:spcPts val="200"/>
              </a:spcAft>
              <a:buNone/>
            </a:pPr>
            <a:r>
              <a:rPr lang="en-US" sz="1600" dirty="0">
                <a:solidFill>
                  <a:schemeClr val="bg1"/>
                </a:solidFill>
                <a:latin typeface="Courier New" pitchFamily="34" charset="0"/>
                <a:ea typeface="Courier New" pitchFamily="34" charset="-122"/>
                <a:cs typeface="Courier New" pitchFamily="34" charset="-120"/>
              </a:rPr>
              <a:t>String list(Model model) {</a:t>
            </a:r>
            <a:endParaRPr lang="en-US" sz="1600" dirty="0"/>
          </a:p>
          <a:p>
            <a:pPr marL="0" indent="0">
              <a:spcAft>
                <a:spcPts val="200"/>
              </a:spcAft>
              <a:buNone/>
            </a:pPr>
            <a:r>
              <a:rPr lang="en-US" sz="1600" dirty="0">
                <a:solidFill>
                  <a:schemeClr val="bg1"/>
                </a:solidFill>
                <a:latin typeface="Courier New" pitchFamily="34" charset="0"/>
                <a:ea typeface="Courier New" pitchFamily="34" charset="-122"/>
                <a:cs typeface="Courier New" pitchFamily="34" charset="-120"/>
              </a:rPr>
              <a:t>  model.addAttribute("jobs",</a:t>
            </a:r>
            <a:endParaRPr lang="en-US" sz="1600" dirty="0"/>
          </a:p>
          <a:p>
            <a:pPr marL="0" indent="0">
              <a:spcAft>
                <a:spcPts val="200"/>
              </a:spcAft>
              <a:buNone/>
            </a:pPr>
            <a:r>
              <a:rPr lang="en-US" sz="1600" dirty="0">
                <a:solidFill>
                  <a:schemeClr val="bg1"/>
                </a:solidFill>
                <a:latin typeface="Courier New" pitchFamily="34" charset="0"/>
                <a:ea typeface="Courier New" pitchFamily="34" charset="-122"/>
                <a:cs typeface="Courier New" pitchFamily="34" charset="-120"/>
              </a:rPr>
              <a:t>                     service.open());</a:t>
            </a:r>
            <a:endParaRPr lang="en-US" sz="1600" dirty="0"/>
          </a:p>
          <a:p>
            <a:pPr marL="0" indent="0">
              <a:spcAft>
                <a:spcPts val="200"/>
              </a:spcAft>
              <a:buNone/>
            </a:pPr>
            <a:r>
              <a:rPr lang="en-US" sz="1600" dirty="0">
                <a:solidFill>
                  <a:schemeClr val="bg1"/>
                </a:solidFill>
                <a:latin typeface="Courier New" pitchFamily="34" charset="0"/>
                <a:ea typeface="Courier New" pitchFamily="34" charset="-122"/>
                <a:cs typeface="Courier New" pitchFamily="34" charset="-120"/>
              </a:rPr>
              <a:t>  return "jobs/list";</a:t>
            </a:r>
            <a:endParaRPr lang="en-US" sz="1600" dirty="0"/>
          </a:p>
          <a:p>
            <a:pPr marL="0" indent="0">
              <a:spcAft>
                <a:spcPts val="200"/>
              </a:spcAft>
              <a:buNone/>
            </a:pPr>
            <a:r>
              <a:rPr lang="en-US" sz="1600"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14" name="card"/>
          <p:cNvSpPr/>
          <p:nvPr/>
        </p:nvSpPr>
        <p:spPr>
          <a:xfrm>
            <a:off x="548640" y="4754880"/>
            <a:ext cx="11091672" cy="914400"/>
          </a:xfrm>
          <a:prstGeom prst="roundRect">
            <a:avLst>
              <a:gd name="adj" fmla="val 8000"/>
            </a:avLst>
          </a:prstGeom>
          <a:solidFill>
            <a:schemeClr val="accent4">
              <a:alpha val="22000"/>
            </a:schemeClr>
          </a:solidFill>
          <a:ln w="12700">
            <a:solidFill>
              <a:schemeClr val="accent4">
                <a:alpha val="0"/>
              </a:schemeClr>
            </a:solidFill>
            <a:prstDash val="solid"/>
          </a:ln>
        </p:spPr>
      </p:sp>
      <p:sp>
        <p:nvSpPr>
          <p:cNvPr id="15" name="Text 12"/>
          <p:cNvSpPr txBox="1"/>
          <p:nvPr/>
        </p:nvSpPr>
        <p:spPr>
          <a:xfrm>
            <a:off x="777240" y="4754880"/>
            <a:ext cx="10698480" cy="914400"/>
          </a:xfrm>
          <a:prstGeom prst="rect">
            <a:avLst/>
          </a:prstGeom>
          <a:noFill/>
          <a:ln/>
        </p:spPr>
        <p:txBody>
          <a:bodyPr wrap="square" lIns="0" tIns="0" rIns="0" bIns="0" rtlCol="0" anchor="ctr"/>
          <a:lstStyle/>
          <a:p>
            <a:pPr marL="0" indent="0">
              <a:buNone/>
            </a:pPr>
            <a:r>
              <a:rPr lang="en-US" sz="1700" dirty="0">
                <a:solidFill>
                  <a:schemeClr val="tx2"/>
                </a:solidFill>
              </a:rPr>
              <a:t>Real life: every booking site, college portal and net-banking page. I built ticketing and paper-filing apps with Spring MVC and Hibernate, and worked on a Spring Boot cloud ERP.</a:t>
            </a:r>
            <a:endParaRPr lang="en-US" sz="17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Do not create your objects. Ask for them.</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6"/>
                </a:solidFill>
              </a:rPr>
              <a:t>WITHOUT DI: THE COOK GOES SHOPPING</a:t>
            </a:r>
            <a:endParaRPr lang="en-US" sz="1200" dirty="0"/>
          </a:p>
        </p:txBody>
      </p:sp>
      <p:sp>
        <p:nvSpPr>
          <p:cNvPr id="9" name="code-bg"/>
          <p:cNvSpPr/>
          <p:nvPr/>
        </p:nvSpPr>
        <p:spPr>
          <a:xfrm>
            <a:off x="548640" y="1920240"/>
            <a:ext cx="5440680" cy="2194560"/>
          </a:xfrm>
          <a:prstGeom prst="roundRect">
            <a:avLst>
              <a:gd name="adj" fmla="val 3333"/>
            </a:avLst>
          </a:prstGeom>
          <a:solidFill>
            <a:schemeClr val="tx2"/>
          </a:solidFill>
          <a:ln w="12700">
            <a:solidFill>
              <a:schemeClr val="tx2"/>
            </a:solidFill>
            <a:prstDash val="solid"/>
          </a:ln>
        </p:spPr>
      </p:sp>
      <p:sp>
        <p:nvSpPr>
          <p:cNvPr id="10" name="code-text"/>
          <p:cNvSpPr txBox="1"/>
          <p:nvPr/>
        </p:nvSpPr>
        <p:spPr>
          <a:xfrm>
            <a:off x="731520" y="2029968"/>
            <a:ext cx="5074920" cy="1975104"/>
          </a:xfrm>
          <a:prstGeom prst="rect">
            <a:avLst/>
          </a:prstGeom>
          <a:noFill/>
          <a:ln/>
        </p:spPr>
        <p:txBody>
          <a:bodyPr wrap="square" lIns="0" tIns="0" rIns="0" bIns="0" rtlCol="0" anchor="t"/>
          <a:lstStyle/>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JobService s = new JobService(</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new JobRepository(</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new DataSource(url, user, pw)));</a:t>
            </a:r>
            <a:endParaRPr lang="en-US" sz="1500" dirty="0"/>
          </a:p>
        </p:txBody>
      </p:sp>
      <p:sp>
        <p:nvSpPr>
          <p:cNvPr id="11" name="Text 8"/>
          <p:cNvSpPr txBox="1"/>
          <p:nvPr/>
        </p:nvSpPr>
        <p:spPr>
          <a:xfrm>
            <a:off x="6199632"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WITH DI: THE MANAGER DELIVERS</a:t>
            </a:r>
            <a:endParaRPr lang="en-US" sz="1200" dirty="0"/>
          </a:p>
        </p:txBody>
      </p:sp>
      <p:sp>
        <p:nvSpPr>
          <p:cNvPr id="12" name="code-bg"/>
          <p:cNvSpPr/>
          <p:nvPr/>
        </p:nvSpPr>
        <p:spPr>
          <a:xfrm>
            <a:off x="6199632" y="1920240"/>
            <a:ext cx="5440680" cy="2194560"/>
          </a:xfrm>
          <a:prstGeom prst="roundRect">
            <a:avLst>
              <a:gd name="adj" fmla="val 3333"/>
            </a:avLst>
          </a:prstGeom>
          <a:solidFill>
            <a:schemeClr val="tx2"/>
          </a:solidFill>
          <a:ln w="12700">
            <a:solidFill>
              <a:schemeClr val="tx2"/>
            </a:solidFill>
            <a:prstDash val="solid"/>
          </a:ln>
        </p:spPr>
      </p:sp>
      <p:sp>
        <p:nvSpPr>
          <p:cNvPr id="13" name="code-text"/>
          <p:cNvSpPr txBox="1"/>
          <p:nvPr/>
        </p:nvSpPr>
        <p:spPr>
          <a:xfrm>
            <a:off x="6382512" y="2029968"/>
            <a:ext cx="5074920" cy="1975104"/>
          </a:xfrm>
          <a:prstGeom prst="rect">
            <a:avLst/>
          </a:prstGeom>
          <a:noFill/>
          <a:ln/>
        </p:spPr>
        <p:txBody>
          <a:bodyPr wrap="square" lIns="0" tIns="0" rIns="0" bIns="0" rtlCol="0" anchor="t"/>
          <a:lstStyle/>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public JobController(JobService jobs) {</a:t>
            </a:r>
            <a:endParaRPr lang="en-US" sz="1500" dirty="0"/>
          </a:p>
          <a:p>
            <a:pPr marL="0" indent="0">
              <a:spcAft>
                <a:spcPts val="200"/>
              </a:spcAft>
              <a:buNone/>
            </a:pPr>
            <a:r>
              <a:rPr lang="en-US" sz="1500" dirty="0">
                <a:solidFill>
                  <a:schemeClr val="bg1"/>
                </a:solidFill>
                <a:latin typeface="Courier New" pitchFamily="34" charset="0"/>
                <a:ea typeface="Courier New" pitchFamily="34" charset="-122"/>
                <a:cs typeface="Courier New" pitchFamily="34" charset="-120"/>
              </a:rPr>
              <a:t>  this.jobs = jobs;</a:t>
            </a:r>
            <a:endParaRPr lang="en-US" sz="1500" dirty="0"/>
          </a:p>
          <a:p>
            <a:pPr marL="0" indent="0">
              <a:spcAft>
                <a:spcPts val="200"/>
              </a:spcAft>
              <a:buNone/>
            </a:pPr>
            <a:r>
              <a:rPr lang="en-US" sz="1500" dirty="0">
                <a:solidFill>
                  <a:schemeClr val="accent4"/>
                </a:solidFill>
                <a:latin typeface="Courier New" pitchFamily="34" charset="0"/>
                <a:ea typeface="Courier New" pitchFamily="34" charset="-122"/>
                <a:cs typeface="Courier New" pitchFamily="34" charset="-120"/>
              </a:rPr>
              <a:t>}  // Spring delivers it</a:t>
            </a:r>
            <a:endParaRPr lang="en-US" sz="1500" dirty="0"/>
          </a:p>
        </p:txBody>
      </p:sp>
      <p:sp>
        <p:nvSpPr>
          <p:cNvPr id="14" name="card"/>
          <p:cNvSpPr/>
          <p:nvPr/>
        </p:nvSpPr>
        <p:spPr>
          <a:xfrm>
            <a:off x="548640" y="4343400"/>
            <a:ext cx="11091672" cy="1280160"/>
          </a:xfrm>
          <a:prstGeom prst="roundRect">
            <a:avLst>
              <a:gd name="adj" fmla="val 5714"/>
            </a:avLst>
          </a:prstGeom>
          <a:solidFill>
            <a:schemeClr val="bg2"/>
          </a:solidFill>
          <a:ln w="12700">
            <a:solidFill>
              <a:schemeClr val="bg2"/>
            </a:solidFill>
            <a:prstDash val="solid"/>
          </a:ln>
        </p:spPr>
      </p:sp>
      <p:sp>
        <p:nvSpPr>
          <p:cNvPr id="15" name="Text 12"/>
          <p:cNvSpPr txBox="1"/>
          <p:nvPr/>
        </p:nvSpPr>
        <p:spPr>
          <a:xfrm>
            <a:off x="777240" y="4343400"/>
            <a:ext cx="10698480" cy="1280160"/>
          </a:xfrm>
          <a:prstGeom prst="rect">
            <a:avLst/>
          </a:prstGeom>
          <a:noFill/>
          <a:ln/>
        </p:spPr>
        <p:txBody>
          <a:bodyPr wrap="square" lIns="0" tIns="0" rIns="0" bIns="0" rtlCol="0" anchor="ctr"/>
          <a:lstStyle/>
          <a:p>
            <a:pPr marL="0" indent="0">
              <a:buNone/>
            </a:pPr>
            <a:r>
              <a:rPr lang="en-US" sz="1800" dirty="0">
                <a:solidFill>
                  <a:schemeClr val="tx1"/>
                </a:solidFill>
              </a:rPr>
              <a:t>The canteen manager shops. The cook cooks. In a test, hand the cook fake vegetables. Use constructor injection; field injection is a trap.</a:t>
            </a:r>
            <a:endParaRPr lang="en-US" sz="1800" dirty="0"/>
          </a:p>
        </p:txBody>
      </p:sp>
      <p:sp>
        <p:nvSpPr>
          <p:cNvPr id="16"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17" name="Text 14"/>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job/JobController.java: constructor takes JobService, no "new" anywhere</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browser never talks to your controller</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anim-0-39"/>
          <p:cNvSpPr/>
          <p:nvPr/>
        </p:nvSpPr>
        <p:spPr>
          <a:xfrm>
            <a:off x="548640" y="1691640"/>
            <a:ext cx="3383280" cy="1371600"/>
          </a:xfrm>
          <a:prstGeom prst="roundRect">
            <a:avLst>
              <a:gd name="adj" fmla="val 6667"/>
            </a:avLst>
          </a:prstGeom>
          <a:solidFill>
            <a:schemeClr val="tx2"/>
          </a:solidFill>
          <a:ln>
            <a:solidFill>
              <a:schemeClr val="tx2"/>
            </a:solidFill>
          </a:ln>
        </p:spPr>
        <p:txBody>
          <a:bodyPr wrap="square" lIns="228600" tIns="228600" rIns="228600" bIns="22860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Browser</a:t>
            </a:r>
            <a:endParaRPr lang="en-US" sz="2000" dirty="0"/>
          </a:p>
          <a:p>
            <a:pPr marL="0" indent="0">
              <a:buNone/>
            </a:pPr>
            <a:r>
              <a:rPr lang="en-US" sz="1400" dirty="0">
                <a:solidFill>
                  <a:schemeClr val="bg1"/>
                </a:solidFill>
              </a:rPr>
              <a:t>GET /jobs?city=Surat</a:t>
            </a:r>
            <a:endParaRPr lang="en-US" sz="2000" dirty="0"/>
          </a:p>
        </p:txBody>
      </p:sp>
      <p:sp>
        <p:nvSpPr>
          <p:cNvPr id="9" name="anim-1-40"/>
          <p:cNvSpPr/>
          <p:nvPr/>
        </p:nvSpPr>
        <p:spPr>
          <a:xfrm>
            <a:off x="3950208" y="2377440"/>
            <a:ext cx="347472" cy="0"/>
          </a:xfrm>
          <a:prstGeom prst="line">
            <a:avLst/>
          </a:prstGeom>
          <a:noFill/>
          <a:ln w="38100">
            <a:solidFill>
              <a:schemeClr val="tx2"/>
            </a:solidFill>
            <a:prstDash val="solid"/>
            <a:tailEnd type="triangle"/>
          </a:ln>
        </p:spPr>
      </p:sp>
      <p:sp>
        <p:nvSpPr>
          <p:cNvPr id="10" name="anim-1-41"/>
          <p:cNvSpPr/>
          <p:nvPr/>
        </p:nvSpPr>
        <p:spPr>
          <a:xfrm>
            <a:off x="4315968" y="1691640"/>
            <a:ext cx="3383280" cy="1371600"/>
          </a:xfrm>
          <a:prstGeom prst="roundRect">
            <a:avLst>
              <a:gd name="adj" fmla="val 6667"/>
            </a:avLst>
          </a:prstGeom>
          <a:solidFill>
            <a:schemeClr val="accent2"/>
          </a:solidFill>
          <a:ln>
            <a:solidFill>
              <a:schemeClr val="accent2"/>
            </a:solidFill>
          </a:ln>
        </p:spPr>
        <p:txBody>
          <a:bodyPr wrap="square" lIns="228600" tIns="228600" rIns="228600" bIns="22860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DispatcherServlet</a:t>
            </a:r>
            <a:endParaRPr lang="en-US" sz="2000" dirty="0"/>
          </a:p>
          <a:p>
            <a:pPr marL="0" indent="0">
              <a:buNone/>
            </a:pPr>
            <a:r>
              <a:rPr lang="en-US" sz="1400" dirty="0">
                <a:solidFill>
                  <a:schemeClr val="bg1"/>
                </a:solidFill>
              </a:rPr>
              <a:t>the front desk</a:t>
            </a:r>
            <a:endParaRPr lang="en-US" sz="2000" dirty="0"/>
          </a:p>
        </p:txBody>
      </p:sp>
      <p:sp>
        <p:nvSpPr>
          <p:cNvPr id="11" name="anim-2-42"/>
          <p:cNvSpPr/>
          <p:nvPr/>
        </p:nvSpPr>
        <p:spPr>
          <a:xfrm>
            <a:off x="7717536" y="2377440"/>
            <a:ext cx="347472" cy="0"/>
          </a:xfrm>
          <a:prstGeom prst="line">
            <a:avLst/>
          </a:prstGeom>
          <a:noFill/>
          <a:ln w="38100">
            <a:solidFill>
              <a:schemeClr val="tx2"/>
            </a:solidFill>
            <a:prstDash val="solid"/>
            <a:tailEnd type="triangle"/>
          </a:ln>
        </p:spPr>
      </p:sp>
      <p:sp>
        <p:nvSpPr>
          <p:cNvPr id="12" name="anim-2-43"/>
          <p:cNvSpPr/>
          <p:nvPr/>
        </p:nvSpPr>
        <p:spPr>
          <a:xfrm>
            <a:off x="8083296" y="1691640"/>
            <a:ext cx="3383280" cy="1371600"/>
          </a:xfrm>
          <a:prstGeom prst="roundRect">
            <a:avLst>
              <a:gd name="adj" fmla="val 6667"/>
            </a:avLst>
          </a:prstGeom>
          <a:solidFill>
            <a:schemeClr val="accent2"/>
          </a:solidFill>
          <a:ln>
            <a:solidFill>
              <a:schemeClr val="accent2"/>
            </a:solidFill>
          </a:ln>
        </p:spPr>
        <p:txBody>
          <a:bodyPr wrap="square" lIns="228600" tIns="228600" rIns="228600" bIns="22860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HandlerMapping</a:t>
            </a:r>
            <a:endParaRPr lang="en-US" sz="2000" dirty="0"/>
          </a:p>
          <a:p>
            <a:pPr marL="0" indent="0">
              <a:buNone/>
            </a:pPr>
            <a:r>
              <a:rPr lang="en-US" sz="1400" dirty="0">
                <a:solidFill>
                  <a:schemeClr val="bg1"/>
                </a:solidFill>
              </a:rPr>
              <a:t>who handles /jobs?</a:t>
            </a:r>
            <a:endParaRPr lang="en-US" sz="2000" dirty="0"/>
          </a:p>
        </p:txBody>
      </p:sp>
      <p:sp>
        <p:nvSpPr>
          <p:cNvPr id="13" name="anim-3-44"/>
          <p:cNvSpPr/>
          <p:nvPr/>
        </p:nvSpPr>
        <p:spPr>
          <a:xfrm>
            <a:off x="8083296" y="3383280"/>
            <a:ext cx="3383280" cy="1371600"/>
          </a:xfrm>
          <a:prstGeom prst="roundRect">
            <a:avLst>
              <a:gd name="adj" fmla="val 6667"/>
            </a:avLst>
          </a:prstGeom>
          <a:solidFill>
            <a:schemeClr val="accent2"/>
          </a:solidFill>
          <a:ln>
            <a:solidFill>
              <a:schemeClr val="accent2"/>
            </a:solidFill>
          </a:ln>
        </p:spPr>
        <p:txBody>
          <a:bodyPr wrap="square" lIns="228600" tIns="228600" rIns="228600" bIns="22860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JobController</a:t>
            </a:r>
            <a:endParaRPr lang="en-US" sz="2000" dirty="0"/>
          </a:p>
          <a:p>
            <a:pPr marL="0" indent="0">
              <a:buNone/>
            </a:pPr>
            <a:r>
              <a:rPr lang="en-US" sz="1400" dirty="0">
                <a:solidFill>
                  <a:schemeClr val="bg1"/>
                </a:solidFill>
              </a:rPr>
              <a:t>your method</a:t>
            </a:r>
            <a:endParaRPr lang="en-US" sz="2000" dirty="0"/>
          </a:p>
        </p:txBody>
      </p:sp>
      <p:sp>
        <p:nvSpPr>
          <p:cNvPr id="14" name="anim-4-45"/>
          <p:cNvSpPr/>
          <p:nvPr/>
        </p:nvSpPr>
        <p:spPr>
          <a:xfrm>
            <a:off x="7699248" y="4069080"/>
            <a:ext cx="347472" cy="0"/>
          </a:xfrm>
          <a:prstGeom prst="line">
            <a:avLst/>
          </a:prstGeom>
          <a:noFill/>
          <a:ln w="38100">
            <a:solidFill>
              <a:schemeClr val="tx2"/>
            </a:solidFill>
            <a:prstDash val="solid"/>
            <a:headEnd type="triangle"/>
          </a:ln>
        </p:spPr>
      </p:sp>
      <p:sp>
        <p:nvSpPr>
          <p:cNvPr id="15" name="anim-4-46"/>
          <p:cNvSpPr/>
          <p:nvPr/>
        </p:nvSpPr>
        <p:spPr>
          <a:xfrm>
            <a:off x="4315968" y="3383280"/>
            <a:ext cx="3383280" cy="1371600"/>
          </a:xfrm>
          <a:prstGeom prst="roundRect">
            <a:avLst>
              <a:gd name="adj" fmla="val 6667"/>
            </a:avLst>
          </a:prstGeom>
          <a:solidFill>
            <a:schemeClr val="accent1"/>
          </a:solidFill>
          <a:ln>
            <a:solidFill>
              <a:schemeClr val="accent1"/>
            </a:solidFill>
          </a:ln>
        </p:spPr>
        <p:txBody>
          <a:bodyPr wrap="square" lIns="228600" tIns="228600" rIns="228600" bIns="22860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Service, Repository</a:t>
            </a:r>
            <a:endParaRPr lang="en-US" sz="2000" dirty="0"/>
          </a:p>
          <a:p>
            <a:pPr marL="0" indent="0">
              <a:buNone/>
            </a:pPr>
            <a:r>
              <a:rPr lang="en-US" sz="1400" dirty="0">
                <a:solidFill>
                  <a:schemeClr val="bg1"/>
                </a:solidFill>
              </a:rPr>
              <a:t>Hibernate, then the DB</a:t>
            </a:r>
            <a:endParaRPr lang="en-US" sz="2000" dirty="0"/>
          </a:p>
        </p:txBody>
      </p:sp>
      <p:sp>
        <p:nvSpPr>
          <p:cNvPr id="16" name="anim-5-47"/>
          <p:cNvSpPr/>
          <p:nvPr/>
        </p:nvSpPr>
        <p:spPr>
          <a:xfrm>
            <a:off x="3931920" y="4069080"/>
            <a:ext cx="347472" cy="0"/>
          </a:xfrm>
          <a:prstGeom prst="line">
            <a:avLst/>
          </a:prstGeom>
          <a:noFill/>
          <a:ln w="38100">
            <a:solidFill>
              <a:schemeClr val="tx2"/>
            </a:solidFill>
            <a:prstDash val="solid"/>
            <a:headEnd type="triangle"/>
          </a:ln>
        </p:spPr>
      </p:sp>
      <p:sp>
        <p:nvSpPr>
          <p:cNvPr id="17" name="anim-5-48"/>
          <p:cNvSpPr/>
          <p:nvPr/>
        </p:nvSpPr>
        <p:spPr>
          <a:xfrm>
            <a:off x="548640" y="3383280"/>
            <a:ext cx="3383280" cy="1371600"/>
          </a:xfrm>
          <a:prstGeom prst="roundRect">
            <a:avLst>
              <a:gd name="adj" fmla="val 6667"/>
            </a:avLst>
          </a:prstGeom>
          <a:solidFill>
            <a:schemeClr val="accent3"/>
          </a:solidFill>
          <a:ln>
            <a:solidFill>
              <a:schemeClr val="accent3"/>
            </a:solidFill>
          </a:ln>
        </p:spPr>
        <p:txBody>
          <a:bodyPr wrap="square" lIns="228600" tIns="228600" rIns="228600" bIns="22860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View</a:t>
            </a:r>
            <a:endParaRPr lang="en-US" sz="2000" dirty="0"/>
          </a:p>
          <a:p>
            <a:pPr marL="0" indent="0">
              <a:buNone/>
            </a:pPr>
            <a:r>
              <a:rPr lang="en-US" sz="1400" dirty="0">
                <a:solidFill>
                  <a:schemeClr val="bg1"/>
                </a:solidFill>
              </a:rPr>
              <a:t>Thymeleaf page</a:t>
            </a:r>
            <a:endParaRPr lang="en-US" sz="2000" dirty="0"/>
          </a:p>
        </p:txBody>
      </p:sp>
      <p:sp>
        <p:nvSpPr>
          <p:cNvPr id="18" name="anim-3-49"/>
          <p:cNvSpPr/>
          <p:nvPr/>
        </p:nvSpPr>
        <p:spPr>
          <a:xfrm>
            <a:off x="9774936" y="3081528"/>
            <a:ext cx="0" cy="301752"/>
          </a:xfrm>
          <a:prstGeom prst="line">
            <a:avLst/>
          </a:prstGeom>
          <a:noFill/>
          <a:ln w="38100">
            <a:solidFill>
              <a:schemeClr val="tx2"/>
            </a:solidFill>
            <a:prstDash val="solid"/>
            <a:tailEnd type="triangle"/>
          </a:ln>
        </p:spPr>
      </p:sp>
      <p:sp>
        <p:nvSpPr>
          <p:cNvPr id="19" name="Text 16"/>
          <p:cNvSpPr txBox="1"/>
          <p:nvPr/>
        </p:nvSpPr>
        <p:spPr>
          <a:xfrm>
            <a:off x="548640" y="516636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Every request uses the same front desk, so security and logging live in one place.</a:t>
            </a:r>
            <a:endParaRPr lang="en-US" sz="1600" dirty="0"/>
          </a:p>
        </p:txBody>
      </p:sp>
      <p:sp>
        <p:nvSpPr>
          <p:cNvPr id="20"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21" name="Text 18"/>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DEMO: debugger walk</a:t>
            </a:r>
            <a:endParaRPr lang="en-US" sz="1200" dirty="0"/>
          </a:p>
        </p:txBody>
      </p:sp>
      <p:sp>
        <p:nvSpPr>
          <p:cNvPr id="22"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3" name="Text 20"/>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docs/flow-explorer.html (animated flow)      /jobs?city=Surat</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2500"/>
                            </p:stCondLst>
                            <p:childTnLst>
                              <p:par>
                                <p:cTn id="37" presetID="10" presetClass="entr" presetSubtype="0"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Controllers and mappings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JOBCONTROLLER</a:t>
            </a:r>
            <a:endParaRPr lang="en-US" sz="1200" dirty="0"/>
          </a:p>
        </p:txBody>
      </p:sp>
      <p:sp>
        <p:nvSpPr>
          <p:cNvPr id="9" name="code-bg"/>
          <p:cNvSpPr/>
          <p:nvPr/>
        </p:nvSpPr>
        <p:spPr>
          <a:xfrm>
            <a:off x="548640" y="1920240"/>
            <a:ext cx="6858000" cy="3566160"/>
          </a:xfrm>
          <a:prstGeom prst="roundRect">
            <a:avLst>
              <a:gd name="adj" fmla="val 2051"/>
            </a:avLst>
          </a:prstGeom>
          <a:solidFill>
            <a:schemeClr val="tx2"/>
          </a:solidFill>
          <a:ln w="12700">
            <a:solidFill>
              <a:schemeClr val="tx2"/>
            </a:solidFill>
            <a:prstDash val="solid"/>
          </a:ln>
        </p:spPr>
      </p:sp>
      <p:sp>
        <p:nvSpPr>
          <p:cNvPr id="10" name="code-text"/>
          <p:cNvSpPr txBox="1"/>
          <p:nvPr/>
        </p:nvSpPr>
        <p:spPr>
          <a:xfrm>
            <a:off x="731520" y="2029968"/>
            <a:ext cx="6492240" cy="334670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@Controller</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@RequestMapping("/jobs")</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public class JobController {</a:t>
            </a:r>
            <a:endParaRPr lang="en-US" sz="1300" dirty="0"/>
          </a:p>
          <a:p>
            <a:pPr marL="0" indent="0">
              <a:spcAft>
                <a:spcPts val="200"/>
              </a:spcAft>
              <a:buNone/>
            </a:pP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@GetMapping</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list(@RequestParam(required = false)</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city, Model model) { ... }</a:t>
            </a:r>
            <a:endParaRPr lang="en-US" sz="1300" dirty="0"/>
          </a:p>
          <a:p>
            <a:pPr marL="0" indent="0">
              <a:spcAft>
                <a:spcPts val="200"/>
              </a:spcAft>
              <a:buNone/>
            </a:pP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@GetMapping("/{id}")</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detail(@PathVariable Long id,</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Model model) { ... }</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11" name="Text 8"/>
          <p:cNvSpPr txBox="1"/>
          <p:nvPr/>
        </p:nvSpPr>
        <p:spPr>
          <a:xfrm>
            <a:off x="7772400" y="1645920"/>
            <a:ext cx="3657600" cy="274320"/>
          </a:xfrm>
          <a:prstGeom prst="rect">
            <a:avLst/>
          </a:prstGeom>
          <a:noFill/>
          <a:ln/>
        </p:spPr>
        <p:txBody>
          <a:bodyPr wrap="square" lIns="0" tIns="0" rIns="0" bIns="0" rtlCol="0" anchor="ctr"/>
          <a:lstStyle/>
          <a:p>
            <a:pPr marL="0" indent="0">
              <a:buNone/>
            </a:pPr>
            <a:r>
              <a:rPr lang="en-US" sz="1200" b="1" kern="0" spc="100" dirty="0">
                <a:solidFill>
                  <a:schemeClr val="accent5"/>
                </a:solidFill>
              </a:rPr>
              <a:t>URLS THIS SERVES</a:t>
            </a:r>
            <a:endParaRPr lang="en-US" sz="1200" dirty="0"/>
          </a:p>
        </p:txBody>
      </p:sp>
      <p:sp>
        <p:nvSpPr>
          <p:cNvPr id="12" name="card"/>
          <p:cNvSpPr/>
          <p:nvPr/>
        </p:nvSpPr>
        <p:spPr>
          <a:xfrm>
            <a:off x="7772400" y="1965960"/>
            <a:ext cx="3867912" cy="960120"/>
          </a:xfrm>
          <a:prstGeom prst="roundRect">
            <a:avLst>
              <a:gd name="adj" fmla="val 7619"/>
            </a:avLst>
          </a:prstGeom>
          <a:solidFill>
            <a:schemeClr val="bg2"/>
          </a:solidFill>
          <a:ln w="12700">
            <a:solidFill>
              <a:schemeClr val="bg2"/>
            </a:solidFill>
            <a:prstDash val="solid"/>
          </a:ln>
        </p:spPr>
      </p:sp>
      <p:sp>
        <p:nvSpPr>
          <p:cNvPr id="13" name="Text 10"/>
          <p:cNvSpPr txBox="1"/>
          <p:nvPr/>
        </p:nvSpPr>
        <p:spPr>
          <a:xfrm>
            <a:off x="7955280" y="2039112"/>
            <a:ext cx="3566160" cy="41148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GET /jobs</a:t>
            </a:r>
            <a:endParaRPr lang="en-US" sz="1500" dirty="0"/>
          </a:p>
        </p:txBody>
      </p:sp>
      <p:sp>
        <p:nvSpPr>
          <p:cNvPr id="14" name="Text 11"/>
          <p:cNvSpPr txBox="1"/>
          <p:nvPr/>
        </p:nvSpPr>
        <p:spPr>
          <a:xfrm>
            <a:off x="7955280" y="2468880"/>
            <a:ext cx="3566160" cy="365760"/>
          </a:xfrm>
          <a:prstGeom prst="rect">
            <a:avLst/>
          </a:prstGeom>
          <a:noFill/>
          <a:ln/>
        </p:spPr>
        <p:txBody>
          <a:bodyPr wrap="square" lIns="0" tIns="0" rIns="0" bIns="0" rtlCol="0" anchor="ctr"/>
          <a:lstStyle/>
          <a:p>
            <a:pPr marL="0" indent="0">
              <a:buNone/>
            </a:pPr>
            <a:r>
              <a:rPr lang="en-US" sz="1400" dirty="0">
                <a:solidFill>
                  <a:schemeClr val="accent5"/>
                </a:solidFill>
              </a:rPr>
              <a:t>all open jobs</a:t>
            </a:r>
            <a:endParaRPr lang="en-US" sz="1400" dirty="0"/>
          </a:p>
        </p:txBody>
      </p:sp>
      <p:sp>
        <p:nvSpPr>
          <p:cNvPr id="15" name="card"/>
          <p:cNvSpPr/>
          <p:nvPr/>
        </p:nvSpPr>
        <p:spPr>
          <a:xfrm>
            <a:off x="7772400" y="3063240"/>
            <a:ext cx="3867912" cy="960120"/>
          </a:xfrm>
          <a:prstGeom prst="roundRect">
            <a:avLst>
              <a:gd name="adj" fmla="val 7619"/>
            </a:avLst>
          </a:prstGeom>
          <a:solidFill>
            <a:schemeClr val="bg2"/>
          </a:solidFill>
          <a:ln w="12700">
            <a:solidFill>
              <a:schemeClr val="bg2"/>
            </a:solidFill>
            <a:prstDash val="solid"/>
          </a:ln>
        </p:spPr>
      </p:sp>
      <p:sp>
        <p:nvSpPr>
          <p:cNvPr id="16" name="Text 13"/>
          <p:cNvSpPr txBox="1"/>
          <p:nvPr/>
        </p:nvSpPr>
        <p:spPr>
          <a:xfrm>
            <a:off x="7955280" y="3136392"/>
            <a:ext cx="3566160" cy="41148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GET /jobs?city=Surat</a:t>
            </a:r>
            <a:endParaRPr lang="en-US" sz="1500" dirty="0"/>
          </a:p>
        </p:txBody>
      </p:sp>
      <p:sp>
        <p:nvSpPr>
          <p:cNvPr id="17" name="Text 14"/>
          <p:cNvSpPr txBox="1"/>
          <p:nvPr/>
        </p:nvSpPr>
        <p:spPr>
          <a:xfrm>
            <a:off x="7955280" y="3566160"/>
            <a:ext cx="3566160" cy="365760"/>
          </a:xfrm>
          <a:prstGeom prst="rect">
            <a:avLst/>
          </a:prstGeom>
          <a:noFill/>
          <a:ln/>
        </p:spPr>
        <p:txBody>
          <a:bodyPr wrap="square" lIns="0" tIns="0" rIns="0" bIns="0" rtlCol="0" anchor="ctr"/>
          <a:lstStyle/>
          <a:p>
            <a:pPr marL="0" indent="0">
              <a:buNone/>
            </a:pPr>
            <a:r>
              <a:rPr lang="en-US" sz="1400" dirty="0">
                <a:solidFill>
                  <a:schemeClr val="accent5"/>
                </a:solidFill>
              </a:rPr>
              <a:t>@RequestParam</a:t>
            </a:r>
            <a:endParaRPr lang="en-US" sz="1400" dirty="0"/>
          </a:p>
        </p:txBody>
      </p:sp>
      <p:sp>
        <p:nvSpPr>
          <p:cNvPr id="18" name="card"/>
          <p:cNvSpPr/>
          <p:nvPr/>
        </p:nvSpPr>
        <p:spPr>
          <a:xfrm>
            <a:off x="7772400" y="4160520"/>
            <a:ext cx="3867912" cy="960120"/>
          </a:xfrm>
          <a:prstGeom prst="roundRect">
            <a:avLst>
              <a:gd name="adj" fmla="val 7619"/>
            </a:avLst>
          </a:prstGeom>
          <a:solidFill>
            <a:schemeClr val="bg2"/>
          </a:solidFill>
          <a:ln w="12700">
            <a:solidFill>
              <a:schemeClr val="bg2"/>
            </a:solidFill>
            <a:prstDash val="solid"/>
          </a:ln>
        </p:spPr>
      </p:sp>
      <p:sp>
        <p:nvSpPr>
          <p:cNvPr id="19" name="Text 16"/>
          <p:cNvSpPr txBox="1"/>
          <p:nvPr/>
        </p:nvSpPr>
        <p:spPr>
          <a:xfrm>
            <a:off x="7955280" y="4233672"/>
            <a:ext cx="3566160" cy="41148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GET /jobs/7</a:t>
            </a:r>
            <a:endParaRPr lang="en-US" sz="1500" dirty="0"/>
          </a:p>
        </p:txBody>
      </p:sp>
      <p:sp>
        <p:nvSpPr>
          <p:cNvPr id="20" name="Text 17"/>
          <p:cNvSpPr txBox="1"/>
          <p:nvPr/>
        </p:nvSpPr>
        <p:spPr>
          <a:xfrm>
            <a:off x="7955280" y="4663440"/>
            <a:ext cx="3566160" cy="365760"/>
          </a:xfrm>
          <a:prstGeom prst="rect">
            <a:avLst/>
          </a:prstGeom>
          <a:noFill/>
          <a:ln/>
        </p:spPr>
        <p:txBody>
          <a:bodyPr wrap="square" lIns="0" tIns="0" rIns="0" bIns="0" rtlCol="0" anchor="ctr"/>
          <a:lstStyle/>
          <a:p>
            <a:pPr marL="0" indent="0">
              <a:buNone/>
            </a:pPr>
            <a:r>
              <a:rPr lang="en-US" sz="1400" dirty="0">
                <a:solidFill>
                  <a:schemeClr val="accent5"/>
                </a:solidFill>
              </a:rPr>
              <a:t>@PathVariable</a:t>
            </a:r>
            <a:endParaRPr lang="en-US" sz="1400" dirty="0"/>
          </a:p>
        </p:txBody>
      </p:sp>
      <p:sp>
        <p:nvSpPr>
          <p:cNvPr id="21"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22" name="Text 19"/>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LIVE CODE</a:t>
            </a:r>
            <a:endParaRPr lang="en-US" sz="1200" dirty="0"/>
          </a:p>
        </p:txBody>
      </p:sp>
      <p:sp>
        <p:nvSpPr>
          <p:cNvPr id="23"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4" name="Text 21"/>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job/JobController.java: list(), detail()</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From Java to a web page</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CONTROLLER</a:t>
            </a:r>
            <a:endParaRPr lang="en-US" sz="1200" dirty="0"/>
          </a:p>
        </p:txBody>
      </p:sp>
      <p:sp>
        <p:nvSpPr>
          <p:cNvPr id="9" name="code-bg"/>
          <p:cNvSpPr/>
          <p:nvPr/>
        </p:nvSpPr>
        <p:spPr>
          <a:xfrm>
            <a:off x="548640" y="1920240"/>
            <a:ext cx="5440680" cy="2194560"/>
          </a:xfrm>
          <a:prstGeom prst="roundRect">
            <a:avLst>
              <a:gd name="adj" fmla="val 3333"/>
            </a:avLst>
          </a:prstGeom>
          <a:solidFill>
            <a:schemeClr val="tx2"/>
          </a:solidFill>
          <a:ln w="12700">
            <a:solidFill>
              <a:schemeClr val="tx2"/>
            </a:solidFill>
            <a:prstDash val="solid"/>
          </a:ln>
        </p:spPr>
      </p:sp>
      <p:sp>
        <p:nvSpPr>
          <p:cNvPr id="10" name="code-text"/>
          <p:cNvSpPr txBox="1"/>
          <p:nvPr/>
        </p:nvSpPr>
        <p:spPr>
          <a:xfrm>
            <a:off x="731520" y="2029968"/>
            <a:ext cx="5074920" cy="197510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model.addAttribute("jobs",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jobs.listOpenJobs(city));</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return "jobs/list";</a:t>
            </a:r>
            <a:endParaRPr lang="en-US" sz="1400" dirty="0"/>
          </a:p>
        </p:txBody>
      </p:sp>
      <p:sp>
        <p:nvSpPr>
          <p:cNvPr id="11" name="Text 8"/>
          <p:cNvSpPr txBox="1"/>
          <p:nvPr/>
        </p:nvSpPr>
        <p:spPr>
          <a:xfrm>
            <a:off x="6199632"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TEMPLATES/JOBS/LIST.HTML</a:t>
            </a:r>
            <a:endParaRPr lang="en-US" sz="1200" dirty="0"/>
          </a:p>
        </p:txBody>
      </p:sp>
      <p:sp>
        <p:nvSpPr>
          <p:cNvPr id="12" name="code-bg"/>
          <p:cNvSpPr/>
          <p:nvPr/>
        </p:nvSpPr>
        <p:spPr>
          <a:xfrm>
            <a:off x="6199632" y="1920240"/>
            <a:ext cx="5440680" cy="2194560"/>
          </a:xfrm>
          <a:prstGeom prst="roundRect">
            <a:avLst>
              <a:gd name="adj" fmla="val 3333"/>
            </a:avLst>
          </a:prstGeom>
          <a:solidFill>
            <a:schemeClr val="tx2"/>
          </a:solidFill>
          <a:ln w="12700">
            <a:solidFill>
              <a:schemeClr val="tx2"/>
            </a:solidFill>
            <a:prstDash val="solid"/>
          </a:ln>
        </p:spPr>
      </p:sp>
      <p:sp>
        <p:nvSpPr>
          <p:cNvPr id="13" name="code-text"/>
          <p:cNvSpPr txBox="1"/>
          <p:nvPr/>
        </p:nvSpPr>
        <p:spPr>
          <a:xfrm>
            <a:off x="6382512" y="2029968"/>
            <a:ext cx="5074920" cy="197510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&lt;tr th:each="j : ${jobs}"&gt;</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&lt;td th:text="${j.title}"&gt;Title&lt;/td&gt;</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&lt;td th:text="${j.company}"&gt;Company&lt;/td&gt;</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&lt;/tr&gt;</a:t>
            </a:r>
            <a:endParaRPr lang="en-US" sz="1300" dirty="0"/>
          </a:p>
        </p:txBody>
      </p:sp>
      <p:sp>
        <p:nvSpPr>
          <p:cNvPr id="14" name="card"/>
          <p:cNvSpPr/>
          <p:nvPr/>
        </p:nvSpPr>
        <p:spPr>
          <a:xfrm>
            <a:off x="548640" y="4343400"/>
            <a:ext cx="3566160" cy="1188720"/>
          </a:xfrm>
          <a:prstGeom prst="roundRect">
            <a:avLst>
              <a:gd name="adj" fmla="val 6154"/>
            </a:avLst>
          </a:prstGeom>
          <a:solidFill>
            <a:schemeClr val="bg2"/>
          </a:solidFill>
          <a:ln w="12700">
            <a:solidFill>
              <a:schemeClr val="bg2"/>
            </a:solidFill>
            <a:prstDash val="solid"/>
          </a:ln>
        </p:spPr>
      </p:sp>
      <p:sp>
        <p:nvSpPr>
          <p:cNvPr id="15" name="Text 12"/>
          <p:cNvSpPr txBox="1"/>
          <p:nvPr/>
        </p:nvSpPr>
        <p:spPr>
          <a:xfrm>
            <a:off x="777240" y="4343400"/>
            <a:ext cx="3108960" cy="1188720"/>
          </a:xfrm>
          <a:prstGeom prst="rect">
            <a:avLst/>
          </a:prstGeom>
          <a:noFill/>
          <a:ln/>
        </p:spPr>
        <p:txBody>
          <a:bodyPr wrap="square" lIns="0" tIns="0" rIns="0" bIns="0" rtlCol="0" anchor="ctr"/>
          <a:lstStyle/>
          <a:p>
            <a:pPr marL="0" indent="0">
              <a:buNone/>
            </a:pPr>
            <a:r>
              <a:rPr lang="en-US" sz="1900" b="1" dirty="0">
                <a:solidFill>
                  <a:schemeClr val="tx2"/>
                </a:solidFill>
              </a:rPr>
              <a:t>Model</a:t>
            </a:r>
            <a:endParaRPr lang="en-US" sz="1900" dirty="0"/>
          </a:p>
          <a:p>
            <a:pPr marL="0" indent="0">
              <a:buNone/>
            </a:pPr>
            <a:r>
              <a:rPr lang="en-US" sz="1500" dirty="0">
                <a:solidFill>
                  <a:schemeClr val="accent5"/>
                </a:solidFill>
              </a:rPr>
              <a:t>the data tray</a:t>
            </a:r>
            <a:endParaRPr lang="en-US" sz="1900" dirty="0"/>
          </a:p>
        </p:txBody>
      </p:sp>
      <p:sp>
        <p:nvSpPr>
          <p:cNvPr id="16" name="card"/>
          <p:cNvSpPr/>
          <p:nvPr/>
        </p:nvSpPr>
        <p:spPr>
          <a:xfrm>
            <a:off x="4315968" y="4343400"/>
            <a:ext cx="3566160" cy="1188720"/>
          </a:xfrm>
          <a:prstGeom prst="roundRect">
            <a:avLst>
              <a:gd name="adj" fmla="val 6154"/>
            </a:avLst>
          </a:prstGeom>
          <a:solidFill>
            <a:schemeClr val="bg2"/>
          </a:solidFill>
          <a:ln w="12700">
            <a:solidFill>
              <a:schemeClr val="bg2"/>
            </a:solidFill>
            <a:prstDash val="solid"/>
          </a:ln>
        </p:spPr>
      </p:sp>
      <p:sp>
        <p:nvSpPr>
          <p:cNvPr id="17" name="Text 14"/>
          <p:cNvSpPr txBox="1"/>
          <p:nvPr/>
        </p:nvSpPr>
        <p:spPr>
          <a:xfrm>
            <a:off x="4544568" y="4343400"/>
            <a:ext cx="3108960" cy="1188720"/>
          </a:xfrm>
          <a:prstGeom prst="rect">
            <a:avLst/>
          </a:prstGeom>
          <a:noFill/>
          <a:ln/>
        </p:spPr>
        <p:txBody>
          <a:bodyPr wrap="square" lIns="0" tIns="0" rIns="0" bIns="0" rtlCol="0" anchor="ctr"/>
          <a:lstStyle/>
          <a:p>
            <a:pPr marL="0" indent="0">
              <a:buNone/>
            </a:pPr>
            <a:r>
              <a:rPr lang="en-US" sz="1900" b="1" dirty="0">
                <a:solidFill>
                  <a:schemeClr val="tx2"/>
                </a:solidFill>
              </a:rPr>
              <a:t>View name</a:t>
            </a:r>
            <a:endParaRPr lang="en-US" sz="1900" dirty="0"/>
          </a:p>
          <a:p>
            <a:pPr marL="0" indent="0">
              <a:buNone/>
            </a:pPr>
            <a:r>
              <a:rPr lang="en-US" sz="1500" dirty="0">
                <a:solidFill>
                  <a:schemeClr val="accent5"/>
                </a:solidFill>
              </a:rPr>
              <a:t>"jobs/list"</a:t>
            </a:r>
            <a:endParaRPr lang="en-US" sz="1900" dirty="0"/>
          </a:p>
        </p:txBody>
      </p:sp>
      <p:sp>
        <p:nvSpPr>
          <p:cNvPr id="18" name="card"/>
          <p:cNvSpPr/>
          <p:nvPr/>
        </p:nvSpPr>
        <p:spPr>
          <a:xfrm>
            <a:off x="8083296" y="4343400"/>
            <a:ext cx="3566160" cy="1188720"/>
          </a:xfrm>
          <a:prstGeom prst="roundRect">
            <a:avLst>
              <a:gd name="adj" fmla="val 6154"/>
            </a:avLst>
          </a:prstGeom>
          <a:solidFill>
            <a:schemeClr val="bg2"/>
          </a:solidFill>
          <a:ln w="12700">
            <a:solidFill>
              <a:schemeClr val="bg2"/>
            </a:solidFill>
            <a:prstDash val="solid"/>
          </a:ln>
        </p:spPr>
      </p:sp>
      <p:sp>
        <p:nvSpPr>
          <p:cNvPr id="19" name="Text 16"/>
          <p:cNvSpPr txBox="1"/>
          <p:nvPr/>
        </p:nvSpPr>
        <p:spPr>
          <a:xfrm>
            <a:off x="8311896" y="4343400"/>
            <a:ext cx="3108960" cy="1188720"/>
          </a:xfrm>
          <a:prstGeom prst="rect">
            <a:avLst/>
          </a:prstGeom>
          <a:noFill/>
          <a:ln/>
        </p:spPr>
        <p:txBody>
          <a:bodyPr wrap="square" lIns="0" tIns="0" rIns="0" bIns="0" rtlCol="0" anchor="ctr"/>
          <a:lstStyle/>
          <a:p>
            <a:pPr marL="0" indent="0">
              <a:buNone/>
            </a:pPr>
            <a:r>
              <a:rPr lang="en-US" sz="1900" b="1" dirty="0">
                <a:solidFill>
                  <a:schemeClr val="tx2"/>
                </a:solidFill>
              </a:rPr>
              <a:t>Thymeleaf</a:t>
            </a:r>
            <a:endParaRPr lang="en-US" sz="1900" dirty="0"/>
          </a:p>
          <a:p>
            <a:pPr marL="0" indent="0">
              <a:buNone/>
            </a:pPr>
            <a:r>
              <a:rPr lang="en-US" sz="1500" dirty="0">
                <a:solidFill>
                  <a:schemeClr val="accent5"/>
                </a:solidFill>
              </a:rPr>
              <a:t>fills in the HTML</a:t>
            </a:r>
            <a:endParaRPr lang="en-US" sz="1900" dirty="0"/>
          </a:p>
        </p:txBody>
      </p:sp>
      <p:sp>
        <p:nvSpPr>
          <p:cNvPr id="20"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1" name="Text 18"/>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job/JobController.java      templates/jobs/list.html</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Submit an empty form. What happens?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APPLYFORM</a:t>
            </a:r>
            <a:endParaRPr lang="en-US" sz="1200" dirty="0"/>
          </a:p>
        </p:txBody>
      </p:sp>
      <p:sp>
        <p:nvSpPr>
          <p:cNvPr id="9" name="code-bg"/>
          <p:cNvSpPr/>
          <p:nvPr/>
        </p:nvSpPr>
        <p:spPr>
          <a:xfrm>
            <a:off x="548640" y="1920240"/>
            <a:ext cx="6309360" cy="1188720"/>
          </a:xfrm>
          <a:prstGeom prst="roundRect">
            <a:avLst>
              <a:gd name="adj" fmla="val 6154"/>
            </a:avLst>
          </a:prstGeom>
          <a:solidFill>
            <a:schemeClr val="tx2"/>
          </a:solidFill>
          <a:ln w="12700">
            <a:solidFill>
              <a:schemeClr val="tx2"/>
            </a:solidFill>
            <a:prstDash val="solid"/>
          </a:ln>
        </p:spPr>
      </p:sp>
      <p:sp>
        <p:nvSpPr>
          <p:cNvPr id="10" name="code-text"/>
          <p:cNvSpPr txBox="1"/>
          <p:nvPr/>
        </p:nvSpPr>
        <p:spPr>
          <a:xfrm>
            <a:off x="731520" y="2029968"/>
            <a:ext cx="5943600" cy="96926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public record ApplyForm(</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@NotBlank @Email String email) {}</a:t>
            </a:r>
            <a:endParaRPr lang="en-US" sz="1400" dirty="0"/>
          </a:p>
        </p:txBody>
      </p:sp>
      <p:sp>
        <p:nvSpPr>
          <p:cNvPr id="11" name="Text 8"/>
          <p:cNvSpPr txBox="1"/>
          <p:nvPr/>
        </p:nvSpPr>
        <p:spPr>
          <a:xfrm>
            <a:off x="548640" y="3291840"/>
            <a:ext cx="45720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THE CONTROLLER</a:t>
            </a:r>
            <a:endParaRPr lang="en-US" sz="1200" dirty="0"/>
          </a:p>
        </p:txBody>
      </p:sp>
      <p:sp>
        <p:nvSpPr>
          <p:cNvPr id="12" name="code-bg"/>
          <p:cNvSpPr/>
          <p:nvPr/>
        </p:nvSpPr>
        <p:spPr>
          <a:xfrm>
            <a:off x="548640" y="3566160"/>
            <a:ext cx="6309360" cy="2011680"/>
          </a:xfrm>
          <a:prstGeom prst="roundRect">
            <a:avLst>
              <a:gd name="adj" fmla="val 3636"/>
            </a:avLst>
          </a:prstGeom>
          <a:solidFill>
            <a:schemeClr val="tx2"/>
          </a:solidFill>
          <a:ln w="12700">
            <a:solidFill>
              <a:schemeClr val="tx2"/>
            </a:solidFill>
            <a:prstDash val="solid"/>
          </a:ln>
        </p:spPr>
      </p:sp>
      <p:sp>
        <p:nvSpPr>
          <p:cNvPr id="13" name="code-text"/>
          <p:cNvSpPr txBox="1"/>
          <p:nvPr/>
        </p:nvSpPr>
        <p:spPr>
          <a:xfrm>
            <a:off x="731520" y="3675888"/>
            <a:ext cx="5943600" cy="1792224"/>
          </a:xfrm>
          <a:prstGeom prst="rect">
            <a:avLst/>
          </a:prstGeom>
          <a:noFill/>
          <a:ln/>
        </p:spPr>
        <p:txBody>
          <a:bodyPr wrap="square" lIns="0" tIns="0" rIns="0" bIns="0" rtlCol="0" anchor="t"/>
          <a:lstStyle/>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String apply(@Valid @ModelAttribute ApplyForm form,</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             BindingResult result, ...) {</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  if (result.hasErrors()) return "apply";</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  return "redirect:/applications";</a:t>
            </a:r>
            <a:endParaRPr lang="en-US" sz="1200" dirty="0"/>
          </a:p>
          <a:p>
            <a:pPr marL="0" indent="0">
              <a:spcAft>
                <a:spcPts val="200"/>
              </a:spcAft>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4" name="card"/>
          <p:cNvSpPr/>
          <p:nvPr/>
        </p:nvSpPr>
        <p:spPr>
          <a:xfrm>
            <a:off x="7132320" y="1645920"/>
            <a:ext cx="4507992" cy="1828800"/>
          </a:xfrm>
          <a:prstGeom prst="roundRect">
            <a:avLst>
              <a:gd name="adj" fmla="val 4000"/>
            </a:avLst>
          </a:prstGeom>
          <a:solidFill>
            <a:schemeClr val="bg2"/>
          </a:solidFill>
          <a:ln w="12700">
            <a:solidFill>
              <a:schemeClr val="bg2"/>
            </a:solidFill>
            <a:prstDash val="solid"/>
          </a:ln>
        </p:spPr>
      </p:sp>
      <p:sp>
        <p:nvSpPr>
          <p:cNvPr id="15" name="Text 12"/>
          <p:cNvSpPr txBox="1"/>
          <p:nvPr/>
        </p:nvSpPr>
        <p:spPr>
          <a:xfrm>
            <a:off x="7360920" y="1764792"/>
            <a:ext cx="402336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NEVER TRUST THE FORM</a:t>
            </a:r>
            <a:endParaRPr lang="en-US" sz="1200" dirty="0"/>
          </a:p>
        </p:txBody>
      </p:sp>
      <p:sp>
        <p:nvSpPr>
          <p:cNvPr id="16" name="Text 13"/>
          <p:cNvSpPr txBox="1"/>
          <p:nvPr/>
        </p:nvSpPr>
        <p:spPr>
          <a:xfrm>
            <a:off x="7360920" y="2103120"/>
            <a:ext cx="4114800" cy="1280160"/>
          </a:xfrm>
          <a:prstGeom prst="rect">
            <a:avLst/>
          </a:prstGeom>
          <a:noFill/>
          <a:ln/>
        </p:spPr>
        <p:txBody>
          <a:bodyPr wrap="square" lIns="0" tIns="0" rIns="0" bIns="0" rtlCol="0" anchor="t"/>
          <a:lstStyle/>
          <a:p>
            <a:pPr marL="0" indent="0">
              <a:buNone/>
            </a:pPr>
            <a:r>
              <a:rPr lang="en-US" sz="1700" dirty="0">
                <a:solidFill>
                  <a:schemeClr val="tx1"/>
                </a:solidFill>
              </a:rPr>
              <a:t>The guard at the gate checks the ID card, so the database never sees bad data.</a:t>
            </a:r>
            <a:endParaRPr lang="en-US" sz="1700" dirty="0"/>
          </a:p>
        </p:txBody>
      </p:sp>
      <p:sp>
        <p:nvSpPr>
          <p:cNvPr id="17" name="card"/>
          <p:cNvSpPr/>
          <p:nvPr/>
        </p:nvSpPr>
        <p:spPr>
          <a:xfrm>
            <a:off x="7132320" y="3657600"/>
            <a:ext cx="4507992" cy="1920240"/>
          </a:xfrm>
          <a:prstGeom prst="roundRect">
            <a:avLst>
              <a:gd name="adj" fmla="val 3810"/>
            </a:avLst>
          </a:prstGeom>
          <a:solidFill>
            <a:schemeClr val="accent1">
              <a:alpha val="15000"/>
            </a:schemeClr>
          </a:solidFill>
          <a:ln w="12700">
            <a:solidFill>
              <a:schemeClr val="accent1">
                <a:alpha val="0"/>
              </a:schemeClr>
            </a:solidFill>
            <a:prstDash val="solid"/>
          </a:ln>
        </p:spPr>
      </p:sp>
      <p:sp>
        <p:nvSpPr>
          <p:cNvPr id="18" name="Text 15"/>
          <p:cNvSpPr txBox="1"/>
          <p:nvPr/>
        </p:nvSpPr>
        <p:spPr>
          <a:xfrm>
            <a:off x="7360920" y="3776472"/>
            <a:ext cx="365760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PREDICT</a:t>
            </a:r>
            <a:endParaRPr lang="en-US" sz="1200" dirty="0"/>
          </a:p>
        </p:txBody>
      </p:sp>
      <p:sp>
        <p:nvSpPr>
          <p:cNvPr id="19" name="Text 16"/>
          <p:cNvSpPr txBox="1"/>
          <p:nvPr/>
        </p:nvSpPr>
        <p:spPr>
          <a:xfrm>
            <a:off x="7360920" y="4114800"/>
            <a:ext cx="4114800" cy="1371600"/>
          </a:xfrm>
          <a:prstGeom prst="rect">
            <a:avLst/>
          </a:prstGeom>
          <a:noFill/>
          <a:ln/>
        </p:spPr>
        <p:txBody>
          <a:bodyPr wrap="square" lIns="0" tIns="0" rIns="0" bIns="0" rtlCol="0" anchor="t"/>
          <a:lstStyle/>
          <a:p>
            <a:pPr marL="0" indent="0">
              <a:buNone/>
            </a:pPr>
            <a:r>
              <a:rPr lang="en-US" sz="1800" b="1" dirty="0">
                <a:solidFill>
                  <a:schemeClr val="tx2"/>
                </a:solidFill>
              </a:rPr>
              <a:t>The form comes back with a message. HTTP 400 for an API.</a:t>
            </a:r>
            <a:endParaRPr lang="en-US" sz="1800" dirty="0"/>
          </a:p>
        </p:txBody>
      </p:sp>
      <p:sp>
        <p:nvSpPr>
          <p:cNvPr id="20"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21" name="Text 18"/>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LIVE: apply form</a:t>
            </a:r>
            <a:endParaRPr lang="en-US" sz="1200" dirty="0"/>
          </a:p>
        </p:txBody>
      </p:sp>
      <p:sp>
        <p:nvSpPr>
          <p:cNvPr id="22"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3" name="Text 20"/>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application/ApplyForm.java      /jobs/{id}/apply</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HTML or JSON: same data, two answers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FOR PEOPLE:  @Controller</a:t>
            </a:r>
            <a:endParaRPr lang="en-US" sz="1200" dirty="0"/>
          </a:p>
        </p:txBody>
      </p:sp>
      <p:sp>
        <p:nvSpPr>
          <p:cNvPr id="9" name="code-bg"/>
          <p:cNvSpPr/>
          <p:nvPr/>
        </p:nvSpPr>
        <p:spPr>
          <a:xfrm>
            <a:off x="548640" y="1920240"/>
            <a:ext cx="5440680" cy="2194560"/>
          </a:xfrm>
          <a:prstGeom prst="roundRect">
            <a:avLst>
              <a:gd name="adj" fmla="val 3333"/>
            </a:avLst>
          </a:prstGeom>
          <a:solidFill>
            <a:schemeClr val="tx2"/>
          </a:solidFill>
          <a:ln w="12700">
            <a:solidFill>
              <a:schemeClr val="tx2"/>
            </a:solidFill>
            <a:prstDash val="solid"/>
          </a:ln>
        </p:spPr>
      </p:sp>
      <p:sp>
        <p:nvSpPr>
          <p:cNvPr id="10" name="code-text"/>
          <p:cNvSpPr txBox="1"/>
          <p:nvPr/>
        </p:nvSpPr>
        <p:spPr>
          <a:xfrm>
            <a:off x="731520" y="2029968"/>
            <a:ext cx="5074920" cy="197510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@Controller</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String list(Model m) {</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return "jobs/list";</a:t>
            </a:r>
            <a:endParaRPr lang="en-US" sz="1400" dirty="0"/>
          </a:p>
          <a:p>
            <a:pPr marL="0" indent="0">
              <a:spcAft>
                <a:spcPts val="200"/>
              </a:spcAft>
              <a:buNone/>
            </a:pPr>
            <a:r>
              <a:rPr lang="en-US" sz="1400" dirty="0">
                <a:solidFill>
                  <a:schemeClr val="accent4"/>
                </a:solidFill>
                <a:latin typeface="Courier New" pitchFamily="34" charset="0"/>
                <a:ea typeface="Courier New" pitchFamily="34" charset="-122"/>
                <a:cs typeface="Courier New" pitchFamily="34" charset="-120"/>
              </a:rPr>
              <a:t>}  // an HTML page</a:t>
            </a:r>
            <a:endParaRPr lang="en-US" sz="1400" dirty="0"/>
          </a:p>
        </p:txBody>
      </p:sp>
      <p:sp>
        <p:nvSpPr>
          <p:cNvPr id="11" name="Text 8"/>
          <p:cNvSpPr txBox="1"/>
          <p:nvPr/>
        </p:nvSpPr>
        <p:spPr>
          <a:xfrm>
            <a:off x="6199632"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FOR PROGRAMS:  @RestController</a:t>
            </a:r>
            <a:endParaRPr lang="en-US" sz="1200" dirty="0"/>
          </a:p>
        </p:txBody>
      </p:sp>
      <p:sp>
        <p:nvSpPr>
          <p:cNvPr id="12" name="code-bg"/>
          <p:cNvSpPr/>
          <p:nvPr/>
        </p:nvSpPr>
        <p:spPr>
          <a:xfrm>
            <a:off x="6199632" y="1920240"/>
            <a:ext cx="5440680" cy="2194560"/>
          </a:xfrm>
          <a:prstGeom prst="roundRect">
            <a:avLst>
              <a:gd name="adj" fmla="val 3333"/>
            </a:avLst>
          </a:prstGeom>
          <a:solidFill>
            <a:schemeClr val="tx2"/>
          </a:solidFill>
          <a:ln w="12700">
            <a:solidFill>
              <a:schemeClr val="tx2"/>
            </a:solidFill>
            <a:prstDash val="solid"/>
          </a:ln>
        </p:spPr>
      </p:sp>
      <p:sp>
        <p:nvSpPr>
          <p:cNvPr id="13" name="code-text"/>
          <p:cNvSpPr txBox="1"/>
          <p:nvPr/>
        </p:nvSpPr>
        <p:spPr>
          <a:xfrm>
            <a:off x="6382512" y="2029968"/>
            <a:ext cx="5074920" cy="197510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@RestController</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List&lt;JobView&gt; all() {</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return jobs.listOpenJobs();</a:t>
            </a:r>
            <a:endParaRPr lang="en-US" sz="1400" dirty="0"/>
          </a:p>
          <a:p>
            <a:pPr marL="0" indent="0">
              <a:spcAft>
                <a:spcPts val="200"/>
              </a:spcAft>
              <a:buNone/>
            </a:pPr>
            <a:r>
              <a:rPr lang="en-US" sz="1400" dirty="0">
                <a:solidFill>
                  <a:schemeClr val="accent4"/>
                </a:solidFill>
                <a:latin typeface="Courier New" pitchFamily="34" charset="0"/>
                <a:ea typeface="Courier New" pitchFamily="34" charset="-122"/>
                <a:cs typeface="Courier New" pitchFamily="34" charset="-120"/>
              </a:rPr>
              <a:t>}  // JSON</a:t>
            </a:r>
            <a:endParaRPr lang="en-US" sz="1400" dirty="0"/>
          </a:p>
        </p:txBody>
      </p:sp>
      <p:sp>
        <p:nvSpPr>
          <p:cNvPr id="14" name="card"/>
          <p:cNvSpPr/>
          <p:nvPr/>
        </p:nvSpPr>
        <p:spPr>
          <a:xfrm>
            <a:off x="548640" y="4343400"/>
            <a:ext cx="11091672" cy="1280160"/>
          </a:xfrm>
          <a:prstGeom prst="roundRect">
            <a:avLst>
              <a:gd name="adj" fmla="val 5714"/>
            </a:avLst>
          </a:prstGeom>
          <a:solidFill>
            <a:schemeClr val="bg2"/>
          </a:solidFill>
          <a:ln w="12700">
            <a:solidFill>
              <a:schemeClr val="bg2"/>
            </a:solidFill>
            <a:prstDash val="solid"/>
          </a:ln>
        </p:spPr>
      </p:sp>
      <p:sp>
        <p:nvSpPr>
          <p:cNvPr id="15" name="Text 12"/>
          <p:cNvSpPr txBox="1"/>
          <p:nvPr/>
        </p:nvSpPr>
        <p:spPr>
          <a:xfrm>
            <a:off x="777240" y="4343400"/>
            <a:ext cx="10698480" cy="1280160"/>
          </a:xfrm>
          <a:prstGeom prst="rect">
            <a:avLst/>
          </a:prstGeom>
          <a:noFill/>
          <a:ln/>
        </p:spPr>
        <p:txBody>
          <a:bodyPr wrap="square" lIns="0" tIns="0" rIns="0" bIns="0" rtlCol="0" anchor="ctr"/>
          <a:lstStyle/>
          <a:p>
            <a:pPr marL="0" indent="0">
              <a:buNone/>
            </a:pPr>
            <a:r>
              <a:rPr lang="en-US" sz="1800" dirty="0">
                <a:solidFill>
                  <a:schemeClr val="tx1"/>
                </a:solidFill>
              </a:rPr>
              <a:t>A menu card is for the customer. An order slip is for the kitchen. Same dish: one JobService, one SQL.</a:t>
            </a:r>
            <a:endParaRPr lang="en-US" sz="1800" dirty="0"/>
          </a:p>
        </p:txBody>
      </p:sp>
      <p:sp>
        <p:nvSpPr>
          <p:cNvPr id="16"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17" name="Text 14"/>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LIVE: /jobs vs /api/jobs</a:t>
            </a:r>
            <a:endParaRPr lang="en-US" sz="1200" dirty="0"/>
          </a:p>
        </p:txBody>
      </p:sp>
      <p:sp>
        <p:nvSpPr>
          <p:cNvPr id="18"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19" name="Text 16"/>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job/JobController.java      job/JobApiController.java      /api/jobs</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One handler. Every error.</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548640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GLOBALEXCEPTIONHANDLER</a:t>
            </a:r>
            <a:endParaRPr lang="en-US" sz="1200" dirty="0"/>
          </a:p>
        </p:txBody>
      </p:sp>
      <p:sp>
        <p:nvSpPr>
          <p:cNvPr id="9" name="code-bg"/>
          <p:cNvSpPr/>
          <p:nvPr/>
        </p:nvSpPr>
        <p:spPr>
          <a:xfrm>
            <a:off x="548640" y="1920240"/>
            <a:ext cx="6583680" cy="2743200"/>
          </a:xfrm>
          <a:prstGeom prst="roundRect">
            <a:avLst>
              <a:gd name="adj" fmla="val 2667"/>
            </a:avLst>
          </a:prstGeom>
          <a:solidFill>
            <a:schemeClr val="tx2"/>
          </a:solidFill>
          <a:ln w="12700">
            <a:solidFill>
              <a:schemeClr val="tx2"/>
            </a:solidFill>
            <a:prstDash val="solid"/>
          </a:ln>
        </p:spPr>
      </p:sp>
      <p:sp>
        <p:nvSpPr>
          <p:cNvPr id="10" name="code-text"/>
          <p:cNvSpPr txBox="1"/>
          <p:nvPr/>
        </p:nvSpPr>
        <p:spPr>
          <a:xfrm>
            <a:off x="731520" y="2029968"/>
            <a:ext cx="6217920" cy="252374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@ControllerAdvice</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class GlobalExceptionHandler {</a:t>
            </a:r>
            <a:endParaRPr lang="en-US" sz="1400" dirty="0"/>
          </a:p>
          <a:p>
            <a:pPr marL="0" indent="0">
              <a:spcAft>
                <a:spcPts val="200"/>
              </a:spcAft>
              <a:buNone/>
            </a:pP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@ExceptionHandler(NotFoundException.class)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@ResponseStatus(HttpStatus.NOT_FOUND)</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String notFound(...) { return "error"; }</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1" name="card"/>
          <p:cNvSpPr/>
          <p:nvPr/>
        </p:nvSpPr>
        <p:spPr>
          <a:xfrm>
            <a:off x="7498080" y="1920240"/>
            <a:ext cx="4142232" cy="822960"/>
          </a:xfrm>
          <a:prstGeom prst="roundRect">
            <a:avLst>
              <a:gd name="adj" fmla="val 8889"/>
            </a:avLst>
          </a:prstGeom>
          <a:solidFill>
            <a:schemeClr val="accent5"/>
          </a:solidFill>
          <a:ln w="12700">
            <a:solidFill>
              <a:schemeClr val="accent5"/>
            </a:solidFill>
            <a:prstDash val="solid"/>
          </a:ln>
        </p:spPr>
      </p:sp>
      <p:sp>
        <p:nvSpPr>
          <p:cNvPr id="12" name="Text 9"/>
          <p:cNvSpPr txBox="1"/>
          <p:nvPr/>
        </p:nvSpPr>
        <p:spPr>
          <a:xfrm>
            <a:off x="7726680" y="1920240"/>
            <a:ext cx="3749040" cy="822960"/>
          </a:xfrm>
          <a:prstGeom prst="rect">
            <a:avLst/>
          </a:prstGeom>
          <a:noFill/>
          <a:ln/>
        </p:spPr>
        <p:txBody>
          <a:bodyPr wrap="square" lIns="0" tIns="0" rIns="0" bIns="0"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404   </a:t>
            </a:r>
            <a:r>
              <a:rPr lang="en-US" sz="1700" dirty="0">
                <a:solidFill>
                  <a:schemeClr val="bg1"/>
                </a:solidFill>
              </a:rPr>
              <a:t>Job not found</a:t>
            </a:r>
            <a:endParaRPr lang="en-US" sz="2600" dirty="0"/>
          </a:p>
        </p:txBody>
      </p:sp>
      <p:sp>
        <p:nvSpPr>
          <p:cNvPr id="13" name="card"/>
          <p:cNvSpPr/>
          <p:nvPr/>
        </p:nvSpPr>
        <p:spPr>
          <a:xfrm>
            <a:off x="7498080" y="2880360"/>
            <a:ext cx="4142232" cy="822960"/>
          </a:xfrm>
          <a:prstGeom prst="roundRect">
            <a:avLst>
              <a:gd name="adj" fmla="val 8889"/>
            </a:avLst>
          </a:prstGeom>
          <a:solidFill>
            <a:schemeClr val="accent3"/>
          </a:solidFill>
          <a:ln w="12700">
            <a:solidFill>
              <a:schemeClr val="accent3"/>
            </a:solidFill>
            <a:prstDash val="solid"/>
          </a:ln>
        </p:spPr>
      </p:sp>
      <p:sp>
        <p:nvSpPr>
          <p:cNvPr id="14" name="Text 11"/>
          <p:cNvSpPr txBox="1"/>
          <p:nvPr/>
        </p:nvSpPr>
        <p:spPr>
          <a:xfrm>
            <a:off x="7726680" y="2880360"/>
            <a:ext cx="3749040" cy="822960"/>
          </a:xfrm>
          <a:prstGeom prst="rect">
            <a:avLst/>
          </a:prstGeom>
          <a:noFill/>
          <a:ln/>
        </p:spPr>
        <p:txBody>
          <a:bodyPr wrap="square" lIns="0" tIns="0" rIns="0" bIns="0"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409   </a:t>
            </a:r>
            <a:r>
              <a:rPr lang="en-US" sz="1700" dirty="0">
                <a:solidFill>
                  <a:schemeClr val="bg1"/>
                </a:solidFill>
              </a:rPr>
              <a:t>Already applied</a:t>
            </a:r>
            <a:endParaRPr lang="en-US" sz="2600" dirty="0"/>
          </a:p>
        </p:txBody>
      </p:sp>
      <p:sp>
        <p:nvSpPr>
          <p:cNvPr id="15" name="card"/>
          <p:cNvSpPr/>
          <p:nvPr/>
        </p:nvSpPr>
        <p:spPr>
          <a:xfrm>
            <a:off x="7498080" y="3840480"/>
            <a:ext cx="4142232" cy="822960"/>
          </a:xfrm>
          <a:prstGeom prst="roundRect">
            <a:avLst>
              <a:gd name="adj" fmla="val 8889"/>
            </a:avLst>
          </a:prstGeom>
          <a:solidFill>
            <a:schemeClr val="accent6"/>
          </a:solidFill>
          <a:ln w="12700">
            <a:solidFill>
              <a:schemeClr val="accent6"/>
            </a:solidFill>
            <a:prstDash val="solid"/>
          </a:ln>
        </p:spPr>
      </p:sp>
      <p:sp>
        <p:nvSpPr>
          <p:cNvPr id="16" name="Text 13"/>
          <p:cNvSpPr txBox="1"/>
          <p:nvPr/>
        </p:nvSpPr>
        <p:spPr>
          <a:xfrm>
            <a:off x="7726680" y="3840480"/>
            <a:ext cx="3749040" cy="822960"/>
          </a:xfrm>
          <a:prstGeom prst="rect">
            <a:avLst/>
          </a:prstGeom>
          <a:noFill/>
          <a:ln/>
        </p:spPr>
        <p:txBody>
          <a:bodyPr wrap="square" lIns="0" tIns="0" rIns="0" bIns="0" rtlCol="0" anchor="ctr"/>
          <a:lstStyle/>
          <a:p>
            <a:pPr marL="0" indent="0">
              <a:buNone/>
            </a:pPr>
            <a:r>
              <a:rPr lang="en-US" sz="2600" b="1" dirty="0">
                <a:solidFill>
                  <a:schemeClr val="bg1"/>
                </a:solidFill>
                <a:latin typeface="Cambria" pitchFamily="34" charset="0"/>
                <a:ea typeface="Cambria" pitchFamily="34" charset="-122"/>
                <a:cs typeface="Cambria" pitchFamily="34" charset="-120"/>
              </a:rPr>
              <a:t>400   </a:t>
            </a:r>
            <a:r>
              <a:rPr lang="en-US" sz="1700" dirty="0">
                <a:solidFill>
                  <a:schemeClr val="bg1"/>
                </a:solidFill>
              </a:rPr>
              <a:t>Invalid form</a:t>
            </a:r>
            <a:endParaRPr lang="en-US" sz="2600" dirty="0"/>
          </a:p>
        </p:txBody>
      </p:sp>
      <p:sp>
        <p:nvSpPr>
          <p:cNvPr id="17" name="Text 14"/>
          <p:cNvSpPr txBox="1"/>
          <p:nvPr/>
        </p:nvSpPr>
        <p:spPr>
          <a:xfrm>
            <a:off x="548640" y="484632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The user never sees a stack trace. That is the kitchen fire, kept out of the dining room.</a:t>
            </a:r>
            <a:endParaRPr lang="en-US" sz="1600" dirty="0"/>
          </a:p>
        </p:txBody>
      </p:sp>
      <p:sp>
        <p:nvSpPr>
          <p:cNvPr id="18"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19" name="Text 16"/>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LIVE: /jobs/9999</a:t>
            </a:r>
            <a:endParaRPr lang="en-US" sz="1200" dirty="0"/>
          </a:p>
        </p:txBody>
      </p:sp>
      <p:sp>
        <p:nvSpPr>
          <p:cNvPr id="20"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1" name="Text 18"/>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common/GlobalExceptionHandler.java      common/ApiExceptionHandler.java</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Controller, service, repository: entities stay inside</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layer-Controller"/>
          <p:cNvSpPr/>
          <p:nvPr/>
        </p:nvSpPr>
        <p:spPr>
          <a:xfrm>
            <a:off x="548640" y="1645920"/>
            <a:ext cx="5669280" cy="749808"/>
          </a:xfrm>
          <a:prstGeom prst="roundRect">
            <a:avLst>
              <a:gd name="adj" fmla="val 9756"/>
            </a:avLst>
          </a:prstGeom>
          <a:solidFill>
            <a:schemeClr val="accent2"/>
          </a:solidFill>
          <a:ln w="12700">
            <a:solidFill>
              <a:schemeClr val="accent2"/>
            </a:solidFill>
            <a:prstDash val="solid"/>
          </a:ln>
        </p:spPr>
      </p:sp>
      <p:sp>
        <p:nvSpPr>
          <p:cNvPr id="9" name="Text 6"/>
          <p:cNvSpPr txBox="1"/>
          <p:nvPr/>
        </p:nvSpPr>
        <p:spPr>
          <a:xfrm>
            <a:off x="777240" y="1645920"/>
            <a:ext cx="5303520" cy="749808"/>
          </a:xfrm>
          <a:prstGeom prst="rect">
            <a:avLst/>
          </a:prstGeom>
          <a:noFill/>
          <a:ln/>
        </p:spPr>
        <p:txBody>
          <a:bodyPr wrap="square" lIns="0" tIns="0" rIns="0" bIns="0" rtlCol="0" anchor="ctr"/>
          <a:lstStyle/>
          <a:p>
            <a:pPr marL="0" indent="0">
              <a:buNone/>
            </a:pPr>
            <a:r>
              <a:rPr lang="en-US" sz="1900" b="1" dirty="0">
                <a:solidFill>
                  <a:schemeClr val="bg1"/>
                </a:solidFill>
              </a:rPr>
              <a:t>Controller</a:t>
            </a:r>
            <a:r>
              <a:rPr lang="en-US" sz="1400" dirty="0">
                <a:solidFill>
                  <a:schemeClr val="bg1"/>
                </a:solidFill>
              </a:rPr>
              <a:t>   the counter: takes the request</a:t>
            </a:r>
            <a:endParaRPr lang="en-US" sz="1900" dirty="0"/>
          </a:p>
        </p:txBody>
      </p:sp>
      <p:sp>
        <p:nvSpPr>
          <p:cNvPr id="10" name="layer-Service"/>
          <p:cNvSpPr/>
          <p:nvPr/>
        </p:nvSpPr>
        <p:spPr>
          <a:xfrm>
            <a:off x="548640" y="2514600"/>
            <a:ext cx="5669280" cy="749808"/>
          </a:xfrm>
          <a:prstGeom prst="roundRect">
            <a:avLst>
              <a:gd name="adj" fmla="val 9756"/>
            </a:avLst>
          </a:prstGeom>
          <a:solidFill>
            <a:schemeClr val="accent2"/>
          </a:solidFill>
          <a:ln w="12700">
            <a:solidFill>
              <a:schemeClr val="accent2"/>
            </a:solidFill>
            <a:prstDash val="solid"/>
          </a:ln>
        </p:spPr>
      </p:sp>
      <p:sp>
        <p:nvSpPr>
          <p:cNvPr id="11" name="Text 8"/>
          <p:cNvSpPr txBox="1"/>
          <p:nvPr/>
        </p:nvSpPr>
        <p:spPr>
          <a:xfrm>
            <a:off x="777240" y="2514600"/>
            <a:ext cx="5303520" cy="749808"/>
          </a:xfrm>
          <a:prstGeom prst="rect">
            <a:avLst/>
          </a:prstGeom>
          <a:noFill/>
          <a:ln/>
        </p:spPr>
        <p:txBody>
          <a:bodyPr wrap="square" lIns="0" tIns="0" rIns="0" bIns="0" rtlCol="0" anchor="ctr"/>
          <a:lstStyle/>
          <a:p>
            <a:pPr marL="0" indent="0">
              <a:buNone/>
            </a:pPr>
            <a:r>
              <a:rPr lang="en-US" sz="1900" b="1" dirty="0">
                <a:solidFill>
                  <a:schemeClr val="bg1"/>
                </a:solidFill>
              </a:rPr>
              <a:t>Service</a:t>
            </a:r>
            <a:r>
              <a:rPr lang="en-US" sz="1400" dirty="0">
                <a:solidFill>
                  <a:schemeClr val="bg1"/>
                </a:solidFill>
              </a:rPr>
              <a:t>   the cook: rules, transactions</a:t>
            </a:r>
            <a:endParaRPr lang="en-US" sz="1900" dirty="0"/>
          </a:p>
        </p:txBody>
      </p:sp>
      <p:sp>
        <p:nvSpPr>
          <p:cNvPr id="12" name="layer-Repository"/>
          <p:cNvSpPr/>
          <p:nvPr/>
        </p:nvSpPr>
        <p:spPr>
          <a:xfrm>
            <a:off x="548640" y="3383280"/>
            <a:ext cx="5669280" cy="749808"/>
          </a:xfrm>
          <a:prstGeom prst="roundRect">
            <a:avLst>
              <a:gd name="adj" fmla="val 9756"/>
            </a:avLst>
          </a:prstGeom>
          <a:solidFill>
            <a:schemeClr val="accent1"/>
          </a:solidFill>
          <a:ln w="12700">
            <a:solidFill>
              <a:schemeClr val="accent1"/>
            </a:solidFill>
            <a:prstDash val="solid"/>
          </a:ln>
        </p:spPr>
      </p:sp>
      <p:sp>
        <p:nvSpPr>
          <p:cNvPr id="13" name="Text 10"/>
          <p:cNvSpPr txBox="1"/>
          <p:nvPr/>
        </p:nvSpPr>
        <p:spPr>
          <a:xfrm>
            <a:off x="777240" y="3383280"/>
            <a:ext cx="5303520" cy="749808"/>
          </a:xfrm>
          <a:prstGeom prst="rect">
            <a:avLst/>
          </a:prstGeom>
          <a:noFill/>
          <a:ln/>
        </p:spPr>
        <p:txBody>
          <a:bodyPr wrap="square" lIns="0" tIns="0" rIns="0" bIns="0" rtlCol="0" anchor="ctr"/>
          <a:lstStyle/>
          <a:p>
            <a:pPr marL="0" indent="0">
              <a:buNone/>
            </a:pPr>
            <a:r>
              <a:rPr lang="en-US" sz="1900" b="1" dirty="0">
                <a:solidFill>
                  <a:schemeClr val="bg1"/>
                </a:solidFill>
              </a:rPr>
              <a:t>Repository</a:t>
            </a:r>
            <a:r>
              <a:rPr lang="en-US" sz="1400" dirty="0">
                <a:solidFill>
                  <a:schemeClr val="bg1"/>
                </a:solidFill>
              </a:rPr>
              <a:t>   the storeroom keeper</a:t>
            </a:r>
            <a:endParaRPr lang="en-US" sz="1900" dirty="0"/>
          </a:p>
        </p:txBody>
      </p:sp>
      <p:sp>
        <p:nvSpPr>
          <p:cNvPr id="14" name="layer-Database"/>
          <p:cNvSpPr/>
          <p:nvPr/>
        </p:nvSpPr>
        <p:spPr>
          <a:xfrm>
            <a:off x="548640" y="4251960"/>
            <a:ext cx="5669280" cy="749808"/>
          </a:xfrm>
          <a:prstGeom prst="roundRect">
            <a:avLst>
              <a:gd name="adj" fmla="val 9756"/>
            </a:avLst>
          </a:prstGeom>
          <a:solidFill>
            <a:schemeClr val="tx2"/>
          </a:solidFill>
          <a:ln w="12700">
            <a:solidFill>
              <a:schemeClr val="tx2"/>
            </a:solidFill>
            <a:prstDash val="solid"/>
          </a:ln>
        </p:spPr>
      </p:sp>
      <p:sp>
        <p:nvSpPr>
          <p:cNvPr id="15" name="Text 12"/>
          <p:cNvSpPr txBox="1"/>
          <p:nvPr/>
        </p:nvSpPr>
        <p:spPr>
          <a:xfrm>
            <a:off x="777240" y="4251960"/>
            <a:ext cx="5303520" cy="749808"/>
          </a:xfrm>
          <a:prstGeom prst="rect">
            <a:avLst/>
          </a:prstGeom>
          <a:noFill/>
          <a:ln/>
        </p:spPr>
        <p:txBody>
          <a:bodyPr wrap="square" lIns="0" tIns="0" rIns="0" bIns="0" rtlCol="0" anchor="ctr"/>
          <a:lstStyle/>
          <a:p>
            <a:pPr marL="0" indent="0">
              <a:buNone/>
            </a:pPr>
            <a:r>
              <a:rPr lang="en-US" sz="1900" b="1" dirty="0">
                <a:solidFill>
                  <a:schemeClr val="bg1"/>
                </a:solidFill>
              </a:rPr>
              <a:t>Database</a:t>
            </a:r>
            <a:r>
              <a:rPr lang="en-US" sz="1400" dirty="0">
                <a:solidFill>
                  <a:schemeClr val="bg1"/>
                </a:solidFill>
              </a:rPr>
              <a:t>   Supabase PostgreSQL</a:t>
            </a:r>
            <a:endParaRPr lang="en-US" sz="1900" dirty="0"/>
          </a:p>
        </p:txBody>
      </p:sp>
      <p:sp>
        <p:nvSpPr>
          <p:cNvPr id="16" name="Text 13"/>
          <p:cNvSpPr txBox="1"/>
          <p:nvPr/>
        </p:nvSpPr>
        <p:spPr>
          <a:xfrm>
            <a:off x="658368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5"/>
                </a:solidFill>
              </a:rPr>
              <a:t>PACKAGE BY FEATURE</a:t>
            </a:r>
            <a:endParaRPr lang="en-US" sz="1200" dirty="0"/>
          </a:p>
        </p:txBody>
      </p:sp>
      <p:sp>
        <p:nvSpPr>
          <p:cNvPr id="17" name="code-bg"/>
          <p:cNvSpPr/>
          <p:nvPr/>
        </p:nvSpPr>
        <p:spPr>
          <a:xfrm>
            <a:off x="6583680" y="1920240"/>
            <a:ext cx="5056632" cy="2651760"/>
          </a:xfrm>
          <a:prstGeom prst="roundRect">
            <a:avLst>
              <a:gd name="adj" fmla="val 2759"/>
            </a:avLst>
          </a:prstGeom>
          <a:solidFill>
            <a:schemeClr val="tx2"/>
          </a:solidFill>
          <a:ln w="12700">
            <a:solidFill>
              <a:schemeClr val="tx2"/>
            </a:solidFill>
            <a:prstDash val="solid"/>
          </a:ln>
        </p:spPr>
      </p:sp>
      <p:sp>
        <p:nvSpPr>
          <p:cNvPr id="18" name="code-text"/>
          <p:cNvSpPr txBox="1"/>
          <p:nvPr/>
        </p:nvSpPr>
        <p:spPr>
          <a:xfrm>
            <a:off x="6766560" y="2029968"/>
            <a:ext cx="4690872" cy="2432304"/>
          </a:xfrm>
          <a:prstGeom prst="rect">
            <a:avLst/>
          </a:prstGeom>
          <a:noFill/>
          <a:ln/>
        </p:spPr>
        <p:txBody>
          <a:bodyPr wrap="square" lIns="0" tIns="0" rIns="0" bIns="0" rtlCol="0" anchor="t"/>
          <a:lstStyle/>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job/</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JobController   JobApiController</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JobService      JobRepository</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JobPosting      JobForm</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  JobView</a:t>
            </a:r>
            <a:endParaRPr lang="en-US" sz="1300" dirty="0"/>
          </a:p>
          <a:p>
            <a:pPr marL="0" indent="0">
              <a:spcAft>
                <a:spcPts val="200"/>
              </a:spcAft>
              <a:buNone/>
            </a:pPr>
            <a:r>
              <a:rPr lang="en-US" sz="1300" dirty="0">
                <a:solidFill>
                  <a:schemeClr val="bg1"/>
                </a:solidFill>
                <a:latin typeface="Courier New" pitchFamily="34" charset="0"/>
                <a:ea typeface="Courier New" pitchFamily="34" charset="-122"/>
                <a:cs typeface="Courier New" pitchFamily="34" charset="-120"/>
              </a:rPr>
              <a:t>student/  company/  application/</a:t>
            </a:r>
            <a:endParaRPr lang="en-US" sz="1300" dirty="0"/>
          </a:p>
        </p:txBody>
      </p:sp>
      <p:sp>
        <p:nvSpPr>
          <p:cNvPr id="19" name="card"/>
          <p:cNvSpPr/>
          <p:nvPr/>
        </p:nvSpPr>
        <p:spPr>
          <a:xfrm>
            <a:off x="548640" y="521208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20" name="Text 17"/>
          <p:cNvSpPr txBox="1"/>
          <p:nvPr/>
        </p:nvSpPr>
        <p:spPr>
          <a:xfrm>
            <a:off x="777240" y="5212080"/>
            <a:ext cx="10698480" cy="457200"/>
          </a:xfrm>
          <a:prstGeom prst="rect">
            <a:avLst/>
          </a:prstGeom>
          <a:noFill/>
          <a:ln/>
        </p:spPr>
        <p:txBody>
          <a:bodyPr wrap="square" lIns="0" tIns="0" rIns="0" bIns="0" rtlCol="0" anchor="ctr"/>
          <a:lstStyle/>
          <a:p>
            <a:pPr marL="0" indent="0">
              <a:buNone/>
            </a:pPr>
            <a:r>
              <a:rPr lang="en-US" sz="1600" b="1" dirty="0">
                <a:solidFill>
                  <a:schemeClr val="tx2"/>
                </a:solidFill>
              </a:rPr>
              <a:t>Serve a plated dish, not the kitchen container: return a DTO (JobView), never a raw entity.</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35</a:t>
            </a:fld>
            <a:endParaRPr lang="en-US"/>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SPRING MVC  |  WEB</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What real projects add</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accent2"/>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3566160" cy="1783080"/>
          </a:xfrm>
          <a:prstGeom prst="roundRect">
            <a:avLst>
              <a:gd name="adj" fmla="val 4103"/>
            </a:avLst>
          </a:prstGeom>
          <a:solidFill>
            <a:schemeClr val="bg2"/>
          </a:solidFill>
          <a:ln w="12700">
            <a:solidFill>
              <a:schemeClr val="bg2"/>
            </a:solidFill>
            <a:prstDash val="solid"/>
          </a:ln>
        </p:spPr>
      </p:sp>
      <p:sp>
        <p:nvSpPr>
          <p:cNvPr id="9" name="icon-circle"/>
          <p:cNvSpPr/>
          <p:nvPr/>
        </p:nvSpPr>
        <p:spPr>
          <a:xfrm>
            <a:off x="777240" y="1920240"/>
            <a:ext cx="640080" cy="640080"/>
          </a:xfrm>
          <a:prstGeom prst="ellipse">
            <a:avLst/>
          </a:prstGeom>
          <a:solidFill>
            <a:schemeClr val="accent5"/>
          </a:solidFill>
          <a:ln w="12700">
            <a:solidFill>
              <a:schemeClr val="accent5"/>
            </a:solidFill>
            <a:prstDash val="solid"/>
          </a:ln>
        </p:spPr>
      </p:sp>
      <p:pic>
        <p:nvPicPr>
          <p:cNvPr id="10" name="Image 0" descr="shield"/>
          <p:cNvPicPr>
            <a:picLocks noChangeAspect="1"/>
          </p:cNvPicPr>
          <p:nvPr/>
        </p:nvPicPr>
        <p:blipFill>
          <a:blip r:embed="rId3"/>
          <a:stretch>
            <a:fillRect/>
          </a:stretch>
        </p:blipFill>
        <p:spPr>
          <a:xfrm>
            <a:off x="930859" y="2073859"/>
            <a:ext cx="332842" cy="332842"/>
          </a:xfrm>
          <a:prstGeom prst="rect">
            <a:avLst/>
          </a:prstGeom>
        </p:spPr>
      </p:pic>
      <p:sp>
        <p:nvSpPr>
          <p:cNvPr id="11" name="Text 7"/>
          <p:cNvSpPr txBox="1"/>
          <p:nvPr/>
        </p:nvSpPr>
        <p:spPr>
          <a:xfrm>
            <a:off x="1600200" y="1920240"/>
            <a:ext cx="2377440" cy="640080"/>
          </a:xfrm>
          <a:prstGeom prst="rect">
            <a:avLst/>
          </a:prstGeom>
          <a:noFill/>
          <a:ln/>
        </p:spPr>
        <p:txBody>
          <a:bodyPr wrap="square" lIns="0" tIns="0" rIns="0" bIns="0" rtlCol="0" anchor="ctr"/>
          <a:lstStyle/>
          <a:p>
            <a:pPr marL="0" indent="0">
              <a:buNone/>
            </a:pPr>
            <a:r>
              <a:rPr lang="en-US" sz="2000" b="1" dirty="0">
                <a:solidFill>
                  <a:schemeClr val="tx2"/>
                </a:solidFill>
              </a:rPr>
              <a:t>Security</a:t>
            </a:r>
            <a:endParaRPr lang="en-US" sz="2000" dirty="0"/>
          </a:p>
        </p:txBody>
      </p:sp>
      <p:sp>
        <p:nvSpPr>
          <p:cNvPr id="12" name="Text 8"/>
          <p:cNvSpPr txBox="1"/>
          <p:nvPr/>
        </p:nvSpPr>
        <p:spPr>
          <a:xfrm>
            <a:off x="777240" y="2743200"/>
            <a:ext cx="3200400" cy="594360"/>
          </a:xfrm>
          <a:prstGeom prst="rect">
            <a:avLst/>
          </a:prstGeom>
          <a:noFill/>
          <a:ln/>
        </p:spPr>
        <p:txBody>
          <a:bodyPr wrap="square" lIns="0" tIns="0" rIns="0" bIns="0" rtlCol="0" anchor="t"/>
          <a:lstStyle/>
          <a:p>
            <a:pPr marL="0" indent="0">
              <a:buNone/>
            </a:pPr>
            <a:r>
              <a:rPr lang="en-US" sz="1500" dirty="0">
                <a:solidFill>
                  <a:schemeClr val="tx1"/>
                </a:solidFill>
              </a:rPr>
              <a:t>Login and roles (next step)</a:t>
            </a:r>
            <a:endParaRPr lang="en-US" sz="1500" dirty="0"/>
          </a:p>
        </p:txBody>
      </p:sp>
      <p:sp>
        <p:nvSpPr>
          <p:cNvPr id="13" name="Text 9"/>
          <p:cNvSpPr txBox="1"/>
          <p:nvPr/>
        </p:nvSpPr>
        <p:spPr>
          <a:xfrm>
            <a:off x="2743200" y="1783080"/>
            <a:ext cx="1280160" cy="274320"/>
          </a:xfrm>
          <a:prstGeom prst="rect">
            <a:avLst/>
          </a:prstGeom>
          <a:noFill/>
          <a:ln/>
        </p:spPr>
        <p:txBody>
          <a:bodyPr wrap="square" lIns="0" tIns="0" rIns="0" bIns="0" rtlCol="0" anchor="ctr"/>
          <a:lstStyle/>
          <a:p>
            <a:pPr marL="0" indent="0" algn="r">
              <a:buNone/>
            </a:pPr>
            <a:r>
              <a:rPr lang="en-US" sz="1000" b="1" dirty="0">
                <a:solidFill>
                  <a:schemeClr val="accent5"/>
                </a:solidFill>
              </a:rPr>
              <a:t>NEXT STEP</a:t>
            </a:r>
            <a:endParaRPr lang="en-US" sz="1000" dirty="0"/>
          </a:p>
        </p:txBody>
      </p:sp>
      <p:sp>
        <p:nvSpPr>
          <p:cNvPr id="14" name="card"/>
          <p:cNvSpPr/>
          <p:nvPr/>
        </p:nvSpPr>
        <p:spPr>
          <a:xfrm>
            <a:off x="4315968" y="1691640"/>
            <a:ext cx="3566160" cy="1783080"/>
          </a:xfrm>
          <a:prstGeom prst="roundRect">
            <a:avLst>
              <a:gd name="adj" fmla="val 4103"/>
            </a:avLst>
          </a:prstGeom>
          <a:solidFill>
            <a:schemeClr val="bg2"/>
          </a:solidFill>
          <a:ln w="12700">
            <a:solidFill>
              <a:schemeClr val="bg2"/>
            </a:solidFill>
            <a:prstDash val="solid"/>
          </a:ln>
        </p:spPr>
      </p:sp>
      <p:sp>
        <p:nvSpPr>
          <p:cNvPr id="15" name="icon-circle"/>
          <p:cNvSpPr/>
          <p:nvPr/>
        </p:nvSpPr>
        <p:spPr>
          <a:xfrm>
            <a:off x="4544568" y="1920240"/>
            <a:ext cx="640080" cy="640080"/>
          </a:xfrm>
          <a:prstGeom prst="ellipse">
            <a:avLst/>
          </a:prstGeom>
          <a:solidFill>
            <a:schemeClr val="accent1"/>
          </a:solidFill>
          <a:ln w="12700">
            <a:solidFill>
              <a:schemeClr val="accent1"/>
            </a:solidFill>
            <a:prstDash val="solid"/>
          </a:ln>
        </p:spPr>
      </p:sp>
      <p:pic>
        <p:nvPicPr>
          <p:cNvPr id="16" name="Image 1" descr="check"/>
          <p:cNvPicPr>
            <a:picLocks noChangeAspect="1"/>
          </p:cNvPicPr>
          <p:nvPr/>
        </p:nvPicPr>
        <p:blipFill>
          <a:blip r:embed="rId4"/>
          <a:stretch>
            <a:fillRect/>
          </a:stretch>
        </p:blipFill>
        <p:spPr>
          <a:xfrm>
            <a:off x="4698187" y="2073859"/>
            <a:ext cx="332842" cy="332842"/>
          </a:xfrm>
          <a:prstGeom prst="rect">
            <a:avLst/>
          </a:prstGeom>
        </p:spPr>
      </p:pic>
      <p:sp>
        <p:nvSpPr>
          <p:cNvPr id="17" name="Text 12"/>
          <p:cNvSpPr txBox="1"/>
          <p:nvPr/>
        </p:nvSpPr>
        <p:spPr>
          <a:xfrm>
            <a:off x="5367528" y="1920240"/>
            <a:ext cx="2377440" cy="640080"/>
          </a:xfrm>
          <a:prstGeom prst="rect">
            <a:avLst/>
          </a:prstGeom>
          <a:noFill/>
          <a:ln/>
        </p:spPr>
        <p:txBody>
          <a:bodyPr wrap="square" lIns="0" tIns="0" rIns="0" bIns="0" rtlCol="0" anchor="ctr"/>
          <a:lstStyle/>
          <a:p>
            <a:pPr marL="0" indent="0">
              <a:buNone/>
            </a:pPr>
            <a:r>
              <a:rPr lang="en-US" sz="2000" b="1" dirty="0">
                <a:solidFill>
                  <a:schemeClr val="tx2"/>
                </a:solidFill>
              </a:rPr>
              <a:t>Tests</a:t>
            </a:r>
            <a:endParaRPr lang="en-US" sz="2000" dirty="0"/>
          </a:p>
        </p:txBody>
      </p:sp>
      <p:sp>
        <p:nvSpPr>
          <p:cNvPr id="18" name="Text 13"/>
          <p:cNvSpPr txBox="1"/>
          <p:nvPr/>
        </p:nvSpPr>
        <p:spPr>
          <a:xfrm>
            <a:off x="4544568" y="2743200"/>
            <a:ext cx="3200400" cy="594360"/>
          </a:xfrm>
          <a:prstGeom prst="rect">
            <a:avLst/>
          </a:prstGeom>
          <a:noFill/>
          <a:ln/>
        </p:spPr>
        <p:txBody>
          <a:bodyPr wrap="square" lIns="0" tIns="0" rIns="0" bIns="0" rtlCol="0" anchor="t"/>
          <a:lstStyle/>
          <a:p>
            <a:pPr marL="0" indent="0">
              <a:buNone/>
            </a:pPr>
            <a:r>
              <a:rPr lang="en-US" sz="1500" dirty="0">
                <a:solidFill>
                  <a:schemeClr val="tx1"/>
                </a:solidFill>
              </a:rPr>
              <a:t>38 tests, MockMvc and DataJpaTest</a:t>
            </a:r>
            <a:endParaRPr lang="en-US" sz="1500" dirty="0"/>
          </a:p>
        </p:txBody>
      </p:sp>
      <p:sp>
        <p:nvSpPr>
          <p:cNvPr id="19" name="Text 14"/>
          <p:cNvSpPr txBox="1"/>
          <p:nvPr/>
        </p:nvSpPr>
        <p:spPr>
          <a:xfrm>
            <a:off x="6510528" y="1783080"/>
            <a:ext cx="1280160" cy="274320"/>
          </a:xfrm>
          <a:prstGeom prst="rect">
            <a:avLst/>
          </a:prstGeom>
          <a:noFill/>
          <a:ln/>
        </p:spPr>
        <p:txBody>
          <a:bodyPr wrap="square" lIns="0" tIns="0" rIns="0" bIns="0" rtlCol="0" anchor="ctr"/>
          <a:lstStyle/>
          <a:p>
            <a:pPr marL="0" indent="0" algn="r">
              <a:buNone/>
            </a:pPr>
            <a:r>
              <a:rPr lang="en-US" sz="1000" b="1" dirty="0">
                <a:solidFill>
                  <a:schemeClr val="accent1"/>
                </a:solidFill>
              </a:rPr>
              <a:t>IN OUR APP</a:t>
            </a:r>
            <a:endParaRPr lang="en-US" sz="1000" dirty="0"/>
          </a:p>
        </p:txBody>
      </p:sp>
      <p:sp>
        <p:nvSpPr>
          <p:cNvPr id="20" name="card"/>
          <p:cNvSpPr/>
          <p:nvPr/>
        </p:nvSpPr>
        <p:spPr>
          <a:xfrm>
            <a:off x="8083296" y="1691640"/>
            <a:ext cx="3566160" cy="1783080"/>
          </a:xfrm>
          <a:prstGeom prst="roundRect">
            <a:avLst>
              <a:gd name="adj" fmla="val 4103"/>
            </a:avLst>
          </a:prstGeom>
          <a:solidFill>
            <a:schemeClr val="bg2"/>
          </a:solidFill>
          <a:ln w="12700">
            <a:solidFill>
              <a:schemeClr val="bg2"/>
            </a:solidFill>
            <a:prstDash val="solid"/>
          </a:ln>
        </p:spPr>
      </p:sp>
      <p:sp>
        <p:nvSpPr>
          <p:cNvPr id="21" name="icon-circle"/>
          <p:cNvSpPr/>
          <p:nvPr/>
        </p:nvSpPr>
        <p:spPr>
          <a:xfrm>
            <a:off x="8311896" y="1920240"/>
            <a:ext cx="640080" cy="640080"/>
          </a:xfrm>
          <a:prstGeom prst="ellipse">
            <a:avLst/>
          </a:prstGeom>
          <a:solidFill>
            <a:schemeClr val="accent1"/>
          </a:solidFill>
          <a:ln w="12700">
            <a:solidFill>
              <a:schemeClr val="accent1"/>
            </a:solidFill>
            <a:prstDash val="solid"/>
          </a:ln>
        </p:spPr>
      </p:sp>
      <p:pic>
        <p:nvPicPr>
          <p:cNvPr id="22" name="Image 2" descr="search"/>
          <p:cNvPicPr>
            <a:picLocks noChangeAspect="1"/>
          </p:cNvPicPr>
          <p:nvPr/>
        </p:nvPicPr>
        <p:blipFill>
          <a:blip r:embed="rId5"/>
          <a:stretch>
            <a:fillRect/>
          </a:stretch>
        </p:blipFill>
        <p:spPr>
          <a:xfrm>
            <a:off x="8465515" y="2073859"/>
            <a:ext cx="332842" cy="332842"/>
          </a:xfrm>
          <a:prstGeom prst="rect">
            <a:avLst/>
          </a:prstGeom>
        </p:spPr>
      </p:pic>
      <p:sp>
        <p:nvSpPr>
          <p:cNvPr id="23" name="Text 17"/>
          <p:cNvSpPr txBox="1"/>
          <p:nvPr/>
        </p:nvSpPr>
        <p:spPr>
          <a:xfrm>
            <a:off x="9134856" y="1920240"/>
            <a:ext cx="2377440" cy="640080"/>
          </a:xfrm>
          <a:prstGeom prst="rect">
            <a:avLst/>
          </a:prstGeom>
          <a:noFill/>
          <a:ln/>
        </p:spPr>
        <p:txBody>
          <a:bodyPr wrap="square" lIns="0" tIns="0" rIns="0" bIns="0" rtlCol="0" anchor="ctr"/>
          <a:lstStyle/>
          <a:p>
            <a:pPr marL="0" indent="0">
              <a:buNone/>
            </a:pPr>
            <a:r>
              <a:rPr lang="en-US" sz="2000" b="1" dirty="0">
                <a:solidFill>
                  <a:schemeClr val="tx2"/>
                </a:solidFill>
              </a:rPr>
              <a:t>Monitoring</a:t>
            </a:r>
            <a:endParaRPr lang="en-US" sz="2000" dirty="0"/>
          </a:p>
        </p:txBody>
      </p:sp>
      <p:sp>
        <p:nvSpPr>
          <p:cNvPr id="24" name="Text 18"/>
          <p:cNvSpPr txBox="1"/>
          <p:nvPr/>
        </p:nvSpPr>
        <p:spPr>
          <a:xfrm>
            <a:off x="8311896" y="2743200"/>
            <a:ext cx="3200400" cy="594360"/>
          </a:xfrm>
          <a:prstGeom prst="rect">
            <a:avLst/>
          </a:prstGeom>
          <a:noFill/>
          <a:ln/>
        </p:spPr>
        <p:txBody>
          <a:bodyPr wrap="square" lIns="0" tIns="0" rIns="0" bIns="0" rtlCol="0" anchor="t"/>
          <a:lstStyle/>
          <a:p>
            <a:pPr marL="0" indent="0">
              <a:buNone/>
            </a:pPr>
            <a:r>
              <a:rPr lang="en-US" sz="1500" dirty="0">
                <a:solidFill>
                  <a:schemeClr val="tx1"/>
                </a:solidFill>
              </a:rPr>
              <a:t>Actuator health endpoint</a:t>
            </a:r>
            <a:endParaRPr lang="en-US" sz="1500" dirty="0"/>
          </a:p>
        </p:txBody>
      </p:sp>
      <p:sp>
        <p:nvSpPr>
          <p:cNvPr id="25" name="Text 19"/>
          <p:cNvSpPr txBox="1"/>
          <p:nvPr/>
        </p:nvSpPr>
        <p:spPr>
          <a:xfrm>
            <a:off x="10277856" y="1783080"/>
            <a:ext cx="1280160" cy="274320"/>
          </a:xfrm>
          <a:prstGeom prst="rect">
            <a:avLst/>
          </a:prstGeom>
          <a:noFill/>
          <a:ln/>
        </p:spPr>
        <p:txBody>
          <a:bodyPr wrap="square" lIns="0" tIns="0" rIns="0" bIns="0" rtlCol="0" anchor="ctr"/>
          <a:lstStyle/>
          <a:p>
            <a:pPr marL="0" indent="0" algn="r">
              <a:buNone/>
            </a:pPr>
            <a:r>
              <a:rPr lang="en-US" sz="1000" b="1" dirty="0">
                <a:solidFill>
                  <a:schemeClr val="accent1"/>
                </a:solidFill>
              </a:rPr>
              <a:t>IN OUR APP</a:t>
            </a:r>
            <a:endParaRPr lang="en-US" sz="1000" dirty="0"/>
          </a:p>
        </p:txBody>
      </p:sp>
      <p:sp>
        <p:nvSpPr>
          <p:cNvPr id="26" name="card"/>
          <p:cNvSpPr/>
          <p:nvPr/>
        </p:nvSpPr>
        <p:spPr>
          <a:xfrm>
            <a:off x="548640" y="3657600"/>
            <a:ext cx="3566160" cy="1783080"/>
          </a:xfrm>
          <a:prstGeom prst="roundRect">
            <a:avLst>
              <a:gd name="adj" fmla="val 4103"/>
            </a:avLst>
          </a:prstGeom>
          <a:solidFill>
            <a:schemeClr val="bg2"/>
          </a:solidFill>
          <a:ln w="12700">
            <a:solidFill>
              <a:schemeClr val="bg2"/>
            </a:solidFill>
            <a:prstDash val="solid"/>
          </a:ln>
        </p:spPr>
      </p:sp>
      <p:sp>
        <p:nvSpPr>
          <p:cNvPr id="27" name="icon-circle"/>
          <p:cNvSpPr/>
          <p:nvPr/>
        </p:nvSpPr>
        <p:spPr>
          <a:xfrm>
            <a:off x="777240" y="3886200"/>
            <a:ext cx="640080" cy="640080"/>
          </a:xfrm>
          <a:prstGeom prst="ellipse">
            <a:avLst/>
          </a:prstGeom>
          <a:solidFill>
            <a:schemeClr val="accent1"/>
          </a:solidFill>
          <a:ln w="12700">
            <a:solidFill>
              <a:schemeClr val="accent1"/>
            </a:solidFill>
            <a:prstDash val="solid"/>
          </a:ln>
        </p:spPr>
      </p:sp>
      <p:pic>
        <p:nvPicPr>
          <p:cNvPr id="28" name="Image 3" descr="laptop"/>
          <p:cNvPicPr>
            <a:picLocks noChangeAspect="1"/>
          </p:cNvPicPr>
          <p:nvPr/>
        </p:nvPicPr>
        <p:blipFill>
          <a:blip r:embed="rId6"/>
          <a:stretch>
            <a:fillRect/>
          </a:stretch>
        </p:blipFill>
        <p:spPr>
          <a:xfrm>
            <a:off x="930859" y="4039819"/>
            <a:ext cx="332842" cy="332842"/>
          </a:xfrm>
          <a:prstGeom prst="rect">
            <a:avLst/>
          </a:prstGeom>
        </p:spPr>
      </p:pic>
      <p:sp>
        <p:nvSpPr>
          <p:cNvPr id="29" name="Text 22"/>
          <p:cNvSpPr txBox="1"/>
          <p:nvPr/>
        </p:nvSpPr>
        <p:spPr>
          <a:xfrm>
            <a:off x="1600200" y="3886200"/>
            <a:ext cx="2377440" cy="640080"/>
          </a:xfrm>
          <a:prstGeom prst="rect">
            <a:avLst/>
          </a:prstGeom>
          <a:noFill/>
          <a:ln/>
        </p:spPr>
        <p:txBody>
          <a:bodyPr wrap="square" lIns="0" tIns="0" rIns="0" bIns="0" rtlCol="0" anchor="ctr"/>
          <a:lstStyle/>
          <a:p>
            <a:pPr marL="0" indent="0">
              <a:buNone/>
            </a:pPr>
            <a:r>
              <a:rPr lang="en-US" sz="2000" b="1" dirty="0">
                <a:solidFill>
                  <a:schemeClr val="tx2"/>
                </a:solidFill>
              </a:rPr>
              <a:t>Profiles</a:t>
            </a:r>
            <a:endParaRPr lang="en-US" sz="2000" dirty="0"/>
          </a:p>
        </p:txBody>
      </p:sp>
      <p:sp>
        <p:nvSpPr>
          <p:cNvPr id="30" name="Text 23"/>
          <p:cNvSpPr txBox="1"/>
          <p:nvPr/>
        </p:nvSpPr>
        <p:spPr>
          <a:xfrm>
            <a:off x="777240" y="4709160"/>
            <a:ext cx="3200400" cy="594360"/>
          </a:xfrm>
          <a:prstGeom prst="rect">
            <a:avLst/>
          </a:prstGeom>
          <a:noFill/>
          <a:ln/>
        </p:spPr>
        <p:txBody>
          <a:bodyPr wrap="square" lIns="0" tIns="0" rIns="0" bIns="0" rtlCol="0" anchor="t"/>
          <a:lstStyle/>
          <a:p>
            <a:pPr marL="0" indent="0">
              <a:buNone/>
            </a:pPr>
            <a:r>
              <a:rPr lang="en-US" sz="1500" dirty="0">
                <a:solidFill>
                  <a:schemeClr val="tx1"/>
                </a:solidFill>
              </a:rPr>
              <a:t>local (H2) and batch</a:t>
            </a:r>
            <a:endParaRPr lang="en-US" sz="1500" dirty="0"/>
          </a:p>
        </p:txBody>
      </p:sp>
      <p:sp>
        <p:nvSpPr>
          <p:cNvPr id="31" name="Text 24"/>
          <p:cNvSpPr txBox="1"/>
          <p:nvPr/>
        </p:nvSpPr>
        <p:spPr>
          <a:xfrm>
            <a:off x="2743200" y="3749040"/>
            <a:ext cx="1280160" cy="274320"/>
          </a:xfrm>
          <a:prstGeom prst="rect">
            <a:avLst/>
          </a:prstGeom>
          <a:noFill/>
          <a:ln/>
        </p:spPr>
        <p:txBody>
          <a:bodyPr wrap="square" lIns="0" tIns="0" rIns="0" bIns="0" rtlCol="0" anchor="ctr"/>
          <a:lstStyle/>
          <a:p>
            <a:pPr marL="0" indent="0" algn="r">
              <a:buNone/>
            </a:pPr>
            <a:r>
              <a:rPr lang="en-US" sz="1000" b="1" dirty="0">
                <a:solidFill>
                  <a:schemeClr val="accent1"/>
                </a:solidFill>
              </a:rPr>
              <a:t>IN OUR APP</a:t>
            </a:r>
            <a:endParaRPr lang="en-US" sz="1000" dirty="0"/>
          </a:p>
        </p:txBody>
      </p:sp>
      <p:sp>
        <p:nvSpPr>
          <p:cNvPr id="32" name="card"/>
          <p:cNvSpPr/>
          <p:nvPr/>
        </p:nvSpPr>
        <p:spPr>
          <a:xfrm>
            <a:off x="4315968" y="3657600"/>
            <a:ext cx="3566160" cy="1783080"/>
          </a:xfrm>
          <a:prstGeom prst="roundRect">
            <a:avLst>
              <a:gd name="adj" fmla="val 4103"/>
            </a:avLst>
          </a:prstGeom>
          <a:solidFill>
            <a:schemeClr val="bg2"/>
          </a:solidFill>
          <a:ln w="12700">
            <a:solidFill>
              <a:schemeClr val="bg2"/>
            </a:solidFill>
            <a:prstDash val="solid"/>
          </a:ln>
        </p:spPr>
      </p:sp>
      <p:sp>
        <p:nvSpPr>
          <p:cNvPr id="33" name="icon-circle"/>
          <p:cNvSpPr/>
          <p:nvPr/>
        </p:nvSpPr>
        <p:spPr>
          <a:xfrm>
            <a:off x="4544568" y="3886200"/>
            <a:ext cx="640080" cy="640080"/>
          </a:xfrm>
          <a:prstGeom prst="ellipse">
            <a:avLst/>
          </a:prstGeom>
          <a:solidFill>
            <a:schemeClr val="accent1"/>
          </a:solidFill>
          <a:ln w="12700">
            <a:solidFill>
              <a:schemeClr val="accent1"/>
            </a:solidFill>
            <a:prstDash val="solid"/>
          </a:ln>
        </p:spPr>
      </p:sp>
      <p:pic>
        <p:nvPicPr>
          <p:cNvPr id="34" name="Image 4" descr="db"/>
          <p:cNvPicPr>
            <a:picLocks noChangeAspect="1"/>
          </p:cNvPicPr>
          <p:nvPr/>
        </p:nvPicPr>
        <p:blipFill>
          <a:blip r:embed="rId7"/>
          <a:stretch>
            <a:fillRect/>
          </a:stretch>
        </p:blipFill>
        <p:spPr>
          <a:xfrm>
            <a:off x="4698187" y="4039819"/>
            <a:ext cx="332842" cy="332842"/>
          </a:xfrm>
          <a:prstGeom prst="rect">
            <a:avLst/>
          </a:prstGeom>
        </p:spPr>
      </p:pic>
      <p:sp>
        <p:nvSpPr>
          <p:cNvPr id="35" name="Text 27"/>
          <p:cNvSpPr txBox="1"/>
          <p:nvPr/>
        </p:nvSpPr>
        <p:spPr>
          <a:xfrm>
            <a:off x="5367528" y="3886200"/>
            <a:ext cx="2377440" cy="640080"/>
          </a:xfrm>
          <a:prstGeom prst="rect">
            <a:avLst/>
          </a:prstGeom>
          <a:noFill/>
          <a:ln/>
        </p:spPr>
        <p:txBody>
          <a:bodyPr wrap="square" lIns="0" tIns="0" rIns="0" bIns="0" rtlCol="0" anchor="ctr"/>
          <a:lstStyle/>
          <a:p>
            <a:pPr marL="0" indent="0">
              <a:buNone/>
            </a:pPr>
            <a:r>
              <a:rPr lang="en-US" sz="2000" b="1" dirty="0">
                <a:solidFill>
                  <a:schemeClr val="tx2"/>
                </a:solidFill>
              </a:rPr>
              <a:t>Secrets</a:t>
            </a:r>
            <a:endParaRPr lang="en-US" sz="2000" dirty="0"/>
          </a:p>
        </p:txBody>
      </p:sp>
      <p:sp>
        <p:nvSpPr>
          <p:cNvPr id="36" name="Text 28"/>
          <p:cNvSpPr txBox="1"/>
          <p:nvPr/>
        </p:nvSpPr>
        <p:spPr>
          <a:xfrm>
            <a:off x="4544568" y="4709160"/>
            <a:ext cx="3200400" cy="594360"/>
          </a:xfrm>
          <a:prstGeom prst="rect">
            <a:avLst/>
          </a:prstGeom>
          <a:noFill/>
          <a:ln/>
        </p:spPr>
        <p:txBody>
          <a:bodyPr wrap="square" lIns="0" tIns="0" rIns="0" bIns="0" rtlCol="0" anchor="t"/>
          <a:lstStyle/>
          <a:p>
            <a:pPr marL="0" indent="0">
              <a:buNone/>
            </a:pPr>
            <a:r>
              <a:rPr lang="en-US" sz="1500" dirty="0">
                <a:solidFill>
                  <a:schemeClr val="tx1"/>
                </a:solidFill>
              </a:rPr>
              <a:t>git-ignored properties file</a:t>
            </a:r>
            <a:endParaRPr lang="en-US" sz="1500" dirty="0"/>
          </a:p>
        </p:txBody>
      </p:sp>
      <p:sp>
        <p:nvSpPr>
          <p:cNvPr id="37" name="Text 29"/>
          <p:cNvSpPr txBox="1"/>
          <p:nvPr/>
        </p:nvSpPr>
        <p:spPr>
          <a:xfrm>
            <a:off x="6510528" y="3749040"/>
            <a:ext cx="1280160" cy="274320"/>
          </a:xfrm>
          <a:prstGeom prst="rect">
            <a:avLst/>
          </a:prstGeom>
          <a:noFill/>
          <a:ln/>
        </p:spPr>
        <p:txBody>
          <a:bodyPr wrap="square" lIns="0" tIns="0" rIns="0" bIns="0" rtlCol="0" anchor="ctr"/>
          <a:lstStyle/>
          <a:p>
            <a:pPr marL="0" indent="0" algn="r">
              <a:buNone/>
            </a:pPr>
            <a:r>
              <a:rPr lang="en-US" sz="1000" b="1" dirty="0">
                <a:solidFill>
                  <a:schemeClr val="accent1"/>
                </a:solidFill>
              </a:rPr>
              <a:t>IN OUR APP</a:t>
            </a:r>
            <a:endParaRPr lang="en-US" sz="1000" dirty="0"/>
          </a:p>
        </p:txBody>
      </p:sp>
      <p:sp>
        <p:nvSpPr>
          <p:cNvPr id="38" name="Text 30"/>
          <p:cNvSpPr txBox="1"/>
          <p:nvPr/>
        </p:nvSpPr>
        <p:spPr>
          <a:xfrm>
            <a:off x="548640" y="566928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Today: the skeleton. At a company: this skeleton plus these extras.</a:t>
            </a:r>
            <a:endParaRPr lang="en-US" sz="16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36</a:t>
            </a:fld>
            <a:endParaRPr lang="en-US"/>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THE PLACEMENT PORTAL</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One app carries every topic we learned</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291840"/>
                <a:gridCol w="4297680"/>
                <a:gridCol w="3502152"/>
              </a:tblGrid>
              <a:tr h="352044">
                <a:tc>
                  <a:txBody>
                    <a:bodyPr/>
                    <a:lstStyle/>
                    <a:p>
                      <a:pPr marL="0" indent="0">
                        <a:buNone/>
                      </a:pPr>
                      <a:r>
                        <a:rPr lang="en-US" sz="1400" b="1" dirty="0">
                          <a:solidFill>
                            <a:srgbClr val="FFFFFF"/>
                          </a:solidFill>
                        </a:rPr>
                        <a:t>Topic</a:t>
                      </a:r>
                      <a:endParaRPr lang="en-US" sz="1400" dirty="0"/>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rPr>
                        <a:t>Where in the code</a:t>
                      </a:r>
                      <a:endParaRPr lang="en-US" sz="1400" dirty="0"/>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rPr>
                        <a:t>Where to see it</a:t>
                      </a:r>
                      <a:endParaRPr lang="en-US" sz="1400" dirty="0"/>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1F3A"/>
                    </a:solidFill>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Entities, annotations</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company/Company.java</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Supabase: schema app</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CRUD</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student/StudentRepository.java</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/students</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Relationships, mappedBy</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job/JobPosting.java</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/jobs/7</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Queries</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job/JobRepository.java</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/jobs?city=Surat</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LAZY and N+1</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ApplicationService.listSlow</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/applications?slow=true</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Dirty checking</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ApplicationService.shortlist</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Shortlist button</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Transactions, @Version</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bulkShortlist, changeStatus</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two browser tabs</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Controllers, mappings</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job/JobController.java</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/jobs, /jobs/7</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Thymeleaf views</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templates/jobs/list.html</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/jobs</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Validation</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application/ApplyForm.java</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/jobs/{id}/apply</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HTML vs JSON</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job/JobApiController.java</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/api/jobs</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52044">
                <a:tc>
                  <a:txBody>
                    <a:bodyPr/>
                    <a:lstStyle/>
                    <a:p>
                      <a:pPr marL="0" indent="0">
                        <a:buNone/>
                      </a:pPr>
                      <a:r>
                        <a:rPr lang="en-US" sz="1400" b="1" dirty="0">
                          <a:solidFill>
                            <a:srgbClr val="1B2733"/>
                          </a:solidFill>
                          <a:latin typeface="Calibri" pitchFamily="34" charset="0"/>
                          <a:ea typeface="Calibri" pitchFamily="34" charset="-122"/>
                          <a:cs typeface="Calibri" pitchFamily="34" charset="-120"/>
                        </a:rPr>
                        <a:t>Error handling</a:t>
                      </a:r>
                      <a:endParaRPr lang="en-US" sz="1400" dirty="0">
                        <a:latin typeface="Calibri" charset="0"/>
                        <a:ea typeface="Calibri" charset="0"/>
                        <a:cs typeface="Calibri"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common/GlobalExceptionHandler</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marL="0" indent="0">
                        <a:buNone/>
                      </a:pPr>
                      <a:r>
                        <a:rPr lang="en-US" sz="1300" dirty="0">
                          <a:solidFill>
                            <a:srgbClr val="1B2733"/>
                          </a:solidFill>
                          <a:latin typeface="Courier New" pitchFamily="34" charset="0"/>
                          <a:ea typeface="Courier New" pitchFamily="34" charset="-122"/>
                          <a:cs typeface="Courier New" pitchFamily="34" charset="-120"/>
                        </a:rPr>
                        <a:t>/jobs/9999</a:t>
                      </a:r>
                      <a:endParaRPr lang="en-US" sz="1300" dirty="0">
                        <a:latin typeface="Courier New" charset="0"/>
                        <a:ea typeface="Courier New" charset="0"/>
                        <a:cs typeface="Courier New" charset="0"/>
                      </a:endParaRPr>
                    </a:p>
                  </a:txBody>
                  <a:tcPr marT="0" marB="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37</a:t>
            </a:fld>
            <a:endParaRPr lang="en-US"/>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THE PLACEMENT PORTAL</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Project structure: one folder per feature</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Text 5"/>
          <p:cNvSpPr txBox="1"/>
          <p:nvPr/>
        </p:nvSpPr>
        <p:spPr>
          <a:xfrm>
            <a:off x="548640" y="1645920"/>
            <a:ext cx="4572000" cy="274320"/>
          </a:xfrm>
          <a:prstGeom prst="rect">
            <a:avLst/>
          </a:prstGeom>
          <a:noFill/>
          <a:ln/>
        </p:spPr>
        <p:txBody>
          <a:bodyPr wrap="square" lIns="0" tIns="0" rIns="0" bIns="0" rtlCol="0" anchor="ctr"/>
          <a:lstStyle/>
          <a:p>
            <a:pPr marL="0" indent="0">
              <a:buNone/>
            </a:pPr>
            <a:r>
              <a:rPr lang="en-US" sz="1200" b="1" kern="0" spc="100" dirty="0">
                <a:solidFill>
                  <a:schemeClr val="accent5"/>
                </a:solidFill>
              </a:rPr>
              <a:t>THE REPOSITORY</a:t>
            </a:r>
            <a:endParaRPr lang="en-US" sz="1200" dirty="0"/>
          </a:p>
        </p:txBody>
      </p:sp>
      <p:sp>
        <p:nvSpPr>
          <p:cNvPr id="9" name="code-bg"/>
          <p:cNvSpPr/>
          <p:nvPr/>
        </p:nvSpPr>
        <p:spPr>
          <a:xfrm>
            <a:off x="548640" y="1920240"/>
            <a:ext cx="6309360" cy="3657600"/>
          </a:xfrm>
          <a:prstGeom prst="roundRect">
            <a:avLst>
              <a:gd name="adj" fmla="val 2000"/>
            </a:avLst>
          </a:prstGeom>
          <a:solidFill>
            <a:schemeClr val="tx2"/>
          </a:solidFill>
          <a:ln w="12700">
            <a:solidFill>
              <a:schemeClr val="tx2"/>
            </a:solidFill>
            <a:prstDash val="solid"/>
          </a:ln>
        </p:spPr>
      </p:sp>
      <p:sp>
        <p:nvSpPr>
          <p:cNvPr id="10" name="code-text"/>
          <p:cNvSpPr txBox="1"/>
          <p:nvPr/>
        </p:nvSpPr>
        <p:spPr>
          <a:xfrm>
            <a:off x="731520" y="2029968"/>
            <a:ext cx="5943600" cy="343814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src/main/java/com/ppsu/placement/</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company/  job/  student/  application/</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common/      (exception handlers)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dashboard/   (home page counts)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src/main/resources/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db/migration/  V1 schema, V2 seed, V3 index</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  templates/     Thymeleaf pages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src/test/java/   38 tests (H2, no secrets)</a:t>
            </a:r>
            <a:endParaRPr lang="en-US" sz="1400" dirty="0"/>
          </a:p>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database/  docs/  config/  demos/</a:t>
            </a:r>
            <a:endParaRPr lang="en-US" sz="1400" dirty="0"/>
          </a:p>
        </p:txBody>
      </p:sp>
      <p:sp>
        <p:nvSpPr>
          <p:cNvPr id="11" name="card"/>
          <p:cNvSpPr/>
          <p:nvPr/>
        </p:nvSpPr>
        <p:spPr>
          <a:xfrm>
            <a:off x="7132320" y="1920240"/>
            <a:ext cx="4507992" cy="1097280"/>
          </a:xfrm>
          <a:prstGeom prst="roundRect">
            <a:avLst>
              <a:gd name="adj" fmla="val 6667"/>
            </a:avLst>
          </a:prstGeom>
          <a:solidFill>
            <a:schemeClr val="bg2"/>
          </a:solidFill>
          <a:ln w="12700">
            <a:solidFill>
              <a:schemeClr val="bg2"/>
            </a:solidFill>
            <a:prstDash val="solid"/>
          </a:ln>
        </p:spPr>
      </p:sp>
      <p:sp>
        <p:nvSpPr>
          <p:cNvPr id="12" name="Text 9"/>
          <p:cNvSpPr txBox="1"/>
          <p:nvPr/>
        </p:nvSpPr>
        <p:spPr>
          <a:xfrm>
            <a:off x="7360920" y="1920240"/>
            <a:ext cx="4114800" cy="1097280"/>
          </a:xfrm>
          <a:prstGeom prst="rect">
            <a:avLst/>
          </a:prstGeom>
          <a:noFill/>
          <a:ln/>
        </p:spPr>
        <p:txBody>
          <a:bodyPr wrap="square" lIns="0" tIns="0" rIns="0" bIns="0" rtlCol="0" anchor="ctr"/>
          <a:lstStyle/>
          <a:p>
            <a:pPr marL="0" indent="0">
              <a:buNone/>
            </a:pPr>
            <a:r>
              <a:rPr lang="en-US" sz="1800" b="1" dirty="0">
                <a:solidFill>
                  <a:schemeClr val="tx2"/>
                </a:solidFill>
              </a:rPr>
              <a:t>Feature first</a:t>
            </a:r>
            <a:endParaRPr lang="en-US" sz="1800" dirty="0"/>
          </a:p>
          <a:p>
            <a:pPr marL="0" indent="0">
              <a:buNone/>
            </a:pPr>
            <a:r>
              <a:rPr lang="en-US" sz="1500" dirty="0">
                <a:solidFill>
                  <a:schemeClr val="tx1"/>
                </a:solidFill>
              </a:rPr>
              <a:t>Change one feature in one folder.</a:t>
            </a:r>
            <a:endParaRPr lang="en-US" sz="1800" dirty="0"/>
          </a:p>
        </p:txBody>
      </p:sp>
      <p:sp>
        <p:nvSpPr>
          <p:cNvPr id="13" name="card"/>
          <p:cNvSpPr/>
          <p:nvPr/>
        </p:nvSpPr>
        <p:spPr>
          <a:xfrm>
            <a:off x="7132320" y="3154680"/>
            <a:ext cx="4507992" cy="109728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7360920" y="3154680"/>
            <a:ext cx="4114800" cy="1097280"/>
          </a:xfrm>
          <a:prstGeom prst="rect">
            <a:avLst/>
          </a:prstGeom>
          <a:noFill/>
          <a:ln/>
        </p:spPr>
        <p:txBody>
          <a:bodyPr wrap="square" lIns="0" tIns="0" rIns="0" bIns="0" rtlCol="0" anchor="ctr"/>
          <a:lstStyle/>
          <a:p>
            <a:pPr marL="0" indent="0">
              <a:buNone/>
            </a:pPr>
            <a:r>
              <a:rPr lang="en-US" sz="1800" b="1" dirty="0">
                <a:solidFill>
                  <a:schemeClr val="tx2"/>
                </a:solidFill>
              </a:rPr>
              <a:t>Same shape everywhere</a:t>
            </a:r>
            <a:endParaRPr lang="en-US" sz="1800" dirty="0"/>
          </a:p>
          <a:p>
            <a:pPr marL="0" indent="0">
              <a:buNone/>
            </a:pPr>
            <a:r>
              <a:rPr lang="en-US" sz="1500" dirty="0">
                <a:solidFill>
                  <a:schemeClr val="tx1"/>
                </a:solidFill>
              </a:rPr>
              <a:t>Entity, repository, service, controller, form, view.</a:t>
            </a:r>
            <a:endParaRPr lang="en-US" sz="1800" dirty="0"/>
          </a:p>
        </p:txBody>
      </p:sp>
      <p:sp>
        <p:nvSpPr>
          <p:cNvPr id="15" name="card"/>
          <p:cNvSpPr/>
          <p:nvPr/>
        </p:nvSpPr>
        <p:spPr>
          <a:xfrm>
            <a:off x="7132320" y="4389120"/>
            <a:ext cx="4507992" cy="1097280"/>
          </a:xfrm>
          <a:prstGeom prst="roundRect">
            <a:avLst>
              <a:gd name="adj" fmla="val 6667"/>
            </a:avLst>
          </a:prstGeom>
          <a:solidFill>
            <a:schemeClr val="bg2"/>
          </a:solidFill>
          <a:ln w="12700">
            <a:solidFill>
              <a:schemeClr val="bg2"/>
            </a:solidFill>
            <a:prstDash val="solid"/>
          </a:ln>
        </p:spPr>
      </p:sp>
      <p:sp>
        <p:nvSpPr>
          <p:cNvPr id="16" name="Text 13"/>
          <p:cNvSpPr txBox="1"/>
          <p:nvPr/>
        </p:nvSpPr>
        <p:spPr>
          <a:xfrm>
            <a:off x="7360920" y="4389120"/>
            <a:ext cx="4114800" cy="1097280"/>
          </a:xfrm>
          <a:prstGeom prst="rect">
            <a:avLst/>
          </a:prstGeom>
          <a:noFill/>
          <a:ln/>
        </p:spPr>
        <p:txBody>
          <a:bodyPr wrap="square" lIns="0" tIns="0" rIns="0" bIns="0" rtlCol="0" anchor="ctr"/>
          <a:lstStyle/>
          <a:p>
            <a:pPr marL="0" indent="0">
              <a:buNone/>
            </a:pPr>
            <a:r>
              <a:rPr lang="en-US" sz="1800" b="1" dirty="0">
                <a:solidFill>
                  <a:schemeClr val="tx2"/>
                </a:solidFill>
              </a:rPr>
              <a:t>Schema as code</a:t>
            </a:r>
            <a:endParaRPr lang="en-US" sz="1800" dirty="0"/>
          </a:p>
          <a:p>
            <a:pPr marL="0" indent="0">
              <a:buNone/>
            </a:pPr>
            <a:r>
              <a:rPr lang="en-US" sz="1500" dirty="0">
                <a:solidFill>
                  <a:schemeClr val="tx1"/>
                </a:solidFill>
              </a:rPr>
              <a:t>Flyway SQL files live in Git.</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38</a:t>
            </a:fld>
            <a:endParaRPr lang="en-US"/>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THE PLACEMENT PORTAL</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Run it end to end</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737360"/>
            <a:ext cx="2560320" cy="1554480"/>
          </a:xfrm>
          <a:prstGeom prst="roundRect">
            <a:avLst>
              <a:gd name="adj" fmla="val 4706"/>
            </a:avLst>
          </a:prstGeom>
          <a:solidFill>
            <a:schemeClr val="tx2"/>
          </a:solidFill>
          <a:ln w="12700">
            <a:solidFill>
              <a:schemeClr val="tx2"/>
            </a:solidFill>
            <a:prstDash val="solid"/>
          </a:ln>
        </p:spPr>
      </p:sp>
      <p:sp>
        <p:nvSpPr>
          <p:cNvPr id="9" name="Text 6"/>
          <p:cNvSpPr txBox="1"/>
          <p:nvPr/>
        </p:nvSpPr>
        <p:spPr>
          <a:xfrm>
            <a:off x="731520" y="1737360"/>
            <a:ext cx="2194560" cy="1554480"/>
          </a:xfrm>
          <a:prstGeom prst="rect">
            <a:avLst/>
          </a:prstGeom>
          <a:noFill/>
          <a:ln/>
        </p:spPr>
        <p:txBody>
          <a:bodyPr wrap="square" lIns="0" tIns="0" rIns="0" bIns="0" rtlCol="0" anchor="ctr"/>
          <a:lstStyle/>
          <a:p>
            <a:pPr marL="0" indent="0">
              <a:buNone/>
            </a:pPr>
            <a:r>
              <a:rPr lang="en-US" sz="2100" b="1" dirty="0">
                <a:solidFill>
                  <a:schemeClr val="bg1"/>
                </a:solidFill>
                <a:latin typeface="Cambria" pitchFamily="34" charset="0"/>
                <a:ea typeface="Cambria" pitchFamily="34" charset="-122"/>
                <a:cs typeface="Cambria" pitchFamily="34" charset="-120"/>
              </a:rPr>
              <a:t>Browser</a:t>
            </a:r>
            <a:endParaRPr lang="en-US" sz="2100" dirty="0"/>
          </a:p>
          <a:p>
            <a:pPr marL="0" indent="0">
              <a:buNone/>
            </a:pPr>
            <a:r>
              <a:rPr lang="en-US" sz="1400" dirty="0">
                <a:solidFill>
                  <a:schemeClr val="bg1"/>
                </a:solidFill>
              </a:rPr>
              <a:t>/jobs, /applications</a:t>
            </a:r>
            <a:endParaRPr lang="en-US" sz="2100" dirty="0"/>
          </a:p>
        </p:txBody>
      </p:sp>
      <p:sp>
        <p:nvSpPr>
          <p:cNvPr id="10" name="e2e-arrow-0"/>
          <p:cNvSpPr/>
          <p:nvPr/>
        </p:nvSpPr>
        <p:spPr>
          <a:xfrm>
            <a:off x="3127248" y="2514600"/>
            <a:ext cx="210312" cy="0"/>
          </a:xfrm>
          <a:prstGeom prst="line">
            <a:avLst/>
          </a:prstGeom>
          <a:noFill/>
          <a:ln w="38100">
            <a:solidFill>
              <a:schemeClr val="tx2"/>
            </a:solidFill>
            <a:prstDash val="solid"/>
            <a:tailEnd type="triangle"/>
          </a:ln>
        </p:spPr>
      </p:sp>
      <p:sp>
        <p:nvSpPr>
          <p:cNvPr id="11" name="card"/>
          <p:cNvSpPr/>
          <p:nvPr/>
        </p:nvSpPr>
        <p:spPr>
          <a:xfrm>
            <a:off x="3355848" y="1737360"/>
            <a:ext cx="2560320" cy="1554480"/>
          </a:xfrm>
          <a:prstGeom prst="roundRect">
            <a:avLst>
              <a:gd name="adj" fmla="val 4706"/>
            </a:avLst>
          </a:prstGeom>
          <a:solidFill>
            <a:schemeClr val="accent2"/>
          </a:solidFill>
          <a:ln w="12700">
            <a:solidFill>
              <a:schemeClr val="accent2"/>
            </a:solidFill>
            <a:prstDash val="solid"/>
          </a:ln>
        </p:spPr>
      </p:sp>
      <p:sp>
        <p:nvSpPr>
          <p:cNvPr id="12" name="Text 9"/>
          <p:cNvSpPr txBox="1"/>
          <p:nvPr/>
        </p:nvSpPr>
        <p:spPr>
          <a:xfrm>
            <a:off x="3538728" y="1737360"/>
            <a:ext cx="2194560" cy="1554480"/>
          </a:xfrm>
          <a:prstGeom prst="rect">
            <a:avLst/>
          </a:prstGeom>
          <a:noFill/>
          <a:ln/>
        </p:spPr>
        <p:txBody>
          <a:bodyPr wrap="square" lIns="0" tIns="0" rIns="0" bIns="0" rtlCol="0" anchor="ctr"/>
          <a:lstStyle/>
          <a:p>
            <a:pPr marL="0" indent="0">
              <a:buNone/>
            </a:pPr>
            <a:r>
              <a:rPr lang="en-US" sz="2100" b="1" dirty="0">
                <a:solidFill>
                  <a:schemeClr val="bg1"/>
                </a:solidFill>
                <a:latin typeface="Cambria" pitchFamily="34" charset="0"/>
                <a:ea typeface="Cambria" pitchFamily="34" charset="-122"/>
                <a:cs typeface="Cambria" pitchFamily="34" charset="-120"/>
              </a:rPr>
              <a:t>Spring MVC</a:t>
            </a:r>
            <a:endParaRPr lang="en-US" sz="2100" dirty="0"/>
          </a:p>
          <a:p>
            <a:pPr marL="0" indent="0">
              <a:buNone/>
            </a:pPr>
            <a:r>
              <a:rPr lang="en-US" sz="1400" dirty="0">
                <a:solidFill>
                  <a:schemeClr val="bg1"/>
                </a:solidFill>
              </a:rPr>
              <a:t>controllers, Thymeleaf</a:t>
            </a:r>
            <a:endParaRPr lang="en-US" sz="2100" dirty="0"/>
          </a:p>
        </p:txBody>
      </p:sp>
      <p:sp>
        <p:nvSpPr>
          <p:cNvPr id="13" name="e2e-arrow-1"/>
          <p:cNvSpPr/>
          <p:nvPr/>
        </p:nvSpPr>
        <p:spPr>
          <a:xfrm>
            <a:off x="5934456" y="2514600"/>
            <a:ext cx="210312" cy="0"/>
          </a:xfrm>
          <a:prstGeom prst="line">
            <a:avLst/>
          </a:prstGeom>
          <a:noFill/>
          <a:ln w="38100">
            <a:solidFill>
              <a:schemeClr val="tx2"/>
            </a:solidFill>
            <a:prstDash val="solid"/>
            <a:tailEnd type="triangle"/>
          </a:ln>
        </p:spPr>
      </p:sp>
      <p:sp>
        <p:nvSpPr>
          <p:cNvPr id="14" name="card"/>
          <p:cNvSpPr/>
          <p:nvPr/>
        </p:nvSpPr>
        <p:spPr>
          <a:xfrm>
            <a:off x="6163056" y="1737360"/>
            <a:ext cx="2560320" cy="1554480"/>
          </a:xfrm>
          <a:prstGeom prst="roundRect">
            <a:avLst>
              <a:gd name="adj" fmla="val 4706"/>
            </a:avLst>
          </a:prstGeom>
          <a:solidFill>
            <a:schemeClr val="accent1"/>
          </a:solidFill>
          <a:ln w="12700">
            <a:solidFill>
              <a:schemeClr val="accent1"/>
            </a:solidFill>
            <a:prstDash val="solid"/>
          </a:ln>
        </p:spPr>
      </p:sp>
      <p:sp>
        <p:nvSpPr>
          <p:cNvPr id="15" name="Text 12"/>
          <p:cNvSpPr txBox="1"/>
          <p:nvPr/>
        </p:nvSpPr>
        <p:spPr>
          <a:xfrm>
            <a:off x="6345936" y="1737360"/>
            <a:ext cx="2194560" cy="1554480"/>
          </a:xfrm>
          <a:prstGeom prst="rect">
            <a:avLst/>
          </a:prstGeom>
          <a:noFill/>
          <a:ln/>
        </p:spPr>
        <p:txBody>
          <a:bodyPr wrap="square" lIns="0" tIns="0" rIns="0" bIns="0" rtlCol="0" anchor="ctr"/>
          <a:lstStyle/>
          <a:p>
            <a:pPr marL="0" indent="0">
              <a:buNone/>
            </a:pPr>
            <a:r>
              <a:rPr lang="en-US" sz="2100" b="1" dirty="0">
                <a:solidFill>
                  <a:schemeClr val="bg1"/>
                </a:solidFill>
                <a:latin typeface="Cambria" pitchFamily="34" charset="0"/>
                <a:ea typeface="Cambria" pitchFamily="34" charset="-122"/>
                <a:cs typeface="Cambria" pitchFamily="34" charset="-120"/>
              </a:rPr>
              <a:t>Hibernate</a:t>
            </a:r>
            <a:endParaRPr lang="en-US" sz="2100" dirty="0"/>
          </a:p>
          <a:p>
            <a:pPr marL="0" indent="0">
              <a:buNone/>
            </a:pPr>
            <a:r>
              <a:rPr lang="en-US" sz="1400" dirty="0">
                <a:solidFill>
                  <a:schemeClr val="bg1"/>
                </a:solidFill>
              </a:rPr>
              <a:t>entities, JPQL</a:t>
            </a:r>
            <a:endParaRPr lang="en-US" sz="2100" dirty="0"/>
          </a:p>
        </p:txBody>
      </p:sp>
      <p:sp>
        <p:nvSpPr>
          <p:cNvPr id="16" name="e2e-arrow-2"/>
          <p:cNvSpPr/>
          <p:nvPr/>
        </p:nvSpPr>
        <p:spPr>
          <a:xfrm>
            <a:off x="8741664" y="2514600"/>
            <a:ext cx="210312" cy="0"/>
          </a:xfrm>
          <a:prstGeom prst="line">
            <a:avLst/>
          </a:prstGeom>
          <a:noFill/>
          <a:ln w="38100">
            <a:solidFill>
              <a:schemeClr val="tx2"/>
            </a:solidFill>
            <a:prstDash val="solid"/>
            <a:tailEnd type="triangle"/>
          </a:ln>
        </p:spPr>
      </p:sp>
      <p:sp>
        <p:nvSpPr>
          <p:cNvPr id="17" name="card"/>
          <p:cNvSpPr/>
          <p:nvPr/>
        </p:nvSpPr>
        <p:spPr>
          <a:xfrm>
            <a:off x="8970264" y="1737360"/>
            <a:ext cx="2560320" cy="1554480"/>
          </a:xfrm>
          <a:prstGeom prst="roundRect">
            <a:avLst>
              <a:gd name="adj" fmla="val 4706"/>
            </a:avLst>
          </a:prstGeom>
          <a:solidFill>
            <a:schemeClr val="accent1"/>
          </a:solidFill>
          <a:ln w="12700">
            <a:solidFill>
              <a:schemeClr val="accent1"/>
            </a:solidFill>
            <a:prstDash val="solid"/>
          </a:ln>
        </p:spPr>
      </p:sp>
      <p:sp>
        <p:nvSpPr>
          <p:cNvPr id="18" name="Text 15"/>
          <p:cNvSpPr txBox="1"/>
          <p:nvPr/>
        </p:nvSpPr>
        <p:spPr>
          <a:xfrm>
            <a:off x="9153144" y="1737360"/>
            <a:ext cx="2194560" cy="1554480"/>
          </a:xfrm>
          <a:prstGeom prst="rect">
            <a:avLst/>
          </a:prstGeom>
          <a:noFill/>
          <a:ln/>
        </p:spPr>
        <p:txBody>
          <a:bodyPr wrap="square" lIns="0" tIns="0" rIns="0" bIns="0" rtlCol="0" anchor="ctr"/>
          <a:lstStyle/>
          <a:p>
            <a:pPr marL="0" indent="0">
              <a:buNone/>
            </a:pPr>
            <a:r>
              <a:rPr lang="en-US" sz="2100" b="1" dirty="0">
                <a:solidFill>
                  <a:schemeClr val="bg1"/>
                </a:solidFill>
                <a:latin typeface="Cambria" pitchFamily="34" charset="0"/>
                <a:ea typeface="Cambria" pitchFamily="34" charset="-122"/>
                <a:cs typeface="Cambria" pitchFamily="34" charset="-120"/>
              </a:rPr>
              <a:t>Supabase</a:t>
            </a:r>
            <a:endParaRPr lang="en-US" sz="2100" dirty="0"/>
          </a:p>
          <a:p>
            <a:pPr marL="0" indent="0">
              <a:buNone/>
            </a:pPr>
            <a:r>
              <a:rPr lang="en-US" sz="1400" dirty="0">
                <a:solidFill>
                  <a:schemeClr val="bg1"/>
                </a:solidFill>
              </a:rPr>
              <a:t>PostgreSQL, schema app</a:t>
            </a:r>
            <a:endParaRPr lang="en-US" sz="2100" dirty="0"/>
          </a:p>
        </p:txBody>
      </p:sp>
      <p:sp>
        <p:nvSpPr>
          <p:cNvPr id="19" name="run-1"/>
          <p:cNvSpPr/>
          <p:nvPr/>
        </p:nvSpPr>
        <p:spPr>
          <a:xfrm>
            <a:off x="548640" y="3611880"/>
            <a:ext cx="411480" cy="411480"/>
          </a:xfrm>
          <a:prstGeom prst="ellipse">
            <a:avLst/>
          </a:prstGeom>
          <a:solidFill>
            <a:schemeClr val="accent3"/>
          </a:solidFill>
          <a:ln w="12700">
            <a:solidFill>
              <a:schemeClr val="accent3"/>
            </a:solidFill>
            <a:prstDash val="solid"/>
          </a:ln>
        </p:spPr>
      </p:sp>
      <p:sp>
        <p:nvSpPr>
          <p:cNvPr id="20" name="Text 17"/>
          <p:cNvSpPr txBox="1"/>
          <p:nvPr/>
        </p:nvSpPr>
        <p:spPr>
          <a:xfrm>
            <a:off x="548640" y="36118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21" name="Text 18"/>
          <p:cNvSpPr txBox="1"/>
          <p:nvPr/>
        </p:nvSpPr>
        <p:spPr>
          <a:xfrm>
            <a:off x="1143000" y="3611880"/>
            <a:ext cx="7315200" cy="411480"/>
          </a:xfrm>
          <a:prstGeom prst="rect">
            <a:avLst/>
          </a:prstGeom>
          <a:noFill/>
          <a:ln/>
        </p:spPr>
        <p:txBody>
          <a:bodyPr wrap="square" lIns="0" tIns="0" rIns="0" bIns="0" rtlCol="0" anchor="ctr"/>
          <a:lstStyle/>
          <a:p>
            <a:pPr marL="0" indent="0">
              <a:buNone/>
            </a:pPr>
            <a:r>
              <a:rPr lang="en-US" sz="1700" dirty="0">
                <a:solidFill>
                  <a:schemeClr val="tx1"/>
                </a:solidFill>
              </a:rPr>
              <a:t>Open the jobs list and a job detail</a:t>
            </a:r>
            <a:endParaRPr lang="en-US" sz="1700" dirty="0"/>
          </a:p>
        </p:txBody>
      </p:sp>
      <p:sp>
        <p:nvSpPr>
          <p:cNvPr id="22" name="run-2"/>
          <p:cNvSpPr/>
          <p:nvPr/>
        </p:nvSpPr>
        <p:spPr>
          <a:xfrm>
            <a:off x="548640" y="4142232"/>
            <a:ext cx="411480" cy="411480"/>
          </a:xfrm>
          <a:prstGeom prst="ellipse">
            <a:avLst/>
          </a:prstGeom>
          <a:solidFill>
            <a:schemeClr val="accent3"/>
          </a:solidFill>
          <a:ln w="12700">
            <a:solidFill>
              <a:schemeClr val="accent3"/>
            </a:solidFill>
            <a:prstDash val="solid"/>
          </a:ln>
        </p:spPr>
      </p:sp>
      <p:sp>
        <p:nvSpPr>
          <p:cNvPr id="23" name="Text 20"/>
          <p:cNvSpPr txBox="1"/>
          <p:nvPr/>
        </p:nvSpPr>
        <p:spPr>
          <a:xfrm>
            <a:off x="548640" y="4142232"/>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24" name="Text 21"/>
          <p:cNvSpPr txBox="1"/>
          <p:nvPr/>
        </p:nvSpPr>
        <p:spPr>
          <a:xfrm>
            <a:off x="1143000" y="4142232"/>
            <a:ext cx="7315200" cy="411480"/>
          </a:xfrm>
          <a:prstGeom prst="rect">
            <a:avLst/>
          </a:prstGeom>
          <a:noFill/>
          <a:ln/>
        </p:spPr>
        <p:txBody>
          <a:bodyPr wrap="square" lIns="0" tIns="0" rIns="0" bIns="0" rtlCol="0" anchor="ctr"/>
          <a:lstStyle/>
          <a:p>
            <a:pPr marL="0" indent="0">
              <a:buNone/>
            </a:pPr>
            <a:r>
              <a:rPr lang="en-US" sz="1700" dirty="0">
                <a:solidFill>
                  <a:schemeClr val="tx1"/>
                </a:solidFill>
              </a:rPr>
              <a:t>Apply with an empty email, then a valid one</a:t>
            </a:r>
            <a:endParaRPr lang="en-US" sz="1700" dirty="0"/>
          </a:p>
        </p:txBody>
      </p:sp>
      <p:sp>
        <p:nvSpPr>
          <p:cNvPr id="25" name="run-3"/>
          <p:cNvSpPr/>
          <p:nvPr/>
        </p:nvSpPr>
        <p:spPr>
          <a:xfrm>
            <a:off x="548640" y="4672584"/>
            <a:ext cx="411480" cy="411480"/>
          </a:xfrm>
          <a:prstGeom prst="ellipse">
            <a:avLst/>
          </a:prstGeom>
          <a:solidFill>
            <a:schemeClr val="accent3"/>
          </a:solidFill>
          <a:ln w="12700">
            <a:solidFill>
              <a:schemeClr val="accent3"/>
            </a:solidFill>
            <a:prstDash val="solid"/>
          </a:ln>
        </p:spPr>
      </p:sp>
      <p:sp>
        <p:nvSpPr>
          <p:cNvPr id="26" name="Text 23"/>
          <p:cNvSpPr txBox="1"/>
          <p:nvPr/>
        </p:nvSpPr>
        <p:spPr>
          <a:xfrm>
            <a:off x="548640" y="4672584"/>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27" name="Text 24"/>
          <p:cNvSpPr txBox="1"/>
          <p:nvPr/>
        </p:nvSpPr>
        <p:spPr>
          <a:xfrm>
            <a:off x="1143000" y="4672584"/>
            <a:ext cx="7315200" cy="411480"/>
          </a:xfrm>
          <a:prstGeom prst="rect">
            <a:avLst/>
          </a:prstGeom>
          <a:noFill/>
          <a:ln/>
        </p:spPr>
        <p:txBody>
          <a:bodyPr wrap="square" lIns="0" tIns="0" rIns="0" bIns="0" rtlCol="0" anchor="ctr"/>
          <a:lstStyle/>
          <a:p>
            <a:pPr marL="0" indent="0">
              <a:buNone/>
            </a:pPr>
            <a:r>
              <a:rPr lang="en-US" sz="1700" dirty="0">
                <a:solidFill>
                  <a:schemeClr val="tx1"/>
                </a:solidFill>
              </a:rPr>
              <a:t>Open applications: slow, then fast</a:t>
            </a:r>
            <a:endParaRPr lang="en-US" sz="1700" dirty="0"/>
          </a:p>
        </p:txBody>
      </p:sp>
      <p:sp>
        <p:nvSpPr>
          <p:cNvPr id="28" name="run-4"/>
          <p:cNvSpPr/>
          <p:nvPr/>
        </p:nvSpPr>
        <p:spPr>
          <a:xfrm>
            <a:off x="548640" y="5202936"/>
            <a:ext cx="411480" cy="411480"/>
          </a:xfrm>
          <a:prstGeom prst="ellipse">
            <a:avLst/>
          </a:prstGeom>
          <a:solidFill>
            <a:schemeClr val="accent3"/>
          </a:solidFill>
          <a:ln w="12700">
            <a:solidFill>
              <a:schemeClr val="accent3"/>
            </a:solidFill>
            <a:prstDash val="solid"/>
          </a:ln>
        </p:spPr>
      </p:sp>
      <p:sp>
        <p:nvSpPr>
          <p:cNvPr id="29" name="Text 26"/>
          <p:cNvSpPr txBox="1"/>
          <p:nvPr/>
        </p:nvSpPr>
        <p:spPr>
          <a:xfrm>
            <a:off x="548640" y="5202936"/>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30" name="Text 27"/>
          <p:cNvSpPr txBox="1"/>
          <p:nvPr/>
        </p:nvSpPr>
        <p:spPr>
          <a:xfrm>
            <a:off x="1143000" y="5202936"/>
            <a:ext cx="7315200" cy="411480"/>
          </a:xfrm>
          <a:prstGeom prst="rect">
            <a:avLst/>
          </a:prstGeom>
          <a:noFill/>
          <a:ln/>
        </p:spPr>
        <p:txBody>
          <a:bodyPr wrap="square" lIns="0" tIns="0" rIns="0" bIns="0" rtlCol="0" anchor="ctr"/>
          <a:lstStyle/>
          <a:p>
            <a:pPr marL="0" indent="0">
              <a:buNone/>
            </a:pPr>
            <a:r>
              <a:rPr lang="en-US" sz="1700" dirty="0">
                <a:solidFill>
                  <a:schemeClr val="tx1"/>
                </a:solidFill>
              </a:rPr>
              <a:t>Open the Supabase table editor</a:t>
            </a:r>
            <a:endParaRPr lang="en-US" sz="1700" dirty="0"/>
          </a:p>
        </p:txBody>
      </p:sp>
      <p:sp>
        <p:nvSpPr>
          <p:cNvPr id="31" name="demo-tag"/>
          <p:cNvSpPr/>
          <p:nvPr/>
        </p:nvSpPr>
        <p:spPr>
          <a:xfrm>
            <a:off x="8183880" y="182880"/>
            <a:ext cx="2331720" cy="347472"/>
          </a:xfrm>
          <a:prstGeom prst="roundRect">
            <a:avLst>
              <a:gd name="adj" fmla="val 50000"/>
            </a:avLst>
          </a:prstGeom>
          <a:solidFill>
            <a:schemeClr val="accent3"/>
          </a:solidFill>
          <a:ln w="12700">
            <a:solidFill>
              <a:schemeClr val="accent3"/>
            </a:solidFill>
            <a:prstDash val="solid"/>
          </a:ln>
        </p:spPr>
      </p:sp>
      <p:sp>
        <p:nvSpPr>
          <p:cNvPr id="32" name="Text 29"/>
          <p:cNvSpPr txBox="1"/>
          <p:nvPr/>
        </p:nvSpPr>
        <p:spPr>
          <a:xfrm>
            <a:off x="8183880" y="182880"/>
            <a:ext cx="2331720" cy="347472"/>
          </a:xfrm>
          <a:prstGeom prst="rect">
            <a:avLst/>
          </a:prstGeom>
          <a:noFill/>
          <a:ln/>
        </p:spPr>
        <p:txBody>
          <a:bodyPr wrap="square" lIns="0" tIns="0" rIns="0" bIns="0" rtlCol="0" anchor="ctr"/>
          <a:lstStyle/>
          <a:p>
            <a:pPr marL="0" indent="0" algn="ctr">
              <a:buNone/>
            </a:pPr>
            <a:r>
              <a:rPr lang="en-US" sz="1200" b="1" dirty="0">
                <a:solidFill>
                  <a:schemeClr val="bg1"/>
                </a:solidFill>
              </a:rPr>
              <a:t>LIVE DEMO</a:t>
            </a:r>
            <a:endParaRPr lang="en-US" sz="1200" dirty="0"/>
          </a:p>
        </p:txBody>
      </p:sp>
      <p:sp>
        <p:nvSpPr>
          <p:cNvPr id="33" name="inapp-bg"/>
          <p:cNvSpPr/>
          <p:nvPr/>
        </p:nvSpPr>
        <p:spPr>
          <a:xfrm>
            <a:off x="548640" y="5760720"/>
            <a:ext cx="11091672" cy="457200"/>
          </a:xfrm>
          <a:prstGeom prst="roundRect">
            <a:avLst>
              <a:gd name="adj" fmla="val 16000"/>
            </a:avLst>
          </a:prstGeom>
          <a:solidFill>
            <a:schemeClr val="accent4">
              <a:alpha val="22000"/>
            </a:schemeClr>
          </a:solidFill>
          <a:ln w="12700">
            <a:solidFill>
              <a:schemeClr val="accent4">
                <a:alpha val="0"/>
              </a:schemeClr>
            </a:solidFill>
            <a:prstDash val="solid"/>
          </a:ln>
        </p:spPr>
      </p:sp>
      <p:sp>
        <p:nvSpPr>
          <p:cNvPr id="34" name="Text 31"/>
          <p:cNvSpPr txBox="1"/>
          <p:nvPr/>
        </p:nvSpPr>
        <p:spPr>
          <a:xfrm>
            <a:off x="731520" y="5760720"/>
            <a:ext cx="10789920" cy="457200"/>
          </a:xfrm>
          <a:prstGeom prst="rect">
            <a:avLst/>
          </a:prstGeom>
          <a:noFill/>
          <a:ln/>
        </p:spPr>
        <p:txBody>
          <a:bodyPr wrap="square" lIns="0" tIns="0" rIns="0" bIns="0" rtlCol="0" anchor="ctr"/>
          <a:lstStyle/>
          <a:p>
            <a:pPr marL="0" indent="0">
              <a:buNone/>
            </a:pPr>
            <a:r>
              <a:rPr lang="en-US" sz="1200" b="1" dirty="0">
                <a:solidFill>
                  <a:schemeClr val="tx2"/>
                </a:solidFill>
              </a:rPr>
              <a:t>IN THE APP    </a:t>
            </a:r>
            <a:r>
              <a:rPr lang="en-US" sz="1300" dirty="0">
                <a:solidFill>
                  <a:schemeClr val="tx1"/>
                </a:solidFill>
                <a:latin typeface="Courier New" pitchFamily="34" charset="0"/>
                <a:ea typeface="Courier New" pitchFamily="34" charset="-122"/>
                <a:cs typeface="Courier New" pitchFamily="34" charset="-120"/>
              </a:rPr>
              <a:t>start.cmd  /  ./start.sh      fallback: start.cmd local  (H2)</a:t>
            </a:r>
            <a:endParaRPr lang="en-US" sz="12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39</a:t>
            </a:fld>
            <a:endParaRPr lang="en-US"/>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THE PLACEMENT PORTAL</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Supabase gotchas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5449824" cy="1828800"/>
          </a:xfrm>
          <a:prstGeom prst="roundRect">
            <a:avLst>
              <a:gd name="adj" fmla="val 4000"/>
            </a:avLst>
          </a:prstGeom>
          <a:solidFill>
            <a:schemeClr val="bg2"/>
          </a:solidFill>
          <a:ln w="12700">
            <a:solidFill>
              <a:schemeClr val="bg2"/>
            </a:solidFill>
            <a:prstDash val="solid"/>
          </a:ln>
        </p:spPr>
      </p:sp>
      <p:sp>
        <p:nvSpPr>
          <p:cNvPr id="9" name="icon-circle"/>
          <p:cNvSpPr/>
          <p:nvPr/>
        </p:nvSpPr>
        <p:spPr>
          <a:xfrm>
            <a:off x="777240" y="1920240"/>
            <a:ext cx="594360" cy="594360"/>
          </a:xfrm>
          <a:prstGeom prst="ellipse">
            <a:avLst/>
          </a:prstGeom>
          <a:solidFill>
            <a:schemeClr val="accent1"/>
          </a:solidFill>
          <a:ln w="12700">
            <a:solidFill>
              <a:schemeClr val="accent1"/>
            </a:solidFill>
            <a:prstDash val="solid"/>
          </a:ln>
        </p:spPr>
      </p:sp>
      <p:pic>
        <p:nvPicPr>
          <p:cNvPr id="10" name="Image 0" descr="globe"/>
          <p:cNvPicPr>
            <a:picLocks noChangeAspect="1"/>
          </p:cNvPicPr>
          <p:nvPr/>
        </p:nvPicPr>
        <p:blipFill>
          <a:blip r:embed="rId3"/>
          <a:stretch>
            <a:fillRect/>
          </a:stretch>
        </p:blipFill>
        <p:spPr>
          <a:xfrm>
            <a:off x="919886" y="2062886"/>
            <a:ext cx="309067" cy="309067"/>
          </a:xfrm>
          <a:prstGeom prst="rect">
            <a:avLst/>
          </a:prstGeom>
        </p:spPr>
      </p:pic>
      <p:sp>
        <p:nvSpPr>
          <p:cNvPr id="11" name="Text 7"/>
          <p:cNvSpPr txBox="1"/>
          <p:nvPr/>
        </p:nvSpPr>
        <p:spPr>
          <a:xfrm>
            <a:off x="1554480" y="1874520"/>
            <a:ext cx="4297680" cy="548640"/>
          </a:xfrm>
          <a:prstGeom prst="rect">
            <a:avLst/>
          </a:prstGeom>
          <a:noFill/>
          <a:ln/>
        </p:spPr>
        <p:txBody>
          <a:bodyPr wrap="square" lIns="0" tIns="0" rIns="0" bIns="0" rtlCol="0" anchor="ctr"/>
          <a:lstStyle/>
          <a:p>
            <a:pPr marL="0" indent="0">
              <a:buNone/>
            </a:pPr>
            <a:r>
              <a:rPr lang="en-US" sz="1900" b="1" dirty="0">
                <a:solidFill>
                  <a:schemeClr val="tx2"/>
                </a:solidFill>
              </a:rPr>
              <a:t>Session pooler</a:t>
            </a:r>
            <a:endParaRPr lang="en-US" sz="1900" dirty="0"/>
          </a:p>
        </p:txBody>
      </p:sp>
      <p:sp>
        <p:nvSpPr>
          <p:cNvPr id="12" name="Text 8"/>
          <p:cNvSpPr txBox="1"/>
          <p:nvPr/>
        </p:nvSpPr>
        <p:spPr>
          <a:xfrm>
            <a:off x="777240" y="2606040"/>
            <a:ext cx="5029200" cy="822960"/>
          </a:xfrm>
          <a:prstGeom prst="rect">
            <a:avLst/>
          </a:prstGeom>
          <a:noFill/>
          <a:ln/>
        </p:spPr>
        <p:txBody>
          <a:bodyPr wrap="square" lIns="0" tIns="0" rIns="0" bIns="0" rtlCol="0" anchor="t"/>
          <a:lstStyle/>
          <a:p>
            <a:pPr marL="0" indent="0">
              <a:buNone/>
            </a:pPr>
            <a:r>
              <a:rPr lang="en-US" sz="1500" dirty="0">
                <a:solidFill>
                  <a:schemeClr val="tx1"/>
                </a:solidFill>
              </a:rPr>
              <a:t>The direct connection needs IPv6. The pooler works on every network. Use the Session pooler, not the Transaction pooler.</a:t>
            </a:r>
            <a:endParaRPr lang="en-US" sz="1500" dirty="0"/>
          </a:p>
        </p:txBody>
      </p:sp>
      <p:sp>
        <p:nvSpPr>
          <p:cNvPr id="13" name="card"/>
          <p:cNvSpPr/>
          <p:nvPr/>
        </p:nvSpPr>
        <p:spPr>
          <a:xfrm>
            <a:off x="6190488" y="1691640"/>
            <a:ext cx="5449824" cy="1828800"/>
          </a:xfrm>
          <a:prstGeom prst="roundRect">
            <a:avLst>
              <a:gd name="adj" fmla="val 4000"/>
            </a:avLst>
          </a:prstGeom>
          <a:solidFill>
            <a:schemeClr val="bg2"/>
          </a:solidFill>
          <a:ln w="12700">
            <a:solidFill>
              <a:schemeClr val="bg2"/>
            </a:solidFill>
            <a:prstDash val="solid"/>
          </a:ln>
        </p:spPr>
      </p:sp>
      <p:sp>
        <p:nvSpPr>
          <p:cNvPr id="14" name="icon-circle"/>
          <p:cNvSpPr/>
          <p:nvPr/>
        </p:nvSpPr>
        <p:spPr>
          <a:xfrm>
            <a:off x="6419088" y="1920240"/>
            <a:ext cx="594360" cy="594360"/>
          </a:xfrm>
          <a:prstGeom prst="ellipse">
            <a:avLst/>
          </a:prstGeom>
          <a:solidFill>
            <a:schemeClr val="accent1"/>
          </a:solidFill>
          <a:ln w="12700">
            <a:solidFill>
              <a:schemeClr val="accent1"/>
            </a:solidFill>
            <a:prstDash val="solid"/>
          </a:ln>
        </p:spPr>
      </p:sp>
      <p:pic>
        <p:nvPicPr>
          <p:cNvPr id="15" name="Image 1" descr="shield"/>
          <p:cNvPicPr>
            <a:picLocks noChangeAspect="1"/>
          </p:cNvPicPr>
          <p:nvPr/>
        </p:nvPicPr>
        <p:blipFill>
          <a:blip r:embed="rId4"/>
          <a:stretch>
            <a:fillRect/>
          </a:stretch>
        </p:blipFill>
        <p:spPr>
          <a:xfrm>
            <a:off x="6561734" y="2062886"/>
            <a:ext cx="309067" cy="309067"/>
          </a:xfrm>
          <a:prstGeom prst="rect">
            <a:avLst/>
          </a:prstGeom>
        </p:spPr>
      </p:pic>
      <p:sp>
        <p:nvSpPr>
          <p:cNvPr id="16" name="Text 11"/>
          <p:cNvSpPr txBox="1"/>
          <p:nvPr/>
        </p:nvSpPr>
        <p:spPr>
          <a:xfrm>
            <a:off x="7196328" y="1874520"/>
            <a:ext cx="4297680" cy="548640"/>
          </a:xfrm>
          <a:prstGeom prst="rect">
            <a:avLst/>
          </a:prstGeom>
          <a:noFill/>
          <a:ln/>
        </p:spPr>
        <p:txBody>
          <a:bodyPr wrap="square" lIns="0" tIns="0" rIns="0" bIns="0" rtlCol="0" anchor="ctr"/>
          <a:lstStyle/>
          <a:p>
            <a:pPr marL="0" indent="0">
              <a:buNone/>
            </a:pPr>
            <a:r>
              <a:rPr lang="en-US" sz="1900" b="1" dirty="0">
                <a:solidFill>
                  <a:schemeClr val="tx2"/>
                </a:solidFill>
              </a:rPr>
              <a:t>sslmode=require</a:t>
            </a:r>
            <a:endParaRPr lang="en-US" sz="1900" dirty="0"/>
          </a:p>
        </p:txBody>
      </p:sp>
      <p:sp>
        <p:nvSpPr>
          <p:cNvPr id="17" name="Text 12"/>
          <p:cNvSpPr txBox="1"/>
          <p:nvPr/>
        </p:nvSpPr>
        <p:spPr>
          <a:xfrm>
            <a:off x="6419088" y="2606040"/>
            <a:ext cx="5029200" cy="822960"/>
          </a:xfrm>
          <a:prstGeom prst="rect">
            <a:avLst/>
          </a:prstGeom>
          <a:noFill/>
          <a:ln/>
        </p:spPr>
        <p:txBody>
          <a:bodyPr wrap="square" lIns="0" tIns="0" rIns="0" bIns="0" rtlCol="0" anchor="t"/>
          <a:lstStyle/>
          <a:p>
            <a:pPr marL="0" indent="0">
              <a:buNone/>
            </a:pPr>
            <a:r>
              <a:rPr lang="en-US" sz="1500" dirty="0">
                <a:solidFill>
                  <a:schemeClr val="tx1"/>
                </a:solidFill>
              </a:rPr>
              <a:t>Never leave SSL on the default.</a:t>
            </a:r>
            <a:endParaRPr lang="en-US" sz="1500" dirty="0"/>
          </a:p>
        </p:txBody>
      </p:sp>
      <p:sp>
        <p:nvSpPr>
          <p:cNvPr id="18" name="card"/>
          <p:cNvSpPr/>
          <p:nvPr/>
        </p:nvSpPr>
        <p:spPr>
          <a:xfrm>
            <a:off x="548640" y="3703320"/>
            <a:ext cx="5449824" cy="1828800"/>
          </a:xfrm>
          <a:prstGeom prst="roundRect">
            <a:avLst>
              <a:gd name="adj" fmla="val 4000"/>
            </a:avLst>
          </a:prstGeom>
          <a:solidFill>
            <a:schemeClr val="bg2"/>
          </a:solidFill>
          <a:ln w="12700">
            <a:solidFill>
              <a:schemeClr val="bg2"/>
            </a:solidFill>
            <a:prstDash val="solid"/>
          </a:ln>
        </p:spPr>
      </p:sp>
      <p:sp>
        <p:nvSpPr>
          <p:cNvPr id="19" name="icon-circle"/>
          <p:cNvSpPr/>
          <p:nvPr/>
        </p:nvSpPr>
        <p:spPr>
          <a:xfrm>
            <a:off x="777240" y="3931920"/>
            <a:ext cx="594360" cy="594360"/>
          </a:xfrm>
          <a:prstGeom prst="ellipse">
            <a:avLst/>
          </a:prstGeom>
          <a:solidFill>
            <a:schemeClr val="accent1"/>
          </a:solidFill>
          <a:ln w="12700">
            <a:solidFill>
              <a:schemeClr val="accent1"/>
            </a:solidFill>
            <a:prstDash val="solid"/>
          </a:ln>
        </p:spPr>
      </p:sp>
      <p:pic>
        <p:nvPicPr>
          <p:cNvPr id="20" name="Image 2" descr="db"/>
          <p:cNvPicPr>
            <a:picLocks noChangeAspect="1"/>
          </p:cNvPicPr>
          <p:nvPr/>
        </p:nvPicPr>
        <p:blipFill>
          <a:blip r:embed="rId5"/>
          <a:stretch>
            <a:fillRect/>
          </a:stretch>
        </p:blipFill>
        <p:spPr>
          <a:xfrm>
            <a:off x="919886" y="4074566"/>
            <a:ext cx="309067" cy="309067"/>
          </a:xfrm>
          <a:prstGeom prst="rect">
            <a:avLst/>
          </a:prstGeom>
        </p:spPr>
      </p:pic>
      <p:sp>
        <p:nvSpPr>
          <p:cNvPr id="21" name="Text 15"/>
          <p:cNvSpPr txBox="1"/>
          <p:nvPr/>
        </p:nvSpPr>
        <p:spPr>
          <a:xfrm>
            <a:off x="1554480" y="3886200"/>
            <a:ext cx="4297680" cy="548640"/>
          </a:xfrm>
          <a:prstGeom prst="rect">
            <a:avLst/>
          </a:prstGeom>
          <a:noFill/>
          <a:ln/>
        </p:spPr>
        <p:txBody>
          <a:bodyPr wrap="square" lIns="0" tIns="0" rIns="0" bIns="0" rtlCol="0" anchor="ctr"/>
          <a:lstStyle/>
          <a:p>
            <a:pPr marL="0" indent="0">
              <a:buNone/>
            </a:pPr>
            <a:r>
              <a:rPr lang="en-US" sz="1900" b="1" dirty="0">
                <a:solidFill>
                  <a:schemeClr val="tx2"/>
                </a:solidFill>
              </a:rPr>
              <a:t>Schema: app</a:t>
            </a:r>
            <a:endParaRPr lang="en-US" sz="1900" dirty="0"/>
          </a:p>
        </p:txBody>
      </p:sp>
      <p:sp>
        <p:nvSpPr>
          <p:cNvPr id="22" name="Text 16"/>
          <p:cNvSpPr txBox="1"/>
          <p:nvPr/>
        </p:nvSpPr>
        <p:spPr>
          <a:xfrm>
            <a:off x="777240" y="4617720"/>
            <a:ext cx="5029200" cy="822960"/>
          </a:xfrm>
          <a:prstGeom prst="rect">
            <a:avLst/>
          </a:prstGeom>
          <a:noFill/>
          <a:ln/>
        </p:spPr>
        <p:txBody>
          <a:bodyPr wrap="square" lIns="0" tIns="0" rIns="0" bIns="0" rtlCol="0" anchor="t"/>
          <a:lstStyle/>
          <a:p>
            <a:pPr marL="0" indent="0">
              <a:buNone/>
            </a:pPr>
            <a:r>
              <a:rPr lang="en-US" sz="1500" dirty="0">
                <a:solidFill>
                  <a:schemeClr val="tx1"/>
                </a:solidFill>
              </a:rPr>
              <a:t>Our tables live in app, not public.</a:t>
            </a:r>
            <a:endParaRPr lang="en-US" sz="1500" dirty="0"/>
          </a:p>
        </p:txBody>
      </p:sp>
      <p:sp>
        <p:nvSpPr>
          <p:cNvPr id="23" name="card"/>
          <p:cNvSpPr/>
          <p:nvPr/>
        </p:nvSpPr>
        <p:spPr>
          <a:xfrm>
            <a:off x="6190488" y="3703320"/>
            <a:ext cx="5449824" cy="1828800"/>
          </a:xfrm>
          <a:prstGeom prst="roundRect">
            <a:avLst>
              <a:gd name="adj" fmla="val 4000"/>
            </a:avLst>
          </a:prstGeom>
          <a:solidFill>
            <a:schemeClr val="bg2"/>
          </a:solidFill>
          <a:ln w="12700">
            <a:solidFill>
              <a:schemeClr val="bg2"/>
            </a:solidFill>
            <a:prstDash val="solid"/>
          </a:ln>
        </p:spPr>
      </p:sp>
      <p:sp>
        <p:nvSpPr>
          <p:cNvPr id="24" name="icon-circle"/>
          <p:cNvSpPr/>
          <p:nvPr/>
        </p:nvSpPr>
        <p:spPr>
          <a:xfrm>
            <a:off x="6419088" y="3931920"/>
            <a:ext cx="594360" cy="594360"/>
          </a:xfrm>
          <a:prstGeom prst="ellipse">
            <a:avLst/>
          </a:prstGeom>
          <a:solidFill>
            <a:schemeClr val="accent6"/>
          </a:solidFill>
          <a:ln w="12700">
            <a:solidFill>
              <a:schemeClr val="accent6"/>
            </a:solidFill>
            <a:prstDash val="solid"/>
          </a:ln>
        </p:spPr>
      </p:sp>
      <p:pic>
        <p:nvPicPr>
          <p:cNvPr id="25" name="Image 3" descr="times"/>
          <p:cNvPicPr>
            <a:picLocks noChangeAspect="1"/>
          </p:cNvPicPr>
          <p:nvPr/>
        </p:nvPicPr>
        <p:blipFill>
          <a:blip r:embed="rId6"/>
          <a:stretch>
            <a:fillRect/>
          </a:stretch>
        </p:blipFill>
        <p:spPr>
          <a:xfrm>
            <a:off x="6561734" y="4074566"/>
            <a:ext cx="309067" cy="309067"/>
          </a:xfrm>
          <a:prstGeom prst="rect">
            <a:avLst/>
          </a:prstGeom>
        </p:spPr>
      </p:pic>
      <p:sp>
        <p:nvSpPr>
          <p:cNvPr id="26" name="Text 19"/>
          <p:cNvSpPr txBox="1"/>
          <p:nvPr/>
        </p:nvSpPr>
        <p:spPr>
          <a:xfrm>
            <a:off x="7196328" y="3886200"/>
            <a:ext cx="4297680" cy="548640"/>
          </a:xfrm>
          <a:prstGeom prst="rect">
            <a:avLst/>
          </a:prstGeom>
          <a:noFill/>
          <a:ln/>
        </p:spPr>
        <p:txBody>
          <a:bodyPr wrap="square" lIns="0" tIns="0" rIns="0" bIns="0" rtlCol="0" anchor="ctr"/>
          <a:lstStyle/>
          <a:p>
            <a:pPr marL="0" indent="0">
              <a:buNone/>
            </a:pPr>
            <a:r>
              <a:rPr lang="en-US" sz="1900" b="1" dirty="0">
                <a:solidFill>
                  <a:schemeClr val="tx2"/>
                </a:solidFill>
              </a:rPr>
              <a:t>No password in Git</a:t>
            </a:r>
            <a:endParaRPr lang="en-US" sz="1900" dirty="0"/>
          </a:p>
        </p:txBody>
      </p:sp>
      <p:sp>
        <p:nvSpPr>
          <p:cNvPr id="27" name="Text 20"/>
          <p:cNvSpPr txBox="1"/>
          <p:nvPr/>
        </p:nvSpPr>
        <p:spPr>
          <a:xfrm>
            <a:off x="6419088" y="4617720"/>
            <a:ext cx="5029200" cy="822960"/>
          </a:xfrm>
          <a:prstGeom prst="rect">
            <a:avLst/>
          </a:prstGeom>
          <a:noFill/>
          <a:ln/>
        </p:spPr>
        <p:txBody>
          <a:bodyPr wrap="square" lIns="0" tIns="0" rIns="0" bIns="0" rtlCol="0" anchor="t"/>
          <a:lstStyle/>
          <a:p>
            <a:pPr marL="0" indent="0">
              <a:buNone/>
            </a:pPr>
            <a:r>
              <a:rPr lang="en-US" sz="1500" dirty="0">
                <a:solidFill>
                  <a:schemeClr val="tx1"/>
                </a:solidFill>
              </a:rPr>
              <a:t>Not in a file, a screenshot or a commit message.</a:t>
            </a:r>
            <a:endParaRPr lang="en-US" sz="15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40</a:t>
            </a:fld>
            <a:endParaRPr lang="en-US"/>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THE PLACEMENT PORTAL</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Stuck? Jump to a checkpoint</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45920"/>
            <a:ext cx="2624328" cy="960120"/>
          </a:xfrm>
          <a:prstGeom prst="roundRect">
            <a:avLst>
              <a:gd name="adj" fmla="val 7619"/>
            </a:avLst>
          </a:prstGeom>
          <a:solidFill>
            <a:schemeClr val="bg2"/>
          </a:solidFill>
          <a:ln w="12700">
            <a:solidFill>
              <a:schemeClr val="bg2"/>
            </a:solidFill>
            <a:prstDash val="solid"/>
          </a:ln>
        </p:spPr>
      </p:sp>
      <p:sp>
        <p:nvSpPr>
          <p:cNvPr id="9" name="Text 6"/>
          <p:cNvSpPr txBox="1"/>
          <p:nvPr/>
        </p:nvSpPr>
        <p:spPr>
          <a:xfrm>
            <a:off x="731520" y="164592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0</a:t>
            </a:r>
            <a:endParaRPr lang="en-US" sz="3000" dirty="0"/>
          </a:p>
        </p:txBody>
      </p:sp>
      <p:sp>
        <p:nvSpPr>
          <p:cNvPr id="10" name="Text 7"/>
          <p:cNvSpPr txBox="1"/>
          <p:nvPr/>
        </p:nvSpPr>
        <p:spPr>
          <a:xfrm>
            <a:off x="1371600" y="164592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step-0</a:t>
            </a:r>
            <a:endParaRPr lang="en-US" sz="1500" dirty="0"/>
          </a:p>
          <a:p>
            <a:pPr marL="0" indent="0">
              <a:buNone/>
            </a:pPr>
            <a:r>
              <a:rPr lang="en-US" sz="1400" dirty="0">
                <a:solidFill>
                  <a:schemeClr val="accent5"/>
                </a:solidFill>
              </a:rPr>
              <a:t>skeleton</a:t>
            </a:r>
            <a:endParaRPr lang="en-US" sz="1500" dirty="0"/>
          </a:p>
        </p:txBody>
      </p:sp>
      <p:sp>
        <p:nvSpPr>
          <p:cNvPr id="11" name="card"/>
          <p:cNvSpPr/>
          <p:nvPr/>
        </p:nvSpPr>
        <p:spPr>
          <a:xfrm>
            <a:off x="3355848" y="1645920"/>
            <a:ext cx="2624328" cy="960120"/>
          </a:xfrm>
          <a:prstGeom prst="roundRect">
            <a:avLst>
              <a:gd name="adj" fmla="val 7619"/>
            </a:avLst>
          </a:prstGeom>
          <a:solidFill>
            <a:schemeClr val="bg2"/>
          </a:solidFill>
          <a:ln w="12700">
            <a:solidFill>
              <a:schemeClr val="bg2"/>
            </a:solidFill>
            <a:prstDash val="solid"/>
          </a:ln>
        </p:spPr>
      </p:sp>
      <p:sp>
        <p:nvSpPr>
          <p:cNvPr id="12" name="Text 9"/>
          <p:cNvSpPr txBox="1"/>
          <p:nvPr/>
        </p:nvSpPr>
        <p:spPr>
          <a:xfrm>
            <a:off x="3538728" y="164592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1</a:t>
            </a:r>
            <a:endParaRPr lang="en-US" sz="3000" dirty="0"/>
          </a:p>
        </p:txBody>
      </p:sp>
      <p:sp>
        <p:nvSpPr>
          <p:cNvPr id="13" name="Text 10"/>
          <p:cNvSpPr txBox="1"/>
          <p:nvPr/>
        </p:nvSpPr>
        <p:spPr>
          <a:xfrm>
            <a:off x="4178808" y="164592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step-1</a:t>
            </a:r>
            <a:endParaRPr lang="en-US" sz="1500" dirty="0"/>
          </a:p>
          <a:p>
            <a:pPr marL="0" indent="0">
              <a:buNone/>
            </a:pPr>
            <a:r>
              <a:rPr lang="en-US" sz="1400" dirty="0">
                <a:solidFill>
                  <a:schemeClr val="accent5"/>
                </a:solidFill>
              </a:rPr>
              <a:t>entities</a:t>
            </a:r>
            <a:endParaRPr lang="en-US" sz="1500" dirty="0"/>
          </a:p>
        </p:txBody>
      </p:sp>
      <p:sp>
        <p:nvSpPr>
          <p:cNvPr id="14" name="card"/>
          <p:cNvSpPr/>
          <p:nvPr/>
        </p:nvSpPr>
        <p:spPr>
          <a:xfrm>
            <a:off x="6163056" y="1645920"/>
            <a:ext cx="2624328" cy="960120"/>
          </a:xfrm>
          <a:prstGeom prst="roundRect">
            <a:avLst>
              <a:gd name="adj" fmla="val 7619"/>
            </a:avLst>
          </a:prstGeom>
          <a:solidFill>
            <a:schemeClr val="bg2"/>
          </a:solidFill>
          <a:ln w="12700">
            <a:solidFill>
              <a:schemeClr val="bg2"/>
            </a:solidFill>
            <a:prstDash val="solid"/>
          </a:ln>
        </p:spPr>
      </p:sp>
      <p:sp>
        <p:nvSpPr>
          <p:cNvPr id="15" name="Text 12"/>
          <p:cNvSpPr txBox="1"/>
          <p:nvPr/>
        </p:nvSpPr>
        <p:spPr>
          <a:xfrm>
            <a:off x="6345936" y="164592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2</a:t>
            </a:r>
            <a:endParaRPr lang="en-US" sz="3000" dirty="0"/>
          </a:p>
        </p:txBody>
      </p:sp>
      <p:sp>
        <p:nvSpPr>
          <p:cNvPr id="16" name="Text 13"/>
          <p:cNvSpPr txBox="1"/>
          <p:nvPr/>
        </p:nvSpPr>
        <p:spPr>
          <a:xfrm>
            <a:off x="6986016" y="164592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step-2</a:t>
            </a:r>
            <a:endParaRPr lang="en-US" sz="1500" dirty="0"/>
          </a:p>
          <a:p>
            <a:pPr marL="0" indent="0">
              <a:buNone/>
            </a:pPr>
            <a:r>
              <a:rPr lang="en-US" sz="1400" dirty="0">
                <a:solidFill>
                  <a:schemeClr val="accent5"/>
                </a:solidFill>
              </a:rPr>
              <a:t>repositories</a:t>
            </a:r>
            <a:endParaRPr lang="en-US" sz="1500" dirty="0"/>
          </a:p>
        </p:txBody>
      </p:sp>
      <p:sp>
        <p:nvSpPr>
          <p:cNvPr id="17" name="card"/>
          <p:cNvSpPr/>
          <p:nvPr/>
        </p:nvSpPr>
        <p:spPr>
          <a:xfrm>
            <a:off x="8970264" y="1645920"/>
            <a:ext cx="2624328" cy="960120"/>
          </a:xfrm>
          <a:prstGeom prst="roundRect">
            <a:avLst>
              <a:gd name="adj" fmla="val 7619"/>
            </a:avLst>
          </a:prstGeom>
          <a:solidFill>
            <a:schemeClr val="bg2"/>
          </a:solidFill>
          <a:ln w="12700">
            <a:solidFill>
              <a:schemeClr val="bg2"/>
            </a:solidFill>
            <a:prstDash val="solid"/>
          </a:ln>
        </p:spPr>
      </p:sp>
      <p:sp>
        <p:nvSpPr>
          <p:cNvPr id="18" name="Text 15"/>
          <p:cNvSpPr txBox="1"/>
          <p:nvPr/>
        </p:nvSpPr>
        <p:spPr>
          <a:xfrm>
            <a:off x="9153144" y="164592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3</a:t>
            </a:r>
            <a:endParaRPr lang="en-US" sz="3000" dirty="0"/>
          </a:p>
        </p:txBody>
      </p:sp>
      <p:sp>
        <p:nvSpPr>
          <p:cNvPr id="19" name="Text 16"/>
          <p:cNvSpPr txBox="1"/>
          <p:nvPr/>
        </p:nvSpPr>
        <p:spPr>
          <a:xfrm>
            <a:off x="9793224" y="164592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step-3</a:t>
            </a:r>
            <a:endParaRPr lang="en-US" sz="1500" dirty="0"/>
          </a:p>
          <a:p>
            <a:pPr marL="0" indent="0">
              <a:buNone/>
            </a:pPr>
            <a:r>
              <a:rPr lang="en-US" sz="1400" dirty="0">
                <a:solidFill>
                  <a:schemeClr val="accent5"/>
                </a:solidFill>
              </a:rPr>
              <a:t>mvc pages</a:t>
            </a:r>
            <a:endParaRPr lang="en-US" sz="1500" dirty="0"/>
          </a:p>
        </p:txBody>
      </p:sp>
      <p:sp>
        <p:nvSpPr>
          <p:cNvPr id="20" name="card"/>
          <p:cNvSpPr/>
          <p:nvPr/>
        </p:nvSpPr>
        <p:spPr>
          <a:xfrm>
            <a:off x="548640" y="2743200"/>
            <a:ext cx="2624328" cy="960120"/>
          </a:xfrm>
          <a:prstGeom prst="roundRect">
            <a:avLst>
              <a:gd name="adj" fmla="val 7619"/>
            </a:avLst>
          </a:prstGeom>
          <a:solidFill>
            <a:schemeClr val="bg2"/>
          </a:solidFill>
          <a:ln w="12700">
            <a:solidFill>
              <a:schemeClr val="bg2"/>
            </a:solidFill>
            <a:prstDash val="solid"/>
          </a:ln>
        </p:spPr>
      </p:sp>
      <p:sp>
        <p:nvSpPr>
          <p:cNvPr id="21" name="Text 18"/>
          <p:cNvSpPr txBox="1"/>
          <p:nvPr/>
        </p:nvSpPr>
        <p:spPr>
          <a:xfrm>
            <a:off x="731520" y="274320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4</a:t>
            </a:r>
            <a:endParaRPr lang="en-US" sz="3000" dirty="0"/>
          </a:p>
        </p:txBody>
      </p:sp>
      <p:sp>
        <p:nvSpPr>
          <p:cNvPr id="22" name="Text 19"/>
          <p:cNvSpPr txBox="1"/>
          <p:nvPr/>
        </p:nvSpPr>
        <p:spPr>
          <a:xfrm>
            <a:off x="1371600" y="274320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step-4</a:t>
            </a:r>
            <a:endParaRPr lang="en-US" sz="1500" dirty="0"/>
          </a:p>
          <a:p>
            <a:pPr marL="0" indent="0">
              <a:buNone/>
            </a:pPr>
            <a:r>
              <a:rPr lang="en-US" sz="1400" dirty="0">
                <a:solidFill>
                  <a:schemeClr val="accent5"/>
                </a:solidFill>
              </a:rPr>
              <a:t>validation</a:t>
            </a:r>
            <a:endParaRPr lang="en-US" sz="1500" dirty="0"/>
          </a:p>
        </p:txBody>
      </p:sp>
      <p:sp>
        <p:nvSpPr>
          <p:cNvPr id="23" name="card"/>
          <p:cNvSpPr/>
          <p:nvPr/>
        </p:nvSpPr>
        <p:spPr>
          <a:xfrm>
            <a:off x="3355848" y="2743200"/>
            <a:ext cx="2624328" cy="960120"/>
          </a:xfrm>
          <a:prstGeom prst="roundRect">
            <a:avLst>
              <a:gd name="adj" fmla="val 7619"/>
            </a:avLst>
          </a:prstGeom>
          <a:solidFill>
            <a:schemeClr val="bg2"/>
          </a:solidFill>
          <a:ln w="12700">
            <a:solidFill>
              <a:schemeClr val="bg2"/>
            </a:solidFill>
            <a:prstDash val="solid"/>
          </a:ln>
        </p:spPr>
      </p:sp>
      <p:sp>
        <p:nvSpPr>
          <p:cNvPr id="24" name="Text 21"/>
          <p:cNvSpPr txBox="1"/>
          <p:nvPr/>
        </p:nvSpPr>
        <p:spPr>
          <a:xfrm>
            <a:off x="3538728" y="274320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5</a:t>
            </a:r>
            <a:endParaRPr lang="en-US" sz="3000" dirty="0"/>
          </a:p>
        </p:txBody>
      </p:sp>
      <p:sp>
        <p:nvSpPr>
          <p:cNvPr id="25" name="Text 22"/>
          <p:cNvSpPr txBox="1"/>
          <p:nvPr/>
        </p:nvSpPr>
        <p:spPr>
          <a:xfrm>
            <a:off x="4178808" y="274320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step-5</a:t>
            </a:r>
            <a:endParaRPr lang="en-US" sz="1500" dirty="0"/>
          </a:p>
          <a:p>
            <a:pPr marL="0" indent="0">
              <a:buNone/>
            </a:pPr>
            <a:r>
              <a:rPr lang="en-US" sz="1400" dirty="0">
                <a:solidFill>
                  <a:schemeClr val="accent5"/>
                </a:solidFill>
              </a:rPr>
              <a:t>transactions</a:t>
            </a:r>
            <a:endParaRPr lang="en-US" sz="1500" dirty="0"/>
          </a:p>
        </p:txBody>
      </p:sp>
      <p:sp>
        <p:nvSpPr>
          <p:cNvPr id="26" name="card"/>
          <p:cNvSpPr/>
          <p:nvPr/>
        </p:nvSpPr>
        <p:spPr>
          <a:xfrm>
            <a:off x="6163056" y="2743200"/>
            <a:ext cx="2624328" cy="960120"/>
          </a:xfrm>
          <a:prstGeom prst="roundRect">
            <a:avLst>
              <a:gd name="adj" fmla="val 7619"/>
            </a:avLst>
          </a:prstGeom>
          <a:solidFill>
            <a:schemeClr val="bg2"/>
          </a:solidFill>
          <a:ln w="12700">
            <a:solidFill>
              <a:schemeClr val="bg2"/>
            </a:solidFill>
            <a:prstDash val="solid"/>
          </a:ln>
        </p:spPr>
      </p:sp>
      <p:sp>
        <p:nvSpPr>
          <p:cNvPr id="27" name="Text 24"/>
          <p:cNvSpPr txBox="1"/>
          <p:nvPr/>
        </p:nvSpPr>
        <p:spPr>
          <a:xfrm>
            <a:off x="6345936" y="274320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6</a:t>
            </a:r>
            <a:endParaRPr lang="en-US" sz="3000" dirty="0"/>
          </a:p>
        </p:txBody>
      </p:sp>
      <p:sp>
        <p:nvSpPr>
          <p:cNvPr id="28" name="Text 25"/>
          <p:cNvSpPr txBox="1"/>
          <p:nvPr/>
        </p:nvSpPr>
        <p:spPr>
          <a:xfrm>
            <a:off x="6986016" y="274320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step-6</a:t>
            </a:r>
            <a:endParaRPr lang="en-US" sz="1500" dirty="0"/>
          </a:p>
          <a:p>
            <a:pPr marL="0" indent="0">
              <a:buNone/>
            </a:pPr>
            <a:r>
              <a:rPr lang="en-US" sz="1400" dirty="0">
                <a:solidFill>
                  <a:schemeClr val="accent5"/>
                </a:solidFill>
              </a:rPr>
              <a:t>performance</a:t>
            </a:r>
            <a:endParaRPr lang="en-US" sz="1500" dirty="0"/>
          </a:p>
        </p:txBody>
      </p:sp>
      <p:sp>
        <p:nvSpPr>
          <p:cNvPr id="29" name="card"/>
          <p:cNvSpPr/>
          <p:nvPr/>
        </p:nvSpPr>
        <p:spPr>
          <a:xfrm>
            <a:off x="8970264" y="2743200"/>
            <a:ext cx="2624328" cy="960120"/>
          </a:xfrm>
          <a:prstGeom prst="roundRect">
            <a:avLst>
              <a:gd name="adj" fmla="val 7619"/>
            </a:avLst>
          </a:prstGeom>
          <a:solidFill>
            <a:schemeClr val="bg2"/>
          </a:solidFill>
          <a:ln w="12700">
            <a:solidFill>
              <a:schemeClr val="bg2"/>
            </a:solidFill>
            <a:prstDash val="solid"/>
          </a:ln>
        </p:spPr>
      </p:sp>
      <p:sp>
        <p:nvSpPr>
          <p:cNvPr id="30" name="Text 27"/>
          <p:cNvSpPr txBox="1"/>
          <p:nvPr/>
        </p:nvSpPr>
        <p:spPr>
          <a:xfrm>
            <a:off x="9153144" y="2743200"/>
            <a:ext cx="548640" cy="960120"/>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F</a:t>
            </a:r>
            <a:endParaRPr lang="en-US" sz="3000" dirty="0"/>
          </a:p>
        </p:txBody>
      </p:sp>
      <p:sp>
        <p:nvSpPr>
          <p:cNvPr id="31" name="Text 28"/>
          <p:cNvSpPr txBox="1"/>
          <p:nvPr/>
        </p:nvSpPr>
        <p:spPr>
          <a:xfrm>
            <a:off x="9793224" y="2743200"/>
            <a:ext cx="1737360" cy="960120"/>
          </a:xfrm>
          <a:prstGeom prst="rect">
            <a:avLst/>
          </a:prstGeom>
          <a:noFill/>
          <a:ln/>
        </p:spPr>
        <p:txBody>
          <a:bodyPr wrap="square" lIns="0" tIns="0" rIns="0" bIns="0" rtlCol="0" anchor="ctr"/>
          <a:lstStyle/>
          <a:p>
            <a:pPr marL="0" indent="0">
              <a:buNone/>
            </a:pPr>
            <a:r>
              <a:rPr lang="en-US" sz="1500" b="1" dirty="0">
                <a:solidFill>
                  <a:schemeClr val="tx2"/>
                </a:solidFill>
                <a:latin typeface="Courier New" pitchFamily="34" charset="0"/>
                <a:ea typeface="Courier New" pitchFamily="34" charset="-122"/>
                <a:cs typeface="Courier New" pitchFamily="34" charset="-120"/>
              </a:rPr>
              <a:t>final</a:t>
            </a:r>
            <a:endParaRPr lang="en-US" sz="1500" dirty="0"/>
          </a:p>
          <a:p>
            <a:pPr marL="0" indent="0">
              <a:buNone/>
            </a:pPr>
            <a:r>
              <a:rPr lang="en-US" sz="1400" dirty="0">
                <a:solidFill>
                  <a:schemeClr val="accent5"/>
                </a:solidFill>
              </a:rPr>
              <a:t>README, CI</a:t>
            </a:r>
            <a:endParaRPr lang="en-US" sz="1500" dirty="0"/>
          </a:p>
        </p:txBody>
      </p:sp>
      <p:sp>
        <p:nvSpPr>
          <p:cNvPr id="32" name="Text 29"/>
          <p:cNvSpPr txBox="1"/>
          <p:nvPr/>
        </p:nvSpPr>
        <p:spPr>
          <a:xfrm>
            <a:off x="548640" y="3977640"/>
            <a:ext cx="4572000" cy="274320"/>
          </a:xfrm>
          <a:prstGeom prst="rect">
            <a:avLst/>
          </a:prstGeom>
          <a:noFill/>
          <a:ln/>
        </p:spPr>
        <p:txBody>
          <a:bodyPr wrap="square" lIns="0" tIns="0" rIns="0" bIns="0" rtlCol="0" anchor="ctr"/>
          <a:lstStyle/>
          <a:p>
            <a:pPr marL="0" indent="0">
              <a:buNone/>
            </a:pPr>
            <a:r>
              <a:rPr lang="en-US" sz="1200" b="1" kern="0" spc="100" dirty="0">
                <a:solidFill>
                  <a:schemeClr val="accent5"/>
                </a:solidFill>
              </a:rPr>
              <a:t>JUMP TO A STEP</a:t>
            </a:r>
            <a:endParaRPr lang="en-US" sz="1200" dirty="0"/>
          </a:p>
        </p:txBody>
      </p:sp>
      <p:sp>
        <p:nvSpPr>
          <p:cNvPr id="33" name="code-bg"/>
          <p:cNvSpPr/>
          <p:nvPr/>
        </p:nvSpPr>
        <p:spPr>
          <a:xfrm>
            <a:off x="548640" y="4251960"/>
            <a:ext cx="6400800" cy="685800"/>
          </a:xfrm>
          <a:prstGeom prst="roundRect">
            <a:avLst>
              <a:gd name="adj" fmla="val 10667"/>
            </a:avLst>
          </a:prstGeom>
          <a:solidFill>
            <a:schemeClr val="tx2"/>
          </a:solidFill>
          <a:ln w="12700">
            <a:solidFill>
              <a:schemeClr val="tx2"/>
            </a:solidFill>
            <a:prstDash val="solid"/>
          </a:ln>
        </p:spPr>
      </p:sp>
      <p:sp>
        <p:nvSpPr>
          <p:cNvPr id="34" name="code-text"/>
          <p:cNvSpPr txBox="1"/>
          <p:nvPr/>
        </p:nvSpPr>
        <p:spPr>
          <a:xfrm>
            <a:off x="731520" y="4361688"/>
            <a:ext cx="6035040" cy="466344"/>
          </a:xfrm>
          <a:prstGeom prst="rect">
            <a:avLst/>
          </a:prstGeom>
          <a:noFill/>
          <a:ln/>
        </p:spPr>
        <p:txBody>
          <a:bodyPr wrap="square" lIns="0" tIns="0" rIns="0" bIns="0" rtlCol="0" anchor="t"/>
          <a:lstStyle/>
          <a:p>
            <a:pPr marL="0" indent="0">
              <a:spcAft>
                <a:spcPts val="200"/>
              </a:spcAft>
              <a:buNone/>
            </a:pPr>
            <a:r>
              <a:rPr lang="en-US" sz="1400" dirty="0">
                <a:solidFill>
                  <a:schemeClr val="bg1"/>
                </a:solidFill>
                <a:latin typeface="Courier New" pitchFamily="34" charset="0"/>
                <a:ea typeface="Courier New" pitchFamily="34" charset="-122"/>
                <a:cs typeface="Courier New" pitchFamily="34" charset="-120"/>
              </a:rPr>
              <a:t>git checkout -b my-work step-2-repositories</a:t>
            </a:r>
            <a:endParaRPr lang="en-US" sz="1400" dirty="0"/>
          </a:p>
        </p:txBody>
      </p:sp>
      <p:sp>
        <p:nvSpPr>
          <p:cNvPr id="35" name="card"/>
          <p:cNvSpPr/>
          <p:nvPr/>
        </p:nvSpPr>
        <p:spPr>
          <a:xfrm>
            <a:off x="7223760" y="3977640"/>
            <a:ext cx="4416552" cy="1600200"/>
          </a:xfrm>
          <a:prstGeom prst="roundRect">
            <a:avLst>
              <a:gd name="adj" fmla="val 4571"/>
            </a:avLst>
          </a:prstGeom>
          <a:solidFill>
            <a:schemeClr val="accent3"/>
          </a:solidFill>
          <a:ln w="12700">
            <a:solidFill>
              <a:schemeClr val="accent3"/>
            </a:solidFill>
            <a:prstDash val="solid"/>
          </a:ln>
        </p:spPr>
      </p:sp>
      <p:sp>
        <p:nvSpPr>
          <p:cNvPr id="36" name="Text 33"/>
          <p:cNvSpPr txBox="1"/>
          <p:nvPr/>
        </p:nvSpPr>
        <p:spPr>
          <a:xfrm>
            <a:off x="7452360" y="3977640"/>
            <a:ext cx="4023360" cy="1600200"/>
          </a:xfrm>
          <a:prstGeom prst="rect">
            <a:avLst/>
          </a:prstGeom>
          <a:noFill/>
          <a:ln/>
        </p:spPr>
        <p:txBody>
          <a:bodyPr wrap="square" lIns="0" tIns="0" rIns="0" bIns="0" rtlCol="0" anchor="ctr"/>
          <a:lstStyle/>
          <a:p>
            <a:pPr marL="0" indent="0">
              <a:buNone/>
            </a:pPr>
            <a:r>
              <a:rPr lang="en-US" sz="1400" b="1" dirty="0">
                <a:solidFill>
                  <a:schemeClr val="bg1"/>
                </a:solidFill>
              </a:rPr>
              <a:t>CHALLENGE  |  7 min</a:t>
            </a:r>
            <a:endParaRPr lang="en-US" sz="1400" dirty="0"/>
          </a:p>
          <a:p>
            <a:pPr marL="0" indent="0">
              <a:buNone/>
            </a:pPr>
            <a:r>
              <a:rPr lang="en-US" sz="2200" b="1" dirty="0">
                <a:solidFill>
                  <a:schemeClr val="bg1"/>
                </a:solidFill>
                <a:latin typeface="Cambria" pitchFamily="34" charset="0"/>
                <a:ea typeface="Cambria" pitchFamily="34" charset="-122"/>
                <a:cs typeface="Cambria" pitchFamily="34" charset="-120"/>
              </a:rPr>
              <a:t>Filter jobs by city. One query. No extras.</a:t>
            </a:r>
            <a:endParaRPr lang="en-US" sz="1400" dirty="0"/>
          </a:p>
        </p:txBody>
      </p:sp>
      <p:sp>
        <p:nvSpPr>
          <p:cNvPr id="37" name="Text 34"/>
          <p:cNvSpPr txBox="1"/>
          <p:nvPr/>
        </p:nvSpPr>
        <p:spPr>
          <a:xfrm>
            <a:off x="548640" y="5074920"/>
            <a:ext cx="11091672" cy="548640"/>
          </a:xfrm>
          <a:prstGeom prst="rect">
            <a:avLst/>
          </a:prstGeom>
          <a:noFill/>
          <a:ln/>
        </p:spPr>
        <p:txBody>
          <a:bodyPr wrap="square" lIns="0" tIns="0" rIns="0" bIns="0" rtlCol="0" anchor="ctr"/>
          <a:lstStyle/>
          <a:p>
            <a:pPr marL="0" indent="0">
              <a:buNone/>
            </a:pPr>
            <a:r>
              <a:rPr lang="en-US" sz="1600" i="1" dirty="0">
                <a:solidFill>
                  <a:schemeClr val="accent5"/>
                </a:solidFill>
              </a:rPr>
              <a:t>Repo link: shared in the class group.</a:t>
            </a:r>
            <a:endParaRPr lang="en-US" sz="1600" dirty="0"/>
          </a:p>
        </p:txBody>
      </p:sp>
      <p:sp>
        <p:nvSpPr>
          <p:cNvPr id="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41</a:t>
            </a:fld>
            <a:endParaRPr lang="en-US"/>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THE PLACEMENT PORTAL</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Part 1 recap. Your questions, now.</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5440680" cy="1828800"/>
          </a:xfrm>
          <a:prstGeom prst="roundRect">
            <a:avLst>
              <a:gd name="adj" fmla="val 4000"/>
            </a:avLst>
          </a:prstGeom>
          <a:solidFill>
            <a:schemeClr val="accent1"/>
          </a:solidFill>
          <a:ln w="12700">
            <a:solidFill>
              <a:schemeClr val="accent1"/>
            </a:solidFill>
            <a:prstDash val="solid"/>
          </a:ln>
        </p:spPr>
      </p:sp>
      <p:sp>
        <p:nvSpPr>
          <p:cNvPr id="9" name="Text 6"/>
          <p:cNvSpPr txBox="1"/>
          <p:nvPr/>
        </p:nvSpPr>
        <p:spPr>
          <a:xfrm>
            <a:off x="777240" y="1691640"/>
            <a:ext cx="5029200" cy="18288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Hibernate</a:t>
            </a:r>
            <a:endParaRPr lang="en-US" sz="2200" dirty="0"/>
          </a:p>
          <a:p>
            <a:pPr marL="0" indent="0">
              <a:buNone/>
            </a:pPr>
            <a:r>
              <a:rPr lang="en-US" sz="1600" dirty="0">
                <a:solidFill>
                  <a:schemeClr val="bg1"/>
                </a:solidFill>
              </a:rPr>
              <a:t>Look at the SQL. Default to LAZY. Short transactions.</a:t>
            </a:r>
            <a:endParaRPr lang="en-US" sz="2200" dirty="0"/>
          </a:p>
        </p:txBody>
      </p:sp>
      <p:sp>
        <p:nvSpPr>
          <p:cNvPr id="10" name="card"/>
          <p:cNvSpPr/>
          <p:nvPr/>
        </p:nvSpPr>
        <p:spPr>
          <a:xfrm>
            <a:off x="6199632" y="1691640"/>
            <a:ext cx="5440680" cy="1828800"/>
          </a:xfrm>
          <a:prstGeom prst="roundRect">
            <a:avLst>
              <a:gd name="adj" fmla="val 4000"/>
            </a:avLst>
          </a:prstGeom>
          <a:solidFill>
            <a:schemeClr val="accent2"/>
          </a:solidFill>
          <a:ln w="12700">
            <a:solidFill>
              <a:schemeClr val="accent2"/>
            </a:solidFill>
            <a:prstDash val="solid"/>
          </a:ln>
        </p:spPr>
      </p:sp>
      <p:sp>
        <p:nvSpPr>
          <p:cNvPr id="11" name="Text 8"/>
          <p:cNvSpPr txBox="1"/>
          <p:nvPr/>
        </p:nvSpPr>
        <p:spPr>
          <a:xfrm>
            <a:off x="6428232" y="1691640"/>
            <a:ext cx="5029200" cy="18288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Spring MVC</a:t>
            </a:r>
            <a:endParaRPr lang="en-US" sz="2200" dirty="0"/>
          </a:p>
          <a:p>
            <a:pPr marL="0" indent="0">
              <a:buNone/>
            </a:pPr>
            <a:r>
              <a:rPr lang="en-US" sz="1600" dirty="0">
                <a:solidFill>
                  <a:schemeClr val="bg1"/>
                </a:solidFill>
              </a:rPr>
              <a:t>Request in, response out, one front door.</a:t>
            </a:r>
            <a:endParaRPr lang="en-US" sz="2200" dirty="0"/>
          </a:p>
        </p:txBody>
      </p:sp>
      <p:sp>
        <p:nvSpPr>
          <p:cNvPr id="12" name="Text 9"/>
          <p:cNvSpPr txBox="1"/>
          <p:nvPr/>
        </p:nvSpPr>
        <p:spPr>
          <a:xfrm>
            <a:off x="548640" y="3749040"/>
            <a:ext cx="1097280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CAN YOU EXPLAIN THESE? THEN YOU CAN ANSWER THEM IN AN INTERVIEW</a:t>
            </a:r>
            <a:endParaRPr lang="en-US" sz="1200" dirty="0"/>
          </a:p>
        </p:txBody>
      </p:sp>
      <p:sp>
        <p:nvSpPr>
          <p:cNvPr id="13" name="Text 10"/>
          <p:cNvSpPr txBox="1"/>
          <p:nvPr/>
        </p:nvSpPr>
        <p:spPr>
          <a:xfrm>
            <a:off x="548640" y="4114800"/>
            <a:ext cx="749808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What is N+1, and how do you fix it?</a:t>
            </a:r>
            <a:endParaRPr lang="en-US" sz="1600" dirty="0"/>
          </a:p>
          <a:p>
            <a:pPr marL="342900" indent="-342900">
              <a:spcAft>
                <a:spcPts val="600"/>
              </a:spcAft>
              <a:buSzPct val="100000"/>
              <a:buChar char="•"/>
            </a:pPr>
            <a:r>
              <a:rPr lang="en-US" sz="1600" dirty="0">
                <a:solidFill>
                  <a:schemeClr val="tx1"/>
                </a:solidFill>
              </a:rPr>
              <a:t>Why mappedBy? get() vs load()? merge() vs persist()?</a:t>
            </a:r>
            <a:endParaRPr lang="en-US" sz="1600" dirty="0"/>
          </a:p>
          <a:p>
            <a:pPr marL="342900" indent="-342900">
              <a:spcAft>
                <a:spcPts val="600"/>
              </a:spcAft>
              <a:buSzPct val="100000"/>
              <a:buChar char="•"/>
            </a:pPr>
            <a:r>
              <a:rPr lang="en-US" sz="1600" dirty="0">
                <a:solidFill>
                  <a:schemeClr val="tx1"/>
                </a:solidFill>
              </a:rPr>
              <a:t>@Controller vs @RestController? Where does @Transactional belong?</a:t>
            </a:r>
            <a:endParaRPr lang="en-US" sz="1600" dirty="0"/>
          </a:p>
        </p:txBody>
      </p:sp>
      <p:sp>
        <p:nvSpPr>
          <p:cNvPr id="14" name="card"/>
          <p:cNvSpPr/>
          <p:nvPr/>
        </p:nvSpPr>
        <p:spPr>
          <a:xfrm>
            <a:off x="8321040" y="3749040"/>
            <a:ext cx="3319272" cy="1920240"/>
          </a:xfrm>
          <a:prstGeom prst="roundRect">
            <a:avLst>
              <a:gd name="adj" fmla="val 3810"/>
            </a:avLst>
          </a:prstGeom>
          <a:solidFill>
            <a:schemeClr val="accent4">
              <a:alpha val="22000"/>
            </a:schemeClr>
          </a:solidFill>
          <a:ln w="12700">
            <a:solidFill>
              <a:schemeClr val="accent4">
                <a:alpha val="0"/>
              </a:schemeClr>
            </a:solidFill>
            <a:prstDash val="solid"/>
          </a:ln>
        </p:spPr>
      </p:sp>
      <p:sp>
        <p:nvSpPr>
          <p:cNvPr id="15" name="Text 12"/>
          <p:cNvSpPr txBox="1"/>
          <p:nvPr/>
        </p:nvSpPr>
        <p:spPr>
          <a:xfrm>
            <a:off x="8503920" y="3749040"/>
            <a:ext cx="2971800" cy="1920240"/>
          </a:xfrm>
          <a:prstGeom prst="rect">
            <a:avLst/>
          </a:prstGeom>
          <a:noFill/>
          <a:ln/>
        </p:spPr>
        <p:txBody>
          <a:bodyPr wrap="square" lIns="0" tIns="0" rIns="0" bIns="0" rtlCol="0" anchor="ctr"/>
          <a:lstStyle/>
          <a:p>
            <a:pPr marL="0" indent="0">
              <a:buNone/>
            </a:pPr>
            <a:r>
              <a:rPr lang="en-US" sz="1600" b="1" dirty="0">
                <a:solidFill>
                  <a:schemeClr val="tx2"/>
                </a:solidFill>
              </a:rPr>
              <a:t>Q and A checkpoint, 5 min. Raise your hand and ask anything about Part 1.</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42</a:t>
            </a:fld>
            <a:endParaRPr lang="en-US"/>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show="0">
  <p:cSld name="Slide 4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BACKUP (HIDDEN)</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B1  |  Annotation demo (optional)</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11091672" cy="1828800"/>
          </a:xfrm>
          <a:prstGeom prst="roundRect">
            <a:avLst>
              <a:gd name="adj" fmla="val 4000"/>
            </a:avLst>
          </a:prstGeom>
          <a:solidFill>
            <a:schemeClr val="bg2"/>
          </a:solidFill>
          <a:ln w="12700">
            <a:solidFill>
              <a:schemeClr val="bg2"/>
            </a:solidFill>
            <a:prstDash val="solid"/>
          </a:ln>
        </p:spPr>
      </p:sp>
      <p:sp>
        <p:nvSpPr>
          <p:cNvPr id="9" name="Text 6"/>
          <p:cNvSpPr txBox="1"/>
          <p:nvPr/>
        </p:nvSpPr>
        <p:spPr>
          <a:xfrm>
            <a:off x="777240" y="1691640"/>
            <a:ext cx="10698480" cy="1828800"/>
          </a:xfrm>
          <a:prstGeom prst="rect">
            <a:avLst/>
          </a:prstGeom>
          <a:noFill/>
          <a:ln/>
        </p:spPr>
        <p:txBody>
          <a:bodyPr wrap="square" lIns="0" tIns="0" rIns="0" bIns="0" rtlCol="0" anchor="ctr"/>
          <a:lstStyle/>
          <a:p>
            <a:pPr marL="0" indent="0">
              <a:buNone/>
            </a:pPr>
            <a:r>
              <a:rPr lang="en-US" sz="1800" dirty="0">
                <a:solidFill>
                  <a:schemeClr val="tx1"/>
                </a:solidFill>
              </a:rPr>
              <a:t>Paste: source and console output of demos/Demo1Annotations.java. It reads @Table and @Column by reflection and prints the SQL.</a:t>
            </a:r>
            <a:endParaRPr lang="en-US" sz="1800" dirty="0"/>
          </a:p>
        </p:txBody>
      </p:sp>
      <p:sp>
        <p:nvSpPr>
          <p:cNvPr id="10" name="card"/>
          <p:cNvSpPr/>
          <p:nvPr/>
        </p:nvSpPr>
        <p:spPr>
          <a:xfrm>
            <a:off x="548640" y="3749040"/>
            <a:ext cx="11091672" cy="1280160"/>
          </a:xfrm>
          <a:prstGeom prst="roundRect">
            <a:avLst>
              <a:gd name="adj" fmla="val 5714"/>
            </a:avLst>
          </a:prstGeom>
          <a:solidFill>
            <a:schemeClr val="accent4">
              <a:alpha val="22000"/>
            </a:schemeClr>
          </a:solidFill>
          <a:ln w="12700">
            <a:solidFill>
              <a:schemeClr val="accent4">
                <a:alpha val="0"/>
              </a:schemeClr>
            </a:solidFill>
            <a:prstDash val="solid"/>
          </a:ln>
        </p:spPr>
      </p:sp>
      <p:sp>
        <p:nvSpPr>
          <p:cNvPr id="11" name="Text 8"/>
          <p:cNvSpPr txBox="1"/>
          <p:nvPr/>
        </p:nvSpPr>
        <p:spPr>
          <a:xfrm>
            <a:off x="777240" y="3749040"/>
            <a:ext cx="10698480" cy="1280160"/>
          </a:xfrm>
          <a:prstGeom prst="rect">
            <a:avLst/>
          </a:prstGeom>
          <a:noFill/>
          <a:ln/>
        </p:spPr>
        <p:txBody>
          <a:bodyPr wrap="square" lIns="0" tIns="0" rIns="0" bIns="0" rtlCol="0" anchor="ctr"/>
          <a:lstStyle/>
          <a:p>
            <a:pPr marL="0" indent="0">
              <a:buNone/>
            </a:pPr>
            <a:r>
              <a:rPr lang="en-US" sz="1800" i="1" dirty="0">
                <a:solidFill>
                  <a:schemeClr val="tx2"/>
                </a:solidFill>
              </a:rPr>
              <a:t>Say: "The IDE is being shy. Here is what it prints."</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43</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name="Slide 4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BACKUP (HIDDEN)</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B2  |  Supabase connection</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11091672" cy="1828800"/>
          </a:xfrm>
          <a:prstGeom prst="roundRect">
            <a:avLst>
              <a:gd name="adj" fmla="val 4000"/>
            </a:avLst>
          </a:prstGeom>
          <a:solidFill>
            <a:schemeClr val="bg2"/>
          </a:solidFill>
          <a:ln w="12700">
            <a:solidFill>
              <a:schemeClr val="bg2"/>
            </a:solidFill>
            <a:prstDash val="solid"/>
          </a:ln>
        </p:spPr>
      </p:sp>
      <p:sp>
        <p:nvSpPr>
          <p:cNvPr id="9" name="Text 6"/>
          <p:cNvSpPr txBox="1"/>
          <p:nvPr/>
        </p:nvSpPr>
        <p:spPr>
          <a:xfrm>
            <a:off x="777240" y="1691640"/>
            <a:ext cx="10698480" cy="1828800"/>
          </a:xfrm>
          <a:prstGeom prst="rect">
            <a:avLst/>
          </a:prstGeom>
          <a:noFill/>
          <a:ln/>
        </p:spPr>
        <p:txBody>
          <a:bodyPr wrap="square" lIns="0" tIns="0" rIns="0" bIns="0" rtlCol="0" anchor="ctr"/>
          <a:lstStyle/>
          <a:p>
            <a:pPr marL="0" indent="0">
              <a:buNone/>
            </a:pPr>
            <a:r>
              <a:rPr lang="en-US" sz="1800" dirty="0">
                <a:solidFill>
                  <a:schemeClr val="tx1"/>
                </a:solidFill>
              </a:rPr>
              <a:t>Paste: local profile console (H2) and a screenshot of the Supabase tables in schema app.</a:t>
            </a:r>
            <a:endParaRPr lang="en-US" sz="1800" dirty="0"/>
          </a:p>
        </p:txBody>
      </p:sp>
      <p:sp>
        <p:nvSpPr>
          <p:cNvPr id="10" name="card"/>
          <p:cNvSpPr/>
          <p:nvPr/>
        </p:nvSpPr>
        <p:spPr>
          <a:xfrm>
            <a:off x="548640" y="3749040"/>
            <a:ext cx="11091672" cy="1280160"/>
          </a:xfrm>
          <a:prstGeom prst="roundRect">
            <a:avLst>
              <a:gd name="adj" fmla="val 5714"/>
            </a:avLst>
          </a:prstGeom>
          <a:solidFill>
            <a:schemeClr val="accent4">
              <a:alpha val="22000"/>
            </a:schemeClr>
          </a:solidFill>
          <a:ln w="12700">
            <a:solidFill>
              <a:schemeClr val="accent4">
                <a:alpha val="0"/>
              </a:schemeClr>
            </a:solidFill>
            <a:prstDash val="solid"/>
          </a:ln>
        </p:spPr>
      </p:sp>
      <p:sp>
        <p:nvSpPr>
          <p:cNvPr id="11" name="Text 8"/>
          <p:cNvSpPr txBox="1"/>
          <p:nvPr/>
        </p:nvSpPr>
        <p:spPr>
          <a:xfrm>
            <a:off x="777240" y="3749040"/>
            <a:ext cx="10698480" cy="1280160"/>
          </a:xfrm>
          <a:prstGeom prst="rect">
            <a:avLst/>
          </a:prstGeom>
          <a:noFill/>
          <a:ln/>
        </p:spPr>
        <p:txBody>
          <a:bodyPr wrap="square" lIns="0" tIns="0" rIns="0" bIns="0" rtlCol="0" anchor="ctr"/>
          <a:lstStyle/>
          <a:p>
            <a:pPr marL="0" indent="0">
              <a:buNone/>
            </a:pPr>
            <a:r>
              <a:rPr lang="en-US" sz="1800" i="1" dirty="0">
                <a:solidFill>
                  <a:schemeClr val="tx2"/>
                </a:solidFill>
              </a:rPr>
              <a:t>Say: "The venue network blocked the cloud, so we switch to the local profile. The code is identical."</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name="Slide 4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BACKUP (HIDDEN)</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B3  |  End-to-end run</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11091672" cy="1828800"/>
          </a:xfrm>
          <a:prstGeom prst="roundRect">
            <a:avLst>
              <a:gd name="adj" fmla="val 4000"/>
            </a:avLst>
          </a:prstGeom>
          <a:solidFill>
            <a:schemeClr val="bg2"/>
          </a:solidFill>
          <a:ln w="12700">
            <a:solidFill>
              <a:schemeClr val="bg2"/>
            </a:solidFill>
            <a:prstDash val="solid"/>
          </a:ln>
        </p:spPr>
      </p:sp>
      <p:sp>
        <p:nvSpPr>
          <p:cNvPr id="9" name="Text 6"/>
          <p:cNvSpPr txBox="1"/>
          <p:nvPr/>
        </p:nvSpPr>
        <p:spPr>
          <a:xfrm>
            <a:off x="777240" y="1691640"/>
            <a:ext cx="10698480" cy="1828800"/>
          </a:xfrm>
          <a:prstGeom prst="rect">
            <a:avLst/>
          </a:prstGeom>
          <a:noFill/>
          <a:ln/>
        </p:spPr>
        <p:txBody>
          <a:bodyPr wrap="square" lIns="0" tIns="0" rIns="0" bIns="0" rtlCol="0" anchor="ctr"/>
          <a:lstStyle/>
          <a:p>
            <a:pPr marL="0" indent="0">
              <a:buNone/>
            </a:pPr>
            <a:r>
              <a:rPr lang="en-US" sz="1800" dirty="0">
                <a:solidFill>
                  <a:schemeClr val="tx1"/>
                </a:solidFill>
              </a:rPr>
              <a:t>Paste 4 screenshots: job list, job detail, apply form, applications page.</a:t>
            </a:r>
            <a:endParaRPr lang="en-US" sz="1800" dirty="0"/>
          </a:p>
        </p:txBody>
      </p:sp>
      <p:sp>
        <p:nvSpPr>
          <p:cNvPr id="10" name="card"/>
          <p:cNvSpPr/>
          <p:nvPr/>
        </p:nvSpPr>
        <p:spPr>
          <a:xfrm>
            <a:off x="548640" y="3749040"/>
            <a:ext cx="11091672" cy="1280160"/>
          </a:xfrm>
          <a:prstGeom prst="roundRect">
            <a:avLst>
              <a:gd name="adj" fmla="val 5714"/>
            </a:avLst>
          </a:prstGeom>
          <a:solidFill>
            <a:schemeClr val="accent4">
              <a:alpha val="22000"/>
            </a:schemeClr>
          </a:solidFill>
          <a:ln w="12700">
            <a:solidFill>
              <a:schemeClr val="accent4">
                <a:alpha val="0"/>
              </a:schemeClr>
            </a:solidFill>
            <a:prstDash val="solid"/>
          </a:ln>
        </p:spPr>
      </p:sp>
      <p:sp>
        <p:nvSpPr>
          <p:cNvPr id="11" name="Text 8"/>
          <p:cNvSpPr txBox="1"/>
          <p:nvPr/>
        </p:nvSpPr>
        <p:spPr>
          <a:xfrm>
            <a:off x="777240" y="3749040"/>
            <a:ext cx="10698480" cy="1280160"/>
          </a:xfrm>
          <a:prstGeom prst="rect">
            <a:avLst/>
          </a:prstGeom>
          <a:noFill/>
          <a:ln/>
        </p:spPr>
        <p:txBody>
          <a:bodyPr wrap="square" lIns="0" tIns="0" rIns="0" bIns="0" rtlCol="0" anchor="ctr"/>
          <a:lstStyle/>
          <a:p>
            <a:pPr marL="0" indent="0">
              <a:buNone/>
            </a:pPr>
            <a:r>
              <a:rPr lang="en-US" sz="1800" i="1" dirty="0">
                <a:solidFill>
                  <a:schemeClr val="tx2"/>
                </a:solidFill>
              </a:rPr>
              <a:t>Say: "Let me show you the finished screens while it starts."</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name="Slide 4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BACKUP (HIDDEN)</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B4  |  N+1 and dirty-checking logs</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11091672" cy="1828800"/>
          </a:xfrm>
          <a:prstGeom prst="roundRect">
            <a:avLst>
              <a:gd name="adj" fmla="val 4000"/>
            </a:avLst>
          </a:prstGeom>
          <a:solidFill>
            <a:schemeClr val="bg2"/>
          </a:solidFill>
          <a:ln w="12700">
            <a:solidFill>
              <a:schemeClr val="bg2"/>
            </a:solidFill>
            <a:prstDash val="solid"/>
          </a:ln>
        </p:spPr>
      </p:sp>
      <p:sp>
        <p:nvSpPr>
          <p:cNvPr id="9" name="Text 6"/>
          <p:cNvSpPr txBox="1"/>
          <p:nvPr/>
        </p:nvSpPr>
        <p:spPr>
          <a:xfrm>
            <a:off x="777240" y="1691640"/>
            <a:ext cx="10698480" cy="1828800"/>
          </a:xfrm>
          <a:prstGeom prst="rect">
            <a:avLst/>
          </a:prstGeom>
          <a:noFill/>
          <a:ln/>
        </p:spPr>
        <p:txBody>
          <a:bodyPr wrap="square" lIns="0" tIns="0" rIns="0" bIns="0" rtlCol="0" anchor="ctr"/>
          <a:lstStyle/>
          <a:p>
            <a:pPr marL="0" indent="0">
              <a:buNone/>
            </a:pPr>
            <a:r>
              <a:rPr lang="en-US" sz="1800" dirty="0">
                <a:solidFill>
                  <a:schemeClr val="tx1"/>
                </a:solidFill>
              </a:rPr>
              <a:t>Paste: SQL log before the fix (26 statements) and after (1), plus the UPDATE from dirty checking.</a:t>
            </a:r>
            <a:endParaRPr lang="en-US" sz="1800" dirty="0"/>
          </a:p>
        </p:txBody>
      </p:sp>
      <p:sp>
        <p:nvSpPr>
          <p:cNvPr id="10" name="card"/>
          <p:cNvSpPr/>
          <p:nvPr/>
        </p:nvSpPr>
        <p:spPr>
          <a:xfrm>
            <a:off x="548640" y="3749040"/>
            <a:ext cx="11091672" cy="1280160"/>
          </a:xfrm>
          <a:prstGeom prst="roundRect">
            <a:avLst>
              <a:gd name="adj" fmla="val 5714"/>
            </a:avLst>
          </a:prstGeom>
          <a:solidFill>
            <a:schemeClr val="accent4">
              <a:alpha val="22000"/>
            </a:schemeClr>
          </a:solidFill>
          <a:ln w="12700">
            <a:solidFill>
              <a:schemeClr val="accent4">
                <a:alpha val="0"/>
              </a:schemeClr>
            </a:solidFill>
            <a:prstDash val="solid"/>
          </a:ln>
        </p:spPr>
      </p:sp>
      <p:sp>
        <p:nvSpPr>
          <p:cNvPr id="11" name="Text 8"/>
          <p:cNvSpPr txBox="1"/>
          <p:nvPr/>
        </p:nvSpPr>
        <p:spPr>
          <a:xfrm>
            <a:off x="777240" y="3749040"/>
            <a:ext cx="10698480" cy="1280160"/>
          </a:xfrm>
          <a:prstGeom prst="rect">
            <a:avLst/>
          </a:prstGeom>
          <a:noFill/>
          <a:ln/>
        </p:spPr>
        <p:txBody>
          <a:bodyPr wrap="square" lIns="0" tIns="0" rIns="0" bIns="0" rtlCol="0" anchor="ctr"/>
          <a:lstStyle/>
          <a:p>
            <a:pPr marL="0" indent="0">
              <a:buNone/>
            </a:pPr>
            <a:r>
              <a:rPr lang="en-US" sz="1800" i="1" dirty="0">
                <a:solidFill>
                  <a:schemeClr val="tx2"/>
                </a:solidFill>
              </a:rPr>
              <a:t>Say: "Here is the log from my rehearsal."</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46</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name="Slide 4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BACKUP (HIDDEN)</a:t>
            </a:r>
            <a:endParaRPr lang="en-US" sz="1200" dirty="0"/>
          </a:p>
        </p:txBody>
      </p:sp>
      <p:sp>
        <p:nvSpPr>
          <p:cNvPr id="3" name="Text 0"/>
          <p:cNvSpPr>
            <a:spLocks noGrp="1"/>
          </p:cNvSpPr>
          <p:nvPr>
            <p:ph type="title" idx="100" hasCustomPrompt="1"/>
          </p:nvPr>
        </p:nvSpPr>
        <p:spPr>
          <a:xfrm>
            <a:off x="548640" y="548640"/>
            <a:ext cx="9966960" cy="91440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B8  |  Projector or adapter failure</a:t>
            </a:r>
            <a:endParaRPr lang="en-US" sz="3400" dirty="0"/>
          </a:p>
        </p:txBody>
      </p:sp>
      <p:sp>
        <p:nvSpPr>
          <p:cNvPr id="4" name="layer-chip-data"/>
          <p:cNvSpPr/>
          <p:nvPr/>
        </p:nvSpPr>
        <p:spPr>
          <a:xfrm>
            <a:off x="10744200" y="310896"/>
            <a:ext cx="201168" cy="201168"/>
          </a:xfrm>
          <a:prstGeom prst="ellipse">
            <a:avLst/>
          </a:prstGeom>
          <a:solidFill>
            <a:schemeClr val="bg1"/>
          </a:solidFill>
          <a:ln w="19050">
            <a:solidFill>
              <a:schemeClr val="accent1"/>
            </a:solidFill>
            <a:prstDash val="solid"/>
          </a:ln>
        </p:spPr>
      </p:sp>
      <p:sp>
        <p:nvSpPr>
          <p:cNvPr id="5" name="layer-chip-web"/>
          <p:cNvSpPr/>
          <p:nvPr/>
        </p:nvSpPr>
        <p:spPr>
          <a:xfrm>
            <a:off x="11036808" y="310896"/>
            <a:ext cx="201168" cy="201168"/>
          </a:xfrm>
          <a:prstGeom prst="ellipse">
            <a:avLst/>
          </a:prstGeom>
          <a:solidFill>
            <a:schemeClr val="bg1"/>
          </a:solidFill>
          <a:ln w="19050">
            <a:solidFill>
              <a:schemeClr val="accent2"/>
            </a:solidFill>
            <a:prstDash val="solid"/>
          </a:ln>
        </p:spPr>
      </p:sp>
      <p:sp>
        <p:nvSpPr>
          <p:cNvPr id="6" name="layer-chip-ai"/>
          <p:cNvSpPr/>
          <p:nvPr/>
        </p:nvSpPr>
        <p:spPr>
          <a:xfrm>
            <a:off x="11329416" y="310896"/>
            <a:ext cx="201168" cy="201168"/>
          </a:xfrm>
          <a:prstGeom prst="ellipse">
            <a:avLst/>
          </a:prstGeom>
          <a:solidFill>
            <a:schemeClr val="bg1"/>
          </a:solidFill>
          <a:ln w="19050">
            <a:solidFill>
              <a:schemeClr val="accent3"/>
            </a:solidFill>
            <a:prstDash val="solid"/>
          </a:ln>
        </p:spPr>
      </p:sp>
      <p:sp>
        <p:nvSpPr>
          <p:cNvPr id="8" name="card"/>
          <p:cNvSpPr/>
          <p:nvPr/>
        </p:nvSpPr>
        <p:spPr>
          <a:xfrm>
            <a:off x="548640" y="1691640"/>
            <a:ext cx="11091672" cy="1828800"/>
          </a:xfrm>
          <a:prstGeom prst="roundRect">
            <a:avLst>
              <a:gd name="adj" fmla="val 4000"/>
            </a:avLst>
          </a:prstGeom>
          <a:solidFill>
            <a:schemeClr val="bg2"/>
          </a:solidFill>
          <a:ln w="12700">
            <a:solidFill>
              <a:schemeClr val="bg2"/>
            </a:solidFill>
            <a:prstDash val="solid"/>
          </a:ln>
        </p:spPr>
      </p:sp>
      <p:sp>
        <p:nvSpPr>
          <p:cNvPr id="9" name="Text 6"/>
          <p:cNvSpPr txBox="1"/>
          <p:nvPr/>
        </p:nvSpPr>
        <p:spPr>
          <a:xfrm>
            <a:off x="777240" y="1691640"/>
            <a:ext cx="10698480" cy="1828800"/>
          </a:xfrm>
          <a:prstGeom prst="rect">
            <a:avLst/>
          </a:prstGeom>
          <a:noFill/>
          <a:ln/>
        </p:spPr>
        <p:txBody>
          <a:bodyPr wrap="square" lIns="0" tIns="0" rIns="0" bIns="0" rtlCol="0" anchor="ctr"/>
          <a:lstStyle/>
          <a:p>
            <a:pPr marL="0" indent="0">
              <a:buNone/>
            </a:pPr>
            <a:r>
              <a:rPr lang="en-US" sz="1800" dirty="0">
                <a:solidFill>
                  <a:schemeClr val="tx1"/>
                </a:solidFill>
              </a:rPr>
              <a:t>Paste: whiteboard-friendly versions of the request flow and the printed agenda.</a:t>
            </a:r>
            <a:endParaRPr lang="en-US" sz="1800" dirty="0"/>
          </a:p>
        </p:txBody>
      </p:sp>
      <p:sp>
        <p:nvSpPr>
          <p:cNvPr id="10" name="card"/>
          <p:cNvSpPr/>
          <p:nvPr/>
        </p:nvSpPr>
        <p:spPr>
          <a:xfrm>
            <a:off x="548640" y="3749040"/>
            <a:ext cx="11091672" cy="1280160"/>
          </a:xfrm>
          <a:prstGeom prst="roundRect">
            <a:avLst>
              <a:gd name="adj" fmla="val 5714"/>
            </a:avLst>
          </a:prstGeom>
          <a:solidFill>
            <a:schemeClr val="accent4">
              <a:alpha val="22000"/>
            </a:schemeClr>
          </a:solidFill>
          <a:ln w="12700">
            <a:solidFill>
              <a:schemeClr val="accent4">
                <a:alpha val="0"/>
              </a:schemeClr>
            </a:solidFill>
            <a:prstDash val="solid"/>
          </a:ln>
        </p:spPr>
      </p:sp>
      <p:sp>
        <p:nvSpPr>
          <p:cNvPr id="11" name="Text 8"/>
          <p:cNvSpPr txBox="1"/>
          <p:nvPr/>
        </p:nvSpPr>
        <p:spPr>
          <a:xfrm>
            <a:off x="777240" y="3749040"/>
            <a:ext cx="10698480" cy="1280160"/>
          </a:xfrm>
          <a:prstGeom prst="rect">
            <a:avLst/>
          </a:prstGeom>
          <a:noFill/>
          <a:ln/>
        </p:spPr>
        <p:txBody>
          <a:bodyPr wrap="square" lIns="0" tIns="0" rIns="0" bIns="0" rtlCol="0" anchor="ctr"/>
          <a:lstStyle/>
          <a:p>
            <a:pPr marL="0" indent="0">
              <a:buNone/>
            </a:pPr>
            <a:r>
              <a:rPr lang="en-US" sz="1800" i="1" dirty="0">
                <a:solidFill>
                  <a:schemeClr val="tx2"/>
                </a:solidFill>
              </a:rPr>
              <a:t>Say: walk to the board and draw it with the class.</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PPSU Data Web Intelligence">
  <a:themeElements>
    <a:clrScheme name="PPSU Data Web Intelligence">
      <a:dk1>
        <a:srgbClr val="1B2733"/>
      </a:dk1>
      <a:lt1>
        <a:srgbClr val="FFFFFF"/>
      </a:lt1>
      <a:dk2>
        <a:srgbClr val="0B1F3A"/>
      </a:dk2>
      <a:lt2>
        <a:srgbClr val="F2F5F9"/>
      </a:lt2>
      <a:accent1>
        <a:srgbClr val="0E7C7B"/>
      </a:accent1>
      <a:accent2>
        <a:srgbClr val="2F5DA8"/>
      </a:accent2>
      <a:accent3>
        <a:srgbClr val="E8590C"/>
      </a:accent3>
      <a:accent4>
        <a:srgbClr val="F59F00"/>
      </a:accent4>
      <a:accent5>
        <a:srgbClr val="5F6C7B"/>
      </a:accent5>
      <a:accent6>
        <a:srgbClr val="C92A2A"/>
      </a:accent6>
      <a:hlink>
        <a:srgbClr val="2F5DA8"/>
      </a:hlink>
      <a:folHlink>
        <a:srgbClr val="5F6C7B"/>
      </a:folHlink>
    </a:clrScheme>
    <a:fontScheme name="PPSU Data Web Intellig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6313</Words>
  <Application>Microsoft Office PowerPoint</Application>
  <PresentationFormat>Widescreen</PresentationFormat>
  <Paragraphs>887</Paragraphs>
  <Slides>47</Slides>
  <Notes>47</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Cambria</vt:lpstr>
      <vt:lpstr>Courier New</vt:lpstr>
      <vt:lpstr>PPSU Data Web Intelligence</vt:lpstr>
      <vt:lpstr>PowerPoint Presentation</vt:lpstr>
      <vt:lpstr>Welcome, and thank you</vt:lpstr>
      <vt:lpstr>About me: the tools changed, the basics did not</vt:lpstr>
      <vt:lpstr>Today's route</vt:lpstr>
      <vt:lpstr>Every real application has three layers</vt:lpstr>
      <vt:lpstr>College vs company: same skills, different game</vt:lpstr>
      <vt:lpstr>Service company or product company?</vt:lpstr>
      <vt:lpstr>Why your degree counts, and what to do now</vt:lpstr>
      <vt:lpstr>Gen AI: good or bad? It depends on how you use it</vt:lpstr>
      <vt:lpstr>Improve yourself first. The package follows.</vt:lpstr>
      <vt:lpstr>One page. 101 database queries.</vt:lpstr>
      <vt:lpstr>Why do we need Hibernate?</vt:lpstr>
      <vt:lpstr>Objects have references. Tables have foreign keys.</vt:lpstr>
      <vt:lpstr>JPA is the rulebook. Hibernate is the player.</vt:lpstr>
      <vt:lpstr>A class becomes a table</vt:lpstr>
      <vt:lpstr>Create, read, update, delete: no SQL written</vt:lpstr>
      <vt:lpstr>Companies post jobs. Students apply.</vt:lpstr>
      <vt:lpstr>mappedBy: who holds the foreign key?</vt:lpstr>
      <vt:lpstr>Three ways to ask the database</vt:lpstr>
      <vt:lpstr>LAZY loads when asked. EAGER loads it all.</vt:lpstr>
      <vt:lpstr>How many queries for this one page?</vt:lpstr>
      <vt:lpstr>The answer: 26. The fix: 1.</vt:lpstr>
      <vt:lpstr>Transient. Persistent. Detached. Removed.</vt:lpstr>
      <vt:lpstr>No save() call. Will the row update?</vt:lpstr>
      <vt:lpstr>All or nothing, and stale forms</vt:lpstr>
      <vt:lpstr>Hibernate: three rules to keep</vt:lpstr>
      <vt:lpstr>Why do we need Spring MVC?</vt:lpstr>
      <vt:lpstr>Do not create your objects. Ask for them.</vt:lpstr>
      <vt:lpstr>The browser never talks to your controller</vt:lpstr>
      <vt:lpstr>Controllers and mappings</vt:lpstr>
      <vt:lpstr>From Java to a web page</vt:lpstr>
      <vt:lpstr>Submit an empty form. What happens?</vt:lpstr>
      <vt:lpstr>HTML or JSON: same data, two answers</vt:lpstr>
      <vt:lpstr>One handler. Every error.</vt:lpstr>
      <vt:lpstr>Controller, service, repository: entities stay inside</vt:lpstr>
      <vt:lpstr>What real projects add</vt:lpstr>
      <vt:lpstr>One app carries every topic we learned</vt:lpstr>
      <vt:lpstr>Project structure: one folder per feature</vt:lpstr>
      <vt:lpstr>Run it end to end</vt:lpstr>
      <vt:lpstr>Supabase gotchas</vt:lpstr>
      <vt:lpstr>Stuck? Jump to a checkpoint</vt:lpstr>
      <vt:lpstr>Part 1 recap. Your questions, now.</vt:lpstr>
      <vt:lpstr>B1  |  Annotation demo (optional)</vt:lpstr>
      <vt:lpstr>B2  |  Supabase connection</vt:lpstr>
      <vt:lpstr>B3  |  End-to-end run</vt:lpstr>
      <vt:lpstr>B4  |  N+1 and dirty-checking logs</vt:lpstr>
      <vt:lpstr>B8  |  Projector or adapter failure</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PPSU Part 1: Hibernate and Spring MVC</dc:title>
  <dc:subject>PptxGenJS Presentation</dc:subject>
  <dc:creator>Ravikumar Bhalsod</dc:creator>
  <cp:lastModifiedBy>Admin</cp:lastModifiedBy>
  <cp:revision>2</cp:revision>
  <dcterms:created xsi:type="dcterms:W3CDTF">2026-10-03T18:32:38Z</dcterms:created>
  <dcterms:modified xsi:type="dcterms:W3CDTF">2026-10-03T18:47:53Z</dcterms:modified>
</cp:coreProperties>
</file>